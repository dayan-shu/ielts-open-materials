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1438" r:id="rId3"/>
    <p:sldId id="1439" r:id="rId4"/>
    <p:sldId id="1440" r:id="rId5"/>
    <p:sldId id="1441" r:id="rId6"/>
    <p:sldId id="1442" r:id="rId7"/>
    <p:sldId id="1443" r:id="rId8"/>
    <p:sldId id="1444" r:id="rId9"/>
    <p:sldId id="1445" r:id="rId10"/>
    <p:sldId id="1446" r:id="rId11"/>
    <p:sldId id="278" r:id="rId12"/>
    <p:sldId id="1091" r:id="rId13"/>
    <p:sldId id="1129" r:id="rId14"/>
    <p:sldId id="1203" r:id="rId15"/>
    <p:sldId id="1293" r:id="rId16"/>
    <p:sldId id="1217" r:id="rId17"/>
    <p:sldId id="1204" r:id="rId18"/>
    <p:sldId id="1205" r:id="rId19"/>
    <p:sldId id="1219" r:id="rId20"/>
    <p:sldId id="1206" r:id="rId21"/>
    <p:sldId id="1207" r:id="rId22"/>
    <p:sldId id="1208" r:id="rId23"/>
    <p:sldId id="1209" r:id="rId24"/>
    <p:sldId id="1341" r:id="rId25"/>
    <p:sldId id="1342" r:id="rId26"/>
    <p:sldId id="1210" r:id="rId27"/>
    <p:sldId id="1211" r:id="rId28"/>
    <p:sldId id="1212" r:id="rId29"/>
    <p:sldId id="1213" r:id="rId30"/>
    <p:sldId id="1214" r:id="rId31"/>
    <p:sldId id="1216" r:id="rId32"/>
    <p:sldId id="1218" r:id="rId33"/>
    <p:sldId id="1215" r:id="rId34"/>
    <p:sldId id="1092" r:id="rId35"/>
    <p:sldId id="1262" r:id="rId36"/>
    <p:sldId id="1263" r:id="rId37"/>
    <p:sldId id="1382" r:id="rId38"/>
    <p:sldId id="1383" r:id="rId39"/>
    <p:sldId id="1294" r:id="rId40"/>
    <p:sldId id="1295" r:id="rId41"/>
    <p:sldId id="1296" r:id="rId42"/>
    <p:sldId id="1412" r:id="rId43"/>
    <p:sldId id="1158" r:id="rId44"/>
    <p:sldId id="1220" r:id="rId45"/>
    <p:sldId id="1221" r:id="rId46"/>
    <p:sldId id="1222" r:id="rId47"/>
    <p:sldId id="1223" r:id="rId48"/>
    <p:sldId id="956" r:id="rId49"/>
    <p:sldId id="957" r:id="rId50"/>
    <p:sldId id="958" r:id="rId51"/>
    <p:sldId id="959" r:id="rId52"/>
    <p:sldId id="1180" r:id="rId53"/>
    <p:sldId id="961" r:id="rId54"/>
    <p:sldId id="671" r:id="rId55"/>
    <p:sldId id="672" r:id="rId56"/>
    <p:sldId id="1051" r:id="rId57"/>
    <p:sldId id="1052" r:id="rId58"/>
    <p:sldId id="674" r:id="rId59"/>
    <p:sldId id="675" r:id="rId60"/>
    <p:sldId id="676" r:id="rId61"/>
    <p:sldId id="677" r:id="rId62"/>
    <p:sldId id="963" r:id="rId63"/>
    <p:sldId id="678" r:id="rId64"/>
    <p:sldId id="679" r:id="rId65"/>
    <p:sldId id="1199" r:id="rId66"/>
    <p:sldId id="1200" r:id="rId67"/>
    <p:sldId id="1197" r:id="rId68"/>
  </p:sldIdLst>
  <p:sldSz cx="9144000" cy="5143500" type="screen16x9"/>
  <p:notesSz cx="6858000" cy="9144000"/>
  <p:custDataLst>
    <p:tags r:id="rId7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5BA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3" d="100"/>
          <a:sy n="63" d="100"/>
        </p:scale>
        <p:origin x="162" y="60"/>
      </p:cViewPr>
      <p:guideLst>
        <p:guide orient="horz" pos="1620"/>
        <p:guide pos="2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3" Type="http://schemas.openxmlformats.org/officeDocument/2006/relationships/tags" Target="tags/tag3.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5.xml"/><Relationship Id="rId69" Type="http://schemas.openxmlformats.org/officeDocument/2006/relationships/notesMaster" Target="notesMasters/notesMaster1.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143 607,'5'2,"1"-1,2-1,1 0,1 0,0 0,0 0,-4 0,1 0,1 0,-1 0,0 0,-1 0,-2 0,3 0,-2 0,1 0,1 0,2 0,2 0,-2 0,-2 0,1 0,1 0,-2 0,0 0,-1 0,0 0,1 0,1 0,1 0,1 0,-4 0,2-1,1 0,-2 1,1 0,-3 0,-1 0,0 0,0 0,0 0,0 0,2 0,-1 0,1 0,-1 0,3 0,-3 0,1 0,-2 0,2 0,-1 0,3 0,-1 1,-1 0,0-1,-2 0,2 0,2 0,-3 0,1 0,-3 0,1 0,1 0,-1 0,3 0,-1 0,-1 0,3 0,1 0,0 0,-2 0,2 1,-1-1,-1 0,-1 2,3 0,-3-2,0 0,-1 1,3 2,-2-3,3 1,-1 1,-2-1,1-1,-2 0,-1 0,3 0,-3 0,0 0,-1 0,1 0,0 0,-1 0,0 0,2 0,1 0,1 0,4 0,2 0,1 0,0 0,1 0,-1 0,-1 0,-2 0,-6 0,4 1,-1 2,0-3,-1 0,-1 1,0 0,-2-1,1 0,-2 0,1 0,-1 0,1 0,1 1,0-1,-1 1,1 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580 814,'3'2,"0"-1,4 1,4-2,-1 0,3 0,1 0,2 0,-5 0,0 0,-2 0,0 0,-1 0,-1 0,2 0,-3 0,1-1,1 0,0-2,-2 2,0 0,1 0,1-1,-7-1,4 1,1 2,1 0,-3 0,2 0,-1 0,-1 0,0 0,0 0,-1 0,1 0,1 0,0-1,0 0,0 0,1 1,-1 0,3 0,-1 0,2 0,-3 0,-2 0,-1 0,2 0,-1 0,0 0,-1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292 530,'3'0,"0"0,2 0,1 0,-1 0,1 0,1 0,0 0,1 0,1 0,-2 0,-1 0,1 0,0 0,1 0,-4 0,0 0,1 0,-1 0,2 0,-1 0,-1 0,0 0,3-1,-3 0,2-1,4 0,0 1,-6 1,0-1,7 0,-6 1,-1 0,0 0,0-1,1 1,-1 0,0 0,0 0,0 0,2 0,0 0,-1 0,-1 0,0 0,2 0,-1 0,-2 0,1 0,2 0,-2 0,0 0,0 0,-1 0,0 0,3 0,0 0,-2 0,3 0,-2 0,-1 0,3 0,1 0,-1 0,0 0,-3 0,2 0,-1 0,-1 0,2 0,-1 0,1 0,3 0,0 0,0 0,-3 0,-1 0,1 0,-1 0,0 0,-2 0,0 0,1 0,2 0,1 0,-3 0,0 0,-1 0,0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384 503,'0'4,"0"-1,-2 0,2 1,0-1,0 1,0 1,2-2,1 0,0-3,0 0,1 0,0 1,2 1,-3-2,0 0,0 0,0 0,1 0,-1-1,-3-3,0-1,0 1,-3 1,1 0,0 0,-2 0,2 0,-1 0,0 1,1-1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635 568,'4'0,"-1"0,1 0,-1 0,0 0,3 0,-1 0,-1 0,0 0,0 0,-1 0,1 0,-1 0,3 1,-1-1,-2 0,0 0,0 0,1 0,1 0,-1 0,-1 0,0 0,1 0,1 0,-2 0,0 0,0 0,2 0,-1 0,0 0,-1 0,1 0,0 0,-1 0,2 0,-2 0,3 0,3 0,-2 0,0 0,3 0,-5 0,2 0,-2 0,-1 0,-1 0,3 0,0 0,-1 0,-1 0,0 0,0 0,-1 0,1 0,-1 0,0 0,1 0,0 0,0 0,0 0,1 0,1 0,-1 0,-1 0,0 0,0 0,-1 0,3 0,1 0,-2 0,1 0,0 0,1 0,-2 0,1 0,-2 0,0 0,0 0,0 0,2 0,-2 0,1 0,1 0,-1 0,2 0,1 0,8 0,-7 0,-1 0,-3 0,2 0,-1 0,0 0,-1 0,1 0,1 0,0 0,1 0,-1 0,0 0,-1 0,-2 0,0 0,4 0,9 0,-4 0,0 0,-8 0,-1 0,3 0,-1 0,-2 0,3 0,-3 0,0 0,0 0,-1 0,1 0,-1 0,0 0,3 0,-1 0,-1 0,1 0,-1 0,-1 0,3 0,-2 0,0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791 489,'-3'-2,"-3"2,3 0,-1 0,-1 0,1 0,-2 0,2 0,-1 0,1 1,-1 1,-1 0,3 0,-1-2,0 1,1 0,-1 2,-1-1,0 1,1 0,2 0,1 1,1 0,0 1,0-2,0 0,1 0,0 0,0 1,1 1,1-1,-1-1,0 1,3 0,-2-1,1 2,-2-2,1-1,0 1,0-2,0-1,1 1,-1 0,0 0,0 0,0-1,0 0,0 1,1 0,2-1,-3 0,0 0,1 0,3 0,-2 0,-2-2,1 1,0 0,1 0,-2 0,0-4,-1 1,1-1,-1 2,-1-1,0 1,0-1,-1 0,1 1,0-1,-1-1,0 2,0-1,0 0,0 1,-2-1,1 1,-2 1,0-1,-2 1,2 0,-3 1,0-2,2 2,0 0,0 1,1 0,0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373 511,'-3'0,"-3"-1,1-2,-1 2,-1-1,2 1,-1-2,-3 3,2-1,4-1,0 2,0-1,-1 0,0 0,1 1,-1 0,-3 0,2 0,1 0,-3 0,0 0,3 0,0 0,1 0,-1 0,0 0,-2 0,1 0,-1 0,0 0,-1 1,3 0,1 1,-1-1,1 1,0-2,0 1,0 0,-2 2,2-1,-1 1,3 1,0-1,1 1,-1-1,0 1,1 0,2 1,1-1,-1-1,3 3,0 1,4 0,-1-3,-4-1,1 1,-2-1,0-1,1 0,-1-1,0 0,2-1,-2 0,1 0,0 0,3 0,0 0,0 0,2 0,0 0,4 0,-4 0,-2 0,1 0,-3 0,-2 0,0 0,3 0,-2-1,0 0,2 0,-3 0,0-1,0 2,1-3,-1-1,-2 1,0 0,1-2,-1 1,-1 1,0 0,0 0,0 0,-1-1,-2 0,1 1,-1 0,0 1,0 0,-1 0,0 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714 475,'5'3,"-2"0,0 0,2 2,0 1,2 2,0 2,2-1,1-1,0 4,-3-4,2 2,-1-3,-5-5,0 2,-1-1,1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789 461,'-1'3,"0"0,-3 3,1 0,-1-1,0 3,2-2,-1-1,0 1,-1-1,2 1,-2-2,-1 5,2-3,0-2,1 1,-1-1,1-1,-1 1,3 0,-3-1,2 0,-1 0,0 0,-1 0,0 1,1 0,2-1,-1 2,-1-2,-1 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952 597,'-5'0,"-4"0,-2 0,0 0,2 0,-3 2,-1-2,4 0,2 0,-1 0,4 1,-2 0,1-1,-1 0,-3 3,-1 0,-1-2,3 1,-1 0,-2 1,3-1,0 1,-3 0,4-2,-1 1,-1 0,-1 0,1 1,-1-1,-2-1,-3 3,4-1,-2-1,0 0,2 0,0 2,-6 1,2-2,2-1,2 1,0 1,1-1,-1-1,4-1,-1 0,-1-1,-3 0,1 0,4 0,-6 0,-1 0,1 0,0 0,1 0,-1 0,2 0,2 0,-3 0,3 0,1 0,-1 0,2 0,-1 0,1-1,-1-1,-1-2,-1 1,3 2,-1-1,0 0,0 0,1 0,-1 0,2 1,2-2,-4 3,1-1,1-1,2 1,-6-3,2 1,1 2,0-2,0 2,1 0,2 0,-2 0,2 0,0 0,0 1,-1-2,-2 0,-1 2,1-1,-1-1,2 1,0-1,2 1,1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392 500,'-3'-1,"0"0,0 0,-1 1,-1 0,1 0,-2 0,2 0,-1 0,-1 0,2 2,-1 2,-1-1,-1 1,1 1,0-2,1 0,2 0,0 0,1 0,-2 0,3 1,-2-1,1 0,1 0,-2-1,1 2,2-1,-2 3,2-3,0 0,1 0,1 0,-2 1,1-1,3 2,-2-2,2 1,1 1,-1-2,4 1,-1 0,-3-2,0 0,-1-1,0-1,0 0,0 0,0 0,0 0,1-1,-1 0,2 0,3-1,0 0,-2 1,1-2,1 0,0 1,-3-2,-2 2,0-2,-1 1,-1-1,2 0,0-3,-1 3,0-2,1 0,-2-2,0 2,-1-1,0 3,-1 0,-1-1,0-1,0 0,2 3,-3 1,-2 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1031 489,'-3'-2,"0"2,-1 1,1 0,-1 0,1 0,1 2,-3 1,2-2,-2 1,2 1,0-1,0 0,0 0,0-1,-1 1,1-1,1 1,0 0,-2 0,2 0,0 0,1 2,0-2,0 0,1 0,0 0,0 1,-1 0,1 2,0-2,0 1,0-2,0 0,0 0,0 0,0 0,1 0,0 1,4 1,-3-1,1-1,2 1,-2-1,0-1,0-1,1-1,3 0,-3-1,1-3,1 2,0 1,-2-2,1 1,-2-1,0 1,-1-1,0-1,2-1,-1-1,1-1,-3 2,1-3,0 2,-1 0,2 0,-2 0,0 0,-1-1,0 1,0-1,0 1,-1 2,-3-1,2 2,0 0,-1 1,-1-2,1 3,0 0,0 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425 174,'-3'-2,"0"0,-1 1,-2-4,1 1,-1 0,-4-1,3-1,1 3,2 0,-3 0,4 0,-1 0,-3 0,4 1,-2-1,2-1,-1 2,0 0,-1 1,2-2,-2 0,2 1,-1 1,0 0,1 1,-1 0,-2 0,0 0,2 1,0 1,1-2,0 1,0 1,-1 1,-1 0,3 1,1-1,-2 1,2-1,1 0,0 0,0 1,0 1,0-2,1 0,0 0,0 0,0 1,2 2,-1-3,0 1,1-1,-2 1,3-2,-1 0,0 1,2-2,-2 0,0 0,2-1,1 2,0 1,0-2,0-1,-1 0,3 0,-3 0,-1 0,0 0,0 0,0 0,0 0,0 0,0-1,-1 0,2 0,1-1,-1-2,-2 0,0 1,0-2,0 1,-1 1,-1 0,2 0,-1 0,-2 0,1-1</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322 176,'-3'0,"-1"3,-1 0,1-2,0 0,1 1,0-1,0 0,0 2,0-2,-2 2,1 0,1-2,0 1,-1 1,0 0,1 1,1-1,0 0,-1 0,0 0,-1 0,2 0,-1 1,0 0,0-2,0 0,0 2,-2-1,2 0,0 1,0 0,2-1,-2 1,-1-1,0-2,-1 3,1 0,1-3,0 2,0-2,-1 3,1-2,-1 1,1-1,0 0,0 1,0 0,-1-1,1 1,0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146 272,'1'4,"3"2,-2-3,-1 0,0 0,0 0,-1 0,3 2,-2-2,-1 0,2 1,-1-1,0 0,1 0,2 0,2-1,2-1,-1 1,3-1,-1-1,-4 0,-2 0,0 0,1-1,0-2,-1 2,0-1,0-1,1 1,1 0,-2 0,0 0,1-2</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812 183,'-2'3,"1"1,0 0,0 1,1-2,-1 0,-1 0,2 2,0-2,0 1,0-1,-1 1,0-1,1 0,-1 1,0 0,-1-1,1 1,0 1,1-2,0 1,0 0,-1-1,1 1,0-1,0 0,0 0,-1 0,0 1,1-1,-2 0,1 1,-1 0,2-1,-1 1,-1-1,0 2,1-2,-1 0,-2 2,4-1,-2-1,2 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766 296,'0'3,"1"0,0 0,0 0,3 2,2 4,-3-5,-1 1,1 1,-2-3,0 0,2 2,-1-2,1 0,0-6,2-2,0 0,0-1,-3 3,0-1,1-1,-1 2,2 0,-2 0,0-1,0-1,0 1,0 1,-1 0,3-2,0 2,-3 0,1-2,0 2,0 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992 371,'3'0,"2"0,1 0,-2 0,0 0,0 0,-1 0,1 0,-1 0,0 0,2-1,0-1,-1 0,3 1,0 0,3-2,-3 2,5-4,-5 4,-4 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403 262,'-2'3,"2"0,0 2,1-1,0 0,0-1,0 2,2-1,-2 2,1-2,-1 2,3-1,-3 1,0-2,0-1,1 2,0-1,-2-1,1 0,-1 0,1 1,0-1,-1 0,3-1,0-2,0 0,1 0,3 0,1 0,1 0,-2 0,4-1,0 1,-2 0,0 0,-3 0,-3 0,1 1,0-1,-1 1,0 0,2-1,1 0,-1 0,3 0,-1 0,0 0,4 0,-7 0,0 0,1 0,-2 0,0 0,3-3,-1 3,-1 0,2-1,0 0,1 0,-1 1,-2-1,-1-1,0 2,1-1,-1 0,1 1,0-1,2 1,-3 0,0 0,2 0,-1 0,-1 0,2-2,-1 2,-1 0,0-1,1 0,-1-1,2 1,-1 0,-1-1,1 2,-2-4,2 1,-4 0,3-1,-3 1,1-1,-1 0,0 1,0 0,0 0,-1 0,0 0,0 0,0-2,-1 1,-1 0,1 0,-1 1,0 1,0 1,0-2,-3 1,3 1,-2-1,1 2,1-1,-1-1,-2 2,1 0,-3 0,3 0,-1 0,1 0,1 0,0 0,-2 0,3 0,0 0,-1 0,-3 0,0 0,1 0,1 0,-1 0,-1 0,1 0,1 0,-3 0,3 0,-1 0,1 0,-1 0,2 0,-1 0,-1 0,2 0,-3 0,0 0,-1 0,1 0,0 0,-1 0,1 0,0 0,3 0,0 0,1 0,0 0,-1 0,-2 0,2 1,1-1,0 1,0 0,0 0,-1 0,1 1,-1-2,0 1,-1 1,0-1,2 0,0 0,-1-1,0 3,1-1,-3-1,3-1</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530 167,'3'1,"1"3,-1-2,1 2,0 0,-4-1,4-1,-1 1,0 1</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555 224,'3'2,"2"-2,-1 0,-1-1,0 0,0-2,0 2,0-1</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570 244,'3'2,"1"-2,0 0,0 0,-1 0,1-4,-1 4,0-1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581 219,'0'3,"0"0,0 0,0 1,0 0,1 0,-1 0,0 0,1 0,0-1,-1 1,0-1</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586 264,'4'0,"-1"-1,4-1,-3 0,0 1,0-1</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610 211,'4'-1,"-1"1,1 0,2 0,1 0,-3 0,-1 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629 221,'1'3,"2"-2,0-1,1 0,-1 0,0 0,2 0,-2 0,0-1,0 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632 213,'0'4,"0"0,0 2,1-2,1 2,-1-3,0 0,0 0,-1 0,1 0,1 1,-1-1,2 1,-3-1,2 0,-1 0,-1 0,2 0,-2 1,0-1,0 1,0 0,0 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613 221,'5'0,"-2"0,1 0,0 0,-1 0,1 0,-1-1,0 1,0-1</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691 213,'2'0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856 467,'2'0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616 491,'-4'0,"1"0,-6 1,0 1,-6 1,2 3,-3-3,-1 2,3-2,1-3,2 0,2 0,0 0,3 0,3 0,0 0,0 0,-2 0,-3 0,-3 0,2 0,0 0,-2 0,6 0,-1 0,3 0,0 0,0 0,-4 0,0 0,0 0,1 0,-3 0,2 0,1 0,-1 0,3 0,-2 0,1 0,-1 0,-1 0,1 0,1 0,1 0,0 0,0 0,1 0,0 0,0 0,-2 1,2-1,0 0,0 0,0 0,0 0,-1 0,-1 0,-1 0,-1 0,-4 0,2 0,0 0,0 0,5 0,1 0,-1 0,1 0,0 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720 511,'5'0,"-1"0,4 0,0 0,-1 0,4-2,2-1,-2 1,2-1,0 0,-2 1,-3 0,1 2,-2 0,-3 0,0 0,0 0,-1-1,2-1,2 0,-2 0,-1 2,-1-1,0-1,1 2,0-1,0 0,-1 0,2 1,1-1,0 0,1 1,3 0,-1 0,0 0,-2 0,0 0,3-2,-3 2,4-1,-3 0,-3 1,4 0,0 0,0 0,0 0,0 0,-3 0,0 0,-2 0,0 0,0 0,-1 1,1 0,0-1,0 1,-1-1,2 1,1 0,1-1,1 0,2 0,3 1,0-1,-1 0,1 0,1 0,-1 0,-4 0,5 0,-3 0,-2 0,-1 0,-3 0,-2 0,0 0,2 0,-2 0,0 0,1 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233 598,'3'0,"0"2,1 0,1 0,2-1,3 0,0-1,5 0,4 0,1 0,2 0,-4 0,1 0,3 0,-8 0,-1 0,-2 0,-2-1,-3-1,-2 2,0 0,-1 0,0 0,1 0,-1 0,1 0,0 0,1 0,-1 0,0 0,-1 0,2 0,-2 0,0 0,2 0,-2 0,0 0,0 0,1 0,-1 0,0-1,1 1</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663 585,'6'2,"0"-1,0 0,2 1,1-2,-2 0,4 0,0 0,1 0,-3 0,4 0,-1 0,-1 0,2 0,-2 0,-2 0,2 0,-2 0,0 0,0 0,-2 0,0 0,1 0,1 0,0 0,0 0,-2 0,2 0,2 0,-3 0,-1 0,2 0,-2 0,-3 0,3 0,2 0,0 0,2 0,-5 0,3 0,0 0,4 0,-4 0,0 0,-2 0,2 0,0 0,-3 0,-2 0,3 0,-2 0,-2 0,1 0,-1 0,2 0,3-1,-1 1,-1-1,0-1</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437 600,'-1'4,"-2"2,-4-2,3 1,1 1,1-1,0-1,0-1,0 0,6-2,0-1,2 1,-3 0,2-1,4 0,-2 0,-1 0,-2 0,0-1,2 0,-5-2,-2-1,-1 0,-2-1,1-1,-2 1,-2-2,4 4,2 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3-15T16:43:1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420 505,'0'3,"-1"0,0 1,0-1,2 0,3-1,-1-2,-3-3,0 0,-3 0,2 0,0-1,-1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a:defRPr lang="zh-CN" altLang="en-US" sz="2800" kern="1200" baseline="0" dirty="0">
                <a:solidFill>
                  <a:schemeClr val="bg1"/>
                </a:solidFill>
                <a:latin typeface="+mn-lt"/>
                <a:ea typeface="+mn-ea"/>
                <a:cs typeface="+mn-cs"/>
                <a:sym typeface="Calibri" panose="020F0502020204030204" pitchFamily="34" charset="0"/>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eaLnBrk="1" hangingPunct="1">
              <a:lnSpc>
                <a:spcPct val="150000"/>
              </a:lnSpc>
              <a:buFont typeface="Arial" panose="020B0604020202020204" pitchFamily="34" charset="0"/>
              <a:buNone/>
              <a:defRPr sz="1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642938"/>
            <a:ext cx="8229600" cy="420687"/>
          </a:xfrm>
          <a:prstGeom prst="rect">
            <a:avLst/>
          </a:prstGeom>
          <a:noFill/>
          <a:ln w="9525">
            <a:noFill/>
            <a:miter lim="800000"/>
          </a:ln>
        </p:spPr>
        <p:txBody>
          <a:bodyPr vert="horz" wrap="square" lIns="91440" tIns="45720" rIns="91440" bIns="45720" numCol="1" anchor="ctr" anchorCtr="0" compatLnSpc="1"/>
          <a:lstStyle/>
          <a:p>
            <a:pPr lvl="0"/>
            <a:r>
              <a:rPr lang="zh-CN" altLang="en-US" smtClean="0">
                <a:sym typeface="Calibri" panose="020F0502020204030204" pitchFamily="34" charset="0"/>
              </a:rPr>
              <a:t>贵学</a:t>
            </a:r>
            <a:r>
              <a:rPr lang="en-US" altLang="zh-CN" smtClean="0">
                <a:sym typeface="Calibri" panose="020F0502020204030204" pitchFamily="34" charset="0"/>
              </a:rPr>
              <a:t>PPT</a:t>
            </a:r>
            <a:r>
              <a:rPr lang="zh-CN" altLang="en-US" smtClean="0">
                <a:sym typeface="Calibri" panose="020F0502020204030204" pitchFamily="34" charset="0"/>
              </a:rPr>
              <a:t>制作要求</a:t>
            </a:r>
            <a:endParaRPr lang="zh-CN" smtClean="0">
              <a:sym typeface="Calibri" panose="020F0502020204030204" pitchFamily="34" charset="0"/>
            </a:endParaRPr>
          </a:p>
        </p:txBody>
      </p:sp>
      <p:sp>
        <p:nvSpPr>
          <p:cNvPr id="1027" name="文本占位符 2"/>
          <p:cNvSpPr>
            <a:spLocks noGrp="1" noChangeArrowheads="1"/>
          </p:cNvSpPr>
          <p:nvPr>
            <p:ph type="body" idx="1"/>
          </p:nvPr>
        </p:nvSpPr>
        <p:spPr bwMode="auto">
          <a:xfrm>
            <a:off x="428625" y="1357313"/>
            <a:ext cx="8229600" cy="3394075"/>
          </a:xfrm>
          <a:prstGeom prst="rect">
            <a:avLst/>
          </a:prstGeom>
          <a:noFill/>
          <a:ln w="9525">
            <a:noFill/>
            <a:miter lim="800000"/>
          </a:ln>
        </p:spPr>
        <p:txBody>
          <a:bodyPr vert="horz" wrap="square" lIns="91440" tIns="45720" rIns="91440" bIns="45720" numCol="1" anchor="t" anchorCtr="0" compatLnSpc="1"/>
          <a:lstStyle/>
          <a:p>
            <a:pPr lvl="0"/>
            <a:endParaRPr lang="en-US" altLang="zh-CN" smtClean="0">
              <a:sym typeface="Calibri" panose="020F0502020204030204" pitchFamily="34" charset="0"/>
            </a:endParaRPr>
          </a:p>
          <a:p>
            <a:pPr lvl="0"/>
            <a:r>
              <a:rPr lang="zh-CN" altLang="en-US" smtClean="0">
                <a:sym typeface="Calibri" panose="020F0502020204030204" pitchFamily="34" charset="0"/>
              </a:rPr>
              <a:t>雅思阅读真经  </a:t>
            </a:r>
            <a:r>
              <a:rPr lang="en-US" altLang="zh-CN" smtClean="0">
                <a:sym typeface="Calibri" panose="020F0502020204030204" pitchFamily="34" charset="0"/>
              </a:rPr>
              <a:t>1</a:t>
            </a:r>
            <a:endParaRPr lang="en-US" altLang="zh-CN" smtClean="0">
              <a:sym typeface="Calibri" panose="020F0502020204030204" pitchFamily="34" charset="0"/>
            </a:endParaRPr>
          </a:p>
          <a:p>
            <a:pPr lvl="0"/>
            <a:r>
              <a:rPr lang="zh-CN" altLang="en-US" smtClean="0">
                <a:sym typeface="Calibri" panose="020F0502020204030204" pitchFamily="34" charset="0"/>
              </a:rPr>
              <a:t>刘洪波</a:t>
            </a:r>
            <a:endParaRPr lang="zh-CN" smtClean="0">
              <a:sym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p:titleStyle>
    <p:bodyStyle>
      <a:lvl1pPr marL="342900" indent="-342900" algn="ctr" rtl="0" eaLnBrk="0" fontAlgn="base" hangingPunct="0">
        <a:spcBef>
          <a:spcPct val="20000"/>
        </a:spcBef>
        <a:spcAft>
          <a:spcPct val="0"/>
        </a:spcAft>
        <a:buFont typeface="Arial" panose="020B0604020202020204" pitchFamily="34" charset="0"/>
        <a:buChar char="•"/>
        <a:defRPr sz="3200" kern="1200">
          <a:solidFill>
            <a:schemeClr val="bg1"/>
          </a:solidFill>
          <a:latin typeface="+mn-lt"/>
          <a:ea typeface="+mn-ea"/>
          <a:cs typeface="微软雅黑" panose="020B0503020204020204" charset="-122"/>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customXml" Target="../ink/ink2.xml"/><Relationship Id="rId2" Type="http://schemas.openxmlformats.org/officeDocument/2006/relationships/image" Target="../media/image3.png"/><Relationship Id="rId1" Type="http://schemas.openxmlformats.org/officeDocument/2006/relationships/customXml" Target="../ink/ink1.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customXml" Target="../ink/ink4.xml"/><Relationship Id="rId2" Type="http://schemas.openxmlformats.org/officeDocument/2006/relationships/image" Target="../media/image5.png"/><Relationship Id="rId1" Type="http://schemas.openxmlformats.org/officeDocument/2006/relationships/customXml" Target="../ink/ink3.xml"/></Relationships>
</file>

<file path=ppt/slides/_rels/slide49.xml.rels><?xml version="1.0" encoding="UTF-8" standalone="yes"?>
<Relationships xmlns="http://schemas.openxmlformats.org/package/2006/relationships"><Relationship Id="rId9" Type="http://schemas.openxmlformats.org/officeDocument/2006/relationships/customXml" Target="../ink/ink9.xml"/><Relationship Id="rId8" Type="http://schemas.openxmlformats.org/officeDocument/2006/relationships/image" Target="../media/image10.png"/><Relationship Id="rId7" Type="http://schemas.openxmlformats.org/officeDocument/2006/relationships/customXml" Target="../ink/ink8.xml"/><Relationship Id="rId6" Type="http://schemas.openxmlformats.org/officeDocument/2006/relationships/image" Target="../media/image9.png"/><Relationship Id="rId5" Type="http://schemas.openxmlformats.org/officeDocument/2006/relationships/customXml" Target="../ink/ink7.xml"/><Relationship Id="rId4" Type="http://schemas.openxmlformats.org/officeDocument/2006/relationships/image" Target="../media/image8.png"/><Relationship Id="rId3" Type="http://schemas.openxmlformats.org/officeDocument/2006/relationships/customXml" Target="../ink/ink6.xml"/><Relationship Id="rId2" Type="http://schemas.openxmlformats.org/officeDocument/2006/relationships/image" Target="../media/image7.png"/><Relationship Id="rId11" Type="http://schemas.openxmlformats.org/officeDocument/2006/relationships/slideLayout" Target="../slideLayouts/slideLayout2.xml"/><Relationship Id="rId10" Type="http://schemas.openxmlformats.org/officeDocument/2006/relationships/image" Target="../media/image11.png"/><Relationship Id="rId1" Type="http://schemas.openxmlformats.org/officeDocument/2006/relationships/customXml" Target="../ink/ink5.xml"/></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12.xml"/><Relationship Id="rId4" Type="http://schemas.openxmlformats.org/officeDocument/2006/relationships/image" Target="../media/image13.png"/><Relationship Id="rId3" Type="http://schemas.openxmlformats.org/officeDocument/2006/relationships/customXml" Target="../ink/ink11.xml"/><Relationship Id="rId2" Type="http://schemas.openxmlformats.org/officeDocument/2006/relationships/image" Target="../media/image12.png"/><Relationship Id="rId1" Type="http://schemas.openxmlformats.org/officeDocument/2006/relationships/customXml" Target="../ink/ink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9" Type="http://schemas.openxmlformats.org/officeDocument/2006/relationships/customXml" Target="../ink/ink17.xml"/><Relationship Id="rId8" Type="http://schemas.openxmlformats.org/officeDocument/2006/relationships/image" Target="../media/image18.png"/><Relationship Id="rId7" Type="http://schemas.openxmlformats.org/officeDocument/2006/relationships/customXml" Target="../ink/ink16.xml"/><Relationship Id="rId6" Type="http://schemas.openxmlformats.org/officeDocument/2006/relationships/image" Target="../media/image17.png"/><Relationship Id="rId5" Type="http://schemas.openxmlformats.org/officeDocument/2006/relationships/customXml" Target="../ink/ink15.xml"/><Relationship Id="rId4" Type="http://schemas.openxmlformats.org/officeDocument/2006/relationships/image" Target="../media/image16.png"/><Relationship Id="rId36" Type="http://schemas.openxmlformats.org/officeDocument/2006/relationships/slideLayout" Target="../slideLayouts/slideLayout2.xml"/><Relationship Id="rId35" Type="http://schemas.openxmlformats.org/officeDocument/2006/relationships/customXml" Target="../ink/ink30.xml"/><Relationship Id="rId34" Type="http://schemas.openxmlformats.org/officeDocument/2006/relationships/image" Target="../media/image31.png"/><Relationship Id="rId33" Type="http://schemas.openxmlformats.org/officeDocument/2006/relationships/customXml" Target="../ink/ink29.xml"/><Relationship Id="rId32" Type="http://schemas.openxmlformats.org/officeDocument/2006/relationships/image" Target="../media/image30.png"/><Relationship Id="rId31" Type="http://schemas.openxmlformats.org/officeDocument/2006/relationships/customXml" Target="../ink/ink28.xml"/><Relationship Id="rId30" Type="http://schemas.openxmlformats.org/officeDocument/2006/relationships/image" Target="../media/image29.png"/><Relationship Id="rId3" Type="http://schemas.openxmlformats.org/officeDocument/2006/relationships/customXml" Target="../ink/ink14.xml"/><Relationship Id="rId29" Type="http://schemas.openxmlformats.org/officeDocument/2006/relationships/customXml" Target="../ink/ink27.xml"/><Relationship Id="rId28" Type="http://schemas.openxmlformats.org/officeDocument/2006/relationships/image" Target="../media/image28.png"/><Relationship Id="rId27" Type="http://schemas.openxmlformats.org/officeDocument/2006/relationships/customXml" Target="../ink/ink26.xml"/><Relationship Id="rId26" Type="http://schemas.openxmlformats.org/officeDocument/2006/relationships/image" Target="../media/image27.png"/><Relationship Id="rId25" Type="http://schemas.openxmlformats.org/officeDocument/2006/relationships/customXml" Target="../ink/ink25.xml"/><Relationship Id="rId24" Type="http://schemas.openxmlformats.org/officeDocument/2006/relationships/image" Target="../media/image26.png"/><Relationship Id="rId23" Type="http://schemas.openxmlformats.org/officeDocument/2006/relationships/customXml" Target="../ink/ink24.xml"/><Relationship Id="rId22" Type="http://schemas.openxmlformats.org/officeDocument/2006/relationships/image" Target="../media/image25.png"/><Relationship Id="rId21" Type="http://schemas.openxmlformats.org/officeDocument/2006/relationships/customXml" Target="../ink/ink23.xml"/><Relationship Id="rId20" Type="http://schemas.openxmlformats.org/officeDocument/2006/relationships/image" Target="../media/image24.png"/><Relationship Id="rId2" Type="http://schemas.openxmlformats.org/officeDocument/2006/relationships/image" Target="../media/image15.png"/><Relationship Id="rId19" Type="http://schemas.openxmlformats.org/officeDocument/2006/relationships/customXml" Target="../ink/ink22.xml"/><Relationship Id="rId18" Type="http://schemas.openxmlformats.org/officeDocument/2006/relationships/image" Target="../media/image23.png"/><Relationship Id="rId17" Type="http://schemas.openxmlformats.org/officeDocument/2006/relationships/customXml" Target="../ink/ink21.xml"/><Relationship Id="rId16" Type="http://schemas.openxmlformats.org/officeDocument/2006/relationships/image" Target="../media/image22.png"/><Relationship Id="rId15" Type="http://schemas.openxmlformats.org/officeDocument/2006/relationships/customXml" Target="../ink/ink20.xml"/><Relationship Id="rId14" Type="http://schemas.openxmlformats.org/officeDocument/2006/relationships/image" Target="../media/image21.png"/><Relationship Id="rId13" Type="http://schemas.openxmlformats.org/officeDocument/2006/relationships/customXml" Target="../ink/ink19.xml"/><Relationship Id="rId12" Type="http://schemas.openxmlformats.org/officeDocument/2006/relationships/image" Target="../media/image20.png"/><Relationship Id="rId11" Type="http://schemas.openxmlformats.org/officeDocument/2006/relationships/customXml" Target="../ink/ink18.xml"/><Relationship Id="rId10" Type="http://schemas.openxmlformats.org/officeDocument/2006/relationships/image" Target="../media/image19.png"/><Relationship Id="rId1" Type="http://schemas.openxmlformats.org/officeDocument/2006/relationships/customXml" Target="../ink/ink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9" Type="http://schemas.openxmlformats.org/officeDocument/2006/relationships/customXml" Target="../ink/ink35.xml"/><Relationship Id="rId8" Type="http://schemas.openxmlformats.org/officeDocument/2006/relationships/image" Target="../media/image35.png"/><Relationship Id="rId7" Type="http://schemas.openxmlformats.org/officeDocument/2006/relationships/customXml" Target="../ink/ink34.xml"/><Relationship Id="rId6" Type="http://schemas.openxmlformats.org/officeDocument/2006/relationships/image" Target="../media/image34.png"/><Relationship Id="rId5" Type="http://schemas.openxmlformats.org/officeDocument/2006/relationships/customXml" Target="../ink/ink33.xml"/><Relationship Id="rId4" Type="http://schemas.openxmlformats.org/officeDocument/2006/relationships/image" Target="../media/image33.png"/><Relationship Id="rId3" Type="http://schemas.openxmlformats.org/officeDocument/2006/relationships/customXml" Target="../ink/ink32.xml"/><Relationship Id="rId2" Type="http://schemas.openxmlformats.org/officeDocument/2006/relationships/image" Target="../media/image32.png"/><Relationship Id="rId13" Type="http://schemas.openxmlformats.org/officeDocument/2006/relationships/slideLayout" Target="../slideLayouts/slideLayout1.xml"/><Relationship Id="rId12" Type="http://schemas.openxmlformats.org/officeDocument/2006/relationships/image" Target="../media/image37.png"/><Relationship Id="rId11" Type="http://schemas.openxmlformats.org/officeDocument/2006/relationships/customXml" Target="../ink/ink36.xml"/><Relationship Id="rId10" Type="http://schemas.openxmlformats.org/officeDocument/2006/relationships/image" Target="../media/image36.png"/><Relationship Id="rId1" Type="http://schemas.openxmlformats.org/officeDocument/2006/relationships/customXml" Target="../ink/ink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zh-CN" sz="2400">
                <a:solidFill>
                  <a:schemeClr val="tx1"/>
                </a:solidFill>
              </a:rPr>
              <a:t>①</a:t>
            </a:r>
            <a:r>
              <a:rPr lang="en-US" altLang="zh-CN" sz="2400">
                <a:solidFill>
                  <a:schemeClr val="tx1"/>
                </a:solidFill>
              </a:rPr>
              <a:t>which</a:t>
            </a:r>
            <a:r>
              <a:rPr lang="zh-CN" altLang="en-US" sz="2400">
                <a:solidFill>
                  <a:schemeClr val="tx1"/>
                </a:solidFill>
              </a:rPr>
              <a:t>引导非限制性定从；对前面一件事进行评价；递进关系</a:t>
            </a:r>
            <a:endParaRPr lang="zh-CN" altLang="en-US" sz="2400">
              <a:solidFill>
                <a:schemeClr val="tx1"/>
              </a:solidFill>
            </a:endParaRPr>
          </a:p>
        </p:txBody>
      </p:sp>
      <p:graphicFrame>
        <p:nvGraphicFramePr>
          <p:cNvPr id="4" name="内容占位符 3"/>
          <p:cNvGraphicFramePr/>
          <p:nvPr>
            <p:ph idx="1"/>
          </p:nvPr>
        </p:nvGraphicFramePr>
        <p:xfrm>
          <a:off x="499110" y="1131570"/>
          <a:ext cx="8540115" cy="3962400"/>
        </p:xfrm>
        <a:graphic>
          <a:graphicData uri="http://schemas.openxmlformats.org/drawingml/2006/table">
            <a:tbl>
              <a:tblPr firstRow="1" bandRow="1">
                <a:tableStyleId>{5C22544A-7EE6-4342-B048-85BDC9FD1C3A}</a:tableStyleId>
              </a:tblPr>
              <a:tblGrid>
                <a:gridCol w="3379470"/>
                <a:gridCol w="5160645"/>
              </a:tblGrid>
              <a:tr h="381000">
                <a:tc rowSpan="10">
                  <a:txBody>
                    <a:bodyPr/>
                    <a:p>
                      <a:pPr>
                        <a:buNone/>
                      </a:pPr>
                      <a:r>
                        <a:rPr lang="en-US" altLang="zh-CN" sz="2400" b="1"/>
                        <a:t>XXXX， which </a:t>
                      </a:r>
                      <a:endParaRPr lang="en-US" altLang="zh-CN" sz="2400" b="1"/>
                    </a:p>
                  </a:txBody>
                  <a:tcPr/>
                </a:tc>
                <a:tc>
                  <a:txBody>
                    <a:bodyPr/>
                    <a:p>
                      <a:pPr algn="l">
                        <a:buClrTx/>
                        <a:buSzTx/>
                        <a:buFontTx/>
                        <a:buNone/>
                      </a:pPr>
                      <a:r>
                        <a:rPr lang="en-US" altLang="zh-CN" sz="2000" b="1"/>
                        <a:t>allows/enables sb to do sth</a:t>
                      </a:r>
                      <a:endParaRPr lang="en-US" altLang="zh-CN" sz="2000" b="1"/>
                    </a:p>
                  </a:txBody>
                  <a:tcPr/>
                </a:tc>
              </a:tr>
              <a:tr h="381000">
                <a:tc vMerge="1">
                  <a:tcPr/>
                </a:tc>
                <a:tc>
                  <a:txBody>
                    <a:bodyPr/>
                    <a:p>
                      <a:pPr>
                        <a:buNone/>
                      </a:pPr>
                      <a:r>
                        <a:rPr lang="en-US" altLang="zh-CN" sz="2000" b="1"/>
                        <a:t>encourages sb to do sth </a:t>
                      </a:r>
                      <a:endParaRPr lang="en-US" altLang="zh-CN" sz="2000" b="1"/>
                    </a:p>
                  </a:txBody>
                  <a:tcPr/>
                </a:tc>
              </a:tr>
              <a:tr h="381000">
                <a:tc vMerge="1">
                  <a:tcPr/>
                </a:tc>
                <a:tc>
                  <a:txBody>
                    <a:bodyPr/>
                    <a:p>
                      <a:pPr>
                        <a:buNone/>
                      </a:pPr>
                      <a:r>
                        <a:rPr lang="en-US" altLang="zh-CN" sz="2000" b="1"/>
                        <a:t>promotes +n</a:t>
                      </a:r>
                      <a:endParaRPr lang="en-US" altLang="zh-CN" sz="2000" b="1"/>
                    </a:p>
                  </a:txBody>
                  <a:tcPr/>
                </a:tc>
              </a:tr>
              <a:tr h="381000">
                <a:tc vMerge="1">
                  <a:tcPr/>
                </a:tc>
                <a:tc>
                  <a:txBody>
                    <a:bodyPr/>
                    <a:p>
                      <a:pPr>
                        <a:buNone/>
                      </a:pPr>
                      <a:r>
                        <a:rPr lang="en-US" altLang="zh-CN" sz="2000" b="1"/>
                        <a:t>means that....</a:t>
                      </a:r>
                      <a:endParaRPr lang="en-US" altLang="zh-CN" sz="2000" b="1"/>
                    </a:p>
                  </a:txBody>
                  <a:tcPr/>
                </a:tc>
              </a:tr>
              <a:tr h="381000">
                <a:tc vMerge="1">
                  <a:tcPr/>
                </a:tc>
                <a:tc>
                  <a:txBody>
                    <a:bodyPr/>
                    <a:p>
                      <a:pPr>
                        <a:buNone/>
                      </a:pPr>
                      <a:r>
                        <a:rPr lang="en-US" altLang="zh-CN" sz="2000" b="1"/>
                        <a:t>is beneficial to doing sth </a:t>
                      </a:r>
                      <a:endParaRPr lang="en-US" altLang="zh-CN" sz="2000" b="1"/>
                    </a:p>
                  </a:txBody>
                  <a:tcPr/>
                </a:tc>
              </a:tr>
              <a:tr h="381000">
                <a:tc vMerge="1">
                  <a:tcPr/>
                </a:tc>
                <a:tc>
                  <a:txBody>
                    <a:bodyPr/>
                    <a:p>
                      <a:pPr>
                        <a:buNone/>
                      </a:pPr>
                      <a:r>
                        <a:rPr lang="en-US" altLang="zh-CN" sz="2000" b="1"/>
                        <a:t>makes significant contributions to</a:t>
                      </a:r>
                      <a:endParaRPr lang="en-US" altLang="zh-CN" sz="2000" b="1"/>
                    </a:p>
                  </a:txBody>
                  <a:tcPr/>
                </a:tc>
              </a:tr>
              <a:tr h="381000">
                <a:tc vMerge="1">
                  <a:tcPr/>
                </a:tc>
                <a:tc>
                  <a:txBody>
                    <a:bodyPr/>
                    <a:p>
                      <a:pPr>
                        <a:buNone/>
                      </a:pPr>
                      <a:r>
                        <a:rPr lang="en-US" altLang="zh-CN" sz="2000" b="1"/>
                        <a:t>contributes to</a:t>
                      </a:r>
                      <a:endParaRPr lang="en-US" altLang="zh-CN" sz="2000" b="1"/>
                    </a:p>
                  </a:txBody>
                  <a:tcPr/>
                </a:tc>
              </a:tr>
              <a:tr h="381000">
                <a:tc vMerge="1">
                  <a:tcPr/>
                </a:tc>
                <a:tc>
                  <a:txBody>
                    <a:bodyPr/>
                    <a:p>
                      <a:pPr>
                        <a:buNone/>
                      </a:pPr>
                      <a:r>
                        <a:rPr lang="en-US" altLang="zh-CN" sz="2000" b="1"/>
                        <a:t>is helpful in doing sth </a:t>
                      </a:r>
                      <a:endParaRPr lang="en-US" altLang="zh-CN" sz="2000" b="1"/>
                    </a:p>
                  </a:txBody>
                  <a:tcPr/>
                </a:tc>
              </a:tr>
              <a:tr h="381000">
                <a:tc vMerge="1">
                  <a:tcPr/>
                </a:tc>
                <a:tc>
                  <a:txBody>
                    <a:bodyPr/>
                    <a:p>
                      <a:pPr>
                        <a:buNone/>
                      </a:pPr>
                      <a:r>
                        <a:rPr lang="en-US" altLang="zh-CN" sz="2000" b="1"/>
                        <a:t>makes it possible for sb to do sth </a:t>
                      </a:r>
                      <a:endParaRPr lang="en-US" altLang="zh-CN" sz="2000" b="1"/>
                    </a:p>
                  </a:txBody>
                  <a:tcPr/>
                </a:tc>
              </a:tr>
              <a:tr h="381000">
                <a:tc vMerge="1">
                  <a:tcPr/>
                </a:tc>
                <a:tc>
                  <a:txBody>
                    <a:bodyPr/>
                    <a:p>
                      <a:pPr>
                        <a:buNone/>
                      </a:pPr>
                      <a:r>
                        <a:rPr lang="en-US" altLang="zh-CN" sz="2000" b="1"/>
                        <a:t>has some positive effects on</a:t>
                      </a:r>
                      <a:endParaRPr lang="en-US" altLang="zh-CN" sz="2000" b="1"/>
                    </a:p>
                  </a:txBody>
                  <a:tcPr/>
                </a:tc>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zh-CN" sz="2400">
                <a:solidFill>
                  <a:schemeClr val="tx1"/>
                </a:solidFill>
              </a:rPr>
              <a:t>①</a:t>
            </a:r>
            <a:r>
              <a:rPr lang="en-US" altLang="zh-CN" sz="2400">
                <a:solidFill>
                  <a:schemeClr val="tx1"/>
                </a:solidFill>
              </a:rPr>
              <a:t>which</a:t>
            </a:r>
            <a:r>
              <a:rPr lang="zh-CN" altLang="en-US" sz="2400">
                <a:solidFill>
                  <a:schemeClr val="tx1"/>
                </a:solidFill>
              </a:rPr>
              <a:t>引导非限制性定从；对前面一件事进行评价；递进关系</a:t>
            </a:r>
            <a:endParaRPr lang="zh-CN" altLang="en-US" sz="2400">
              <a:solidFill>
                <a:schemeClr val="tx1"/>
              </a:solidFill>
            </a:endParaRPr>
          </a:p>
        </p:txBody>
      </p:sp>
      <p:graphicFrame>
        <p:nvGraphicFramePr>
          <p:cNvPr id="4" name="内容占位符 3"/>
          <p:cNvGraphicFramePr/>
          <p:nvPr>
            <p:ph idx="1"/>
          </p:nvPr>
        </p:nvGraphicFramePr>
        <p:xfrm>
          <a:off x="499110" y="1131570"/>
          <a:ext cx="8540115" cy="3169920"/>
        </p:xfrm>
        <a:graphic>
          <a:graphicData uri="http://schemas.openxmlformats.org/drawingml/2006/table">
            <a:tbl>
              <a:tblPr firstRow="1" bandRow="1">
                <a:tableStyleId>{5C22544A-7EE6-4342-B048-85BDC9FD1C3A}</a:tableStyleId>
              </a:tblPr>
              <a:tblGrid>
                <a:gridCol w="3379470"/>
                <a:gridCol w="5160645"/>
              </a:tblGrid>
              <a:tr h="381000">
                <a:tc rowSpan="8">
                  <a:txBody>
                    <a:bodyPr/>
                    <a:p>
                      <a:pPr>
                        <a:buNone/>
                      </a:pPr>
                      <a:r>
                        <a:rPr lang="en-US" altLang="zh-CN" sz="2400" b="1"/>
                        <a:t>XXXX， which </a:t>
                      </a:r>
                      <a:endParaRPr lang="en-US" altLang="zh-CN" sz="2400" b="1"/>
                    </a:p>
                  </a:txBody>
                  <a:tcPr/>
                </a:tc>
                <a:tc>
                  <a:txBody>
                    <a:bodyPr/>
                    <a:p>
                      <a:pPr algn="l">
                        <a:buClrTx/>
                        <a:buSzTx/>
                        <a:buFontTx/>
                        <a:buNone/>
                      </a:pPr>
                      <a:r>
                        <a:rPr lang="en-US" altLang="zh-CN" sz="2000" b="1"/>
                        <a:t>causes  sb to do sth</a:t>
                      </a:r>
                      <a:endParaRPr lang="en-US" altLang="zh-CN" sz="2000" b="1"/>
                    </a:p>
                  </a:txBody>
                  <a:tcPr/>
                </a:tc>
              </a:tr>
              <a:tr h="381000">
                <a:tc vMerge="1">
                  <a:tcPr/>
                </a:tc>
                <a:tc>
                  <a:txBody>
                    <a:bodyPr/>
                    <a:p>
                      <a:pPr>
                        <a:buNone/>
                      </a:pPr>
                      <a:r>
                        <a:rPr lang="en-US" altLang="zh-CN" sz="2000" b="1"/>
                        <a:t>prevents/hinders/deters sb from doing sth</a:t>
                      </a:r>
                      <a:endParaRPr lang="en-US" altLang="zh-CN" sz="2000" b="1"/>
                    </a:p>
                  </a:txBody>
                  <a:tcPr/>
                </a:tc>
              </a:tr>
              <a:tr h="396240">
                <a:tc vMerge="1">
                  <a:tcPr/>
                </a:tc>
                <a:tc>
                  <a:txBody>
                    <a:bodyPr/>
                    <a:p>
                      <a:pPr>
                        <a:buNone/>
                      </a:pPr>
                      <a:r>
                        <a:rPr lang="en-US" altLang="zh-CN" sz="2000" b="1"/>
                        <a:t>is detrimental to doing sth</a:t>
                      </a:r>
                      <a:endParaRPr lang="en-US" altLang="zh-CN" sz="2000" b="1"/>
                    </a:p>
                  </a:txBody>
                  <a:tcPr/>
                </a:tc>
              </a:tr>
              <a:tr h="381000">
                <a:tc vMerge="1">
                  <a:tcPr/>
                </a:tc>
                <a:tc>
                  <a:txBody>
                    <a:bodyPr/>
                    <a:p>
                      <a:pPr>
                        <a:buNone/>
                      </a:pPr>
                      <a:r>
                        <a:rPr lang="en-US" altLang="zh-CN" sz="2000" b="1"/>
                        <a:t>has some </a:t>
                      </a:r>
                      <a:r>
                        <a:rPr lang="en-US" altLang="zh-CN" sz="2000" b="1">
                          <a:sym typeface="+mn-ea"/>
                        </a:rPr>
                        <a:t>negative effects on</a:t>
                      </a:r>
                      <a:endParaRPr lang="en-US" altLang="zh-CN" sz="2000" b="1"/>
                    </a:p>
                  </a:txBody>
                  <a:tcPr/>
                </a:tc>
              </a:tr>
              <a:tr h="381000">
                <a:tc vMerge="1">
                  <a:tcPr/>
                </a:tc>
                <a:tc>
                  <a:txBody>
                    <a:bodyPr/>
                    <a:p>
                      <a:pPr>
                        <a:buNone/>
                      </a:pPr>
                      <a:r>
                        <a:rPr lang="en-US" altLang="zh-CN" sz="2000" b="1"/>
                        <a:t>poses a huge threat to</a:t>
                      </a:r>
                      <a:endParaRPr lang="en-US" altLang="zh-CN" sz="2000" b="1"/>
                    </a:p>
                  </a:txBody>
                  <a:tcPr/>
                </a:tc>
              </a:tr>
              <a:tr h="396240">
                <a:tc vMerge="1">
                  <a:tcPr/>
                </a:tc>
                <a:tc>
                  <a:txBody>
                    <a:bodyPr/>
                    <a:p>
                      <a:pPr>
                        <a:buNone/>
                      </a:pPr>
                      <a:r>
                        <a:rPr lang="en-US" altLang="zh-CN" sz="2000" b="1"/>
                        <a:t>has a devastating effect on </a:t>
                      </a:r>
                      <a:endParaRPr lang="en-US" altLang="zh-CN" sz="2000" b="1"/>
                    </a:p>
                  </a:txBody>
                  <a:tcPr/>
                </a:tc>
              </a:tr>
              <a:tr h="381000">
                <a:tc vMerge="1">
                  <a:tcPr/>
                </a:tc>
                <a:tc>
                  <a:txBody>
                    <a:bodyPr/>
                    <a:p>
                      <a:pPr>
                        <a:buNone/>
                      </a:pPr>
                      <a:r>
                        <a:rPr lang="en-US" altLang="zh-CN" sz="2000" b="1"/>
                        <a:t>places a burden on </a:t>
                      </a:r>
                      <a:endParaRPr lang="en-US" altLang="zh-CN" sz="2000" b="1"/>
                    </a:p>
                  </a:txBody>
                  <a:tcPr/>
                </a:tc>
              </a:tr>
              <a:tr h="381000">
                <a:tc vMerge="1">
                  <a:tcPr/>
                </a:tc>
                <a:tc>
                  <a:txBody>
                    <a:bodyPr/>
                    <a:p>
                      <a:pPr>
                        <a:buNone/>
                      </a:pPr>
                      <a:r>
                        <a:rPr lang="en-US" altLang="zh-CN" sz="2000" b="1"/>
                        <a:t>puts huge pressure on </a:t>
                      </a:r>
                      <a:endParaRPr lang="en-US" altLang="zh-CN" sz="2000" b="1"/>
                    </a:p>
                  </a:txBody>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sp>
        <p:nvSpPr>
          <p:cNvPr id="3" name="内容占位符 2"/>
          <p:cNvSpPr/>
          <p:nvPr>
            <p:ph idx="1"/>
          </p:nvPr>
        </p:nvSpPr>
        <p:spPr/>
        <p:txBody>
          <a:bodyPr/>
          <a:p>
            <a:r>
              <a:rPr>
                <a:solidFill>
                  <a:schemeClr val="tx1"/>
                </a:solidFill>
              </a:rPr>
              <a:t>不定式</a:t>
            </a:r>
            <a:r>
              <a:rPr lang="en-US" altLang="zh-CN">
                <a:solidFill>
                  <a:schemeClr val="tx1"/>
                </a:solidFill>
              </a:rPr>
              <a:t> to do/to be done</a:t>
            </a:r>
            <a:endParaRPr lang="en-US" altLang="zh-CN">
              <a:solidFill>
                <a:schemeClr val="tx1"/>
              </a:solidFill>
            </a:endParaRPr>
          </a:p>
          <a:p>
            <a:r>
              <a:rPr>
                <a:solidFill>
                  <a:schemeClr val="tx1"/>
                </a:solidFill>
              </a:rPr>
              <a:t>动名词</a:t>
            </a:r>
            <a:r>
              <a:rPr lang="en-US" altLang="zh-CN">
                <a:solidFill>
                  <a:schemeClr val="tx1"/>
                </a:solidFill>
              </a:rPr>
              <a:t> doing/being done </a:t>
            </a:r>
            <a:endParaRPr lang="en-US" altLang="zh-CN">
              <a:solidFill>
                <a:schemeClr val="tx1"/>
              </a:solidFill>
            </a:endParaRPr>
          </a:p>
          <a:p>
            <a:r>
              <a:rPr>
                <a:solidFill>
                  <a:schemeClr val="tx1"/>
                </a:solidFill>
              </a:rPr>
              <a:t>分词</a:t>
            </a:r>
            <a:r>
              <a:rPr lang="en-US" altLang="zh-CN">
                <a:solidFill>
                  <a:schemeClr val="tx1"/>
                </a:solidFill>
              </a:rPr>
              <a:t> doing/done</a:t>
            </a:r>
            <a:endParaRPr>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sp>
        <p:nvSpPr>
          <p:cNvPr id="3" name="内容占位符 2"/>
          <p:cNvSpPr/>
          <p:nvPr>
            <p:ph idx="1"/>
          </p:nvPr>
        </p:nvSpPr>
        <p:spPr/>
        <p:txBody>
          <a:bodyPr/>
          <a:p>
            <a:r>
              <a:rPr>
                <a:solidFill>
                  <a:schemeClr val="tx1"/>
                </a:solidFill>
              </a:rPr>
              <a:t>动名词做主语</a:t>
            </a:r>
            <a:endParaRPr>
              <a:solidFill>
                <a:schemeClr val="tx1"/>
              </a:solidFill>
            </a:endParaRPr>
          </a:p>
          <a:p>
            <a:r>
              <a:rPr lang="en-US" altLang="zh-CN" u="sng">
                <a:solidFill>
                  <a:srgbClr val="C00000"/>
                </a:solidFill>
              </a:rPr>
              <a:t>Learning English</a:t>
            </a:r>
            <a:r>
              <a:rPr lang="en-US" altLang="zh-CN">
                <a:solidFill>
                  <a:schemeClr val="tx1"/>
                </a:solidFill>
              </a:rPr>
              <a:t> allows me to deepen my understanding of Western cultures.</a:t>
            </a:r>
            <a:endParaRPr lang="en-US" altLang="zh-CN">
              <a:solidFill>
                <a:schemeClr val="tx1"/>
              </a:solidFill>
            </a:endParaRPr>
          </a:p>
          <a:p>
            <a:r>
              <a:rPr lang="en-US" altLang="zh-CN" u="sng">
                <a:solidFill>
                  <a:srgbClr val="C00000"/>
                </a:solidFill>
              </a:rPr>
              <a:t>Being sent abroad</a:t>
            </a:r>
            <a:r>
              <a:rPr lang="en-US" altLang="zh-CN">
                <a:solidFill>
                  <a:schemeClr val="tx1"/>
                </a:solidFill>
              </a:rPr>
              <a:t> is a good experience for me.</a:t>
            </a:r>
            <a:endParaRPr lang="en-US" altLang="zh-CN">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sp>
        <p:nvSpPr>
          <p:cNvPr id="3" name="内容占位符 2"/>
          <p:cNvSpPr/>
          <p:nvPr>
            <p:ph idx="1"/>
          </p:nvPr>
        </p:nvSpPr>
        <p:spPr>
          <a:xfrm>
            <a:off x="457200" y="1428750"/>
            <a:ext cx="8686800" cy="3610610"/>
          </a:xfrm>
        </p:spPr>
        <p:txBody>
          <a:bodyPr/>
          <a:p>
            <a:r>
              <a:rPr>
                <a:solidFill>
                  <a:schemeClr val="tx1"/>
                </a:solidFill>
              </a:rPr>
              <a:t>动名词做宾语：动宾</a:t>
            </a:r>
            <a:r>
              <a:rPr lang="en-US" altLang="zh-CN">
                <a:solidFill>
                  <a:schemeClr val="tx1"/>
                </a:solidFill>
              </a:rPr>
              <a:t>&amp;</a:t>
            </a:r>
            <a:r>
              <a:rPr>
                <a:solidFill>
                  <a:schemeClr val="tx1"/>
                </a:solidFill>
              </a:rPr>
              <a:t>介宾</a:t>
            </a:r>
            <a:endParaRPr>
              <a:solidFill>
                <a:schemeClr val="tx1"/>
              </a:solidFill>
            </a:endParaRPr>
          </a:p>
          <a:p>
            <a:r>
              <a:rPr lang="en-US" altLang="zh-CN">
                <a:solidFill>
                  <a:schemeClr val="tx1"/>
                </a:solidFill>
              </a:rPr>
              <a:t>I enjoy</a:t>
            </a:r>
            <a:r>
              <a:rPr lang="en-US" altLang="zh-CN" b="1" u="sng">
                <a:solidFill>
                  <a:srgbClr val="C00000"/>
                </a:solidFill>
              </a:rPr>
              <a:t> swimming</a:t>
            </a:r>
            <a:r>
              <a:rPr lang="en-US" altLang="zh-CN">
                <a:solidFill>
                  <a:schemeClr val="tx1"/>
                </a:solidFill>
              </a:rPr>
              <a:t>.</a:t>
            </a:r>
            <a:endParaRPr lang="en-US" altLang="zh-CN">
              <a:solidFill>
                <a:schemeClr val="tx1"/>
              </a:solidFill>
            </a:endParaRPr>
          </a:p>
          <a:p>
            <a:r>
              <a:rPr lang="en-US" altLang="zh-CN">
                <a:solidFill>
                  <a:schemeClr val="tx1"/>
                </a:solidFill>
              </a:rPr>
              <a:t>I like </a:t>
            </a:r>
            <a:r>
              <a:rPr lang="en-US" altLang="zh-CN" b="1" u="sng">
                <a:solidFill>
                  <a:srgbClr val="C00000"/>
                </a:solidFill>
              </a:rPr>
              <a:t>being encouraged</a:t>
            </a:r>
            <a:r>
              <a:rPr lang="en-US" altLang="zh-CN">
                <a:solidFill>
                  <a:schemeClr val="tx1"/>
                </a:solidFill>
              </a:rPr>
              <a:t>.</a:t>
            </a:r>
            <a:endParaRPr lang="en-US" altLang="zh-CN">
              <a:solidFill>
                <a:schemeClr val="tx1"/>
              </a:solidFill>
            </a:endParaRPr>
          </a:p>
          <a:p>
            <a:r>
              <a:rPr lang="en-US" altLang="zh-CN" b="1" u="sng">
                <a:solidFill>
                  <a:srgbClr val="C00000"/>
                </a:solidFill>
              </a:rPr>
              <a:t>After arriving at the destination</a:t>
            </a:r>
            <a:r>
              <a:rPr lang="en-US" altLang="zh-CN">
                <a:solidFill>
                  <a:schemeClr val="tx1"/>
                </a:solidFill>
              </a:rPr>
              <a:t>, the fish will be frozen.</a:t>
            </a:r>
            <a:endParaRPr lang="en-US" altLang="zh-CN">
              <a:solidFill>
                <a:schemeClr val="tx1"/>
              </a:solidFill>
            </a:endParaRPr>
          </a:p>
          <a:p>
            <a:r>
              <a:rPr lang="en-US" altLang="zh-CN" b="1" u="sng">
                <a:solidFill>
                  <a:srgbClr val="C00000"/>
                </a:solidFill>
              </a:rPr>
              <a:t>After being sent to private schools</a:t>
            </a:r>
            <a:r>
              <a:rPr lang="en-US" altLang="zh-CN">
                <a:solidFill>
                  <a:schemeClr val="tx1"/>
                </a:solidFill>
              </a:rPr>
              <a:t>, I began to learn English well.</a:t>
            </a:r>
            <a:endParaRPr lang="en-US" altLang="zh-CN">
              <a:solidFill>
                <a:schemeClr val="tx1"/>
              </a:solidFill>
            </a:endParaRPr>
          </a:p>
          <a:p>
            <a:r>
              <a:rPr lang="en-US" altLang="zh-CN" b="1" u="sng">
                <a:solidFill>
                  <a:srgbClr val="C00000"/>
                </a:solidFill>
              </a:rPr>
              <a:t>Despite being criticized</a:t>
            </a:r>
            <a:r>
              <a:rPr lang="en-US" altLang="zh-CN">
                <a:solidFill>
                  <a:schemeClr val="tx1"/>
                </a:solidFill>
              </a:rPr>
              <a:t>, I still choose to insist.</a:t>
            </a:r>
            <a:endParaRPr>
              <a:solidFill>
                <a:schemeClr val="tx1"/>
              </a:solidFill>
            </a:endParaRPr>
          </a:p>
          <a:p>
            <a:endParaRPr lang="en-US" altLang="zh-CN">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sp>
        <p:nvSpPr>
          <p:cNvPr id="3" name="内容占位符 2"/>
          <p:cNvSpPr/>
          <p:nvPr>
            <p:ph idx="1"/>
          </p:nvPr>
        </p:nvSpPr>
        <p:spPr>
          <a:xfrm>
            <a:off x="457200" y="1428750"/>
            <a:ext cx="8686800" cy="3610610"/>
          </a:xfrm>
        </p:spPr>
        <p:txBody>
          <a:bodyPr/>
          <a:p>
            <a:r>
              <a:rPr>
                <a:solidFill>
                  <a:schemeClr val="tx1"/>
                </a:solidFill>
              </a:rPr>
              <a:t>动名词做表语</a:t>
            </a:r>
            <a:endParaRPr>
              <a:solidFill>
                <a:schemeClr val="tx1"/>
              </a:solidFill>
            </a:endParaRPr>
          </a:p>
          <a:p>
            <a:r>
              <a:rPr lang="en-US" altLang="zh-CN">
                <a:solidFill>
                  <a:schemeClr val="tx1"/>
                </a:solidFill>
              </a:rPr>
              <a:t>My hobby is </a:t>
            </a:r>
            <a:r>
              <a:rPr lang="en-US" altLang="zh-CN" u="sng">
                <a:solidFill>
                  <a:srgbClr val="C00000"/>
                </a:solidFill>
              </a:rPr>
              <a:t>swimming</a:t>
            </a:r>
            <a:r>
              <a:rPr lang="en-US" altLang="zh-CN">
                <a:solidFill>
                  <a:schemeClr val="tx1"/>
                </a:solidFill>
              </a:rPr>
              <a:t>.</a:t>
            </a:r>
            <a:endParaRPr lang="en-US" altLang="zh-CN">
              <a:solidFill>
                <a:schemeClr val="tx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sp>
        <p:nvSpPr>
          <p:cNvPr id="3" name="内容占位符 2"/>
          <p:cNvSpPr/>
          <p:nvPr>
            <p:ph idx="1"/>
          </p:nvPr>
        </p:nvSpPr>
        <p:spPr>
          <a:xfrm>
            <a:off x="457200" y="1428750"/>
            <a:ext cx="8686800" cy="3610610"/>
          </a:xfrm>
        </p:spPr>
        <p:txBody>
          <a:bodyPr/>
          <a:p>
            <a:r>
              <a:rPr>
                <a:solidFill>
                  <a:schemeClr val="tx1"/>
                </a:solidFill>
              </a:rPr>
              <a:t>分词</a:t>
            </a:r>
            <a:r>
              <a:rPr lang="en-US" altLang="zh-CN">
                <a:solidFill>
                  <a:schemeClr val="tx1"/>
                </a:solidFill>
              </a:rPr>
              <a:t>(doing/done)</a:t>
            </a:r>
            <a:r>
              <a:rPr>
                <a:solidFill>
                  <a:schemeClr val="tx1"/>
                </a:solidFill>
              </a:rPr>
              <a:t>做后置定语</a:t>
            </a:r>
            <a:endParaRPr>
              <a:solidFill>
                <a:schemeClr val="tx1"/>
              </a:solidFill>
            </a:endParaRPr>
          </a:p>
          <a:p>
            <a:r>
              <a:rPr lang="en-US" altLang="zh-CN" b="1" u="sng">
                <a:solidFill>
                  <a:srgbClr val="C00000"/>
                </a:solidFill>
              </a:rPr>
              <a:t>经常参观博物馆的</a:t>
            </a:r>
            <a:r>
              <a:rPr>
                <a:solidFill>
                  <a:schemeClr val="tx1"/>
                </a:solidFill>
              </a:rPr>
              <a:t>青少年倾向于更加地学术出色。</a:t>
            </a:r>
            <a:endParaRPr>
              <a:solidFill>
                <a:schemeClr val="tx1"/>
              </a:solidFill>
            </a:endParaRPr>
          </a:p>
          <a:p>
            <a:r>
              <a:rPr lang="en-US" altLang="zh-CN">
                <a:solidFill>
                  <a:schemeClr val="tx1"/>
                </a:solidFill>
                <a:highlight>
                  <a:srgbClr val="FFFF00"/>
                </a:highlight>
              </a:rPr>
              <a:t>The teenagers </a:t>
            </a:r>
            <a:r>
              <a:rPr lang="en-US" altLang="zh-CN" b="1" u="sng">
                <a:solidFill>
                  <a:srgbClr val="C00000"/>
                </a:solidFill>
              </a:rPr>
              <a:t>often visiting musuems</a:t>
            </a:r>
            <a:r>
              <a:rPr lang="en-US" altLang="zh-CN">
                <a:solidFill>
                  <a:schemeClr val="tx1"/>
                </a:solidFill>
              </a:rPr>
              <a:t> tend to be more academically outstanding.</a:t>
            </a:r>
            <a:endParaRPr lang="en-US" altLang="zh-CN">
              <a:solidFill>
                <a:schemeClr val="tx1"/>
              </a:solidFill>
            </a:endParaRPr>
          </a:p>
          <a:p>
            <a:r>
              <a:rPr b="1" u="sng">
                <a:solidFill>
                  <a:srgbClr val="C00000"/>
                </a:solidFill>
              </a:rPr>
              <a:t>位于村庄南部的</a:t>
            </a:r>
            <a:r>
              <a:rPr>
                <a:solidFill>
                  <a:schemeClr val="tx1"/>
                </a:solidFill>
              </a:rPr>
              <a:t>停车场已经被拆掉了。</a:t>
            </a:r>
            <a:endParaRPr>
              <a:solidFill>
                <a:schemeClr val="tx1"/>
              </a:solidFill>
            </a:endParaRPr>
          </a:p>
          <a:p>
            <a:r>
              <a:rPr lang="en-US" altLang="zh-CN">
                <a:solidFill>
                  <a:schemeClr val="tx1"/>
                </a:solidFill>
                <a:highlight>
                  <a:srgbClr val="FFFF00"/>
                </a:highlight>
              </a:rPr>
              <a:t>The car park </a:t>
            </a:r>
            <a:r>
              <a:rPr lang="en-US" altLang="zh-CN" b="1" u="sng">
                <a:solidFill>
                  <a:srgbClr val="C00000"/>
                </a:solidFill>
              </a:rPr>
              <a:t>located in the south of the village</a:t>
            </a:r>
            <a:r>
              <a:rPr lang="en-US" altLang="zh-CN">
                <a:solidFill>
                  <a:schemeClr val="tx1"/>
                </a:solidFill>
              </a:rPr>
              <a:t> has been demolished.</a:t>
            </a:r>
            <a:endParaRPr>
              <a:solidFill>
                <a:schemeClr val="tx1"/>
              </a:solidFill>
            </a:endParaRPr>
          </a:p>
          <a:p>
            <a:endParaRPr>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sp>
        <p:nvSpPr>
          <p:cNvPr id="3" name="内容占位符 2"/>
          <p:cNvSpPr/>
          <p:nvPr>
            <p:ph idx="1"/>
          </p:nvPr>
        </p:nvSpPr>
        <p:spPr>
          <a:xfrm>
            <a:off x="457200" y="1428750"/>
            <a:ext cx="8686800" cy="3610610"/>
          </a:xfrm>
        </p:spPr>
        <p:txBody>
          <a:bodyPr/>
          <a:p>
            <a:r>
              <a:rPr>
                <a:solidFill>
                  <a:schemeClr val="tx1"/>
                </a:solidFill>
              </a:rPr>
              <a:t>分词做状语</a:t>
            </a:r>
            <a:endParaRPr>
              <a:solidFill>
                <a:schemeClr val="tx1"/>
              </a:solidFill>
            </a:endParaRPr>
          </a:p>
          <a:p>
            <a:r>
              <a:rPr lang="en-US" altLang="zh-CN" b="1" u="sng">
                <a:solidFill>
                  <a:srgbClr val="C00000"/>
                </a:solidFill>
              </a:rPr>
              <a:t>Compared with apples</a:t>
            </a:r>
            <a:r>
              <a:rPr lang="en-US" altLang="zh-CN" b="1">
                <a:solidFill>
                  <a:schemeClr val="tx1"/>
                </a:solidFill>
              </a:rPr>
              <a:t>, pears are sweeter.</a:t>
            </a:r>
            <a:endParaRPr lang="en-US" altLang="zh-CN" b="1">
              <a:solidFill>
                <a:schemeClr val="tx1"/>
              </a:solidFill>
            </a:endParaRPr>
          </a:p>
          <a:p>
            <a:r>
              <a:rPr lang="en-US" altLang="zh-CN" b="1" u="sng">
                <a:solidFill>
                  <a:srgbClr val="C00000"/>
                </a:solidFill>
              </a:rPr>
              <a:t>Feeling a little sleepy</a:t>
            </a:r>
            <a:r>
              <a:rPr lang="en-US" altLang="zh-CN" b="1">
                <a:solidFill>
                  <a:schemeClr val="tx1"/>
                </a:solidFill>
              </a:rPr>
              <a:t>, I decide to dismiss the class early.</a:t>
            </a:r>
            <a:endParaRPr lang="en-US" altLang="zh-CN" b="1">
              <a:solidFill>
                <a:schemeClr val="tx1"/>
              </a:solidFill>
            </a:endParaRPr>
          </a:p>
          <a:p>
            <a:r>
              <a:rPr lang="en-US" altLang="zh-CN" b="1">
                <a:solidFill>
                  <a:schemeClr val="tx1"/>
                </a:solidFill>
              </a:rPr>
              <a:t>Many people are addicted to scrolling the short videos, </a:t>
            </a:r>
            <a:r>
              <a:rPr lang="en-US" altLang="zh-CN" b="1" u="sng">
                <a:solidFill>
                  <a:srgbClr val="C00000"/>
                </a:solidFill>
              </a:rPr>
              <a:t>causing them to be easily distracted from their study</a:t>
            </a:r>
            <a:r>
              <a:rPr lang="en-US" altLang="zh-CN" b="1">
                <a:solidFill>
                  <a:schemeClr val="tx1"/>
                </a:solidFill>
              </a:rPr>
              <a:t>.</a:t>
            </a:r>
            <a:endParaRPr lang="en-US" altLang="zh-CN"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60" y="369570"/>
            <a:ext cx="8389620" cy="845185"/>
          </a:xfrm>
        </p:spPr>
        <p:txBody>
          <a:bodyPr/>
          <a:lstStyle/>
          <a:p>
            <a:pPr algn="l"/>
            <a:r>
              <a:rPr lang="zh-CN" altLang="en-US" sz="2400">
                <a:solidFill>
                  <a:schemeClr val="tx1"/>
                </a:solidFill>
              </a:rPr>
              <a:t>补充语法点</a:t>
            </a:r>
            <a:r>
              <a:rPr lang="en-US" altLang="zh-CN" sz="2400">
                <a:solidFill>
                  <a:schemeClr val="tx1"/>
                </a:solidFill>
              </a:rPr>
              <a:t> </a:t>
            </a:r>
            <a:r>
              <a:rPr lang="zh-CN" altLang="en-US" sz="2400">
                <a:solidFill>
                  <a:schemeClr val="tx1"/>
                </a:solidFill>
              </a:rPr>
              <a:t>②非谓语：不是谓语</a:t>
            </a:r>
            <a:r>
              <a:rPr lang="en-US" altLang="zh-CN" sz="2400">
                <a:solidFill>
                  <a:schemeClr val="tx1"/>
                </a:solidFill>
              </a:rPr>
              <a:t>--</a:t>
            </a:r>
            <a:r>
              <a:rPr lang="zh-CN" altLang="en-US" sz="2400">
                <a:solidFill>
                  <a:schemeClr val="tx1"/>
                </a:solidFill>
              </a:rPr>
              <a:t>避免双谓语</a:t>
            </a:r>
            <a:endParaRPr lang="zh-CN" altLang="en-US" sz="2400">
              <a:solidFill>
                <a:schemeClr val="tx1"/>
              </a:solidFill>
            </a:endParaRPr>
          </a:p>
        </p:txBody>
      </p:sp>
      <p:pic>
        <p:nvPicPr>
          <p:cNvPr id="5" name="图片 4" descr="无标题"/>
          <p:cNvPicPr>
            <a:picLocks noChangeAspect="1"/>
          </p:cNvPicPr>
          <p:nvPr/>
        </p:nvPicPr>
        <p:blipFill>
          <a:blip r:embed="rId1"/>
          <a:srcRect l="920" t="3493" r="4925"/>
          <a:stretch>
            <a:fillRect/>
          </a:stretch>
        </p:blipFill>
        <p:spPr>
          <a:xfrm>
            <a:off x="556260" y="1059815"/>
            <a:ext cx="7345045" cy="422846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p:cNvSpPr>
          <p:nvPr>
            <p:ph type="title"/>
          </p:nvPr>
        </p:nvSpPr>
        <p:spPr>
          <a:xfrm>
            <a:off x="1630680" y="1455420"/>
            <a:ext cx="5633720" cy="1934845"/>
          </a:xfrm>
        </p:spPr>
        <p:txBody>
          <a:bodyPr/>
          <a:lstStyle/>
          <a:p>
            <a:pPr algn="ctr">
              <a:lnSpc>
                <a:spcPct val="150000"/>
              </a:lnSpc>
            </a:pPr>
            <a:r>
              <a:rPr lang="en-US" altLang="zh-CN"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Lecture Four</a:t>
            </a:r>
            <a:br>
              <a:rPr lang="en-US" altLang="zh-CN"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zh-CN" altLang="en-US"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状语</a:t>
            </a:r>
            <a:r>
              <a:rPr lang="en-US" altLang="zh-CN"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zh-CN" altLang="en-US"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修饰动词</a:t>
            </a:r>
            <a:r>
              <a:rPr lang="en-US" altLang="zh-CN"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zh-CN" altLang="en-US"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限定句子</a:t>
            </a:r>
            <a:br>
              <a:rPr lang="zh-CN" altLang="en-US"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zh-CN" altLang="en-US"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微博：学为贵</a:t>
            </a:r>
            <a:r>
              <a:rPr lang="en-US" altLang="zh-CN"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zh-CN" altLang="en-US"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赵颖伦</a:t>
            </a:r>
            <a:br>
              <a:rPr lang="zh-CN" altLang="en-US" dirty="0" smtClean="0"/>
            </a:br>
            <a:endParaRPr lang="zh-CN" altLang="en-US" b="1"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①副词做状语</a:t>
            </a:r>
            <a:endParaRPr lang="zh-CN" altLang="en-US" sz="2400">
              <a:solidFill>
                <a:schemeClr val="tx1"/>
              </a:solidFill>
            </a:endParaRPr>
          </a:p>
        </p:txBody>
      </p:sp>
      <p:sp>
        <p:nvSpPr>
          <p:cNvPr id="3" name="内容占位符 2"/>
          <p:cNvSpPr>
            <a:spLocks noGrp="1"/>
          </p:cNvSpPr>
          <p:nvPr>
            <p:ph idx="1"/>
          </p:nvPr>
        </p:nvSpPr>
        <p:spPr>
          <a:xfrm>
            <a:off x="499110" y="1344295"/>
            <a:ext cx="8187690" cy="3388360"/>
          </a:xfrm>
        </p:spPr>
        <p:txBody>
          <a:bodyPr/>
          <a:lstStyle/>
          <a:p>
            <a:r>
              <a:rPr lang="en-US" altLang="zh-CN" sz="2000">
                <a:solidFill>
                  <a:schemeClr val="tx1"/>
                </a:solidFill>
              </a:rPr>
              <a:t>Honestly, I do not like him.</a:t>
            </a:r>
            <a:endParaRPr lang="en-US" altLang="zh-CN" sz="2000">
              <a:solidFill>
                <a:schemeClr val="tx1"/>
              </a:solidFill>
            </a:endParaRPr>
          </a:p>
          <a:p>
            <a:r>
              <a:rPr lang="en-US" altLang="zh-CN" sz="2000">
                <a:solidFill>
                  <a:schemeClr val="tx1"/>
                </a:solidFill>
              </a:rPr>
              <a:t>Generally, the number of girls saw an increasing trend during the decade from 1992 to 2002.</a:t>
            </a:r>
            <a:endParaRPr lang="en-US" altLang="zh-CN" sz="2000">
              <a:solidFill>
                <a:schemeClr val="tx1"/>
              </a:solidFill>
            </a:endParaRPr>
          </a:p>
          <a:p>
            <a:r>
              <a:rPr lang="en-US" altLang="zh-CN" sz="2000">
                <a:solidFill>
                  <a:schemeClr val="tx1"/>
                </a:solidFill>
              </a:rPr>
              <a:t>Actually, there is something I have not told you yet.</a:t>
            </a:r>
            <a:endParaRPr lang="en-US" altLang="zh-CN" sz="2000">
              <a:solidFill>
                <a:schemeClr val="tx1"/>
              </a:solidFill>
            </a:endParaRPr>
          </a:p>
          <a:p>
            <a:r>
              <a:rPr lang="en-US" altLang="zh-CN" sz="2000">
                <a:solidFill>
                  <a:schemeClr val="tx1"/>
                </a:solidFill>
              </a:rPr>
              <a:t>Admittedly, dogs are cuter than cats.</a:t>
            </a:r>
            <a:endParaRPr lang="en-US" altLang="zh-CN" sz="2000">
              <a:solidFill>
                <a:schemeClr val="tx1"/>
              </a:solidFill>
            </a:endParaRPr>
          </a:p>
          <a:p>
            <a:r>
              <a:rPr lang="en-US" altLang="zh-CN" sz="2000">
                <a:solidFill>
                  <a:schemeClr val="tx1"/>
                </a:solidFill>
              </a:rPr>
              <a:t>Obviously,....</a:t>
            </a:r>
            <a:endParaRPr lang="en-US" altLang="zh-CN" sz="2000">
              <a:solidFill>
                <a:schemeClr val="tx1"/>
              </a:solidFill>
            </a:endParaRPr>
          </a:p>
          <a:p>
            <a:r>
              <a:rPr lang="en-US" altLang="zh-CN" sz="2000">
                <a:solidFill>
                  <a:schemeClr val="tx1"/>
                </a:solidFill>
              </a:rPr>
              <a:t>Personally,......</a:t>
            </a:r>
            <a:endParaRPr lang="en-US" altLang="zh-CN" sz="2000">
              <a:solidFill>
                <a:schemeClr val="tx1"/>
              </a:solidFill>
            </a:endParaRPr>
          </a:p>
          <a:p>
            <a:r>
              <a:rPr lang="en-US" altLang="zh-CN" sz="2000">
                <a:solidFill>
                  <a:schemeClr val="tx1"/>
                </a:solidFill>
                <a:sym typeface="+mn-ea"/>
              </a:rPr>
              <a:t>Surprisingly,...</a:t>
            </a:r>
            <a:endParaRPr lang="en-US" altLang="zh-CN" sz="2000">
              <a:solidFill>
                <a:schemeClr val="tx1"/>
              </a:solidFill>
            </a:endParaRPr>
          </a:p>
          <a:p>
            <a:r>
              <a:rPr lang="en-US" altLang="zh-CN" sz="2000">
                <a:solidFill>
                  <a:schemeClr val="tx1"/>
                </a:solidFill>
                <a:sym typeface="+mn-ea"/>
              </a:rPr>
              <a:t>Fortunately/ Unfortunately,...</a:t>
            </a:r>
            <a:endParaRPr lang="en-US" altLang="zh-CN" sz="2000">
              <a:solidFill>
                <a:schemeClr val="tx1"/>
              </a:solidFill>
            </a:endParaRPr>
          </a:p>
          <a:p>
            <a:endParaRPr lang="en-US" altLang="zh-CN"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519" y="339712"/>
            <a:ext cx="5357850" cy="500066"/>
          </a:xfrm>
        </p:spPr>
        <p:txBody>
          <a:bodyPr/>
          <a:lstStyle/>
          <a:p>
            <a:r>
              <a:rPr lang="zh-CN" altLang="en-US" sz="2400">
                <a:solidFill>
                  <a:schemeClr val="tx1"/>
                </a:solidFill>
              </a:rPr>
              <a:t>①副词做状语</a:t>
            </a:r>
            <a:endParaRPr lang="zh-CN" altLang="en-US" sz="2400">
              <a:solidFill>
                <a:schemeClr val="tx1"/>
              </a:solidFill>
            </a:endParaRPr>
          </a:p>
        </p:txBody>
      </p:sp>
      <p:sp>
        <p:nvSpPr>
          <p:cNvPr id="3" name="内容占位符 2"/>
          <p:cNvSpPr>
            <a:spLocks noGrp="1"/>
          </p:cNvSpPr>
          <p:nvPr>
            <p:ph idx="1"/>
          </p:nvPr>
        </p:nvSpPr>
        <p:spPr>
          <a:xfrm>
            <a:off x="443230" y="728345"/>
            <a:ext cx="8437245" cy="3775075"/>
          </a:xfrm>
        </p:spPr>
        <p:txBody>
          <a:bodyPr/>
          <a:lstStyle/>
          <a:p>
            <a:pPr algn="l">
              <a:lnSpc>
                <a:spcPct val="110000"/>
              </a:lnSpc>
              <a:buClrTx/>
              <a:buSzTx/>
            </a:pPr>
            <a:r>
              <a:rPr lang="en-US" altLang="zh-CN" sz="2000">
                <a:solidFill>
                  <a:schemeClr val="tx1"/>
                </a:solidFill>
              </a:rPr>
              <a:t>However,...</a:t>
            </a:r>
            <a:endParaRPr lang="en-US" altLang="zh-CN" sz="2000">
              <a:solidFill>
                <a:schemeClr val="tx1"/>
              </a:solidFill>
            </a:endParaRPr>
          </a:p>
          <a:p>
            <a:pPr algn="l">
              <a:lnSpc>
                <a:spcPct val="110000"/>
              </a:lnSpc>
              <a:buClrTx/>
              <a:buSzTx/>
            </a:pPr>
            <a:r>
              <a:rPr lang="en-US" altLang="zh-CN" sz="2000">
                <a:solidFill>
                  <a:schemeClr val="tx1"/>
                </a:solidFill>
                <a:sym typeface="+mn-ea"/>
              </a:rPr>
              <a:t>Nevertheless,....</a:t>
            </a:r>
            <a:endParaRPr lang="en-US" altLang="zh-CN" sz="2000">
              <a:solidFill>
                <a:schemeClr val="tx1"/>
              </a:solidFill>
            </a:endParaRPr>
          </a:p>
          <a:p>
            <a:pPr algn="l">
              <a:lnSpc>
                <a:spcPct val="110000"/>
              </a:lnSpc>
              <a:buClrTx/>
              <a:buSzTx/>
            </a:pPr>
            <a:r>
              <a:rPr lang="en-US" altLang="zh-CN" sz="2000">
                <a:solidFill>
                  <a:schemeClr val="tx1"/>
                </a:solidFill>
                <a:sym typeface="+mn-ea"/>
              </a:rPr>
              <a:t>Therefore,....</a:t>
            </a:r>
            <a:endParaRPr lang="en-US" altLang="zh-CN" sz="2000">
              <a:solidFill>
                <a:schemeClr val="tx1"/>
              </a:solidFill>
            </a:endParaRPr>
          </a:p>
          <a:p>
            <a:pPr algn="l">
              <a:lnSpc>
                <a:spcPct val="110000"/>
              </a:lnSpc>
              <a:buClrTx/>
              <a:buSzTx/>
            </a:pPr>
            <a:r>
              <a:rPr lang="en-US" altLang="zh-CN" sz="2000">
                <a:solidFill>
                  <a:schemeClr val="tx1"/>
                </a:solidFill>
              </a:rPr>
              <a:t>Consequently,...</a:t>
            </a:r>
            <a:endParaRPr lang="en-US" altLang="zh-CN" sz="2000">
              <a:solidFill>
                <a:schemeClr val="tx1"/>
              </a:solidFill>
            </a:endParaRPr>
          </a:p>
          <a:p>
            <a:pPr algn="l">
              <a:lnSpc>
                <a:spcPct val="110000"/>
              </a:lnSpc>
              <a:buClrTx/>
              <a:buSzTx/>
            </a:pPr>
            <a:r>
              <a:rPr lang="en-US" altLang="zh-CN" sz="2000">
                <a:solidFill>
                  <a:schemeClr val="tx1"/>
                </a:solidFill>
              </a:rPr>
              <a:t>Additionally,...</a:t>
            </a:r>
            <a:endParaRPr lang="en-US" altLang="zh-CN" sz="2000">
              <a:solidFill>
                <a:schemeClr val="tx1"/>
              </a:solidFill>
            </a:endParaRPr>
          </a:p>
          <a:p>
            <a:pPr algn="l">
              <a:lnSpc>
                <a:spcPct val="110000"/>
              </a:lnSpc>
              <a:buClrTx/>
              <a:buSzTx/>
            </a:pPr>
            <a:r>
              <a:rPr lang="en-US" altLang="zh-CN" sz="2000">
                <a:solidFill>
                  <a:schemeClr val="tx1"/>
                </a:solidFill>
              </a:rPr>
              <a:t>Meanwhile,....</a:t>
            </a:r>
            <a:endParaRPr lang="en-US" altLang="zh-CN" sz="2000">
              <a:solidFill>
                <a:schemeClr val="tx1"/>
              </a:solidFill>
            </a:endParaRPr>
          </a:p>
          <a:p>
            <a:pPr algn="l">
              <a:lnSpc>
                <a:spcPct val="110000"/>
              </a:lnSpc>
              <a:buClrTx/>
              <a:buSzTx/>
            </a:pPr>
            <a:r>
              <a:rPr lang="en-US" altLang="zh-CN" sz="2000">
                <a:solidFill>
                  <a:schemeClr val="tx1"/>
                </a:solidFill>
              </a:rPr>
              <a:t>Similarly,.....</a:t>
            </a:r>
            <a:endParaRPr lang="en-US" altLang="zh-CN" sz="2000">
              <a:solidFill>
                <a:schemeClr val="tx1"/>
              </a:solidFill>
            </a:endParaRPr>
          </a:p>
          <a:p>
            <a:pPr algn="l">
              <a:lnSpc>
                <a:spcPct val="110000"/>
              </a:lnSpc>
              <a:buClrTx/>
              <a:buSzTx/>
            </a:pPr>
            <a:r>
              <a:rPr lang="en-US" altLang="zh-CN" sz="2000">
                <a:solidFill>
                  <a:schemeClr val="tx1"/>
                </a:solidFill>
              </a:rPr>
              <a:t>Subsequently,....</a:t>
            </a:r>
            <a:endParaRPr lang="en-US" altLang="zh-CN" sz="2000">
              <a:solidFill>
                <a:schemeClr val="tx1"/>
              </a:solidFill>
            </a:endParaRPr>
          </a:p>
          <a:p>
            <a:pPr algn="l">
              <a:lnSpc>
                <a:spcPct val="110000"/>
              </a:lnSpc>
              <a:buClrTx/>
              <a:buSzTx/>
            </a:pPr>
            <a:r>
              <a:rPr lang="en-US" altLang="zh-CN" sz="2000">
                <a:solidFill>
                  <a:schemeClr val="tx1"/>
                </a:solidFill>
              </a:rPr>
              <a:t>Coincidentally, .....</a:t>
            </a:r>
            <a:endParaRPr lang="en-US" altLang="zh-CN" sz="2000">
              <a:solidFill>
                <a:schemeClr val="tx1"/>
              </a:solidFill>
            </a:endParaRPr>
          </a:p>
          <a:p>
            <a:pPr algn="l">
              <a:lnSpc>
                <a:spcPct val="110000"/>
              </a:lnSpc>
              <a:buClrTx/>
              <a:buSzTx/>
            </a:pPr>
            <a:r>
              <a:rPr lang="en-US" altLang="zh-CN" sz="2000">
                <a:solidFill>
                  <a:schemeClr val="tx1"/>
                </a:solidFill>
              </a:rPr>
              <a:t>Simultaneously, .....</a:t>
            </a:r>
            <a:endParaRPr lang="en-US" altLang="zh-CN" sz="2000">
              <a:solidFill>
                <a:schemeClr val="tx1"/>
              </a:solidFill>
            </a:endParaRPr>
          </a:p>
          <a:p>
            <a:pPr algn="l">
              <a:lnSpc>
                <a:spcPct val="110000"/>
              </a:lnSpc>
              <a:buClrTx/>
              <a:buSzTx/>
            </a:pPr>
            <a:r>
              <a:rPr lang="en-US" altLang="zh-CN" sz="2000">
                <a:solidFill>
                  <a:schemeClr val="tx1"/>
                </a:solidFill>
              </a:rPr>
              <a:t>Ironically, .....</a:t>
            </a:r>
            <a:endParaRPr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35560" y="987425"/>
            <a:ext cx="8658860" cy="3227705"/>
          </a:xfrm>
        </p:spPr>
        <p:txBody>
          <a:bodyPr/>
          <a:lstStyle/>
          <a:p>
            <a:pPr algn="l">
              <a:lnSpc>
                <a:spcPct val="110000"/>
              </a:lnSpc>
              <a:buClrTx/>
              <a:buSzTx/>
            </a:pPr>
            <a:r>
              <a:rPr sz="2400" b="1">
                <a:solidFill>
                  <a:schemeClr val="tx1"/>
                </a:solidFill>
              </a:rPr>
              <a:t>表示原因的介词：</a:t>
            </a:r>
            <a:r>
              <a:rPr lang="en-US" altLang="zh-CN" sz="2400" b="1">
                <a:solidFill>
                  <a:schemeClr val="tx1"/>
                </a:solidFill>
              </a:rPr>
              <a:t>due to; thanks to; because of; as a result of</a:t>
            </a:r>
            <a:endParaRPr lang="en-US" altLang="zh-CN" sz="2400" b="1">
              <a:solidFill>
                <a:schemeClr val="tx1"/>
              </a:solidFill>
            </a:endParaRPr>
          </a:p>
          <a:p>
            <a:pPr algn="l">
              <a:lnSpc>
                <a:spcPct val="110000"/>
              </a:lnSpc>
              <a:buClrTx/>
              <a:buSzTx/>
            </a:pPr>
            <a:r>
              <a:rPr lang="en-US" altLang="zh-CN" sz="2400" b="1" u="sng">
                <a:solidFill>
                  <a:srgbClr val="FF0000"/>
                </a:solidFill>
              </a:rPr>
              <a:t>Due to serious air pollution</a:t>
            </a:r>
            <a:r>
              <a:rPr lang="en-US" altLang="zh-CN" sz="2400" b="1">
                <a:solidFill>
                  <a:schemeClr val="tx1"/>
                </a:solidFill>
              </a:rPr>
              <a:t>, residents have to wear masks.</a:t>
            </a:r>
            <a:endParaRPr lang="en-US" altLang="zh-CN" sz="2400" b="1">
              <a:solidFill>
                <a:schemeClr val="tx1"/>
              </a:solidFill>
            </a:endParaRPr>
          </a:p>
          <a:p>
            <a:pPr algn="l">
              <a:lnSpc>
                <a:spcPct val="110000"/>
              </a:lnSpc>
              <a:buClrTx/>
              <a:buSzTx/>
            </a:pPr>
            <a:r>
              <a:rPr lang="en-US" altLang="zh-CN" sz="2400" b="1" u="sng">
                <a:solidFill>
                  <a:srgbClr val="0070C0"/>
                </a:solidFill>
              </a:rPr>
              <a:t>Because air pollution is serious</a:t>
            </a:r>
            <a:r>
              <a:rPr lang="en-US" altLang="zh-CN" sz="2400" b="1">
                <a:solidFill>
                  <a:schemeClr val="tx1"/>
                </a:solidFill>
              </a:rPr>
              <a:t>, residents have to.....</a:t>
            </a:r>
            <a:endParaRPr lang="en-US" altLang="zh-CN" sz="2400" b="1">
              <a:solidFill>
                <a:schemeClr val="tx1"/>
              </a:solidFill>
            </a:endParaRPr>
          </a:p>
          <a:p>
            <a:pPr algn="l">
              <a:lnSpc>
                <a:spcPct val="110000"/>
              </a:lnSpc>
              <a:buClrTx/>
              <a:buSzTx/>
            </a:pPr>
            <a:r>
              <a:rPr sz="2400" b="1">
                <a:solidFill>
                  <a:schemeClr val="tx1"/>
                </a:solidFill>
              </a:rPr>
              <a:t>由于学英语很困难，很多学生不得不熬夜完成作业。</a:t>
            </a:r>
            <a:endParaRPr sz="2400" b="1">
              <a:solidFill>
                <a:schemeClr val="tx1"/>
              </a:solidFill>
            </a:endParaRPr>
          </a:p>
          <a:p>
            <a:pPr algn="l">
              <a:lnSpc>
                <a:spcPct val="110000"/>
              </a:lnSpc>
              <a:buClrTx/>
              <a:buSzTx/>
            </a:pPr>
            <a:r>
              <a:rPr lang="en-US" altLang="zh-CN" sz="2400" b="1" u="sng">
                <a:solidFill>
                  <a:srgbClr val="FF0000"/>
                </a:solidFill>
              </a:rPr>
              <a:t>Due to many difficulties of learning English</a:t>
            </a:r>
            <a:r>
              <a:rPr lang="en-US" altLang="zh-CN" sz="2400" b="1">
                <a:solidFill>
                  <a:schemeClr val="tx1"/>
                </a:solidFill>
              </a:rPr>
              <a:t>, many students have to stay up late to finish their homework.</a:t>
            </a:r>
            <a:endParaRPr lang="en-US" altLang="zh-CN" sz="2400" b="1">
              <a:solidFill>
                <a:schemeClr val="tx1"/>
              </a:solidFill>
            </a:endParaRPr>
          </a:p>
          <a:p>
            <a:pPr algn="l">
              <a:lnSpc>
                <a:spcPct val="110000"/>
              </a:lnSpc>
              <a:buClrTx/>
              <a:buSzTx/>
            </a:pPr>
            <a:r>
              <a:rPr lang="en-US" altLang="zh-CN" sz="2400" b="1" u="sng">
                <a:solidFill>
                  <a:srgbClr val="0070C0"/>
                </a:solidFill>
              </a:rPr>
              <a:t>Because it is difficult to learn English</a:t>
            </a:r>
            <a:r>
              <a:rPr lang="en-US" altLang="zh-CN" sz="2400" b="1">
                <a:solidFill>
                  <a:schemeClr val="tx1"/>
                </a:solidFill>
              </a:rPr>
              <a:t>, many students....</a:t>
            </a:r>
            <a:endParaRPr lang="en-US" altLang="zh-CN" sz="2400" b="1">
              <a:solidFill>
                <a:schemeClr val="tx1"/>
              </a:solidFill>
            </a:endParaRPr>
          </a:p>
          <a:p>
            <a:pPr algn="l">
              <a:lnSpc>
                <a:spcPct val="110000"/>
              </a:lnSpc>
              <a:buClrTx/>
              <a:buSzTx/>
            </a:pP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658860" cy="3227705"/>
          </a:xfrm>
        </p:spPr>
        <p:txBody>
          <a:bodyPr/>
          <a:lstStyle/>
          <a:p>
            <a:pPr algn="l">
              <a:lnSpc>
                <a:spcPct val="110000"/>
              </a:lnSpc>
              <a:buClrTx/>
              <a:buSzTx/>
            </a:pPr>
            <a:r>
              <a:rPr sz="2400" b="1">
                <a:solidFill>
                  <a:schemeClr val="tx1"/>
                </a:solidFill>
              </a:rPr>
              <a:t>表示原因的介词：</a:t>
            </a:r>
            <a:r>
              <a:rPr lang="en-US" altLang="zh-CN" sz="2400" b="1">
                <a:solidFill>
                  <a:schemeClr val="tx1"/>
                </a:solidFill>
              </a:rPr>
              <a:t>due to; thanks to; because of; as a result of</a:t>
            </a:r>
            <a:endParaRPr lang="en-US" altLang="zh-CN" sz="2400" b="1">
              <a:solidFill>
                <a:schemeClr val="tx1"/>
              </a:solidFill>
            </a:endParaRPr>
          </a:p>
          <a:p>
            <a:pPr algn="l">
              <a:lnSpc>
                <a:spcPct val="110000"/>
              </a:lnSpc>
              <a:buClrTx/>
              <a:buSzTx/>
            </a:pPr>
            <a:r>
              <a:rPr sz="2400" b="1">
                <a:solidFill>
                  <a:schemeClr val="tx1"/>
                </a:solidFill>
              </a:rPr>
              <a:t>由于开私家车很麻烦，很多人选择公共交通。</a:t>
            </a:r>
            <a:endParaRPr sz="2400" b="1">
              <a:solidFill>
                <a:schemeClr val="tx1"/>
              </a:solidFill>
            </a:endParaRPr>
          </a:p>
          <a:p>
            <a:pPr algn="l">
              <a:lnSpc>
                <a:spcPct val="110000"/>
              </a:lnSpc>
              <a:buClrTx/>
              <a:buSzTx/>
            </a:pPr>
            <a:r>
              <a:rPr lang="en-US" altLang="zh-CN" sz="2400" b="1" u="sng">
                <a:solidFill>
                  <a:srgbClr val="0070C0"/>
                </a:solidFill>
              </a:rPr>
              <a:t>Due to many troubles of driving private cars</a:t>
            </a:r>
            <a:r>
              <a:rPr lang="en-US" altLang="zh-CN" sz="2400" b="1">
                <a:solidFill>
                  <a:schemeClr val="tx1"/>
                </a:solidFill>
              </a:rPr>
              <a:t>, many people choose public transport.</a:t>
            </a:r>
            <a:endParaRPr lang="en-US" altLang="zh-CN" sz="2400" b="1">
              <a:solidFill>
                <a:schemeClr val="tx1"/>
              </a:solidFill>
            </a:endParaRPr>
          </a:p>
          <a:p>
            <a:pPr algn="l">
              <a:lnSpc>
                <a:spcPct val="110000"/>
              </a:lnSpc>
              <a:buClrTx/>
              <a:buSzTx/>
            </a:pPr>
            <a:r>
              <a:rPr lang="en-US" altLang="zh-CN" sz="2400" b="1" u="sng">
                <a:solidFill>
                  <a:srgbClr val="FF0000"/>
                </a:solidFill>
              </a:rPr>
              <a:t>Because it is troublesome to drive private cars</a:t>
            </a:r>
            <a:r>
              <a:rPr lang="en-US" altLang="zh-CN" sz="2400" b="1">
                <a:solidFill>
                  <a:schemeClr val="tx1"/>
                </a:solidFill>
              </a:rPr>
              <a:t>, </a:t>
            </a:r>
            <a:r>
              <a:rPr lang="en-US" altLang="zh-CN" sz="2400" b="1">
                <a:solidFill>
                  <a:schemeClr val="tx1"/>
                </a:solidFill>
                <a:sym typeface="+mn-ea"/>
              </a:rPr>
              <a:t>many people choose public transport.</a:t>
            </a: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p:txBody>
          <a:bodyPr/>
          <a:lstStyle/>
          <a:p>
            <a:pPr>
              <a:lnSpc>
                <a:spcPct val="120000"/>
              </a:lnSpc>
            </a:pPr>
            <a:r>
              <a:rPr sz="2400" u="sng" dirty="0">
                <a:solidFill>
                  <a:srgbClr val="FF0000"/>
                </a:solidFill>
                <a:sym typeface="+mn-ea"/>
              </a:rPr>
              <a:t>由于大量的废气的排放从汽车和工厂</a:t>
            </a:r>
            <a:r>
              <a:rPr sz="2400" dirty="0">
                <a:solidFill>
                  <a:schemeClr val="tx1"/>
                </a:solidFill>
                <a:sym typeface="+mn-ea"/>
              </a:rPr>
              <a:t>，空气污染变得越来越严重，这对人们的健康造成了威胁。</a:t>
            </a:r>
            <a:endParaRPr sz="2400" dirty="0">
              <a:solidFill>
                <a:schemeClr val="tx1"/>
              </a:solidFill>
              <a:sym typeface="+mn-ea"/>
            </a:endParaRPr>
          </a:p>
          <a:p>
            <a:pPr>
              <a:lnSpc>
                <a:spcPct val="120000"/>
              </a:lnSpc>
            </a:pPr>
            <a:r>
              <a:rPr lang="en-US" altLang="zh-CN" sz="2400" b="1" u="sng" dirty="0">
                <a:solidFill>
                  <a:srgbClr val="FF0000"/>
                </a:solidFill>
              </a:rPr>
              <a:t>Due to huge emissions of waste gas from vehicles and factories</a:t>
            </a:r>
            <a:r>
              <a:rPr lang="en-US" altLang="zh-CN" sz="2400" b="1" dirty="0">
                <a:solidFill>
                  <a:schemeClr val="tx1"/>
                </a:solidFill>
              </a:rPr>
              <a:t>, air pollution is becoming increasingly serious, </a:t>
            </a:r>
            <a:r>
              <a:rPr lang="en-US" altLang="zh-CN" sz="2400" b="1" u="sng" dirty="0">
                <a:solidFill>
                  <a:srgbClr val="FF0000"/>
                </a:solidFill>
              </a:rPr>
              <a:t>which poses a huge threat to people’s health</a:t>
            </a:r>
            <a:r>
              <a:rPr lang="en-US" altLang="zh-CN" sz="2400" b="1" dirty="0">
                <a:solidFill>
                  <a:schemeClr val="tx1"/>
                </a:solidFill>
              </a:rPr>
              <a:t>.</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658860" cy="3227705"/>
          </a:xfrm>
        </p:spPr>
        <p:txBody>
          <a:bodyPr/>
          <a:lstStyle/>
          <a:p>
            <a:pPr algn="l">
              <a:lnSpc>
                <a:spcPct val="110000"/>
              </a:lnSpc>
              <a:buClrTx/>
              <a:buSzTx/>
            </a:pPr>
            <a:r>
              <a:rPr sz="2400" b="1">
                <a:solidFill>
                  <a:schemeClr val="tx1"/>
                </a:solidFill>
              </a:rPr>
              <a:t>表示原因的介词：</a:t>
            </a:r>
            <a:r>
              <a:rPr lang="en-US" altLang="zh-CN" sz="2400" b="1">
                <a:solidFill>
                  <a:schemeClr val="tx1"/>
                </a:solidFill>
              </a:rPr>
              <a:t>due to; thanks to; because of; as a result of</a:t>
            </a:r>
            <a:endParaRPr lang="en-US" altLang="zh-CN" sz="2400" b="1">
              <a:solidFill>
                <a:schemeClr val="tx1"/>
              </a:solidFill>
            </a:endParaRPr>
          </a:p>
          <a:p>
            <a:pPr algn="l">
              <a:lnSpc>
                <a:spcPct val="110000"/>
              </a:lnSpc>
              <a:buClrTx/>
              <a:buSzTx/>
            </a:pPr>
            <a:r>
              <a:rPr sz="2400" b="1">
                <a:solidFill>
                  <a:schemeClr val="tx1"/>
                </a:solidFill>
              </a:rPr>
              <a:t>由于开私家车很麻烦，很多居民选择公共交通。</a:t>
            </a:r>
            <a:endParaRPr sz="2400" b="1">
              <a:solidFill>
                <a:schemeClr val="tx1"/>
              </a:solidFill>
            </a:endParaRPr>
          </a:p>
          <a:p>
            <a:pPr algn="l">
              <a:lnSpc>
                <a:spcPct val="110000"/>
              </a:lnSpc>
              <a:buClrTx/>
              <a:buSzTx/>
            </a:pPr>
            <a:r>
              <a:rPr lang="en-US" altLang="zh-CN" sz="2400" b="1" u="sng">
                <a:solidFill>
                  <a:srgbClr val="FF0000"/>
                </a:solidFill>
              </a:rPr>
              <a:t>Due to many troubles of driving private cars</a:t>
            </a:r>
            <a:r>
              <a:rPr lang="en-US" altLang="zh-CN" sz="2400" b="1">
                <a:solidFill>
                  <a:schemeClr val="tx1"/>
                </a:solidFill>
              </a:rPr>
              <a:t>, many residents choose to take public transport.</a:t>
            </a:r>
            <a:endParaRPr lang="en-US" altLang="zh-CN" sz="2400" b="1">
              <a:solidFill>
                <a:schemeClr val="tx1"/>
              </a:solidFill>
            </a:endParaRPr>
          </a:p>
          <a:p>
            <a:pPr algn="l">
              <a:lnSpc>
                <a:spcPct val="110000"/>
              </a:lnSpc>
              <a:buClrTx/>
              <a:buSzTx/>
            </a:pPr>
            <a:r>
              <a:rPr lang="en-US" altLang="zh-CN" sz="2400" b="1" u="sng">
                <a:solidFill>
                  <a:srgbClr val="FF0000"/>
                </a:solidFill>
              </a:rPr>
              <a:t>Because it is troublesome to drive private cars</a:t>
            </a:r>
            <a:r>
              <a:rPr lang="en-US" altLang="zh-CN" sz="2400" b="1">
                <a:solidFill>
                  <a:schemeClr val="tx1"/>
                </a:solidFill>
              </a:rPr>
              <a:t>, many residents choose to take public transport.</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表示对比的介词：</a:t>
            </a:r>
            <a:r>
              <a:rPr lang="en-US" altLang="zh-CN" sz="2400" b="1">
                <a:solidFill>
                  <a:srgbClr val="FF0000"/>
                </a:solidFill>
              </a:rPr>
              <a:t>compared with...; instead of...</a:t>
            </a:r>
            <a:endParaRPr sz="2400" b="1">
              <a:solidFill>
                <a:srgbClr val="FF0000"/>
              </a:solidFill>
            </a:endParaRPr>
          </a:p>
          <a:p>
            <a:pPr algn="l">
              <a:lnSpc>
                <a:spcPct val="110000"/>
              </a:lnSpc>
              <a:buClrTx/>
              <a:buSzTx/>
            </a:pPr>
            <a:r>
              <a:rPr lang="en-US" altLang="zh-CN" sz="2400" b="1">
                <a:solidFill>
                  <a:schemeClr val="tx1"/>
                </a:solidFill>
              </a:rPr>
              <a:t>Compared with apples, pears are sweeter.</a:t>
            </a:r>
            <a:endParaRPr lang="en-US" altLang="zh-CN" sz="2400" b="1">
              <a:solidFill>
                <a:schemeClr val="tx1"/>
              </a:solidFill>
            </a:endParaRPr>
          </a:p>
          <a:p>
            <a:pPr algn="l">
              <a:lnSpc>
                <a:spcPct val="110000"/>
              </a:lnSpc>
              <a:buClrTx/>
              <a:buSzTx/>
            </a:pPr>
            <a:r>
              <a:rPr lang="en-US" altLang="zh-CN" sz="2400" b="1">
                <a:solidFill>
                  <a:schemeClr val="tx1"/>
                </a:solidFill>
              </a:rPr>
              <a:t>Compared with pears, bananas are sweeter.</a:t>
            </a:r>
            <a:endParaRPr lang="en-US" altLang="zh-CN" sz="2400" b="1">
              <a:solidFill>
                <a:schemeClr val="tx1"/>
              </a:solidFill>
            </a:endParaRPr>
          </a:p>
          <a:p>
            <a:pPr algn="l">
              <a:lnSpc>
                <a:spcPct val="110000"/>
              </a:lnSpc>
              <a:buClrTx/>
              <a:buSzTx/>
            </a:pPr>
            <a:r>
              <a:rPr lang="en-US" altLang="zh-CN" sz="2400" b="1">
                <a:solidFill>
                  <a:schemeClr val="tx1"/>
                </a:solidFill>
              </a:rPr>
              <a:t>Instead of </a:t>
            </a:r>
            <a:r>
              <a:rPr lang="en-US" altLang="zh-CN" sz="2400" b="1" u="sng">
                <a:solidFill>
                  <a:srgbClr val="FF0000"/>
                </a:solidFill>
              </a:rPr>
              <a:t>singing</a:t>
            </a:r>
            <a:r>
              <a:rPr lang="en-US" altLang="zh-CN" sz="2400" b="1">
                <a:solidFill>
                  <a:schemeClr val="tx1"/>
                </a:solidFill>
              </a:rPr>
              <a:t>, I choose to dance.</a:t>
            </a:r>
            <a:endParaRPr lang="en-US" altLang="zh-CN" sz="2400" b="1">
              <a:solidFill>
                <a:schemeClr val="tx1"/>
              </a:solidFill>
            </a:endParaRPr>
          </a:p>
          <a:p>
            <a:pPr algn="l">
              <a:lnSpc>
                <a:spcPct val="110000"/>
              </a:lnSpc>
              <a:buClrTx/>
              <a:buSzTx/>
            </a:pPr>
            <a:r>
              <a:rPr lang="en-US" altLang="zh-CN" sz="2400" b="1">
                <a:solidFill>
                  <a:schemeClr val="tx1"/>
                </a:solidFill>
              </a:rPr>
              <a:t>Instead of </a:t>
            </a:r>
            <a:r>
              <a:rPr lang="en-US" altLang="zh-CN" sz="2400" b="1" u="sng">
                <a:solidFill>
                  <a:srgbClr val="FF0000"/>
                </a:solidFill>
              </a:rPr>
              <a:t>scrolling the screen</a:t>
            </a:r>
            <a:r>
              <a:rPr lang="en-US" altLang="zh-CN" sz="2400" b="1">
                <a:solidFill>
                  <a:schemeClr val="tx1"/>
                </a:solidFill>
              </a:rPr>
              <a:t>, I choose to learn English.</a:t>
            </a: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p:txBody>
          <a:bodyPr/>
          <a:lstStyle/>
          <a:p>
            <a:pPr>
              <a:lnSpc>
                <a:spcPct val="120000"/>
              </a:lnSpc>
            </a:pPr>
            <a:r>
              <a:rPr sz="2400" b="1" dirty="0">
                <a:solidFill>
                  <a:schemeClr val="tx1"/>
                </a:solidFill>
                <a:effectLst/>
                <a:sym typeface="+mn-ea"/>
              </a:rPr>
              <a:t>不是报道令人愉悦的新闻，现代媒体倾向于暴露更多的暴力来吸引人的眼球，从而赚大钱。</a:t>
            </a:r>
            <a:r>
              <a:rPr lang="en-US" altLang="zh-CN" sz="2400" b="1" dirty="0">
                <a:solidFill>
                  <a:schemeClr val="tx1"/>
                </a:solidFill>
                <a:effectLst/>
                <a:sym typeface="+mn-ea"/>
              </a:rPr>
              <a:t>agreeable; expose; make a fortune</a:t>
            </a:r>
            <a:endParaRPr lang="en-US" altLang="zh-CN" sz="2400" b="1" dirty="0">
              <a:solidFill>
                <a:schemeClr val="tx1"/>
              </a:solidFill>
              <a:effectLst/>
              <a:sym typeface="+mn-ea"/>
            </a:endParaRPr>
          </a:p>
          <a:p>
            <a:pPr>
              <a:lnSpc>
                <a:spcPct val="120000"/>
              </a:lnSpc>
            </a:pPr>
            <a:r>
              <a:rPr lang="en-US" altLang="zh-CN" sz="2400" b="1" u="sng" dirty="0">
                <a:solidFill>
                  <a:srgbClr val="FF0000"/>
                </a:solidFill>
                <a:effectLst/>
                <a:sym typeface="+mn-ea"/>
              </a:rPr>
              <a:t>Instead of reporting agreeable news</a:t>
            </a:r>
            <a:r>
              <a:rPr lang="en-US" altLang="zh-CN" sz="2400" b="1" dirty="0">
                <a:solidFill>
                  <a:schemeClr val="tx1"/>
                </a:solidFill>
                <a:effectLst/>
                <a:sym typeface="+mn-ea"/>
              </a:rPr>
              <a:t>, modern media tend to expose more violence to catch readers’ eyeballs </a:t>
            </a:r>
            <a:r>
              <a:rPr lang="en-US" altLang="zh-CN" sz="2400" b="1" u="sng" dirty="0">
                <a:solidFill>
                  <a:srgbClr val="FF0000"/>
                </a:solidFill>
                <a:effectLst/>
                <a:sym typeface="+mn-ea"/>
              </a:rPr>
              <a:t>so as to make a fortune.</a:t>
            </a:r>
            <a:endParaRPr lang="en-US" altLang="zh-CN" sz="2400" b="1" u="sng" dirty="0">
              <a:solidFill>
                <a:srgbClr val="FF0000"/>
              </a:solidFill>
              <a:effectLst/>
            </a:endParaRPr>
          </a:p>
          <a:p>
            <a:pPr>
              <a:lnSpc>
                <a:spcPct val="120000"/>
              </a:lnSpc>
            </a:pPr>
            <a:endParaRPr lang="en-US" altLang="zh-CN" sz="2400" b="1" u="sng" dirty="0">
              <a:solidFill>
                <a:srgbClr val="FF0000"/>
              </a:solidFill>
              <a:effectLst/>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表示关于的介词：</a:t>
            </a:r>
            <a:r>
              <a:rPr lang="en-US" altLang="zh-CN" sz="2400" b="1">
                <a:solidFill>
                  <a:schemeClr val="tx1"/>
                </a:solidFill>
              </a:rPr>
              <a:t>as for; in terms of... </a:t>
            </a:r>
            <a:r>
              <a:rPr sz="2400" b="1">
                <a:solidFill>
                  <a:schemeClr val="tx1"/>
                </a:solidFill>
              </a:rPr>
              <a:t>承上启下</a:t>
            </a:r>
            <a:endParaRPr sz="2400" b="1">
              <a:solidFill>
                <a:schemeClr val="tx1"/>
              </a:solidFill>
            </a:endParaRPr>
          </a:p>
          <a:p>
            <a:pPr algn="l">
              <a:lnSpc>
                <a:spcPct val="110000"/>
              </a:lnSpc>
              <a:buClrTx/>
              <a:buSzTx/>
            </a:pPr>
            <a:r>
              <a:rPr lang="en-US" altLang="zh-CN" sz="2400" b="1" u="sng">
                <a:solidFill>
                  <a:srgbClr val="FF0000"/>
                </a:solidFill>
              </a:rPr>
              <a:t>As for the old buildings with historical value</a:t>
            </a:r>
            <a:r>
              <a:rPr lang="en-US" altLang="zh-CN" sz="2400" b="1">
                <a:solidFill>
                  <a:schemeClr val="tx1"/>
                </a:solidFill>
              </a:rPr>
              <a:t>, it is certainly a wise decision to keep maintaining them.</a:t>
            </a:r>
            <a:endParaRPr lang="en-US" altLang="zh-CN" sz="2400" b="1">
              <a:solidFill>
                <a:schemeClr val="tx1"/>
              </a:solidFill>
            </a:endParaRPr>
          </a:p>
          <a:p>
            <a:pPr algn="l">
              <a:lnSpc>
                <a:spcPct val="110000"/>
              </a:lnSpc>
              <a:buClrTx/>
              <a:buSzTx/>
            </a:pPr>
            <a:r>
              <a:rPr lang="en-US" altLang="zh-CN" sz="2400" b="1" u="sng">
                <a:solidFill>
                  <a:srgbClr val="FF0000"/>
                </a:solidFill>
              </a:rPr>
              <a:t>In terms of those without historical value,</a:t>
            </a:r>
            <a:r>
              <a:rPr lang="en-US" altLang="zh-CN" sz="2400" b="1">
                <a:solidFill>
                  <a:schemeClr val="tx1"/>
                </a:solidFill>
              </a:rPr>
              <a:t> it is viable to demolish them to build new ones.</a:t>
            </a:r>
            <a:endParaRPr lang="en-US" altLang="zh-CN" sz="2400" b="1">
              <a:solidFill>
                <a:schemeClr val="tx1"/>
              </a:solidFill>
            </a:endParaRPr>
          </a:p>
          <a:p>
            <a:pPr algn="l">
              <a:lnSpc>
                <a:spcPct val="110000"/>
              </a:lnSpc>
              <a:buClrTx/>
              <a:buSzTx/>
            </a:pPr>
            <a:r>
              <a:rPr lang="en-US" altLang="zh-CN" sz="2400" b="1">
                <a:solidFill>
                  <a:schemeClr val="tx1"/>
                </a:solidFill>
              </a:rPr>
              <a:t>As for America,....</a:t>
            </a:r>
            <a:endParaRPr sz="2400" b="1">
              <a:solidFill>
                <a:srgbClr val="FF0000"/>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p:txBody>
          <a:bodyPr/>
          <a:lstStyle/>
          <a:p>
            <a:pPr>
              <a:lnSpc>
                <a:spcPct val="120000"/>
              </a:lnSpc>
            </a:pPr>
            <a:r>
              <a:rPr sz="2400" b="1">
                <a:solidFill>
                  <a:schemeClr val="tx1"/>
                </a:solidFill>
                <a:sym typeface="+mn-ea"/>
              </a:rPr>
              <a:t>就那些无法在大城市谋生的老年人来说，政府要提供足够的养老金给他们，来提升他们的生活水平。</a:t>
            </a:r>
            <a:r>
              <a:rPr lang="en-US" altLang="zh-CN" sz="2400" b="1">
                <a:solidFill>
                  <a:schemeClr val="tx1"/>
                </a:solidFill>
                <a:sym typeface="+mn-ea"/>
              </a:rPr>
              <a:t>pension; so as to</a:t>
            </a:r>
            <a:endParaRPr lang="zh-CN" altLang="en-US" sz="2400" b="1" dirty="0">
              <a:solidFill>
                <a:schemeClr val="tx1"/>
              </a:solidFill>
            </a:endParaRPr>
          </a:p>
          <a:p>
            <a:pPr>
              <a:lnSpc>
                <a:spcPct val="120000"/>
              </a:lnSpc>
            </a:pPr>
            <a:r>
              <a:rPr lang="en-US" altLang="zh-CN" sz="2400" b="1" u="sng" dirty="0">
                <a:solidFill>
                  <a:srgbClr val="FF0000"/>
                </a:solidFill>
                <a:sym typeface="+mn-ea"/>
              </a:rPr>
              <a:t>As for the elderly who cannot make a living in the metropolis</a:t>
            </a:r>
            <a:r>
              <a:rPr lang="en-US" altLang="zh-CN" sz="2400" b="1" dirty="0">
                <a:solidFill>
                  <a:schemeClr val="tx1"/>
                </a:solidFill>
                <a:sym typeface="+mn-ea"/>
              </a:rPr>
              <a:t>, the government should provide enough pensions for them</a:t>
            </a:r>
            <a:r>
              <a:rPr lang="en-US" altLang="zh-CN" sz="2400" b="1" u="sng" dirty="0">
                <a:solidFill>
                  <a:srgbClr val="FF0000"/>
                </a:solidFill>
                <a:sym typeface="+mn-ea"/>
              </a:rPr>
              <a:t> so as to improve their living standard</a:t>
            </a:r>
            <a:r>
              <a:rPr lang="en-US" altLang="zh-CN" sz="2400" b="1" dirty="0">
                <a:solidFill>
                  <a:schemeClr val="tx1"/>
                </a:solidFill>
                <a:sym typeface="+mn-ea"/>
              </a:rPr>
              <a:t>.</a:t>
            </a:r>
            <a:endParaRPr lang="en-US" altLang="zh-CN" sz="2400" b="1" dirty="0">
              <a:solidFill>
                <a:schemeClr val="tx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表示除了的介词：</a:t>
            </a:r>
            <a:r>
              <a:rPr lang="en-US" altLang="zh-CN" sz="2400" b="1">
                <a:solidFill>
                  <a:schemeClr val="tx1"/>
                </a:solidFill>
              </a:rPr>
              <a:t>apart from; in addition to</a:t>
            </a:r>
            <a:endParaRPr lang="en-US" altLang="zh-CN" sz="2400" b="1">
              <a:solidFill>
                <a:schemeClr val="tx1"/>
              </a:solidFill>
            </a:endParaRPr>
          </a:p>
          <a:p>
            <a:pPr algn="l">
              <a:lnSpc>
                <a:spcPct val="110000"/>
              </a:lnSpc>
              <a:buClrTx/>
              <a:buSzTx/>
            </a:pPr>
            <a:r>
              <a:rPr lang="en-US" altLang="zh-CN" sz="2400" b="1" u="sng">
                <a:solidFill>
                  <a:srgbClr val="FF0000"/>
                </a:solidFill>
              </a:rPr>
              <a:t>Apart from singing</a:t>
            </a:r>
            <a:r>
              <a:rPr lang="en-US" altLang="zh-CN" sz="2400" b="1">
                <a:solidFill>
                  <a:schemeClr val="tx1"/>
                </a:solidFill>
              </a:rPr>
              <a:t>, I am also good at dancing.</a:t>
            </a:r>
            <a:endParaRPr lang="en-US" altLang="zh-CN" sz="2400" b="1">
              <a:solidFill>
                <a:schemeClr val="tx1"/>
              </a:solidFill>
            </a:endParaRPr>
          </a:p>
          <a:p>
            <a:pPr algn="l">
              <a:lnSpc>
                <a:spcPct val="110000"/>
              </a:lnSpc>
              <a:buClrTx/>
              <a:buSzTx/>
            </a:pPr>
            <a:r>
              <a:rPr lang="en-US" altLang="zh-CN" sz="2400" b="1" u="sng">
                <a:solidFill>
                  <a:srgbClr val="FF0000"/>
                </a:solidFill>
              </a:rPr>
              <a:t>Apart from dancing</a:t>
            </a:r>
            <a:r>
              <a:rPr lang="en-US" altLang="zh-CN" sz="2400" b="1">
                <a:solidFill>
                  <a:schemeClr val="tx1"/>
                </a:solidFill>
              </a:rPr>
              <a:t>, I am also obsessed with playing </a:t>
            </a:r>
            <a:r>
              <a:rPr lang="en-US" altLang="zh-CN" sz="2400" b="1" u="sng">
                <a:solidFill>
                  <a:srgbClr val="7030A0"/>
                </a:solidFill>
              </a:rPr>
              <a:t>the</a:t>
            </a:r>
            <a:r>
              <a:rPr lang="en-US" altLang="zh-CN" sz="2400" b="1">
                <a:solidFill>
                  <a:schemeClr val="tx1"/>
                </a:solidFill>
              </a:rPr>
              <a:t> guitar.</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表示随着</a:t>
            </a:r>
            <a:r>
              <a:rPr lang="en-US" altLang="zh-CN" sz="2400" b="1">
                <a:solidFill>
                  <a:schemeClr val="tx1"/>
                </a:solidFill>
              </a:rPr>
              <a:t>/</a:t>
            </a:r>
            <a:r>
              <a:rPr sz="2400" b="1">
                <a:solidFill>
                  <a:schemeClr val="tx1"/>
                </a:solidFill>
              </a:rPr>
              <a:t>有的介词：</a:t>
            </a:r>
            <a:r>
              <a:rPr lang="en-US" altLang="zh-CN" sz="2400" b="1">
                <a:solidFill>
                  <a:schemeClr val="tx1"/>
                </a:solidFill>
              </a:rPr>
              <a:t>with +n; with +n+doing/done</a:t>
            </a:r>
            <a:endParaRPr lang="en-US" altLang="zh-CN" sz="2400" b="1">
              <a:solidFill>
                <a:schemeClr val="tx1"/>
              </a:solidFill>
            </a:endParaRPr>
          </a:p>
          <a:p>
            <a:pPr algn="l">
              <a:lnSpc>
                <a:spcPct val="110000"/>
              </a:lnSpc>
              <a:buClrTx/>
              <a:buSzTx/>
            </a:pPr>
            <a:r>
              <a:rPr lang="en-US" altLang="zh-CN" sz="2400" b="1">
                <a:solidFill>
                  <a:schemeClr val="tx1"/>
                </a:solidFill>
              </a:rPr>
              <a:t>With the </a:t>
            </a:r>
            <a:r>
              <a:rPr lang="en-US" altLang="zh-CN" sz="2400" b="1" u="sng">
                <a:solidFill>
                  <a:srgbClr val="FF0000"/>
                </a:solidFill>
              </a:rPr>
              <a:t>widespread use</a:t>
            </a:r>
            <a:r>
              <a:rPr lang="en-US" altLang="zh-CN" sz="2400" b="1">
                <a:solidFill>
                  <a:schemeClr val="tx1"/>
                </a:solidFill>
              </a:rPr>
              <a:t> of various electronic devices,...</a:t>
            </a:r>
            <a:endParaRPr lang="en-US" altLang="zh-CN" sz="2400" b="1">
              <a:solidFill>
                <a:schemeClr val="tx1"/>
              </a:solidFill>
            </a:endParaRPr>
          </a:p>
          <a:p>
            <a:pPr algn="l">
              <a:lnSpc>
                <a:spcPct val="110000"/>
              </a:lnSpc>
              <a:buClrTx/>
              <a:buSzTx/>
            </a:pPr>
            <a:r>
              <a:rPr lang="en-US" altLang="zh-CN" sz="2400" b="1">
                <a:solidFill>
                  <a:schemeClr val="tx1"/>
                </a:solidFill>
              </a:rPr>
              <a:t>With the </a:t>
            </a:r>
            <a:r>
              <a:rPr lang="en-US" altLang="zh-CN" sz="2400" b="1" u="sng">
                <a:solidFill>
                  <a:srgbClr val="FF0000"/>
                </a:solidFill>
              </a:rPr>
              <a:t>advances</a:t>
            </a:r>
            <a:r>
              <a:rPr lang="en-US" altLang="zh-CN" sz="2400" b="1">
                <a:solidFill>
                  <a:schemeClr val="tx1"/>
                </a:solidFill>
              </a:rPr>
              <a:t> of medical technology,...</a:t>
            </a:r>
            <a:endParaRPr lang="en-US" altLang="zh-CN" sz="2400" b="1">
              <a:solidFill>
                <a:schemeClr val="tx1"/>
              </a:solidFill>
            </a:endParaRPr>
          </a:p>
          <a:p>
            <a:pPr algn="l">
              <a:lnSpc>
                <a:spcPct val="110000"/>
              </a:lnSpc>
              <a:buClrTx/>
              <a:buSzTx/>
            </a:pPr>
            <a:r>
              <a:rPr lang="en-US" altLang="zh-CN" sz="2400" b="1">
                <a:solidFill>
                  <a:schemeClr val="tx1"/>
                </a:solidFill>
              </a:rPr>
              <a:t>With the</a:t>
            </a:r>
            <a:r>
              <a:rPr lang="en-US" altLang="zh-CN" sz="2400" b="1" u="sng">
                <a:solidFill>
                  <a:srgbClr val="FF0000"/>
                </a:solidFill>
              </a:rPr>
              <a:t> increasing popularity</a:t>
            </a:r>
            <a:r>
              <a:rPr lang="en-US" altLang="zh-CN" sz="2400" b="1">
                <a:solidFill>
                  <a:schemeClr val="tx1"/>
                </a:solidFill>
              </a:rPr>
              <a:t> of short videos,...</a:t>
            </a:r>
            <a:endParaRPr lang="en-US" altLang="zh-CN" sz="2400" b="1">
              <a:solidFill>
                <a:schemeClr val="tx1"/>
              </a:solidFill>
            </a:endParaRPr>
          </a:p>
          <a:p>
            <a:pPr algn="l">
              <a:lnSpc>
                <a:spcPct val="110000"/>
              </a:lnSpc>
              <a:buClrTx/>
              <a:buSzTx/>
            </a:pPr>
            <a:r>
              <a:rPr sz="2400" b="1">
                <a:solidFill>
                  <a:schemeClr val="tx1"/>
                </a:solidFill>
              </a:rPr>
              <a:t>随着女性在职场扮演了一个重要的角色，</a:t>
            </a:r>
            <a:endParaRPr sz="2400" b="1">
              <a:solidFill>
                <a:schemeClr val="tx1"/>
              </a:solidFill>
            </a:endParaRPr>
          </a:p>
          <a:p>
            <a:pPr algn="l">
              <a:lnSpc>
                <a:spcPct val="110000"/>
              </a:lnSpc>
              <a:buClrTx/>
              <a:buSzTx/>
            </a:pPr>
            <a:r>
              <a:rPr lang="en-US" altLang="zh-CN" sz="2400" b="1">
                <a:solidFill>
                  <a:schemeClr val="tx1"/>
                </a:solidFill>
              </a:rPr>
              <a:t>With women playing a more important role in the workplace, those taking maternity leave have to face some losses.</a:t>
            </a: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表示随着</a:t>
            </a:r>
            <a:r>
              <a:rPr lang="en-US" altLang="zh-CN" sz="2400" b="1">
                <a:solidFill>
                  <a:schemeClr val="tx1"/>
                </a:solidFill>
              </a:rPr>
              <a:t>/</a:t>
            </a:r>
            <a:r>
              <a:rPr sz="2400" b="1">
                <a:solidFill>
                  <a:schemeClr val="tx1"/>
                </a:solidFill>
              </a:rPr>
              <a:t>有的介词：</a:t>
            </a:r>
            <a:r>
              <a:rPr lang="en-US" altLang="zh-CN" sz="2400" b="1">
                <a:solidFill>
                  <a:schemeClr val="tx1"/>
                </a:solidFill>
              </a:rPr>
              <a:t>with +n; with +n+doing/done</a:t>
            </a:r>
            <a:endParaRPr lang="en-US" altLang="zh-CN" sz="2400" b="1">
              <a:solidFill>
                <a:schemeClr val="tx1"/>
              </a:solidFill>
            </a:endParaRPr>
          </a:p>
          <a:p>
            <a:pPr algn="l">
              <a:lnSpc>
                <a:spcPct val="110000"/>
              </a:lnSpc>
              <a:buClrTx/>
              <a:buSzTx/>
            </a:pPr>
            <a:r>
              <a:rPr sz="2400" b="1">
                <a:solidFill>
                  <a:schemeClr val="tx1"/>
                </a:solidFill>
              </a:rPr>
              <a:t>随着时间的流逝，他已经成为了一个成熟的工程师。</a:t>
            </a:r>
            <a:endParaRPr sz="2400" b="1">
              <a:solidFill>
                <a:schemeClr val="tx1"/>
              </a:solidFill>
            </a:endParaRPr>
          </a:p>
          <a:p>
            <a:pPr algn="l">
              <a:lnSpc>
                <a:spcPct val="110000"/>
              </a:lnSpc>
              <a:buClrTx/>
              <a:buSzTx/>
            </a:pPr>
            <a:r>
              <a:rPr lang="en-US" altLang="zh-CN" sz="2400" b="1" u="sng">
                <a:solidFill>
                  <a:srgbClr val="FF0000"/>
                </a:solidFill>
              </a:rPr>
              <a:t>As time goes by</a:t>
            </a:r>
            <a:r>
              <a:rPr lang="en-US" altLang="zh-CN" sz="2400" b="1">
                <a:solidFill>
                  <a:schemeClr val="tx1"/>
                </a:solidFill>
              </a:rPr>
              <a:t>, he has become a mature engineer.</a:t>
            </a:r>
            <a:endParaRPr lang="en-US" altLang="zh-CN" sz="2400" b="1">
              <a:solidFill>
                <a:schemeClr val="tx1"/>
              </a:solidFill>
            </a:endParaRPr>
          </a:p>
          <a:p>
            <a:pPr algn="l">
              <a:lnSpc>
                <a:spcPct val="110000"/>
              </a:lnSpc>
              <a:buClrTx/>
              <a:buSzTx/>
            </a:pPr>
            <a:r>
              <a:rPr lang="en-US" altLang="zh-CN" sz="2400" b="1" u="sng">
                <a:solidFill>
                  <a:srgbClr val="0070C0"/>
                </a:solidFill>
              </a:rPr>
              <a:t>With time going by</a:t>
            </a:r>
            <a:r>
              <a:rPr lang="en-US" altLang="zh-CN" sz="2400" b="1">
                <a:solidFill>
                  <a:schemeClr val="tx1"/>
                </a:solidFill>
              </a:rPr>
              <a:t>,....</a:t>
            </a:r>
            <a:endParaRPr lang="en-US" altLang="zh-CN" sz="2400" b="1">
              <a:solidFill>
                <a:schemeClr val="tx1"/>
              </a:solidFill>
            </a:endParaRPr>
          </a:p>
          <a:p>
            <a:pPr algn="l">
              <a:lnSpc>
                <a:spcPct val="110000"/>
              </a:lnSpc>
              <a:buClrTx/>
              <a:buSzTx/>
            </a:pPr>
            <a:r>
              <a:rPr sz="2400" b="1">
                <a:solidFill>
                  <a:schemeClr val="tx1"/>
                </a:solidFill>
              </a:rPr>
              <a:t>随着很多时间被花在屏幕上，人们之间变得更加冷漠了。</a:t>
            </a:r>
            <a:endParaRPr sz="2400" b="1">
              <a:solidFill>
                <a:schemeClr val="tx1"/>
              </a:solidFill>
            </a:endParaRPr>
          </a:p>
          <a:p>
            <a:pPr algn="l">
              <a:lnSpc>
                <a:spcPct val="110000"/>
              </a:lnSpc>
              <a:buClrTx/>
              <a:buSzTx/>
            </a:pPr>
            <a:r>
              <a:rPr lang="en-US" altLang="zh-CN" sz="2400" b="1" u="sng">
                <a:solidFill>
                  <a:srgbClr val="FF0000"/>
                </a:solidFill>
              </a:rPr>
              <a:t>With much time spent on the screen</a:t>
            </a:r>
            <a:r>
              <a:rPr lang="en-US" altLang="zh-CN" sz="2400" b="1">
                <a:solidFill>
                  <a:schemeClr val="tx1"/>
                </a:solidFill>
              </a:rPr>
              <a:t>, people have become more indifferent between each other.</a:t>
            </a: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随着很多学生选择出国留学，国内的竞争压力变小了。</a:t>
            </a:r>
            <a:endParaRPr sz="2400" b="1">
              <a:solidFill>
                <a:schemeClr val="tx1"/>
              </a:solidFill>
            </a:endParaRPr>
          </a:p>
          <a:p>
            <a:pPr algn="l">
              <a:lnSpc>
                <a:spcPct val="110000"/>
              </a:lnSpc>
              <a:buClrTx/>
              <a:buSzTx/>
            </a:pPr>
            <a:r>
              <a:rPr lang="en-US" altLang="zh-CN" sz="2400" b="1" u="sng">
                <a:solidFill>
                  <a:srgbClr val="FF0000"/>
                </a:solidFill>
              </a:rPr>
              <a:t>As many students have chosen to study abroad</a:t>
            </a:r>
            <a:r>
              <a:rPr lang="en-US" altLang="zh-CN" sz="2400" b="1">
                <a:solidFill>
                  <a:schemeClr val="tx1"/>
                </a:solidFill>
              </a:rPr>
              <a:t>, the competition at home has become less fierce than before.</a:t>
            </a:r>
            <a:endParaRPr sz="2400" b="1">
              <a:solidFill>
                <a:schemeClr val="tx1"/>
              </a:solidFill>
            </a:endParaRPr>
          </a:p>
          <a:p>
            <a:pPr algn="l">
              <a:lnSpc>
                <a:spcPct val="110000"/>
              </a:lnSpc>
              <a:buClrTx/>
              <a:buSzTx/>
            </a:pPr>
            <a:r>
              <a:rPr lang="en-US" altLang="zh-CN" sz="2400" b="1" u="sng">
                <a:solidFill>
                  <a:srgbClr val="0070C0"/>
                </a:solidFill>
              </a:rPr>
              <a:t>With many students choosing to study broad, </a:t>
            </a:r>
            <a:r>
              <a:rPr lang="en-US" altLang="zh-CN" sz="2400" b="1">
                <a:solidFill>
                  <a:schemeClr val="tx1"/>
                </a:solidFill>
              </a:rPr>
              <a:t>....</a:t>
            </a:r>
            <a:endParaRPr lang="en-US" altLang="zh-CN" sz="2400" b="1">
              <a:solidFill>
                <a:schemeClr val="tx1"/>
              </a:solidFill>
            </a:endParaRPr>
          </a:p>
          <a:p>
            <a:pPr algn="l">
              <a:lnSpc>
                <a:spcPct val="110000"/>
              </a:lnSpc>
              <a:buClrTx/>
              <a:buSzTx/>
            </a:pPr>
            <a:r>
              <a:rPr sz="2400" b="1">
                <a:solidFill>
                  <a:schemeClr val="tx1"/>
                </a:solidFill>
              </a:rPr>
              <a:t>随着很多消费者被广告所影响，物质主义大行其道。</a:t>
            </a:r>
            <a:endParaRPr sz="2400" b="1">
              <a:solidFill>
                <a:schemeClr val="tx1"/>
              </a:solidFill>
            </a:endParaRPr>
          </a:p>
          <a:p>
            <a:pPr algn="l">
              <a:lnSpc>
                <a:spcPct val="110000"/>
              </a:lnSpc>
              <a:buClrTx/>
              <a:buSzTx/>
            </a:pPr>
            <a:r>
              <a:rPr lang="en-US" altLang="zh-CN" sz="2400" b="1" u="sng">
                <a:solidFill>
                  <a:srgbClr val="FF0000"/>
                </a:solidFill>
              </a:rPr>
              <a:t>As many customers have been affected by ads</a:t>
            </a:r>
            <a:r>
              <a:rPr lang="en-US" altLang="zh-CN" sz="2400" b="1">
                <a:solidFill>
                  <a:schemeClr val="tx1"/>
                </a:solidFill>
              </a:rPr>
              <a:t>, materialism is promoted.</a:t>
            </a:r>
            <a:endParaRPr lang="en-US" altLang="zh-CN" sz="2400" b="1">
              <a:solidFill>
                <a:schemeClr val="tx1"/>
              </a:solidFill>
            </a:endParaRPr>
          </a:p>
          <a:p>
            <a:pPr algn="l">
              <a:lnSpc>
                <a:spcPct val="110000"/>
              </a:lnSpc>
              <a:buClrTx/>
              <a:buSzTx/>
            </a:pPr>
            <a:r>
              <a:rPr lang="en-US" altLang="zh-CN" sz="2400" b="1" u="sng">
                <a:solidFill>
                  <a:srgbClr val="0070C0"/>
                </a:solidFill>
              </a:rPr>
              <a:t>With many customers influenced by ads</a:t>
            </a:r>
            <a:r>
              <a:rPr lang="en-US" altLang="zh-CN" sz="2400" b="1">
                <a:solidFill>
                  <a:schemeClr val="tx1"/>
                </a:solidFill>
              </a:rPr>
              <a:t>, </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表示随着</a:t>
            </a:r>
            <a:r>
              <a:rPr lang="en-US" altLang="zh-CN" sz="2400" b="1">
                <a:solidFill>
                  <a:schemeClr val="tx1"/>
                </a:solidFill>
              </a:rPr>
              <a:t>/</a:t>
            </a:r>
            <a:r>
              <a:rPr sz="2400" b="1">
                <a:solidFill>
                  <a:schemeClr val="tx1"/>
                </a:solidFill>
              </a:rPr>
              <a:t>有的介词：</a:t>
            </a:r>
            <a:r>
              <a:rPr lang="en-US" altLang="zh-CN" sz="2400" b="1">
                <a:solidFill>
                  <a:schemeClr val="tx1"/>
                </a:solidFill>
              </a:rPr>
              <a:t>with +n; with +n+doing/done</a:t>
            </a:r>
            <a:endParaRPr lang="en-US" altLang="zh-CN" sz="2400" b="1">
              <a:solidFill>
                <a:schemeClr val="tx1"/>
              </a:solidFill>
            </a:endParaRPr>
          </a:p>
          <a:p>
            <a:pPr algn="l">
              <a:lnSpc>
                <a:spcPct val="110000"/>
              </a:lnSpc>
              <a:buClrTx/>
              <a:buSzTx/>
            </a:pPr>
            <a:r>
              <a:rPr lang="en-US" altLang="zh-CN" sz="2400" b="1">
                <a:solidFill>
                  <a:schemeClr val="tx1"/>
                </a:solidFill>
              </a:rPr>
              <a:t>Many changes have taken place in the south,</a:t>
            </a:r>
            <a:r>
              <a:rPr lang="en-US" altLang="zh-CN" sz="2400" b="1" u="sng">
                <a:solidFill>
                  <a:srgbClr val="FF0000"/>
                </a:solidFill>
              </a:rPr>
              <a:t> with a new park built next to the hotel</a:t>
            </a:r>
            <a:r>
              <a:rPr lang="en-US" altLang="zh-CN" sz="2400" b="1">
                <a:solidFill>
                  <a:schemeClr val="tx1"/>
                </a:solidFill>
              </a:rPr>
              <a:t>.</a:t>
            </a:r>
            <a:endParaRPr lang="en-US" altLang="zh-CN" sz="2400" b="1">
              <a:solidFill>
                <a:schemeClr val="tx1"/>
              </a:solidFill>
            </a:endParaRPr>
          </a:p>
          <a:p>
            <a:pPr algn="l">
              <a:lnSpc>
                <a:spcPct val="110000"/>
              </a:lnSpc>
              <a:buClrTx/>
              <a:buSzTx/>
            </a:pPr>
            <a:r>
              <a:rPr sz="2400" b="1">
                <a:solidFill>
                  <a:schemeClr val="tx1"/>
                </a:solidFill>
              </a:rPr>
              <a:t>住房区域已经被大大地扩张了，还建了一条马路。</a:t>
            </a:r>
            <a:endParaRPr sz="2400" b="1">
              <a:solidFill>
                <a:schemeClr val="tx1"/>
              </a:solidFill>
            </a:endParaRPr>
          </a:p>
          <a:p>
            <a:pPr algn="l">
              <a:lnSpc>
                <a:spcPct val="110000"/>
              </a:lnSpc>
              <a:buClrTx/>
              <a:buSzTx/>
            </a:pPr>
            <a:r>
              <a:rPr lang="en-US" altLang="zh-CN" sz="2400" b="1">
                <a:solidFill>
                  <a:schemeClr val="tx1"/>
                </a:solidFill>
              </a:rPr>
              <a:t>The housing area has been expanded dramatically,</a:t>
            </a:r>
            <a:r>
              <a:rPr lang="en-US" altLang="zh-CN" sz="2400" b="1" u="sng">
                <a:solidFill>
                  <a:srgbClr val="FF0000"/>
                </a:solidFill>
              </a:rPr>
              <a:t> with a new road added there</a:t>
            </a:r>
            <a:r>
              <a:rPr lang="en-US" altLang="zh-CN" sz="2400" b="1">
                <a:solidFill>
                  <a:schemeClr val="tx1"/>
                </a:solidFill>
              </a:rPr>
              <a:t>.</a:t>
            </a: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表示先后的介词：</a:t>
            </a:r>
            <a:r>
              <a:rPr lang="en-US" altLang="zh-CN" sz="2400" b="1">
                <a:solidFill>
                  <a:schemeClr val="tx1"/>
                </a:solidFill>
              </a:rPr>
              <a:t>after/before</a:t>
            </a:r>
            <a:endParaRPr sz="2400" b="1">
              <a:solidFill>
                <a:schemeClr val="tx1"/>
              </a:solidFill>
            </a:endParaRPr>
          </a:p>
          <a:p>
            <a:pPr algn="l">
              <a:lnSpc>
                <a:spcPct val="110000"/>
              </a:lnSpc>
              <a:buClrTx/>
              <a:buSzTx/>
            </a:pPr>
            <a:r>
              <a:rPr lang="en-US" altLang="zh-CN" sz="2400" b="1" u="sng">
                <a:solidFill>
                  <a:srgbClr val="FF0000"/>
                </a:solidFill>
              </a:rPr>
              <a:t>After arriving at the destination</a:t>
            </a:r>
            <a:r>
              <a:rPr lang="en-US" altLang="zh-CN" sz="2400" b="1">
                <a:solidFill>
                  <a:schemeClr val="tx1"/>
                </a:solidFill>
              </a:rPr>
              <a:t>, the fish will be frozen.</a:t>
            </a:r>
            <a:endParaRPr lang="en-US" altLang="zh-CN" sz="2400" b="1">
              <a:solidFill>
                <a:schemeClr val="tx1"/>
              </a:solidFill>
            </a:endParaRPr>
          </a:p>
          <a:p>
            <a:pPr algn="l">
              <a:lnSpc>
                <a:spcPct val="110000"/>
              </a:lnSpc>
              <a:buClrTx/>
              <a:buSzTx/>
            </a:pPr>
            <a:r>
              <a:rPr lang="en-US" altLang="zh-CN" sz="2400" b="1" u="sng">
                <a:solidFill>
                  <a:srgbClr val="FF0000"/>
                </a:solidFill>
              </a:rPr>
              <a:t>After being put into the fridge</a:t>
            </a:r>
            <a:r>
              <a:rPr lang="en-US" altLang="zh-CN" sz="2400" b="1">
                <a:solidFill>
                  <a:schemeClr val="tx1"/>
                </a:solidFill>
              </a:rPr>
              <a:t>, the fish will be frozen.</a:t>
            </a:r>
            <a:endParaRPr lang="en-US" altLang="zh-CN" sz="2400" b="1">
              <a:solidFill>
                <a:schemeClr val="tx1"/>
              </a:solidFill>
            </a:endParaRPr>
          </a:p>
          <a:p>
            <a:pPr algn="l">
              <a:lnSpc>
                <a:spcPct val="110000"/>
              </a:lnSpc>
              <a:buClrTx/>
              <a:buSzTx/>
            </a:pPr>
            <a:r>
              <a:rPr sz="2400" b="1">
                <a:solidFill>
                  <a:schemeClr val="tx1"/>
                </a:solidFill>
              </a:rPr>
              <a:t>在看完电影之后，我们选择去吃晚餐。</a:t>
            </a:r>
            <a:endParaRPr sz="2400" b="1">
              <a:solidFill>
                <a:schemeClr val="tx1"/>
              </a:solidFill>
            </a:endParaRPr>
          </a:p>
          <a:p>
            <a:pPr algn="l">
              <a:lnSpc>
                <a:spcPct val="110000"/>
              </a:lnSpc>
              <a:buClrTx/>
              <a:buSzTx/>
            </a:pPr>
            <a:r>
              <a:rPr lang="en-US" altLang="zh-CN" sz="2400" b="1">
                <a:solidFill>
                  <a:schemeClr val="tx1"/>
                </a:solidFill>
              </a:rPr>
              <a:t>After watching films, we choose to have dinner.</a:t>
            </a:r>
            <a:endParaRPr lang="en-US" altLang="zh-CN" sz="2400" b="1">
              <a:solidFill>
                <a:schemeClr val="tx1"/>
              </a:solidFill>
            </a:endParaRPr>
          </a:p>
          <a:p>
            <a:pPr algn="l">
              <a:lnSpc>
                <a:spcPct val="110000"/>
              </a:lnSpc>
              <a:buClrTx/>
              <a:buSzTx/>
            </a:pPr>
            <a:r>
              <a:rPr sz="2400" b="1">
                <a:solidFill>
                  <a:schemeClr val="tx1"/>
                </a:solidFill>
              </a:rPr>
              <a:t>在被送到私立学校之后，我开始努力学英语。</a:t>
            </a:r>
            <a:endParaRPr sz="2400" b="1">
              <a:solidFill>
                <a:schemeClr val="tx1"/>
              </a:solidFill>
            </a:endParaRPr>
          </a:p>
          <a:p>
            <a:pPr algn="l">
              <a:lnSpc>
                <a:spcPct val="110000"/>
              </a:lnSpc>
              <a:buClrTx/>
              <a:buSzTx/>
            </a:pPr>
            <a:r>
              <a:rPr lang="en-US" altLang="zh-CN" sz="2400" b="1">
                <a:solidFill>
                  <a:schemeClr val="tx1"/>
                </a:solidFill>
              </a:rPr>
              <a:t>After being sent to private schools, I begin to make efforts to learn English.</a:t>
            </a:r>
            <a:endParaRPr lang="en-US" altLang="zh-CN" sz="2400" b="1">
              <a:solidFill>
                <a:schemeClr val="tx1"/>
              </a:solidFill>
            </a:endParaRPr>
          </a:p>
          <a:p>
            <a:pPr algn="l">
              <a:lnSpc>
                <a:spcPct val="110000"/>
              </a:lnSpc>
              <a:buClrTx/>
              <a:buSzTx/>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②介词短语做状语</a:t>
            </a:r>
            <a:endParaRPr lang="zh-CN" altLang="en-US" sz="2400">
              <a:solidFill>
                <a:schemeClr val="tx1"/>
              </a:solidFill>
            </a:endParaRPr>
          </a:p>
        </p:txBody>
      </p:sp>
      <p:sp>
        <p:nvSpPr>
          <p:cNvPr id="3" name="内容占位符 2"/>
          <p:cNvSpPr>
            <a:spLocks noGrp="1"/>
          </p:cNvSpPr>
          <p:nvPr>
            <p:ph idx="1"/>
          </p:nvPr>
        </p:nvSpPr>
        <p:spPr>
          <a:xfrm>
            <a:off x="499745" y="1275715"/>
            <a:ext cx="8423910" cy="3799205"/>
          </a:xfrm>
        </p:spPr>
        <p:txBody>
          <a:bodyPr/>
          <a:lstStyle/>
          <a:p>
            <a:pPr algn="l">
              <a:lnSpc>
                <a:spcPct val="110000"/>
              </a:lnSpc>
              <a:buClrTx/>
              <a:buSzTx/>
            </a:pPr>
            <a:r>
              <a:rPr sz="2400" b="1">
                <a:solidFill>
                  <a:schemeClr val="tx1"/>
                </a:solidFill>
              </a:rPr>
              <a:t>表示先后的介词：</a:t>
            </a:r>
            <a:r>
              <a:rPr lang="en-US" altLang="zh-CN" sz="2400" b="1">
                <a:solidFill>
                  <a:schemeClr val="tx1"/>
                </a:solidFill>
              </a:rPr>
              <a:t>after/before</a:t>
            </a:r>
            <a:endParaRPr sz="2400" b="1">
              <a:solidFill>
                <a:schemeClr val="tx1"/>
              </a:solidFill>
            </a:endParaRPr>
          </a:p>
          <a:p>
            <a:pPr algn="l">
              <a:lnSpc>
                <a:spcPct val="110000"/>
              </a:lnSpc>
              <a:buClrTx/>
              <a:buSzTx/>
            </a:pPr>
            <a:r>
              <a:rPr lang="en-US" altLang="zh-CN" sz="2400" b="1" u="sng">
                <a:solidFill>
                  <a:schemeClr val="tx1"/>
                </a:solidFill>
              </a:rPr>
              <a:t>XXX</a:t>
            </a:r>
            <a:r>
              <a:rPr lang="en-US" altLang="zh-CN" sz="2400" b="1">
                <a:solidFill>
                  <a:schemeClr val="tx1"/>
                </a:solidFill>
              </a:rPr>
              <a:t> </a:t>
            </a:r>
            <a:r>
              <a:rPr lang="en-US" altLang="zh-CN" sz="2400" b="1" u="sng">
                <a:solidFill>
                  <a:schemeClr val="tx1"/>
                </a:solidFill>
              </a:rPr>
              <a:t>before XXX</a:t>
            </a:r>
            <a:endParaRPr lang="en-US" altLang="zh-CN" sz="2400" b="1" u="sng">
              <a:solidFill>
                <a:schemeClr val="tx1"/>
              </a:solidFill>
            </a:endParaRPr>
          </a:p>
          <a:p>
            <a:pPr algn="l">
              <a:lnSpc>
                <a:spcPct val="110000"/>
              </a:lnSpc>
              <a:buClrTx/>
              <a:buSzTx/>
            </a:pPr>
            <a:r>
              <a:rPr sz="2400" b="1">
                <a:solidFill>
                  <a:schemeClr val="tx1"/>
                </a:solidFill>
              </a:rPr>
              <a:t>苹果先洗再吃。</a:t>
            </a:r>
            <a:endParaRPr sz="2400" b="1">
              <a:solidFill>
                <a:schemeClr val="tx1"/>
              </a:solidFill>
            </a:endParaRPr>
          </a:p>
          <a:p>
            <a:pPr algn="l">
              <a:lnSpc>
                <a:spcPct val="110000"/>
              </a:lnSpc>
              <a:buClrTx/>
              <a:buSzTx/>
            </a:pPr>
            <a:r>
              <a:rPr lang="en-US" altLang="zh-CN" sz="2400" b="1">
                <a:solidFill>
                  <a:schemeClr val="tx1"/>
                </a:solidFill>
              </a:rPr>
              <a:t>The apples are washed </a:t>
            </a:r>
            <a:r>
              <a:rPr lang="en-US" altLang="zh-CN" sz="2400" b="1" u="sng">
                <a:solidFill>
                  <a:srgbClr val="FF0000"/>
                </a:solidFill>
              </a:rPr>
              <a:t>before being eaten</a:t>
            </a:r>
            <a:r>
              <a:rPr lang="en-US" altLang="zh-CN" sz="2400" b="1">
                <a:solidFill>
                  <a:schemeClr val="tx1"/>
                </a:solidFill>
              </a:rPr>
              <a:t>.</a:t>
            </a:r>
            <a:endParaRPr lang="en-US" altLang="zh-CN" sz="2400" b="1">
              <a:solidFill>
                <a:schemeClr val="tx1"/>
              </a:solidFill>
            </a:endParaRPr>
          </a:p>
          <a:p>
            <a:pPr algn="l">
              <a:lnSpc>
                <a:spcPct val="110000"/>
              </a:lnSpc>
              <a:buClrTx/>
              <a:buSzTx/>
            </a:pPr>
            <a:r>
              <a:rPr sz="2400" b="1">
                <a:solidFill>
                  <a:schemeClr val="tx1"/>
                </a:solidFill>
              </a:rPr>
              <a:t>我打算先吃晚饭再看电影。</a:t>
            </a:r>
            <a:endParaRPr sz="2400" b="1">
              <a:solidFill>
                <a:schemeClr val="tx1"/>
              </a:solidFill>
            </a:endParaRPr>
          </a:p>
          <a:p>
            <a:pPr algn="l">
              <a:lnSpc>
                <a:spcPct val="110000"/>
              </a:lnSpc>
              <a:buClrTx/>
              <a:buSzTx/>
            </a:pPr>
            <a:r>
              <a:rPr lang="en-US" altLang="zh-CN" sz="2400" b="1">
                <a:solidFill>
                  <a:schemeClr val="tx1"/>
                </a:solidFill>
              </a:rPr>
              <a:t>I plan to have dinner first </a:t>
            </a:r>
            <a:r>
              <a:rPr lang="en-US" altLang="zh-CN" sz="2400" b="1" u="sng">
                <a:solidFill>
                  <a:srgbClr val="FF0000"/>
                </a:solidFill>
              </a:rPr>
              <a:t>before watching the movie</a:t>
            </a:r>
            <a:r>
              <a:rPr lang="en-US" altLang="zh-CN" sz="2400" b="1">
                <a:solidFill>
                  <a:schemeClr val="tx1"/>
                </a:solidFill>
              </a:rPr>
              <a:t>.</a:t>
            </a:r>
            <a:endParaRPr lang="en-US" altLang="zh-CN" sz="2400" b="1">
              <a:solidFill>
                <a:schemeClr val="tx1"/>
              </a:solidFill>
            </a:endParaRPr>
          </a:p>
          <a:p>
            <a:pPr algn="l">
              <a:lnSpc>
                <a:spcPct val="110000"/>
              </a:lnSpc>
              <a:buClrTx/>
              <a:buSzTx/>
            </a:pPr>
            <a:r>
              <a:rPr sz="2400" b="1">
                <a:solidFill>
                  <a:schemeClr val="tx1"/>
                </a:solidFill>
              </a:rPr>
              <a:t>番茄应该先被加热再被削皮。</a:t>
            </a:r>
            <a:endParaRPr sz="2400" b="1">
              <a:solidFill>
                <a:schemeClr val="tx1"/>
              </a:solidFill>
            </a:endParaRPr>
          </a:p>
          <a:p>
            <a:pPr algn="l">
              <a:lnSpc>
                <a:spcPct val="110000"/>
              </a:lnSpc>
              <a:buClrTx/>
              <a:buSzTx/>
            </a:pPr>
            <a:r>
              <a:rPr lang="en-US" altLang="zh-CN" sz="2400" b="1">
                <a:solidFill>
                  <a:schemeClr val="tx1"/>
                </a:solidFill>
              </a:rPr>
              <a:t>Tomatoes should be heated at first </a:t>
            </a:r>
            <a:r>
              <a:rPr lang="en-US" altLang="zh-CN" sz="2400" b="1" u="sng">
                <a:solidFill>
                  <a:srgbClr val="FF0000"/>
                </a:solidFill>
              </a:rPr>
              <a:t>before being peeled.</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a:xfrm>
            <a:off x="251460" y="1275715"/>
            <a:ext cx="8828405" cy="3799205"/>
          </a:xfrm>
        </p:spPr>
        <p:txBody>
          <a:bodyPr/>
          <a:lstStyle/>
          <a:p>
            <a:pPr algn="l">
              <a:lnSpc>
                <a:spcPct val="110000"/>
              </a:lnSpc>
              <a:buClrTx/>
              <a:buSzTx/>
            </a:pPr>
            <a:r>
              <a:rPr sz="2400" b="1">
                <a:solidFill>
                  <a:schemeClr val="tx1"/>
                </a:solidFill>
              </a:rPr>
              <a:t>表示列举的介词：</a:t>
            </a:r>
            <a:r>
              <a:rPr lang="en-US" altLang="zh-CN" sz="2400" b="1">
                <a:solidFill>
                  <a:schemeClr val="tx1"/>
                </a:solidFill>
              </a:rPr>
              <a:t>such as; for example, </a:t>
            </a:r>
            <a:r>
              <a:rPr sz="2400" b="1">
                <a:solidFill>
                  <a:schemeClr val="tx1"/>
                </a:solidFill>
              </a:rPr>
              <a:t>句子</a:t>
            </a:r>
            <a:r>
              <a:rPr lang="en-US" altLang="zh-CN" sz="2400" b="1">
                <a:solidFill>
                  <a:schemeClr val="tx1"/>
                </a:solidFill>
              </a:rPr>
              <a:t>; like...; including....</a:t>
            </a:r>
            <a:endParaRPr sz="2400" b="1">
              <a:solidFill>
                <a:schemeClr val="tx1"/>
              </a:solidFill>
            </a:endParaRPr>
          </a:p>
          <a:p>
            <a:pPr algn="l">
              <a:lnSpc>
                <a:spcPct val="110000"/>
              </a:lnSpc>
              <a:buClrTx/>
              <a:buSzTx/>
            </a:pPr>
            <a:r>
              <a:rPr lang="en-US" altLang="zh-CN" sz="2400" b="1">
                <a:solidFill>
                  <a:schemeClr val="tx1"/>
                </a:solidFill>
              </a:rPr>
              <a:t>The teenagers nowadays have a rich variety of hobbies </a:t>
            </a:r>
            <a:r>
              <a:rPr lang="en-US" altLang="zh-CN" sz="2400" b="1" u="sng">
                <a:solidFill>
                  <a:srgbClr val="FF0000"/>
                </a:solidFill>
              </a:rPr>
              <a:t>such as skiing, playing the piano and reading</a:t>
            </a:r>
            <a:r>
              <a:rPr lang="en-US" altLang="zh-CN" sz="2400" b="1">
                <a:solidFill>
                  <a:schemeClr val="tx1"/>
                </a:solidFill>
              </a:rPr>
              <a:t>.</a:t>
            </a:r>
            <a:endParaRPr lang="en-US" altLang="zh-CN" sz="2400" b="1">
              <a:solidFill>
                <a:schemeClr val="tx1"/>
              </a:solidFill>
            </a:endParaRPr>
          </a:p>
          <a:p>
            <a:pPr algn="l">
              <a:lnSpc>
                <a:spcPct val="110000"/>
              </a:lnSpc>
              <a:buClrTx/>
              <a:buSzTx/>
            </a:pPr>
            <a:r>
              <a:rPr lang="en-US" altLang="zh-CN" sz="2400" b="1">
                <a:solidFill>
                  <a:schemeClr val="tx1"/>
                </a:solidFill>
              </a:rPr>
              <a:t>The processing of producing peach cans can be divided into three main stages </a:t>
            </a:r>
            <a:r>
              <a:rPr lang="en-US" altLang="zh-CN" sz="2400" b="1" u="sng">
                <a:solidFill>
                  <a:srgbClr val="FF0000"/>
                </a:solidFill>
              </a:rPr>
              <a:t>including picking, producing and selling respectively</a:t>
            </a:r>
            <a:r>
              <a:rPr lang="en-US" altLang="zh-CN" sz="2400" b="1">
                <a:solidFill>
                  <a:schemeClr val="tx1"/>
                </a:solidFill>
              </a:rPr>
              <a:t>.</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a:xfrm>
            <a:off x="102870" y="1275715"/>
            <a:ext cx="9323070" cy="3799205"/>
          </a:xfrm>
        </p:spPr>
        <p:txBody>
          <a:bodyPr/>
          <a:lstStyle/>
          <a:p>
            <a:pPr algn="l">
              <a:lnSpc>
                <a:spcPct val="110000"/>
              </a:lnSpc>
              <a:buClrTx/>
              <a:buSzTx/>
            </a:pPr>
            <a:r>
              <a:rPr sz="2400" b="1">
                <a:solidFill>
                  <a:schemeClr val="tx1"/>
                </a:solidFill>
              </a:rPr>
              <a:t>表示让步的介词：</a:t>
            </a:r>
            <a:r>
              <a:rPr lang="en-US" altLang="zh-CN" sz="2400" b="1">
                <a:solidFill>
                  <a:schemeClr val="tx1"/>
                </a:solidFill>
              </a:rPr>
              <a:t>despite; in spite of</a:t>
            </a:r>
            <a:endParaRPr sz="2400" b="1">
              <a:solidFill>
                <a:schemeClr val="tx1"/>
              </a:solidFill>
            </a:endParaRPr>
          </a:p>
          <a:p>
            <a:pPr algn="l">
              <a:lnSpc>
                <a:spcPct val="110000"/>
              </a:lnSpc>
              <a:buClrTx/>
              <a:buSzTx/>
            </a:pPr>
            <a:r>
              <a:rPr sz="2400" b="1">
                <a:solidFill>
                  <a:schemeClr val="tx1"/>
                </a:solidFill>
              </a:rPr>
              <a:t>虽然线上很方便，我仍认为纸质书扮演了一个不可替代的角色。</a:t>
            </a:r>
            <a:endParaRPr sz="2400" b="1">
              <a:solidFill>
                <a:schemeClr val="tx1"/>
              </a:solidFill>
            </a:endParaRPr>
          </a:p>
          <a:p>
            <a:pPr algn="l">
              <a:lnSpc>
                <a:spcPct val="110000"/>
              </a:lnSpc>
              <a:buClrTx/>
              <a:buSzTx/>
            </a:pPr>
            <a:r>
              <a:rPr lang="en-US" altLang="zh-CN" sz="2400" b="1" u="sng">
                <a:solidFill>
                  <a:srgbClr val="FF0000"/>
                </a:solidFill>
              </a:rPr>
              <a:t>Despite great convenience of reading online</a:t>
            </a:r>
            <a:r>
              <a:rPr lang="en-US" altLang="zh-CN" sz="2400" b="1">
                <a:solidFill>
                  <a:schemeClr val="tx1"/>
                </a:solidFill>
              </a:rPr>
              <a:t>, I still believe that printed book plays an indispensable role.</a:t>
            </a:r>
            <a:endParaRPr lang="en-US" altLang="zh-CN" sz="2400" b="1">
              <a:solidFill>
                <a:schemeClr val="tx1"/>
              </a:solidFill>
            </a:endParaRPr>
          </a:p>
          <a:p>
            <a:pPr algn="l">
              <a:lnSpc>
                <a:spcPct val="110000"/>
              </a:lnSpc>
              <a:buClrTx/>
              <a:buSzTx/>
            </a:pPr>
            <a:r>
              <a:rPr lang="en-US" altLang="zh-CN" sz="2400" b="1" u="sng">
                <a:solidFill>
                  <a:srgbClr val="0070C0"/>
                </a:solidFill>
              </a:rPr>
              <a:t>Although it is convenient to read online</a:t>
            </a:r>
            <a:r>
              <a:rPr lang="en-US" altLang="zh-CN" sz="2400" b="1">
                <a:solidFill>
                  <a:schemeClr val="tx1"/>
                </a:solidFill>
              </a:rPr>
              <a:t>, I still believe that printed book plays an indispensable role.</a:t>
            </a:r>
            <a:endParaRPr sz="2400" b="1">
              <a:solidFill>
                <a:schemeClr val="tx1"/>
              </a:solidFill>
            </a:endParaRPr>
          </a:p>
          <a:p>
            <a:pPr algn="l">
              <a:lnSpc>
                <a:spcPct val="110000"/>
              </a:lnSpc>
              <a:buClrTx/>
              <a:buSzTx/>
            </a:pPr>
            <a:endParaRPr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a:xfrm>
            <a:off x="102870" y="1275715"/>
            <a:ext cx="8888095" cy="3799205"/>
          </a:xfrm>
        </p:spPr>
        <p:txBody>
          <a:bodyPr/>
          <a:lstStyle/>
          <a:p>
            <a:pPr algn="l">
              <a:lnSpc>
                <a:spcPct val="110000"/>
              </a:lnSpc>
              <a:buClrTx/>
              <a:buSzTx/>
            </a:pPr>
            <a:r>
              <a:rPr sz="2400" b="1">
                <a:solidFill>
                  <a:schemeClr val="tx1"/>
                </a:solidFill>
              </a:rPr>
              <a:t>表示让步的介词：</a:t>
            </a:r>
            <a:r>
              <a:rPr lang="en-US" altLang="zh-CN" sz="2400" b="1">
                <a:solidFill>
                  <a:schemeClr val="tx1"/>
                </a:solidFill>
              </a:rPr>
              <a:t>despite; in spite of</a:t>
            </a:r>
            <a:endParaRPr sz="2400" b="1">
              <a:solidFill>
                <a:schemeClr val="tx1"/>
              </a:solidFill>
            </a:endParaRPr>
          </a:p>
          <a:p>
            <a:pPr algn="l">
              <a:lnSpc>
                <a:spcPct val="110000"/>
              </a:lnSpc>
              <a:buClrTx/>
              <a:buSzTx/>
            </a:pPr>
            <a:r>
              <a:rPr sz="2400" b="1">
                <a:solidFill>
                  <a:schemeClr val="tx1"/>
                </a:solidFill>
              </a:rPr>
              <a:t>虽然保护野生动物很重要，我仍认为钱应该首先被花在公共服务上。</a:t>
            </a:r>
            <a:endParaRPr sz="2400" b="1">
              <a:solidFill>
                <a:schemeClr val="tx1"/>
              </a:solidFill>
            </a:endParaRPr>
          </a:p>
          <a:p>
            <a:pPr algn="l">
              <a:lnSpc>
                <a:spcPct val="110000"/>
              </a:lnSpc>
              <a:buClrTx/>
              <a:buSzTx/>
            </a:pPr>
            <a:r>
              <a:rPr lang="en-US" altLang="zh-CN" sz="2400" b="1" u="sng">
                <a:solidFill>
                  <a:srgbClr val="FF0000"/>
                </a:solidFill>
              </a:rPr>
              <a:t>Despite the importance of protecting wild animals</a:t>
            </a:r>
            <a:r>
              <a:rPr lang="en-US" altLang="zh-CN" sz="2400" b="1" u="sng">
                <a:solidFill>
                  <a:srgbClr val="0070C0"/>
                </a:solidFill>
              </a:rPr>
              <a:t>,</a:t>
            </a:r>
            <a:r>
              <a:rPr lang="en-US" altLang="zh-CN" sz="2400" b="1">
                <a:solidFill>
                  <a:schemeClr val="tx1"/>
                </a:solidFill>
              </a:rPr>
              <a:t> I still believe that the money should be firstly spent on public services.</a:t>
            </a:r>
            <a:endParaRPr lang="en-US" altLang="zh-CN" sz="2400" b="1">
              <a:solidFill>
                <a:schemeClr val="tx1"/>
              </a:solidFill>
            </a:endParaRPr>
          </a:p>
          <a:p>
            <a:pPr algn="l">
              <a:lnSpc>
                <a:spcPct val="110000"/>
              </a:lnSpc>
              <a:buClrTx/>
              <a:buSzTx/>
            </a:pPr>
            <a:r>
              <a:rPr lang="en-US" altLang="zh-CN" sz="2400" b="1" u="sng">
                <a:solidFill>
                  <a:srgbClr val="0070C0"/>
                </a:solidFill>
                <a:sym typeface="+mn-ea"/>
              </a:rPr>
              <a:t>Although it is important to protect wild animals,</a:t>
            </a:r>
            <a:r>
              <a:rPr lang="en-US" altLang="zh-CN" sz="2400" b="1">
                <a:solidFill>
                  <a:schemeClr val="tx1"/>
                </a:solidFill>
                <a:sym typeface="+mn-ea"/>
              </a:rPr>
              <a:t> I still believe that the money should be firstly spent on public services.</a:t>
            </a:r>
            <a:endParaRPr lang="en-US" altLang="zh-CN" sz="2400" b="1">
              <a:solidFill>
                <a:schemeClr val="tx1"/>
              </a:solidFill>
            </a:endParaRPr>
          </a:p>
          <a:p>
            <a:pPr algn="l">
              <a:lnSpc>
                <a:spcPct val="110000"/>
              </a:lnSpc>
              <a:buClrTx/>
              <a:buSzTx/>
            </a:pPr>
            <a:endParaRPr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a:xfrm>
            <a:off x="683895" y="1563362"/>
            <a:ext cx="8229600" cy="3303998"/>
          </a:xfrm>
        </p:spPr>
        <p:txBody>
          <a:bodyPr/>
          <a:lstStyle/>
          <a:p>
            <a:pPr>
              <a:lnSpc>
                <a:spcPct val="120000"/>
              </a:lnSpc>
            </a:pPr>
            <a:r>
              <a:rPr sz="2400" b="1" dirty="0">
                <a:solidFill>
                  <a:schemeClr val="tx1"/>
                </a:solidFill>
                <a:sym typeface="+mn-ea"/>
              </a:rPr>
              <a:t>尽管开私家车带来了一些坏处，我仍认为这是一个积极的发展总体上，因为它大大地促进了经济的发展并我们生活更加方便。</a:t>
            </a:r>
            <a:r>
              <a:rPr lang="en-US" altLang="zh-CN" sz="2400" b="1" dirty="0">
                <a:solidFill>
                  <a:schemeClr val="tx1"/>
                </a:solidFill>
                <a:sym typeface="+mn-ea"/>
              </a:rPr>
              <a:t>bring-brought; </a:t>
            </a:r>
            <a:endParaRPr lang="en-US" altLang="zh-CN" sz="2400" b="1" dirty="0">
              <a:solidFill>
                <a:schemeClr val="tx1"/>
              </a:solidFill>
              <a:sym typeface="+mn-ea"/>
            </a:endParaRPr>
          </a:p>
          <a:p>
            <a:pPr>
              <a:lnSpc>
                <a:spcPct val="120000"/>
              </a:lnSpc>
            </a:pPr>
            <a:r>
              <a:rPr lang="en-US" altLang="zh-CN" sz="2400" b="1" u="sng" dirty="0">
                <a:solidFill>
                  <a:srgbClr val="FF0000"/>
                </a:solidFill>
                <a:sym typeface="+mn-ea"/>
              </a:rPr>
              <a:t>Despite some disadvantages of driving priave cars</a:t>
            </a:r>
            <a:r>
              <a:rPr lang="en-US" altLang="zh-CN" sz="2400" b="1" dirty="0">
                <a:solidFill>
                  <a:schemeClr val="tx1"/>
                </a:solidFill>
                <a:sym typeface="+mn-ea"/>
              </a:rPr>
              <a:t>, I still believe that this is a positive development in general </a:t>
            </a:r>
            <a:r>
              <a:rPr lang="en-US" altLang="zh-CN" sz="2400" b="1" u="sng" dirty="0">
                <a:solidFill>
                  <a:srgbClr val="FF0000"/>
                </a:solidFill>
                <a:sym typeface="+mn-ea"/>
              </a:rPr>
              <a:t>because it has greatly promoted the economy and made our life more convenient.</a:t>
            </a:r>
            <a:endParaRPr lang="en-US" altLang="zh-CN" sz="2400" b="1" dirty="0">
              <a:solidFill>
                <a:schemeClr val="tx1"/>
              </a:solidFill>
            </a:endParaRPr>
          </a:p>
          <a:p>
            <a:pPr>
              <a:lnSpc>
                <a:spcPct val="120000"/>
              </a:lnSpc>
            </a:pPr>
            <a:endParaRPr lang="en-US" altLang="zh-CN" sz="2400" b="1" dirty="0">
              <a:solidFill>
                <a:schemeClr val="tx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②介词短语做状语</a:t>
            </a:r>
            <a:endParaRPr lang="zh-CN" altLang="en-US">
              <a:solidFill>
                <a:schemeClr val="tx1"/>
              </a:solidFill>
            </a:endParaRPr>
          </a:p>
        </p:txBody>
      </p:sp>
      <p:sp>
        <p:nvSpPr>
          <p:cNvPr id="3" name="内容占位符 2"/>
          <p:cNvSpPr>
            <a:spLocks noGrp="1"/>
          </p:cNvSpPr>
          <p:nvPr>
            <p:ph idx="1"/>
          </p:nvPr>
        </p:nvSpPr>
        <p:spPr>
          <a:xfrm>
            <a:off x="241935" y="1275715"/>
            <a:ext cx="8749030" cy="3799205"/>
          </a:xfrm>
        </p:spPr>
        <p:txBody>
          <a:bodyPr/>
          <a:lstStyle/>
          <a:p>
            <a:pPr algn="l">
              <a:lnSpc>
                <a:spcPct val="110000"/>
              </a:lnSpc>
              <a:buClrTx/>
              <a:buSzTx/>
            </a:pPr>
            <a:r>
              <a:rPr sz="2400" b="1">
                <a:solidFill>
                  <a:schemeClr val="tx1"/>
                </a:solidFill>
              </a:rPr>
              <a:t>表示目的的介词：</a:t>
            </a:r>
            <a:r>
              <a:rPr lang="en-US" altLang="zh-CN" sz="2400" b="1">
                <a:solidFill>
                  <a:schemeClr val="tx1"/>
                </a:solidFill>
              </a:rPr>
              <a:t>in order to do sth; so as to do sth </a:t>
            </a:r>
            <a:endParaRPr sz="2400" b="1">
              <a:solidFill>
                <a:schemeClr val="tx1"/>
              </a:solidFill>
            </a:endParaRPr>
          </a:p>
          <a:p>
            <a:pPr algn="l">
              <a:lnSpc>
                <a:spcPct val="110000"/>
              </a:lnSpc>
              <a:buClrTx/>
              <a:buSzTx/>
            </a:pPr>
            <a:r>
              <a:rPr sz="2400" b="1">
                <a:solidFill>
                  <a:schemeClr val="tx1"/>
                </a:solidFill>
              </a:rPr>
              <a:t>很多企业家会雇佣明星来代言他们的品牌从而提升销量。</a:t>
            </a:r>
            <a:endParaRPr sz="2400" b="1">
              <a:solidFill>
                <a:schemeClr val="tx1"/>
              </a:solidFill>
            </a:endParaRPr>
          </a:p>
          <a:p>
            <a:pPr algn="l">
              <a:lnSpc>
                <a:spcPct val="110000"/>
              </a:lnSpc>
              <a:buClrTx/>
              <a:buSzTx/>
            </a:pPr>
            <a:r>
              <a:rPr lang="en-US" altLang="zh-CN" sz="2400" b="1">
                <a:solidFill>
                  <a:schemeClr val="tx1"/>
                </a:solidFill>
              </a:rPr>
              <a:t>Many entreprenuers will employ celebrities to endorse their brands </a:t>
            </a:r>
            <a:r>
              <a:rPr lang="en-US" altLang="zh-CN" sz="2400" b="1" u="sng">
                <a:solidFill>
                  <a:srgbClr val="FF0000"/>
                </a:solidFill>
              </a:rPr>
              <a:t>so as to promote the sales</a:t>
            </a:r>
            <a:r>
              <a:rPr lang="en-US" altLang="zh-CN" sz="2400" b="1">
                <a:solidFill>
                  <a:schemeClr val="tx1"/>
                </a:solidFill>
              </a:rPr>
              <a:t>.</a:t>
            </a:r>
            <a:endParaRPr lang="en-US" altLang="zh-CN" sz="2400" b="1">
              <a:solidFill>
                <a:schemeClr val="tx1"/>
              </a:solidFill>
            </a:endParaRPr>
          </a:p>
          <a:p>
            <a:pPr algn="l">
              <a:lnSpc>
                <a:spcPct val="110000"/>
              </a:lnSpc>
              <a:buClrTx/>
              <a:buSzTx/>
            </a:pPr>
            <a:r>
              <a:rPr lang="en-US" altLang="zh-CN" sz="2400" b="1">
                <a:solidFill>
                  <a:schemeClr val="tx1"/>
                </a:solidFill>
                <a:sym typeface="+mn-ea"/>
              </a:rPr>
              <a:t>Many entreprenuers will employ celebrities to endorse their brands </a:t>
            </a:r>
            <a:r>
              <a:rPr lang="en-US" altLang="zh-CN" sz="2400" b="1" u="sng">
                <a:solidFill>
                  <a:srgbClr val="0070C0"/>
                </a:solidFill>
                <a:sym typeface="+mn-ea"/>
              </a:rPr>
              <a:t>so that the sales can be promoted</a:t>
            </a:r>
            <a:r>
              <a:rPr lang="en-US" altLang="zh-CN" sz="2400" b="1">
                <a:solidFill>
                  <a:schemeClr val="tx1"/>
                </a:solidFill>
                <a:sym typeface="+mn-ea"/>
              </a:rPr>
              <a:t>.</a:t>
            </a:r>
            <a:endParaRPr sz="2400" b="1">
              <a:solidFill>
                <a:schemeClr val="tx1"/>
              </a:solidFill>
            </a:endParaRPr>
          </a:p>
          <a:p>
            <a:pPr algn="l">
              <a:lnSpc>
                <a:spcPct val="110000"/>
              </a:lnSpc>
              <a:buClrTx/>
              <a:buSzTx/>
            </a:pPr>
            <a:endParaRPr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500"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custDataLst>
              <p:tags r:id="rId1"/>
            </p:custDataLst>
          </p:nvPr>
        </p:nvGraphicFramePr>
        <p:xfrm>
          <a:off x="755650" y="141605"/>
          <a:ext cx="7076440" cy="4415790"/>
        </p:xfrm>
        <a:graphic>
          <a:graphicData uri="http://schemas.openxmlformats.org/drawingml/2006/table">
            <a:tbl>
              <a:tblPr firstRow="1" bandRow="1">
                <a:tableStyleId>{5C22544A-7EE6-4342-B048-85BDC9FD1C3A}</a:tableStyleId>
              </a:tblPr>
              <a:tblGrid>
                <a:gridCol w="3838575"/>
                <a:gridCol w="3237865"/>
              </a:tblGrid>
              <a:tr h="1068070">
                <a:tc>
                  <a:txBody>
                    <a:bodyPr/>
                    <a:lstStyle/>
                    <a:p>
                      <a:pPr>
                        <a:buNone/>
                      </a:pPr>
                      <a:r>
                        <a:rPr lang="en-US" altLang="zh-CN" sz="1600" b="0">
                          <a:solidFill>
                            <a:schemeClr val="tx1"/>
                          </a:solidFill>
                        </a:rPr>
                        <a:t>1. </a:t>
                      </a:r>
                      <a:r>
                        <a:rPr lang="zh-CN" altLang="en-US" sz="1600" b="0">
                          <a:solidFill>
                            <a:schemeClr val="tx1"/>
                          </a:solidFill>
                        </a:rPr>
                        <a:t>表示原因的介词</a:t>
                      </a:r>
                      <a:endParaRPr lang="zh-CN" altLang="en-US" sz="1600" b="0">
                        <a:solidFill>
                          <a:schemeClr val="tx1"/>
                        </a:solidFill>
                      </a:endParaRPr>
                    </a:p>
                    <a:p>
                      <a:pPr>
                        <a:buNone/>
                      </a:pPr>
                      <a:r>
                        <a:rPr lang="en-US" altLang="zh-CN" sz="1600" b="0">
                          <a:solidFill>
                            <a:schemeClr val="tx1"/>
                          </a:solidFill>
                        </a:rPr>
                        <a:t>because of </a:t>
                      </a:r>
                      <a:r>
                        <a:rPr lang="zh-CN" altLang="en-US" sz="1600" b="0">
                          <a:solidFill>
                            <a:schemeClr val="tx1"/>
                          </a:solidFill>
                        </a:rPr>
                        <a:t>中性</a:t>
                      </a:r>
                      <a:endParaRPr lang="en-US" altLang="zh-CN" sz="1600" b="0">
                        <a:solidFill>
                          <a:schemeClr val="tx1"/>
                        </a:solidFill>
                      </a:endParaRPr>
                    </a:p>
                    <a:p>
                      <a:pPr>
                        <a:buNone/>
                      </a:pPr>
                      <a:r>
                        <a:rPr lang="en-US" altLang="zh-CN" sz="1600" b="0">
                          <a:solidFill>
                            <a:schemeClr val="tx1"/>
                          </a:solidFill>
                        </a:rPr>
                        <a:t>due to </a:t>
                      </a:r>
                      <a:r>
                        <a:rPr lang="zh-CN" altLang="en-US" sz="1600" b="0">
                          <a:solidFill>
                            <a:schemeClr val="tx1"/>
                          </a:solidFill>
                        </a:rPr>
                        <a:t>消极</a:t>
                      </a:r>
                      <a:endParaRPr lang="en-US" altLang="zh-CN" sz="1600" b="0">
                        <a:solidFill>
                          <a:schemeClr val="tx1"/>
                        </a:solidFill>
                      </a:endParaRPr>
                    </a:p>
                    <a:p>
                      <a:pPr>
                        <a:buNone/>
                      </a:pPr>
                      <a:r>
                        <a:rPr lang="en-US" altLang="zh-CN" sz="1600" b="0">
                          <a:solidFill>
                            <a:schemeClr val="tx1"/>
                          </a:solidFill>
                        </a:rPr>
                        <a:t>thanks to </a:t>
                      </a:r>
                      <a:r>
                        <a:rPr lang="zh-CN" altLang="en-US" sz="1600" b="0">
                          <a:solidFill>
                            <a:schemeClr val="tx1"/>
                          </a:solidFill>
                        </a:rPr>
                        <a:t>积极</a:t>
                      </a:r>
                      <a:endParaRPr lang="zh-CN" altLang="en-US" sz="1600" b="0">
                        <a:solidFill>
                          <a:schemeClr val="tx1"/>
                        </a:solidFill>
                      </a:endParaRPr>
                    </a:p>
                  </a:txBody>
                  <a:tcPr>
                    <a:solidFill>
                      <a:schemeClr val="accent5">
                        <a:lumMod val="40000"/>
                        <a:lumOff val="60000"/>
                      </a:schemeClr>
                    </a:solidFill>
                  </a:tcPr>
                </a:tc>
                <a:tc>
                  <a:txBody>
                    <a:bodyPr/>
                    <a:lstStyle/>
                    <a:p>
                      <a:pPr>
                        <a:buNone/>
                      </a:pPr>
                      <a:r>
                        <a:rPr lang="en-US" altLang="zh-CN" sz="1600" b="0">
                          <a:solidFill>
                            <a:schemeClr val="tx1"/>
                          </a:solidFill>
                        </a:rPr>
                        <a:t>6. </a:t>
                      </a:r>
                      <a:r>
                        <a:rPr lang="zh-CN" altLang="en-US" sz="1600" b="0">
                          <a:solidFill>
                            <a:schemeClr val="tx1"/>
                          </a:solidFill>
                        </a:rPr>
                        <a:t>表示先后顺序</a:t>
                      </a:r>
                      <a:endParaRPr lang="zh-CN" altLang="en-US" sz="1600" b="0">
                        <a:solidFill>
                          <a:schemeClr val="tx1"/>
                        </a:solidFill>
                      </a:endParaRPr>
                    </a:p>
                    <a:p>
                      <a:pPr>
                        <a:buNone/>
                      </a:pPr>
                      <a:r>
                        <a:rPr lang="en-US" altLang="zh-CN" sz="1600" b="0">
                          <a:solidFill>
                            <a:schemeClr val="tx1"/>
                          </a:solidFill>
                        </a:rPr>
                        <a:t>before/after</a:t>
                      </a:r>
                      <a:endParaRPr lang="en-US" altLang="zh-CN" sz="1600" b="0">
                        <a:solidFill>
                          <a:schemeClr val="tx1"/>
                        </a:solidFill>
                      </a:endParaRPr>
                    </a:p>
                  </a:txBody>
                  <a:tcPr>
                    <a:solidFill>
                      <a:schemeClr val="accent5">
                        <a:lumMod val="40000"/>
                        <a:lumOff val="60000"/>
                      </a:schemeClr>
                    </a:solidFill>
                  </a:tcPr>
                </a:tc>
              </a:tr>
              <a:tr h="622300">
                <a:tc>
                  <a:txBody>
                    <a:bodyPr/>
                    <a:lstStyle/>
                    <a:p>
                      <a:pPr algn="l">
                        <a:buClrTx/>
                        <a:buSzTx/>
                        <a:buFontTx/>
                        <a:buNone/>
                      </a:pPr>
                      <a:r>
                        <a:rPr lang="en-US" altLang="zh-CN" sz="1600">
                          <a:solidFill>
                            <a:schemeClr val="tx1"/>
                          </a:solidFill>
                        </a:rPr>
                        <a:t>2. 表示对比的介词</a:t>
                      </a:r>
                      <a:endParaRPr lang="en-US" altLang="zh-CN" sz="1600">
                        <a:solidFill>
                          <a:schemeClr val="tx1"/>
                        </a:solidFill>
                      </a:endParaRPr>
                    </a:p>
                    <a:p>
                      <a:pPr algn="l">
                        <a:buClrTx/>
                        <a:buSzTx/>
                        <a:buFontTx/>
                        <a:buNone/>
                      </a:pPr>
                      <a:r>
                        <a:rPr lang="en-US" altLang="zh-CN" sz="1600">
                          <a:solidFill>
                            <a:schemeClr val="tx1"/>
                          </a:solidFill>
                        </a:rPr>
                        <a:t>instead of</a:t>
                      </a:r>
                      <a:endParaRPr lang="en-US" altLang="zh-CN" sz="1600">
                        <a:solidFill>
                          <a:schemeClr val="tx1"/>
                        </a:solidFill>
                      </a:endParaRPr>
                    </a:p>
                  </a:txBody>
                  <a:tcPr/>
                </a:tc>
                <a:tc>
                  <a:txBody>
                    <a:bodyPr/>
                    <a:lstStyle/>
                    <a:p>
                      <a:pPr>
                        <a:buNone/>
                      </a:pPr>
                      <a:r>
                        <a:rPr lang="en-US" altLang="zh-CN" sz="1600" b="0">
                          <a:solidFill>
                            <a:schemeClr val="tx1"/>
                          </a:solidFill>
                        </a:rPr>
                        <a:t>7.</a:t>
                      </a:r>
                      <a:r>
                        <a:rPr lang="zh-CN" altLang="en-US" sz="1600" b="0">
                          <a:solidFill>
                            <a:schemeClr val="tx1"/>
                          </a:solidFill>
                        </a:rPr>
                        <a:t>表示列举的介词</a:t>
                      </a:r>
                      <a:endParaRPr lang="zh-CN" altLang="en-US" sz="1600" b="0">
                        <a:solidFill>
                          <a:schemeClr val="tx1"/>
                        </a:solidFill>
                      </a:endParaRPr>
                    </a:p>
                    <a:p>
                      <a:pPr>
                        <a:buNone/>
                      </a:pPr>
                      <a:r>
                        <a:rPr lang="en-US" altLang="zh-CN" sz="1600" b="0">
                          <a:solidFill>
                            <a:schemeClr val="tx1"/>
                          </a:solidFill>
                        </a:rPr>
                        <a:t>such as+n/</a:t>
                      </a:r>
                      <a:r>
                        <a:rPr lang="en-US" altLang="zh-CN" sz="1600" b="0">
                          <a:solidFill>
                            <a:schemeClr val="tx1"/>
                          </a:solidFill>
                          <a:sym typeface="+mn-ea"/>
                        </a:rPr>
                        <a:t>for example, </a:t>
                      </a:r>
                      <a:r>
                        <a:rPr lang="zh-CN" altLang="en-US" sz="1600" b="0">
                          <a:solidFill>
                            <a:schemeClr val="tx1"/>
                          </a:solidFill>
                          <a:sym typeface="+mn-ea"/>
                        </a:rPr>
                        <a:t>句子</a:t>
                      </a:r>
                      <a:endParaRPr lang="en-US" altLang="zh-CN" sz="1600" b="0">
                        <a:solidFill>
                          <a:schemeClr val="tx1"/>
                        </a:solidFill>
                      </a:endParaRPr>
                    </a:p>
                    <a:p>
                      <a:pPr>
                        <a:buNone/>
                      </a:pPr>
                      <a:r>
                        <a:rPr lang="en-US" altLang="zh-CN" sz="1600" b="0">
                          <a:solidFill>
                            <a:schemeClr val="tx1"/>
                          </a:solidFill>
                        </a:rPr>
                        <a:t>like....</a:t>
                      </a:r>
                      <a:endParaRPr lang="en-US" altLang="zh-CN" sz="1600" b="0">
                        <a:solidFill>
                          <a:schemeClr val="tx1"/>
                        </a:solidFill>
                      </a:endParaRPr>
                    </a:p>
                    <a:p>
                      <a:pPr>
                        <a:buNone/>
                      </a:pPr>
                      <a:r>
                        <a:rPr lang="en-US" altLang="zh-CN" sz="1600" b="0">
                          <a:solidFill>
                            <a:schemeClr val="tx1"/>
                          </a:solidFill>
                        </a:rPr>
                        <a:t>including...</a:t>
                      </a:r>
                      <a:endParaRPr lang="zh-CN" altLang="en-US" sz="1600" b="0">
                        <a:solidFill>
                          <a:schemeClr val="tx1"/>
                        </a:solidFill>
                      </a:endParaRPr>
                    </a:p>
                  </a:txBody>
                  <a:tcPr/>
                </a:tc>
              </a:tr>
              <a:tr h="935355">
                <a:tc>
                  <a:txBody>
                    <a:bodyPr/>
                    <a:lstStyle/>
                    <a:p>
                      <a:pPr algn="l">
                        <a:buClrTx/>
                        <a:buSzTx/>
                        <a:buFontTx/>
                        <a:buNone/>
                      </a:pPr>
                      <a:r>
                        <a:rPr lang="en-US" altLang="zh-CN" sz="1600">
                          <a:solidFill>
                            <a:schemeClr val="tx1"/>
                          </a:solidFill>
                          <a:sym typeface="+mn-ea"/>
                        </a:rPr>
                        <a:t>3. 表示关于的介词</a:t>
                      </a:r>
                      <a:endParaRPr lang="en-US" altLang="zh-CN" sz="1600">
                        <a:solidFill>
                          <a:schemeClr val="tx1"/>
                        </a:solidFill>
                        <a:sym typeface="+mn-ea"/>
                      </a:endParaRPr>
                    </a:p>
                    <a:p>
                      <a:pPr algn="l">
                        <a:buClrTx/>
                        <a:buSzTx/>
                        <a:buFontTx/>
                        <a:buNone/>
                      </a:pPr>
                      <a:r>
                        <a:rPr lang="en-US" altLang="zh-CN" sz="1600">
                          <a:solidFill>
                            <a:schemeClr val="tx1"/>
                          </a:solidFill>
                          <a:sym typeface="+mn-ea"/>
                        </a:rPr>
                        <a:t>with regard to/regarding sth</a:t>
                      </a:r>
                      <a:endParaRPr lang="en-US" altLang="zh-CN" sz="1600">
                        <a:solidFill>
                          <a:schemeClr val="tx1"/>
                        </a:solidFill>
                        <a:sym typeface="+mn-ea"/>
                      </a:endParaRPr>
                    </a:p>
                    <a:p>
                      <a:pPr algn="l">
                        <a:buClrTx/>
                        <a:buSzTx/>
                        <a:buFontTx/>
                        <a:buNone/>
                      </a:pPr>
                      <a:r>
                        <a:rPr lang="en-US" altLang="zh-CN" sz="1600">
                          <a:solidFill>
                            <a:schemeClr val="tx1"/>
                          </a:solidFill>
                          <a:sym typeface="+mn-ea"/>
                        </a:rPr>
                        <a:t>as for </a:t>
                      </a:r>
                      <a:endParaRPr lang="en-US" altLang="zh-CN" sz="1600">
                        <a:solidFill>
                          <a:schemeClr val="tx1"/>
                        </a:solidFill>
                        <a:sym typeface="+mn-ea"/>
                      </a:endParaRPr>
                    </a:p>
                    <a:p>
                      <a:pPr algn="l">
                        <a:buClrTx/>
                        <a:buSzTx/>
                        <a:buFontTx/>
                        <a:buNone/>
                      </a:pPr>
                      <a:r>
                        <a:rPr lang="en-US" altLang="zh-CN" sz="1600">
                          <a:solidFill>
                            <a:schemeClr val="tx1"/>
                          </a:solidFill>
                          <a:sym typeface="+mn-ea"/>
                        </a:rPr>
                        <a:t>in terms of </a:t>
                      </a:r>
                      <a:endParaRPr lang="en-US" altLang="zh-CN" sz="1600">
                        <a:solidFill>
                          <a:schemeClr val="tx1"/>
                        </a:solidFill>
                      </a:endParaRPr>
                    </a:p>
                  </a:txBody>
                  <a:tcPr/>
                </a:tc>
                <a:tc>
                  <a:txBody>
                    <a:bodyPr/>
                    <a:lstStyle/>
                    <a:p>
                      <a:pPr algn="l">
                        <a:buClrTx/>
                        <a:buSzTx/>
                        <a:buFontTx/>
                        <a:buNone/>
                      </a:pPr>
                      <a:r>
                        <a:rPr lang="en-US" altLang="zh-CN" sz="1600">
                          <a:solidFill>
                            <a:schemeClr val="tx1"/>
                          </a:solidFill>
                        </a:rPr>
                        <a:t>8. 表示让步的介词</a:t>
                      </a:r>
                      <a:endParaRPr lang="en-US" altLang="zh-CN" sz="1600">
                        <a:solidFill>
                          <a:schemeClr val="tx1"/>
                        </a:solidFill>
                      </a:endParaRPr>
                    </a:p>
                    <a:p>
                      <a:pPr algn="l">
                        <a:buClrTx/>
                        <a:buSzTx/>
                        <a:buFontTx/>
                        <a:buNone/>
                      </a:pPr>
                      <a:r>
                        <a:rPr lang="en-US" altLang="zh-CN" sz="1600">
                          <a:solidFill>
                            <a:schemeClr val="tx1"/>
                          </a:solidFill>
                        </a:rPr>
                        <a:t>despite/in spite of</a:t>
                      </a:r>
                      <a:endParaRPr lang="en-US" altLang="zh-CN" sz="1600">
                        <a:solidFill>
                          <a:schemeClr val="tx1"/>
                        </a:solidFill>
                      </a:endParaRPr>
                    </a:p>
                  </a:txBody>
                  <a:tcPr/>
                </a:tc>
              </a:tr>
              <a:tr h="883285">
                <a:tc>
                  <a:txBody>
                    <a:bodyPr/>
                    <a:lstStyle/>
                    <a:p>
                      <a:pPr algn="l">
                        <a:buClrTx/>
                        <a:buSzTx/>
                        <a:buFontTx/>
                        <a:buNone/>
                      </a:pPr>
                      <a:r>
                        <a:rPr lang="en-US" altLang="zh-CN" sz="1600">
                          <a:solidFill>
                            <a:schemeClr val="tx1"/>
                          </a:solidFill>
                        </a:rPr>
                        <a:t>4. 表示除了的介词</a:t>
                      </a:r>
                      <a:endParaRPr lang="en-US" altLang="zh-CN" sz="1600">
                        <a:solidFill>
                          <a:schemeClr val="tx1"/>
                        </a:solidFill>
                      </a:endParaRPr>
                    </a:p>
                    <a:p>
                      <a:pPr algn="l">
                        <a:buClrTx/>
                        <a:buSzTx/>
                        <a:buFontTx/>
                        <a:buNone/>
                      </a:pPr>
                      <a:r>
                        <a:rPr lang="en-US" altLang="zh-CN" sz="1600">
                          <a:solidFill>
                            <a:schemeClr val="tx1"/>
                          </a:solidFill>
                          <a:sym typeface="+mn-ea"/>
                        </a:rPr>
                        <a:t>except/except for</a:t>
                      </a:r>
                      <a:endParaRPr lang="en-US" altLang="zh-CN" sz="1600">
                        <a:solidFill>
                          <a:schemeClr val="tx1"/>
                        </a:solidFill>
                      </a:endParaRPr>
                    </a:p>
                    <a:p>
                      <a:pPr algn="l">
                        <a:buClrTx/>
                        <a:buSzTx/>
                        <a:buFontTx/>
                        <a:buNone/>
                      </a:pPr>
                      <a:r>
                        <a:rPr lang="en-US" altLang="zh-CN" sz="1600">
                          <a:solidFill>
                            <a:schemeClr val="tx1"/>
                          </a:solidFill>
                        </a:rPr>
                        <a:t>apart from</a:t>
                      </a:r>
                      <a:endParaRPr lang="en-US" altLang="zh-CN" sz="1600">
                        <a:solidFill>
                          <a:schemeClr val="tx1"/>
                        </a:solidFill>
                      </a:endParaRPr>
                    </a:p>
                    <a:p>
                      <a:pPr algn="l">
                        <a:buClrTx/>
                        <a:buSzTx/>
                        <a:buFontTx/>
                        <a:buNone/>
                      </a:pPr>
                      <a:r>
                        <a:rPr lang="en-US" altLang="zh-CN" sz="1600">
                          <a:solidFill>
                            <a:schemeClr val="tx1"/>
                          </a:solidFill>
                        </a:rPr>
                        <a:t>in addition to</a:t>
                      </a:r>
                      <a:endParaRPr lang="en-US" altLang="zh-CN" sz="1600">
                        <a:solidFill>
                          <a:schemeClr val="tx1"/>
                        </a:solidFill>
                      </a:endParaRPr>
                    </a:p>
                  </a:txBody>
                  <a:tcPr/>
                </a:tc>
                <a:tc>
                  <a:txBody>
                    <a:bodyPr/>
                    <a:lstStyle/>
                    <a:p>
                      <a:pPr algn="l">
                        <a:buClrTx/>
                        <a:buSzTx/>
                        <a:buFontTx/>
                        <a:buNone/>
                      </a:pPr>
                      <a:r>
                        <a:rPr lang="en-US" altLang="zh-CN" sz="1600">
                          <a:solidFill>
                            <a:schemeClr val="tx1"/>
                          </a:solidFill>
                        </a:rPr>
                        <a:t>9. 表示目的介词短语</a:t>
                      </a:r>
                      <a:endParaRPr lang="en-US" altLang="zh-CN" sz="1600">
                        <a:solidFill>
                          <a:schemeClr val="tx1"/>
                        </a:solidFill>
                      </a:endParaRPr>
                    </a:p>
                    <a:p>
                      <a:pPr algn="l">
                        <a:buClrTx/>
                        <a:buSzTx/>
                        <a:buFontTx/>
                        <a:buNone/>
                      </a:pPr>
                      <a:r>
                        <a:rPr lang="en-US" altLang="zh-CN" sz="1600">
                          <a:solidFill>
                            <a:schemeClr val="tx1"/>
                          </a:solidFill>
                        </a:rPr>
                        <a:t>in order to do sth </a:t>
                      </a:r>
                      <a:endParaRPr lang="en-US" altLang="zh-CN" sz="1600">
                        <a:solidFill>
                          <a:schemeClr val="tx1"/>
                        </a:solidFill>
                      </a:endParaRPr>
                    </a:p>
                    <a:p>
                      <a:pPr algn="l">
                        <a:buClrTx/>
                        <a:buSzTx/>
                        <a:buFontTx/>
                        <a:buNone/>
                      </a:pPr>
                      <a:r>
                        <a:rPr lang="en-US" altLang="zh-CN" sz="1600">
                          <a:solidFill>
                            <a:schemeClr val="tx1"/>
                          </a:solidFill>
                        </a:rPr>
                        <a:t>so as to do</a:t>
                      </a:r>
                      <a:endParaRPr lang="en-US" altLang="zh-CN" sz="1600">
                        <a:solidFill>
                          <a:schemeClr val="tx1"/>
                        </a:solidFill>
                      </a:endParaRPr>
                    </a:p>
                    <a:p>
                      <a:pPr algn="l">
                        <a:buClrTx/>
                        <a:buSzTx/>
                        <a:buFontTx/>
                        <a:buNone/>
                      </a:pPr>
                      <a:r>
                        <a:rPr lang="en-US" altLang="zh-CN" sz="1600">
                          <a:solidFill>
                            <a:schemeClr val="tx1"/>
                          </a:solidFill>
                        </a:rPr>
                        <a:t>...., thus doing </a:t>
                      </a:r>
                      <a:endParaRPr lang="en-US" altLang="zh-CN" sz="1600">
                        <a:solidFill>
                          <a:schemeClr val="tx1"/>
                        </a:solidFill>
                      </a:endParaRPr>
                    </a:p>
                  </a:txBody>
                  <a:tcPr/>
                </a:tc>
              </a:tr>
              <a:tr h="591820">
                <a:tc>
                  <a:txBody>
                    <a:bodyPr/>
                    <a:p>
                      <a:pPr algn="l">
                        <a:buClrTx/>
                        <a:buSzTx/>
                        <a:buFontTx/>
                        <a:buNone/>
                      </a:pPr>
                      <a:r>
                        <a:rPr lang="en-US" altLang="zh-CN" sz="1600">
                          <a:solidFill>
                            <a:schemeClr val="tx1"/>
                          </a:solidFill>
                        </a:rPr>
                        <a:t>5. 表示随着的介词</a:t>
                      </a:r>
                      <a:endParaRPr lang="en-US" altLang="zh-CN" sz="1600">
                        <a:solidFill>
                          <a:schemeClr val="tx1"/>
                        </a:solidFill>
                      </a:endParaRPr>
                    </a:p>
                    <a:p>
                      <a:pPr algn="l">
                        <a:buClrTx/>
                        <a:buSzTx/>
                        <a:buFontTx/>
                        <a:buNone/>
                      </a:pPr>
                      <a:r>
                        <a:rPr lang="en-US" altLang="zh-CN" sz="1600">
                          <a:solidFill>
                            <a:schemeClr val="tx1"/>
                          </a:solidFill>
                        </a:rPr>
                        <a:t>with+n   with +n+doing/done</a:t>
                      </a:r>
                      <a:endParaRPr lang="en-US" altLang="zh-CN" sz="1600">
                        <a:solidFill>
                          <a:schemeClr val="tx1"/>
                        </a:solidFill>
                      </a:endParaRPr>
                    </a:p>
                  </a:txBody>
                  <a:tcPr/>
                </a:tc>
                <a:tc>
                  <a:txBody>
                    <a:bodyPr/>
                    <a:p>
                      <a:pPr algn="l">
                        <a:buClrTx/>
                        <a:buSzTx/>
                        <a:buFontTx/>
                        <a:buNone/>
                      </a:pPr>
                      <a:endParaRPr lang="en-US" altLang="zh-CN" sz="1600">
                        <a:solidFill>
                          <a:schemeClr val="tx1"/>
                        </a:solidFill>
                      </a:endParaRPr>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rPr>
              <a:t>paraphrase--</a:t>
            </a:r>
            <a:r>
              <a:rPr lang="zh-CN" altLang="en-US">
                <a:solidFill>
                  <a:schemeClr val="tx1"/>
                </a:solidFill>
              </a:rPr>
              <a:t>换句型</a:t>
            </a:r>
            <a:endParaRPr lang="zh-CN" altLang="en-US">
              <a:solidFill>
                <a:schemeClr val="tx1"/>
              </a:solidFill>
            </a:endParaRPr>
          </a:p>
        </p:txBody>
      </p:sp>
      <p:sp>
        <p:nvSpPr>
          <p:cNvPr id="3" name="内容占位符 2"/>
          <p:cNvSpPr>
            <a:spLocks noGrp="1"/>
          </p:cNvSpPr>
          <p:nvPr>
            <p:ph idx="1"/>
          </p:nvPr>
        </p:nvSpPr>
        <p:spPr>
          <a:xfrm>
            <a:off x="102870" y="1275715"/>
            <a:ext cx="8888095" cy="3799205"/>
          </a:xfrm>
        </p:spPr>
        <p:txBody>
          <a:bodyPr/>
          <a:lstStyle/>
          <a:p>
            <a:pPr algn="l">
              <a:lnSpc>
                <a:spcPct val="130000"/>
              </a:lnSpc>
              <a:buClrTx/>
              <a:buSzTx/>
            </a:pPr>
            <a:r>
              <a:rPr sz="2400" b="1">
                <a:solidFill>
                  <a:schemeClr val="tx1"/>
                </a:solidFill>
              </a:rPr>
              <a:t>主谓宾</a:t>
            </a:r>
            <a:endParaRPr sz="2400" b="1">
              <a:solidFill>
                <a:schemeClr val="tx1"/>
              </a:solidFill>
            </a:endParaRPr>
          </a:p>
          <a:p>
            <a:pPr algn="l">
              <a:lnSpc>
                <a:spcPct val="130000"/>
              </a:lnSpc>
              <a:buClrTx/>
              <a:buSzTx/>
            </a:pPr>
            <a:r>
              <a:rPr sz="2400" b="1">
                <a:solidFill>
                  <a:schemeClr val="tx1"/>
                </a:solidFill>
              </a:rPr>
              <a:t>被动</a:t>
            </a:r>
            <a:r>
              <a:rPr sz="2400" b="1">
                <a:solidFill>
                  <a:schemeClr val="tx1"/>
                </a:solidFill>
              </a:rPr>
              <a:t>语态</a:t>
            </a:r>
            <a:endParaRPr sz="2400" b="1">
              <a:solidFill>
                <a:schemeClr val="tx1"/>
              </a:solidFill>
            </a:endParaRPr>
          </a:p>
          <a:p>
            <a:pPr algn="l">
              <a:lnSpc>
                <a:spcPct val="130000"/>
              </a:lnSpc>
              <a:buClrTx/>
              <a:buSzTx/>
            </a:pPr>
            <a:r>
              <a:rPr lang="en-US" altLang="zh-CN" sz="2400" b="1">
                <a:solidFill>
                  <a:schemeClr val="tx1"/>
                </a:solidFill>
              </a:rPr>
              <a:t>It is+adj for sb to do sth </a:t>
            </a:r>
            <a:endParaRPr lang="en-US" altLang="zh-CN" sz="2400" b="1">
              <a:solidFill>
                <a:schemeClr val="tx1"/>
              </a:solidFill>
            </a:endParaRPr>
          </a:p>
          <a:p>
            <a:pPr algn="l">
              <a:lnSpc>
                <a:spcPct val="130000"/>
              </a:lnSpc>
              <a:buClrTx/>
              <a:buSzTx/>
            </a:pPr>
            <a:r>
              <a:rPr lang="en-US" altLang="zh-CN" sz="2400" b="1">
                <a:solidFill>
                  <a:schemeClr val="tx1"/>
                </a:solidFill>
              </a:rPr>
              <a:t>There be +n</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rPr>
              <a:t>paraphrase--</a:t>
            </a:r>
            <a:r>
              <a:rPr lang="zh-CN" altLang="en-US">
                <a:solidFill>
                  <a:schemeClr val="tx1"/>
                </a:solidFill>
              </a:rPr>
              <a:t>换句型</a:t>
            </a:r>
            <a:endParaRPr lang="zh-CN" altLang="en-US">
              <a:solidFill>
                <a:schemeClr val="tx1"/>
              </a:solidFill>
            </a:endParaRPr>
          </a:p>
        </p:txBody>
      </p:sp>
      <p:sp>
        <p:nvSpPr>
          <p:cNvPr id="3" name="内容占位符 2"/>
          <p:cNvSpPr>
            <a:spLocks noGrp="1"/>
          </p:cNvSpPr>
          <p:nvPr>
            <p:ph idx="1"/>
          </p:nvPr>
        </p:nvSpPr>
        <p:spPr>
          <a:xfrm>
            <a:off x="102870" y="1275715"/>
            <a:ext cx="8888095" cy="3799205"/>
          </a:xfrm>
        </p:spPr>
        <p:txBody>
          <a:bodyPr/>
          <a:lstStyle/>
          <a:p>
            <a:pPr algn="l">
              <a:lnSpc>
                <a:spcPct val="130000"/>
              </a:lnSpc>
              <a:buClrTx/>
              <a:buSzTx/>
            </a:pPr>
            <a:r>
              <a:rPr lang="en-US" altLang="zh-CN" sz="2400" b="1">
                <a:solidFill>
                  <a:schemeClr val="tx1"/>
                </a:solidFill>
              </a:rPr>
              <a:t>Teenagers should consume less junk food.</a:t>
            </a:r>
            <a:endParaRPr lang="en-US" altLang="zh-CN" sz="2400" b="1">
              <a:solidFill>
                <a:schemeClr val="tx1"/>
              </a:solidFill>
            </a:endParaRPr>
          </a:p>
          <a:p>
            <a:pPr algn="l">
              <a:lnSpc>
                <a:spcPct val="130000"/>
              </a:lnSpc>
              <a:buClrTx/>
              <a:buSzTx/>
            </a:pPr>
            <a:r>
              <a:rPr lang="en-US" altLang="zh-CN" sz="2400" b="1">
                <a:solidFill>
                  <a:schemeClr val="tx1"/>
                </a:solidFill>
              </a:rPr>
              <a:t>Less junk food should be consumed by teenagers.</a:t>
            </a:r>
            <a:endParaRPr lang="en-US" altLang="zh-CN" sz="2400" b="1">
              <a:solidFill>
                <a:schemeClr val="tx1"/>
              </a:solidFill>
            </a:endParaRPr>
          </a:p>
          <a:p>
            <a:pPr algn="l">
              <a:lnSpc>
                <a:spcPct val="130000"/>
              </a:lnSpc>
              <a:buClrTx/>
              <a:buSzTx/>
            </a:pPr>
            <a:r>
              <a:rPr lang="en-US" altLang="zh-CN" sz="2400" b="1">
                <a:solidFill>
                  <a:schemeClr val="tx1"/>
                </a:solidFill>
              </a:rPr>
              <a:t>It is unhealthy for teenagers to consume too much junk food.</a:t>
            </a:r>
            <a:endParaRPr lang="en-US" altLang="zh-CN" sz="2400" b="1">
              <a:solidFill>
                <a:schemeClr val="tx1"/>
              </a:solidFill>
            </a:endParaRPr>
          </a:p>
          <a:p>
            <a:pPr algn="l">
              <a:lnSpc>
                <a:spcPct val="130000"/>
              </a:lnSpc>
              <a:buClrTx/>
              <a:buSzTx/>
            </a:pPr>
            <a:r>
              <a:rPr lang="en-US" altLang="zh-CN" sz="2400" b="1">
                <a:solidFill>
                  <a:schemeClr val="tx1"/>
                </a:solidFill>
              </a:rPr>
              <a:t>There should be less consumption of junk food for teenagers.</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rPr>
              <a:t>paraphrase--</a:t>
            </a:r>
            <a:r>
              <a:rPr lang="zh-CN" altLang="en-US">
                <a:solidFill>
                  <a:schemeClr val="tx1"/>
                </a:solidFill>
              </a:rPr>
              <a:t>换句型</a:t>
            </a:r>
            <a:endParaRPr lang="zh-CN" altLang="en-US">
              <a:solidFill>
                <a:schemeClr val="tx1"/>
              </a:solidFill>
            </a:endParaRPr>
          </a:p>
        </p:txBody>
      </p:sp>
      <p:sp>
        <p:nvSpPr>
          <p:cNvPr id="3" name="内容占位符 2"/>
          <p:cNvSpPr>
            <a:spLocks noGrp="1"/>
          </p:cNvSpPr>
          <p:nvPr>
            <p:ph idx="1"/>
          </p:nvPr>
        </p:nvSpPr>
        <p:spPr>
          <a:xfrm>
            <a:off x="102870" y="1275715"/>
            <a:ext cx="8888095" cy="3799205"/>
          </a:xfrm>
        </p:spPr>
        <p:txBody>
          <a:bodyPr/>
          <a:lstStyle/>
          <a:p>
            <a:pPr algn="l">
              <a:lnSpc>
                <a:spcPct val="130000"/>
              </a:lnSpc>
              <a:buClrTx/>
              <a:buSzTx/>
            </a:pPr>
            <a:r>
              <a:rPr lang="en-US" altLang="zh-CN" sz="2400" b="1">
                <a:solidFill>
                  <a:schemeClr val="tx1"/>
                </a:solidFill>
              </a:rPr>
              <a:t>Teenagers should spend less time on the screen.</a:t>
            </a:r>
            <a:endParaRPr lang="en-US" altLang="zh-CN" sz="2400" b="1">
              <a:solidFill>
                <a:schemeClr val="tx1"/>
              </a:solidFill>
            </a:endParaRPr>
          </a:p>
          <a:p>
            <a:pPr algn="l">
              <a:lnSpc>
                <a:spcPct val="130000"/>
              </a:lnSpc>
              <a:buClrTx/>
              <a:buSzTx/>
            </a:pPr>
            <a:r>
              <a:rPr lang="en-US" altLang="zh-CN" sz="2400" b="1">
                <a:solidFill>
                  <a:schemeClr val="tx1"/>
                </a:solidFill>
              </a:rPr>
              <a:t>less time should be spent on the screen by teenagers.</a:t>
            </a:r>
            <a:endParaRPr lang="en-US" altLang="zh-CN" sz="2400" b="1">
              <a:solidFill>
                <a:schemeClr val="tx1"/>
              </a:solidFill>
            </a:endParaRPr>
          </a:p>
          <a:p>
            <a:pPr algn="l">
              <a:lnSpc>
                <a:spcPct val="130000"/>
              </a:lnSpc>
              <a:buClrTx/>
              <a:buSzTx/>
            </a:pPr>
            <a:r>
              <a:rPr lang="en-US" altLang="zh-CN" sz="2400" b="1">
                <a:solidFill>
                  <a:schemeClr val="tx1"/>
                </a:solidFill>
              </a:rPr>
              <a:t>It is detrimental for teenagers to spend too much time on the screen.</a:t>
            </a:r>
            <a:endParaRPr lang="en-US" altLang="zh-CN" sz="2400" b="1">
              <a:solidFill>
                <a:schemeClr val="tx1"/>
              </a:solidFill>
            </a:endParaRPr>
          </a:p>
          <a:p>
            <a:pPr algn="l">
              <a:lnSpc>
                <a:spcPct val="130000"/>
              </a:lnSpc>
              <a:buClrTx/>
              <a:buSzTx/>
            </a:pPr>
            <a:r>
              <a:rPr lang="en-US" altLang="zh-CN" sz="2400" b="1">
                <a:solidFill>
                  <a:schemeClr val="tx1"/>
                </a:solidFill>
              </a:rPr>
              <a:t>There should be less time spent on the screen for teenagers.</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rPr>
              <a:t>paraphrase--</a:t>
            </a:r>
            <a:r>
              <a:rPr lang="zh-CN" altLang="en-US">
                <a:solidFill>
                  <a:schemeClr val="tx1"/>
                </a:solidFill>
              </a:rPr>
              <a:t>换句型</a:t>
            </a:r>
            <a:endParaRPr lang="zh-CN" altLang="en-US">
              <a:solidFill>
                <a:schemeClr val="tx1"/>
              </a:solidFill>
            </a:endParaRPr>
          </a:p>
        </p:txBody>
      </p:sp>
      <p:sp>
        <p:nvSpPr>
          <p:cNvPr id="3" name="内容占位符 2"/>
          <p:cNvSpPr>
            <a:spLocks noGrp="1"/>
          </p:cNvSpPr>
          <p:nvPr>
            <p:ph idx="1"/>
          </p:nvPr>
        </p:nvSpPr>
        <p:spPr>
          <a:xfrm>
            <a:off x="102870" y="1275715"/>
            <a:ext cx="8888095" cy="3799205"/>
          </a:xfrm>
        </p:spPr>
        <p:txBody>
          <a:bodyPr/>
          <a:lstStyle/>
          <a:p>
            <a:pPr algn="l">
              <a:lnSpc>
                <a:spcPct val="130000"/>
              </a:lnSpc>
              <a:buClrTx/>
              <a:buSzTx/>
            </a:pPr>
            <a:r>
              <a:rPr lang="en-US" altLang="zh-CN" sz="2400" b="1">
                <a:solidFill>
                  <a:schemeClr val="tx1"/>
                </a:solidFill>
              </a:rPr>
              <a:t>The country should use fewer fossil fuels.</a:t>
            </a:r>
            <a:endParaRPr lang="en-US" altLang="zh-CN" sz="2400" b="1">
              <a:solidFill>
                <a:schemeClr val="tx1"/>
              </a:solidFill>
            </a:endParaRPr>
          </a:p>
          <a:p>
            <a:pPr algn="l">
              <a:lnSpc>
                <a:spcPct val="130000"/>
              </a:lnSpc>
              <a:buClrTx/>
              <a:buSzTx/>
            </a:pPr>
            <a:r>
              <a:rPr lang="en-US" altLang="zh-CN" sz="2400" b="1">
                <a:solidFill>
                  <a:schemeClr val="tx1"/>
                </a:solidFill>
              </a:rPr>
              <a:t>Fewer fossil fuels should be used by the country.</a:t>
            </a:r>
            <a:endParaRPr lang="en-US" altLang="zh-CN" sz="2400" b="1">
              <a:solidFill>
                <a:schemeClr val="tx1"/>
              </a:solidFill>
            </a:endParaRPr>
          </a:p>
          <a:p>
            <a:pPr algn="l">
              <a:lnSpc>
                <a:spcPct val="130000"/>
              </a:lnSpc>
              <a:buClrTx/>
              <a:buSzTx/>
            </a:pPr>
            <a:r>
              <a:rPr lang="en-US" altLang="zh-CN" sz="2400" b="1">
                <a:solidFill>
                  <a:schemeClr val="tx1"/>
                </a:solidFill>
              </a:rPr>
              <a:t>It is unwise for the country to use too many fossil fuels.</a:t>
            </a:r>
            <a:endParaRPr lang="en-US" altLang="zh-CN" sz="2400" b="1">
              <a:solidFill>
                <a:schemeClr val="tx1"/>
              </a:solidFill>
            </a:endParaRPr>
          </a:p>
          <a:p>
            <a:pPr algn="l">
              <a:lnSpc>
                <a:spcPct val="130000"/>
              </a:lnSpc>
              <a:buClrTx/>
              <a:buSzTx/>
            </a:pPr>
            <a:r>
              <a:rPr lang="en-US" altLang="zh-CN" sz="2400" b="1">
                <a:solidFill>
                  <a:schemeClr val="tx1"/>
                </a:solidFill>
              </a:rPr>
              <a:t>There should be fewer fossil fuels used by the country.</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360" y="483235"/>
            <a:ext cx="5612765" cy="625475"/>
          </a:xfrm>
        </p:spPr>
        <p:txBody>
          <a:bodyPr/>
          <a:lstStyle/>
          <a:p>
            <a:r>
              <a:rPr lang="zh-CN" altLang="en-US" sz="2400" dirty="0">
                <a:solidFill>
                  <a:schemeClr val="tx1"/>
                </a:solidFill>
                <a:latin typeface="+mn-lt"/>
                <a:ea typeface="+mn-ea"/>
                <a:cs typeface="+mn-cs"/>
              </a:rPr>
              <a:t>2015-2-14</a:t>
            </a:r>
            <a:endParaRPr lang="zh-CN" altLang="en-US" sz="2400" dirty="0">
              <a:solidFill>
                <a:schemeClr val="tx1"/>
              </a:solidFill>
              <a:latin typeface="+mn-lt"/>
              <a:ea typeface="+mn-ea"/>
              <a:cs typeface="+mn-cs"/>
            </a:endParaRPr>
          </a:p>
        </p:txBody>
      </p:sp>
      <p:sp>
        <p:nvSpPr>
          <p:cNvPr id="3" name="内容占位符 2"/>
          <p:cNvSpPr>
            <a:spLocks noGrp="1"/>
          </p:cNvSpPr>
          <p:nvPr>
            <p:ph idx="1"/>
          </p:nvPr>
        </p:nvSpPr>
        <p:spPr>
          <a:xfrm>
            <a:off x="491490" y="1054100"/>
            <a:ext cx="8494395" cy="3524885"/>
          </a:xfrm>
        </p:spPr>
        <p:txBody>
          <a:bodyPr/>
          <a:lstStyle/>
          <a:p>
            <a:pPr marL="0" indent="0" algn="l" eaLnBrk="1" hangingPunct="1">
              <a:lnSpc>
                <a:spcPct val="150000"/>
              </a:lnSpc>
              <a:buClrTx/>
              <a:buSzTx/>
              <a:buNone/>
            </a:pPr>
            <a:r>
              <a:rPr lang="zh-CN" altLang="en-US" sz="2000" b="1" u="sng">
                <a:solidFill>
                  <a:srgbClr val="FF0000"/>
                </a:solidFill>
                <a:cs typeface="微软雅黑" panose="020B0503020204020204" charset="-122"/>
              </a:rPr>
              <a:t>The use of mobile phone is as antisocial as smoking</a:t>
            </a:r>
            <a:r>
              <a:rPr lang="zh-CN" altLang="en-US" sz="2000" b="1">
                <a:solidFill>
                  <a:schemeClr val="tx1"/>
                </a:solidFill>
                <a:cs typeface="微软雅黑" panose="020B0503020204020204" charset="-122"/>
              </a:rPr>
              <a:t>. </a:t>
            </a:r>
            <a:r>
              <a:rPr lang="zh-CN" altLang="en-US" sz="2000" b="1" u="sng">
                <a:solidFill>
                  <a:srgbClr val="0070C0"/>
                </a:solidFill>
                <a:cs typeface="微软雅黑" panose="020B0503020204020204" charset="-122"/>
              </a:rPr>
              <a:t>Smoking is banned in certain places so mobile should be banned like smoking</a:t>
            </a:r>
            <a:r>
              <a:rPr lang="zh-CN" altLang="en-US" sz="2000" b="1">
                <a:solidFill>
                  <a:schemeClr val="tx1"/>
                </a:solidFill>
                <a:cs typeface="微软雅黑" panose="020B0503020204020204" charset="-122"/>
              </a:rPr>
              <a:t>.</a:t>
            </a:r>
            <a:endParaRPr lang="zh-CN" altLang="en-US" sz="2000" b="1">
              <a:solidFill>
                <a:schemeClr val="tx1"/>
              </a:solidFill>
              <a:cs typeface="微软雅黑" panose="020B0503020204020204" charset="-122"/>
            </a:endParaRPr>
          </a:p>
          <a:p>
            <a:pPr marL="0" indent="0" algn="l" eaLnBrk="1" hangingPunct="1">
              <a:lnSpc>
                <a:spcPct val="150000"/>
              </a:lnSpc>
              <a:buClrTx/>
              <a:buSzTx/>
              <a:buNone/>
            </a:pPr>
            <a:r>
              <a:rPr lang="zh-CN" altLang="en-US" sz="2000" b="1">
                <a:solidFill>
                  <a:schemeClr val="tx1"/>
                </a:solidFill>
                <a:cs typeface="微软雅黑" panose="020B0503020204020204" charset="-122"/>
              </a:rPr>
              <a:t>To what exten</a:t>
            </a:r>
            <a:r>
              <a:rPr sz="2000" b="1">
                <a:solidFill>
                  <a:schemeClr val="tx1"/>
                </a:solidFill>
                <a:cs typeface="微软雅黑" panose="020B0503020204020204" charset="-122"/>
              </a:rPr>
              <a:t>t</a:t>
            </a:r>
            <a:r>
              <a:rPr lang="zh-CN" altLang="en-US" sz="2000" b="1">
                <a:solidFill>
                  <a:schemeClr val="tx1"/>
                </a:solidFill>
                <a:cs typeface="微软雅黑" panose="020B0503020204020204" charset="-122"/>
              </a:rPr>
              <a:t> do agree or disagree?</a:t>
            </a:r>
            <a:endParaRPr lang="zh-CN" altLang="en-US" sz="2000" b="1">
              <a:solidFill>
                <a:schemeClr val="tx1"/>
              </a:solidFill>
              <a:cs typeface="微软雅黑" panose="020B0503020204020204" charset="-122"/>
            </a:endParaRPr>
          </a:p>
          <a:p>
            <a:pPr marL="0" indent="0" algn="l" eaLnBrk="1" hangingPunct="1">
              <a:lnSpc>
                <a:spcPct val="150000"/>
              </a:lnSpc>
              <a:buClrTx/>
              <a:buSzTx/>
              <a:buNone/>
            </a:pPr>
            <a:r>
              <a:rPr lang="en-US" altLang="zh-CN" sz="2000" b="1">
                <a:solidFill>
                  <a:schemeClr val="tx1"/>
                </a:solidFill>
                <a:cs typeface="微软雅黑" panose="020B0503020204020204" charset="-122"/>
              </a:rPr>
              <a:t>In my opinion, </a:t>
            </a:r>
            <a:r>
              <a:rPr lang="en-US" altLang="zh-CN" sz="2000" b="1" u="sng">
                <a:solidFill>
                  <a:srgbClr val="0070C0"/>
                </a:solidFill>
                <a:cs typeface="微软雅黑" panose="020B0503020204020204" charset="-122"/>
              </a:rPr>
              <a:t>although using phones is not as detrimental as smoking to the society</a:t>
            </a:r>
            <a:r>
              <a:rPr lang="en-US" altLang="zh-CN" sz="2000" b="1">
                <a:solidFill>
                  <a:schemeClr val="tx1"/>
                </a:solidFill>
                <a:cs typeface="微软雅黑" panose="020B0503020204020204" charset="-122"/>
              </a:rPr>
              <a:t>, it is still necessary to prohibit it in some occasions.</a:t>
            </a:r>
            <a:endParaRPr lang="en-US" altLang="zh-CN" sz="2000" b="1">
              <a:solidFill>
                <a:schemeClr val="tx1"/>
              </a:solidFill>
              <a:cs typeface="微软雅黑" panose="020B0503020204020204" charset="-122"/>
            </a:endParaRPr>
          </a:p>
          <a:p>
            <a:pPr marL="0" indent="0" algn="l" eaLnBrk="1" hangingPunct="1">
              <a:lnSpc>
                <a:spcPct val="150000"/>
              </a:lnSpc>
              <a:buClrTx/>
              <a:buSzTx/>
              <a:buNone/>
            </a:pPr>
            <a:r>
              <a:rPr lang="en-US" altLang="zh-CN" sz="2000" b="1">
                <a:solidFill>
                  <a:schemeClr val="tx1"/>
                </a:solidFill>
                <a:cs typeface="微软雅黑" panose="020B0503020204020204" charset="-122"/>
              </a:rPr>
              <a:t>In conclusion,</a:t>
            </a:r>
            <a:r>
              <a:rPr lang="en-US" altLang="zh-CN" sz="2000" b="1" u="sng">
                <a:solidFill>
                  <a:srgbClr val="0070C0"/>
                </a:solidFill>
                <a:cs typeface="微软雅黑" panose="020B0503020204020204" charset="-122"/>
              </a:rPr>
              <a:t> despite some benefits of phones</a:t>
            </a:r>
            <a:r>
              <a:rPr lang="en-US" altLang="zh-CN" sz="2000" b="1">
                <a:solidFill>
                  <a:schemeClr val="tx1"/>
                </a:solidFill>
                <a:cs typeface="微软雅黑" panose="020B0503020204020204" charset="-122"/>
              </a:rPr>
              <a:t>, I still believe that there are some places where they should be limited.</a:t>
            </a:r>
            <a:endParaRPr lang="en-US" altLang="zh-CN" sz="2000" b="1">
              <a:solidFill>
                <a:schemeClr val="tx1"/>
              </a:solidFill>
              <a:cs typeface="微软雅黑" panose="020B0503020204020204" charset="-122"/>
            </a:endParaRPr>
          </a:p>
          <a:p>
            <a:pPr marL="0" indent="0" algn="l" eaLnBrk="1" hangingPunct="1">
              <a:lnSpc>
                <a:spcPct val="150000"/>
              </a:lnSpc>
              <a:buClrTx/>
              <a:buSzTx/>
              <a:buNone/>
            </a:pPr>
            <a:endParaRPr lang="zh-CN" altLang="en-US" sz="2000" b="1">
              <a:solidFill>
                <a:schemeClr val="tx1"/>
              </a:solidFill>
              <a:cs typeface="微软雅黑" panose="020B0503020204020204" charset="-122"/>
            </a:endParaRPr>
          </a:p>
          <a:p>
            <a:pPr marL="0" indent="0" algn="l" eaLnBrk="1" hangingPunct="1">
              <a:lnSpc>
                <a:spcPct val="150000"/>
              </a:lnSpc>
              <a:buClrTx/>
              <a:buSzTx/>
              <a:buNone/>
            </a:pPr>
            <a:endParaRPr sz="2000"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endParaRPr lang="en-US" altLang="zh-CN" sz="2000" b="1">
              <a:solidFill>
                <a:schemeClr val="tx1"/>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605" y="554990"/>
            <a:ext cx="8434705" cy="4518660"/>
          </a:xfrm>
        </p:spPr>
        <p:txBody>
          <a:bodyPr/>
          <a:lstStyle/>
          <a:p>
            <a:pPr marL="914400" indent="-914400" algn="l">
              <a:lnSpc>
                <a:spcPct val="100000"/>
              </a:lnSpc>
              <a:buClrTx/>
              <a:buSzTx/>
              <a:buFontTx/>
              <a:buNone/>
            </a:pPr>
            <a:r>
              <a:rPr lang="zh-CN" altLang="en-US" sz="2400">
                <a:solidFill>
                  <a:schemeClr val="tx1"/>
                </a:solidFill>
              </a:rPr>
              <a:t>2017-3-18</a:t>
            </a:r>
            <a:endParaRPr lang="zh-CN" altLang="en-US" sz="2400">
              <a:solidFill>
                <a:schemeClr val="tx1"/>
              </a:solidFill>
            </a:endParaRPr>
          </a:p>
          <a:p>
            <a:pPr marL="0" indent="0" algn="l" eaLnBrk="1" hangingPunct="1">
              <a:lnSpc>
                <a:spcPct val="150000"/>
              </a:lnSpc>
              <a:buClrTx/>
              <a:buSzTx/>
              <a:buFont typeface="Wingdings" panose="05000000000000000000" pitchFamily="2" charset="2"/>
              <a:buNone/>
            </a:pPr>
            <a:r>
              <a:rPr lang="zh-CN" altLang="en-US" sz="1800" b="1">
                <a:solidFill>
                  <a:schemeClr val="tx1"/>
                </a:solidFill>
                <a:cs typeface="微软雅黑" panose="020B0503020204020204" charset="-122"/>
              </a:rPr>
              <a:t>Some people believe that</a:t>
            </a:r>
            <a:r>
              <a:rPr lang="zh-CN" altLang="en-US" sz="1800" b="1">
                <a:solidFill>
                  <a:srgbClr val="FF0000"/>
                </a:solidFill>
                <a:cs typeface="微软雅黑" panose="020B0503020204020204" charset="-122"/>
              </a:rPr>
              <a:t> </a:t>
            </a:r>
            <a:r>
              <a:rPr lang="zh-CN" altLang="en-US" sz="1800" b="1" u="sng">
                <a:solidFill>
                  <a:srgbClr val="FF0000"/>
                </a:solidFill>
                <a:cs typeface="微软雅黑" panose="020B0503020204020204" charset="-122"/>
              </a:rPr>
              <a:t>children can learn effectively by watching TV</a:t>
            </a:r>
            <a:r>
              <a:rPr lang="zh-CN" altLang="en-US" sz="1800" b="1">
                <a:solidFill>
                  <a:srgbClr val="FF0000"/>
                </a:solidFill>
                <a:cs typeface="微软雅黑" panose="020B0503020204020204" charset="-122"/>
              </a:rPr>
              <a:t> </a:t>
            </a:r>
            <a:r>
              <a:rPr lang="zh-CN" altLang="en-US" sz="1800" b="1">
                <a:solidFill>
                  <a:schemeClr val="tx1"/>
                </a:solidFill>
                <a:cs typeface="微软雅黑" panose="020B0503020204020204" charset="-122"/>
              </a:rPr>
              <a:t>and </a:t>
            </a:r>
            <a:r>
              <a:rPr lang="zh-CN" altLang="en-US" sz="1800" b="1">
                <a:solidFill>
                  <a:srgbClr val="7030A0"/>
                </a:solidFill>
                <a:cs typeface="微软雅黑" panose="020B0503020204020204" charset="-122"/>
              </a:rPr>
              <a:t>they should be encouraged to watch TV regularly both at home and school. </a:t>
            </a:r>
            <a:endParaRPr lang="zh-CN" altLang="en-US" sz="1800" b="1">
              <a:solidFill>
                <a:srgbClr val="7030A0"/>
              </a:solidFill>
              <a:cs typeface="微软雅黑" panose="020B0503020204020204" charset="-122"/>
            </a:endParaRPr>
          </a:p>
          <a:p>
            <a:pPr marL="0" indent="0" algn="l" eaLnBrk="1" hangingPunct="1">
              <a:lnSpc>
                <a:spcPct val="150000"/>
              </a:lnSpc>
              <a:buClrTx/>
              <a:buSzTx/>
              <a:buFont typeface="Wingdings" panose="05000000000000000000" pitchFamily="2" charset="2"/>
              <a:buNone/>
            </a:pPr>
            <a:r>
              <a:rPr lang="zh-CN" altLang="en-US" sz="1800" b="1">
                <a:solidFill>
                  <a:schemeClr val="tx1"/>
                </a:solidFill>
                <a:cs typeface="微软雅黑" panose="020B0503020204020204" charset="-122"/>
              </a:rPr>
              <a:t>To what extent do you agree or disagree?</a:t>
            </a:r>
            <a:endParaRPr lang="zh-CN" altLang="en-US" sz="1800"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r>
              <a:rPr lang="en-US" altLang="zh-CN" sz="2000" b="1">
                <a:solidFill>
                  <a:schemeClr val="tx1"/>
                </a:solidFill>
                <a:cs typeface="微软雅黑" panose="020B0503020204020204" charset="-122"/>
              </a:rPr>
              <a:t>In my opinion,</a:t>
            </a:r>
            <a:r>
              <a:rPr lang="en-US" altLang="zh-CN" sz="2000" b="1" u="sng">
                <a:solidFill>
                  <a:srgbClr val="7030A0"/>
                </a:solidFill>
                <a:cs typeface="微软雅黑" panose="020B0503020204020204" charset="-122"/>
              </a:rPr>
              <a:t> although watching TV is an effective way for children to learn</a:t>
            </a:r>
            <a:r>
              <a:rPr lang="en-US" altLang="zh-CN" sz="2000" b="1">
                <a:solidFill>
                  <a:schemeClr val="tx1"/>
                </a:solidFill>
                <a:cs typeface="微软雅黑" panose="020B0503020204020204" charset="-122"/>
              </a:rPr>
              <a:t>, parents and teachers should still control their screen time both at home and school.</a:t>
            </a:r>
            <a:endParaRPr lang="en-US" altLang="zh-CN" sz="2000"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r>
              <a:rPr lang="en-US" altLang="zh-CN" sz="2000" b="1">
                <a:solidFill>
                  <a:schemeClr val="tx1"/>
                </a:solidFill>
                <a:cs typeface="微软雅黑" panose="020B0503020204020204" charset="-122"/>
              </a:rPr>
              <a:t>In conclusion,</a:t>
            </a:r>
            <a:r>
              <a:rPr lang="en-US" altLang="zh-CN" sz="2000" b="1" u="sng">
                <a:solidFill>
                  <a:srgbClr val="7030A0"/>
                </a:solidFill>
                <a:cs typeface="微软雅黑" panose="020B0503020204020204" charset="-122"/>
              </a:rPr>
              <a:t> despite many benefits of TV programs,</a:t>
            </a:r>
            <a:r>
              <a:rPr lang="en-US" altLang="zh-CN" sz="2000" b="1">
                <a:solidFill>
                  <a:schemeClr val="tx1"/>
                </a:solidFill>
                <a:cs typeface="微软雅黑" panose="020B0503020204020204" charset="-122"/>
              </a:rPr>
              <a:t> I still believe that it is necessary for parents and teachers to limit their children’s time spent on the screen.</a:t>
            </a:r>
            <a:endParaRPr lang="en-US" altLang="zh-CN" sz="2000"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endParaRPr lang="zh-CN" altLang="en-US"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endParaRPr lang="zh-CN" altLang="en-US" b="1">
              <a:solidFill>
                <a:schemeClr val="tx1"/>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0190" y="627380"/>
            <a:ext cx="8783955" cy="4323715"/>
          </a:xfrm>
        </p:spPr>
        <p:txBody>
          <a:bodyPr/>
          <a:lstStyle/>
          <a:p>
            <a:pPr marL="0" indent="0" algn="l">
              <a:lnSpc>
                <a:spcPct val="110000"/>
              </a:lnSpc>
              <a:buNone/>
            </a:pPr>
            <a:r>
              <a:rPr lang="zh-CN" altLang="en-US" sz="2400" dirty="0">
                <a:solidFill>
                  <a:schemeClr val="tx1"/>
                </a:solidFill>
              </a:rPr>
              <a:t>2016-10-8</a:t>
            </a:r>
            <a:endParaRPr lang="zh-CN" altLang="en-US" sz="2400" dirty="0">
              <a:solidFill>
                <a:schemeClr val="tx1"/>
              </a:solidFill>
            </a:endParaRPr>
          </a:p>
          <a:p>
            <a:pPr marL="0" indent="0" algn="l" eaLnBrk="1" hangingPunct="1">
              <a:lnSpc>
                <a:spcPct val="150000"/>
              </a:lnSpc>
              <a:buClrTx/>
              <a:buSzTx/>
              <a:buNone/>
            </a:pPr>
            <a:r>
              <a:rPr lang="zh-CN" altLang="en-US" sz="2000" b="1">
                <a:solidFill>
                  <a:srgbClr val="00B0F0"/>
                </a:solidFill>
                <a:cs typeface="微软雅黑" panose="020B0503020204020204" charset="-122"/>
              </a:rPr>
              <a:t>Maintaining public libraries is a waste of time</a:t>
            </a:r>
            <a:r>
              <a:rPr lang="zh-CN" altLang="en-US" sz="2000" b="1">
                <a:solidFill>
                  <a:schemeClr val="tx1"/>
                </a:solidFill>
                <a:cs typeface="微软雅黑" panose="020B0503020204020204" charset="-122"/>
              </a:rPr>
              <a:t> </a:t>
            </a:r>
            <a:r>
              <a:rPr lang="zh-CN" altLang="en-US" sz="2000" b="1">
                <a:solidFill>
                  <a:srgbClr val="C00000"/>
                </a:solidFill>
                <a:cs typeface="微软雅黑" panose="020B0503020204020204" charset="-122"/>
              </a:rPr>
              <a:t>since computer technology is now replacing their functions.</a:t>
            </a:r>
            <a:endParaRPr lang="zh-CN" altLang="en-US" sz="2000" b="1">
              <a:solidFill>
                <a:srgbClr val="C00000"/>
              </a:solidFill>
              <a:cs typeface="微软雅黑" panose="020B0503020204020204" charset="-122"/>
            </a:endParaRPr>
          </a:p>
          <a:p>
            <a:pPr marL="0" indent="0" algn="l" eaLnBrk="1" hangingPunct="1">
              <a:lnSpc>
                <a:spcPct val="150000"/>
              </a:lnSpc>
              <a:buClrTx/>
              <a:buSzTx/>
              <a:buNone/>
            </a:pPr>
            <a:r>
              <a:rPr lang="zh-CN" altLang="en-US" sz="2000" b="1">
                <a:solidFill>
                  <a:schemeClr val="tx1"/>
                </a:solidFill>
                <a:cs typeface="微软雅黑" panose="020B0503020204020204" charset="-122"/>
              </a:rPr>
              <a:t>To what extent do you agree or disagree?</a:t>
            </a:r>
            <a:endParaRPr sz="2000"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r>
              <a:rPr altLang="en-US" sz="2000" b="1">
                <a:solidFill>
                  <a:schemeClr val="tx1"/>
                </a:solidFill>
                <a:cs typeface="微软雅黑" panose="020B0503020204020204" charset="-122"/>
              </a:rPr>
              <a:t>In my opinion, although the functions of public libraries are being substituted by e-libraries, it is still necessary to continue running them. </a:t>
            </a:r>
            <a:endParaRPr altLang="en-US" sz="2000" b="1">
              <a:solidFill>
                <a:schemeClr val="tx1"/>
              </a:solidFill>
              <a:cs typeface="微软雅黑" panose="020B0503020204020204" charset="-122"/>
            </a:endParaRPr>
          </a:p>
          <a:p>
            <a:pPr marL="0" indent="0" algn="l" eaLnBrk="1" hangingPunct="1">
              <a:lnSpc>
                <a:spcPct val="150000"/>
              </a:lnSpc>
              <a:buClrTx/>
              <a:buSzTx/>
              <a:buFont typeface="Wingdings" panose="05000000000000000000" pitchFamily="2" charset="2"/>
              <a:buNone/>
            </a:pPr>
            <a:r>
              <a:rPr altLang="en-US" sz="2000" b="1">
                <a:solidFill>
                  <a:schemeClr val="tx1"/>
                </a:solidFill>
                <a:cs typeface="微软雅黑" panose="020B0503020204020204" charset="-122"/>
              </a:rPr>
              <a:t>In conclusion, despite great convenience of reading online, I still believe that public libraries play an indispensable role.</a:t>
            </a:r>
            <a:endParaRPr altLang="en-US" sz="2000" b="1">
              <a:solidFill>
                <a:schemeClr val="tx1"/>
              </a:solidFill>
              <a:cs typeface="微软雅黑" panose="020B0503020204020204" charset="-122"/>
            </a:endParaRPr>
          </a:p>
          <a:p>
            <a:pPr marL="0" algn="l" eaLnBrk="1" hangingPunct="1">
              <a:lnSpc>
                <a:spcPct val="150000"/>
              </a:lnSpc>
              <a:buClrTx/>
              <a:buSzTx/>
              <a:buFont typeface="Wingdings" panose="05000000000000000000" pitchFamily="2" charset="2"/>
              <a:buChar char="Ø"/>
            </a:pPr>
            <a:endParaRPr altLang="en-US" sz="1800" b="1">
              <a:solidFill>
                <a:schemeClr val="tx1"/>
              </a:solidFill>
              <a:cs typeface="微软雅黑" panose="020B0503020204020204" charset="-122"/>
            </a:endParaRPr>
          </a:p>
          <a:p>
            <a:endParaRPr lang="en-US" altLang="en-US" sz="2000" b="1" dirty="0"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60129" y="-92723"/>
            <a:ext cx="5357850" cy="500066"/>
          </a:xfrm>
        </p:spPr>
        <p:txBody>
          <a:bodyPr/>
          <a:p>
            <a:r>
              <a:rPr lang="zh-CN" altLang="en-US" dirty="0" smtClean="0">
                <a:solidFill>
                  <a:schemeClr val="tx1"/>
                </a:solidFill>
              </a:rPr>
              <a:t>③状语从句做状语</a:t>
            </a:r>
            <a:endParaRPr lang="zh-CN" altLang="en-US" dirty="0">
              <a:solidFill>
                <a:schemeClr val="tx1"/>
              </a:solidFill>
            </a:endParaRPr>
          </a:p>
        </p:txBody>
      </p:sp>
      <p:sp>
        <p:nvSpPr>
          <p:cNvPr id="2" name="内容占位符 1"/>
          <p:cNvSpPr/>
          <p:nvPr>
            <p:ph idx="1"/>
          </p:nvPr>
        </p:nvSpPr>
        <p:spPr>
          <a:xfrm>
            <a:off x="179705" y="267335"/>
            <a:ext cx="8937625" cy="4827905"/>
          </a:xfrm>
        </p:spPr>
        <p:txBody>
          <a:bodyPr/>
          <a:p>
            <a:pPr>
              <a:buFont typeface="+mj-lt"/>
              <a:buAutoNum type="arabicPeriod"/>
            </a:pPr>
            <a:r>
              <a:rPr lang="zh-CN" altLang="en-US" sz="2400" b="1">
                <a:solidFill>
                  <a:schemeClr val="tx1"/>
                </a:solidFill>
              </a:rPr>
              <a:t>时间：</a:t>
            </a:r>
            <a:r>
              <a:rPr lang="en-US" altLang="zh-CN" sz="2400" b="1">
                <a:solidFill>
                  <a:schemeClr val="tx1"/>
                </a:solidFill>
              </a:rPr>
              <a:t>when; before; after; since; as soon as; until</a:t>
            </a:r>
            <a:endParaRPr lang="en-US" altLang="zh-CN" sz="2400" b="1">
              <a:solidFill>
                <a:schemeClr val="tx1"/>
              </a:solidFill>
            </a:endParaRPr>
          </a:p>
          <a:p>
            <a:pPr>
              <a:buFont typeface="+mj-lt"/>
              <a:buAutoNum type="arabicPeriod"/>
            </a:pPr>
            <a:r>
              <a:rPr lang="zh-CN" altLang="en-US" sz="2400" b="1">
                <a:solidFill>
                  <a:schemeClr val="tx1"/>
                </a:solidFill>
              </a:rPr>
              <a:t>地点：</a:t>
            </a:r>
            <a:r>
              <a:rPr lang="en-US" altLang="zh-CN" sz="2400" b="1">
                <a:solidFill>
                  <a:schemeClr val="tx1"/>
                </a:solidFill>
              </a:rPr>
              <a:t>where; wherever</a:t>
            </a:r>
            <a:endParaRPr lang="en-US" altLang="zh-CN" sz="2400" b="1">
              <a:solidFill>
                <a:schemeClr val="tx1"/>
              </a:solidFill>
            </a:endParaRPr>
          </a:p>
          <a:p>
            <a:pPr>
              <a:buFont typeface="+mj-lt"/>
              <a:buAutoNum type="arabicPeriod"/>
            </a:pPr>
            <a:r>
              <a:rPr lang="zh-CN" altLang="en-US" sz="2400" b="1">
                <a:solidFill>
                  <a:schemeClr val="tx1"/>
                </a:solidFill>
              </a:rPr>
              <a:t>条件：</a:t>
            </a:r>
            <a:r>
              <a:rPr lang="en-US" altLang="zh-CN" sz="2400" b="1">
                <a:solidFill>
                  <a:schemeClr val="tx1"/>
                </a:solidFill>
              </a:rPr>
              <a:t>if; once; as long as; unless---</a:t>
            </a:r>
            <a:r>
              <a:rPr lang="zh-CN" altLang="en-US" sz="2400" b="1">
                <a:solidFill>
                  <a:schemeClr val="tx1"/>
                </a:solidFill>
              </a:rPr>
              <a:t>主将</a:t>
            </a:r>
            <a:r>
              <a:rPr lang="en-US" altLang="zh-CN" sz="2400" b="1">
                <a:solidFill>
                  <a:schemeClr val="tx1"/>
                </a:solidFill>
              </a:rPr>
              <a:t>/</a:t>
            </a:r>
            <a:r>
              <a:rPr lang="zh-CN" altLang="en-US" sz="2400" b="1">
                <a:solidFill>
                  <a:schemeClr val="tx1"/>
                </a:solidFill>
              </a:rPr>
              <a:t>情从现</a:t>
            </a:r>
            <a:endParaRPr lang="zh-CN" altLang="en-US" sz="2400" b="1">
              <a:solidFill>
                <a:schemeClr val="tx1"/>
              </a:solidFill>
            </a:endParaRPr>
          </a:p>
          <a:p>
            <a:pPr>
              <a:buFont typeface="+mj-lt"/>
              <a:buAutoNum type="arabicPeriod"/>
            </a:pPr>
            <a:r>
              <a:rPr lang="zh-CN" altLang="en-US" sz="2400" b="1">
                <a:solidFill>
                  <a:schemeClr val="tx1"/>
                </a:solidFill>
              </a:rPr>
              <a:t>原因：</a:t>
            </a:r>
            <a:r>
              <a:rPr lang="en-US" altLang="zh-CN" sz="2400" b="1">
                <a:solidFill>
                  <a:schemeClr val="tx1"/>
                </a:solidFill>
              </a:rPr>
              <a:t>because; since;as</a:t>
            </a:r>
            <a:endParaRPr lang="en-US" altLang="zh-CN" sz="2400" b="1">
              <a:solidFill>
                <a:schemeClr val="tx1"/>
              </a:solidFill>
            </a:endParaRPr>
          </a:p>
          <a:p>
            <a:pPr>
              <a:buFont typeface="+mj-lt"/>
              <a:buAutoNum type="arabicPeriod"/>
            </a:pPr>
            <a:r>
              <a:rPr lang="zh-CN" altLang="en-US" sz="2400" b="1">
                <a:solidFill>
                  <a:schemeClr val="tx1"/>
                </a:solidFill>
              </a:rPr>
              <a:t>目的</a:t>
            </a:r>
            <a:r>
              <a:rPr lang="en-US" altLang="zh-CN" sz="2400" b="1">
                <a:solidFill>
                  <a:schemeClr val="tx1"/>
                </a:solidFill>
              </a:rPr>
              <a:t>/</a:t>
            </a:r>
            <a:r>
              <a:rPr lang="zh-CN" altLang="en-US" sz="2400" b="1">
                <a:solidFill>
                  <a:schemeClr val="tx1"/>
                </a:solidFill>
              </a:rPr>
              <a:t>结果：</a:t>
            </a:r>
            <a:r>
              <a:rPr lang="en-US" altLang="zh-CN" sz="2400" b="1">
                <a:solidFill>
                  <a:schemeClr val="tx1"/>
                </a:solidFill>
              </a:rPr>
              <a:t>so that</a:t>
            </a:r>
            <a:endParaRPr lang="en-US" altLang="zh-CN" sz="2400" b="1">
              <a:solidFill>
                <a:schemeClr val="tx1"/>
              </a:solidFill>
            </a:endParaRPr>
          </a:p>
          <a:p>
            <a:pPr>
              <a:buFont typeface="+mj-lt"/>
              <a:buAutoNum type="arabicPeriod"/>
            </a:pPr>
            <a:r>
              <a:rPr lang="zh-CN" altLang="en-US" sz="2400" b="1">
                <a:solidFill>
                  <a:schemeClr val="tx1"/>
                </a:solidFill>
              </a:rPr>
              <a:t>让步：</a:t>
            </a:r>
            <a:r>
              <a:rPr lang="en-US" altLang="zh-CN" sz="2400" b="1">
                <a:solidFill>
                  <a:schemeClr val="tx1"/>
                </a:solidFill>
              </a:rPr>
              <a:t>although; though</a:t>
            </a:r>
            <a:endParaRPr lang="en-US" altLang="zh-CN" sz="2400" b="1">
              <a:solidFill>
                <a:schemeClr val="tx1"/>
              </a:solidFill>
            </a:endParaRPr>
          </a:p>
          <a:p>
            <a:pPr>
              <a:buFont typeface="+mj-lt"/>
              <a:buAutoNum type="arabicPeriod"/>
            </a:pPr>
            <a:r>
              <a:rPr lang="zh-CN" altLang="en-US" sz="2400" b="1">
                <a:solidFill>
                  <a:schemeClr val="tx1"/>
                </a:solidFill>
              </a:rPr>
              <a:t>方式：</a:t>
            </a:r>
            <a:r>
              <a:rPr lang="en-US" altLang="zh-CN" sz="2400" b="1">
                <a:solidFill>
                  <a:schemeClr val="tx1"/>
                </a:solidFill>
              </a:rPr>
              <a:t> as; as if </a:t>
            </a:r>
            <a:r>
              <a:rPr lang="zh-CN" altLang="en-US" sz="2400" b="1">
                <a:solidFill>
                  <a:schemeClr val="tx1"/>
                </a:solidFill>
              </a:rPr>
              <a:t>好像</a:t>
            </a:r>
            <a:endParaRPr lang="zh-CN" altLang="en-US" sz="2400" b="1">
              <a:solidFill>
                <a:schemeClr val="tx1"/>
              </a:solidFill>
            </a:endParaRPr>
          </a:p>
          <a:p>
            <a:pPr>
              <a:buFont typeface="+mj-lt"/>
              <a:buAutoNum type="arabicPeriod"/>
            </a:pPr>
            <a:r>
              <a:rPr lang="zh-CN" altLang="en-US" sz="2400" b="1">
                <a:solidFill>
                  <a:schemeClr val="tx1"/>
                </a:solidFill>
              </a:rPr>
              <a:t>比较：</a:t>
            </a:r>
            <a:r>
              <a:rPr lang="en-US" altLang="zh-CN" sz="2400" b="1">
                <a:solidFill>
                  <a:schemeClr val="tx1"/>
                </a:solidFill>
              </a:rPr>
              <a:t>than; as....as...</a:t>
            </a:r>
            <a:endParaRPr lang="en-US" altLang="zh-CN" sz="2400" b="1">
              <a:solidFill>
                <a:schemeClr val="tx1"/>
              </a:solidFill>
            </a:endParaRPr>
          </a:p>
          <a:p>
            <a:pPr>
              <a:buFont typeface="+mj-lt"/>
              <a:buAutoNum type="arabicPeriod"/>
            </a:pPr>
            <a:endParaRPr lang="en-US" altLang="zh-CN" sz="2400" b="1">
              <a:solidFill>
                <a:schemeClr val="tx1"/>
              </a:solidFill>
            </a:endParaRPr>
          </a:p>
          <a:p>
            <a:pPr>
              <a:buFont typeface="+mj-lt"/>
              <a:buAutoNum type="arabicPeriod"/>
            </a:pPr>
            <a:endParaRPr lang="en-US" altLang="zh-CN" sz="2400" b="1">
              <a:solidFill>
                <a:schemeClr val="tx1"/>
              </a:solidFill>
            </a:endParaRPr>
          </a:p>
          <a:p>
            <a:pPr>
              <a:buFont typeface="+mj-lt"/>
              <a:buAutoNum type="arabicPeriod"/>
            </a:pPr>
            <a:endParaRPr lang="en-US" altLang="zh-CN" sz="2400" b="1">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p:nvPr>
            <p:ph idx="1"/>
            <p:custDataLst>
              <p:tags r:id="rId1"/>
            </p:custDataLst>
          </p:nvPr>
        </p:nvGraphicFramePr>
        <p:xfrm>
          <a:off x="426720" y="1314450"/>
          <a:ext cx="8380095" cy="3606165"/>
        </p:xfrm>
        <a:graphic>
          <a:graphicData uri="http://schemas.openxmlformats.org/drawingml/2006/table">
            <a:tbl>
              <a:tblPr firstRow="1" bandRow="1">
                <a:tableStyleId>{5C22544A-7EE6-4342-B048-85BDC9FD1C3A}</a:tableStyleId>
              </a:tblPr>
              <a:tblGrid>
                <a:gridCol w="1642110"/>
                <a:gridCol w="6737985"/>
              </a:tblGrid>
              <a:tr h="400685">
                <a:tc>
                  <a:txBody>
                    <a:bodyPr/>
                    <a:p>
                      <a:pPr>
                        <a:buNone/>
                      </a:pPr>
                      <a:r>
                        <a:rPr lang="zh-CN" altLang="en-US"/>
                        <a:t>时间状语</a:t>
                      </a:r>
                      <a:r>
                        <a:rPr lang="zh-CN" altLang="en-US"/>
                        <a:t>从句</a:t>
                      </a:r>
                      <a:endParaRPr lang="zh-CN" altLang="en-US"/>
                    </a:p>
                  </a:txBody>
                  <a:tcPr/>
                </a:tc>
                <a:tc>
                  <a:txBody>
                    <a:bodyPr/>
                    <a:p>
                      <a:pPr>
                        <a:buNone/>
                      </a:pPr>
                      <a:r>
                        <a:rPr lang="en-US" altLang="zh-CN"/>
                        <a:t>before; after; </a:t>
                      </a:r>
                      <a:r>
                        <a:rPr lang="en-US" altLang="zh-CN"/>
                        <a:t>until; when; as; since; as soon as</a:t>
                      </a:r>
                      <a:endParaRPr lang="en-US" altLang="zh-CN"/>
                    </a:p>
                  </a:txBody>
                  <a:tcPr/>
                </a:tc>
              </a:tr>
              <a:tr h="400685">
                <a:tc>
                  <a:txBody>
                    <a:bodyPr/>
                    <a:p>
                      <a:pPr>
                        <a:buNone/>
                      </a:pPr>
                      <a:r>
                        <a:rPr lang="zh-CN" altLang="en-US"/>
                        <a:t>地点状语</a:t>
                      </a:r>
                      <a:r>
                        <a:rPr lang="zh-CN" altLang="en-US"/>
                        <a:t>从句</a:t>
                      </a:r>
                      <a:endParaRPr lang="zh-CN" altLang="en-US"/>
                    </a:p>
                  </a:txBody>
                  <a:tcPr/>
                </a:tc>
                <a:tc>
                  <a:txBody>
                    <a:bodyPr/>
                    <a:p>
                      <a:pPr>
                        <a:buNone/>
                      </a:pPr>
                      <a:r>
                        <a:rPr lang="en-US" altLang="zh-CN"/>
                        <a:t>where; wherever</a:t>
                      </a:r>
                      <a:endParaRPr lang="en-US" altLang="zh-CN"/>
                    </a:p>
                  </a:txBody>
                  <a:tcPr/>
                </a:tc>
              </a:tr>
              <a:tr h="400685">
                <a:tc>
                  <a:txBody>
                    <a:bodyPr/>
                    <a:p>
                      <a:pPr>
                        <a:buNone/>
                      </a:pPr>
                      <a:r>
                        <a:rPr lang="zh-CN" altLang="en-US"/>
                        <a:t>条件状语</a:t>
                      </a:r>
                      <a:r>
                        <a:rPr lang="zh-CN" altLang="en-US"/>
                        <a:t>从句</a:t>
                      </a:r>
                      <a:endParaRPr lang="zh-CN" altLang="en-US"/>
                    </a:p>
                  </a:txBody>
                  <a:tcPr/>
                </a:tc>
                <a:tc>
                  <a:txBody>
                    <a:bodyPr/>
                    <a:p>
                      <a:pPr>
                        <a:buNone/>
                      </a:pPr>
                      <a:r>
                        <a:rPr lang="en-US" altLang="zh-CN"/>
                        <a:t>if; once; as long as; in case; unless</a:t>
                      </a:r>
                      <a:endParaRPr lang="en-US" altLang="zh-CN"/>
                    </a:p>
                  </a:txBody>
                  <a:tcPr/>
                </a:tc>
              </a:tr>
              <a:tr h="400685">
                <a:tc>
                  <a:txBody>
                    <a:bodyPr/>
                    <a:p>
                      <a:pPr>
                        <a:buNone/>
                      </a:pPr>
                      <a:r>
                        <a:rPr lang="zh-CN" altLang="en-US"/>
                        <a:t>原因状语</a:t>
                      </a:r>
                      <a:r>
                        <a:rPr lang="zh-CN" altLang="en-US"/>
                        <a:t>从句</a:t>
                      </a:r>
                      <a:endParaRPr lang="zh-CN" altLang="en-US"/>
                    </a:p>
                  </a:txBody>
                  <a:tcPr/>
                </a:tc>
                <a:tc>
                  <a:txBody>
                    <a:bodyPr/>
                    <a:p>
                      <a:pPr>
                        <a:buNone/>
                      </a:pPr>
                      <a:r>
                        <a:rPr lang="en-US" altLang="zh-CN"/>
                        <a:t>because; since; as</a:t>
                      </a:r>
                      <a:endParaRPr lang="en-US" altLang="zh-CN"/>
                    </a:p>
                  </a:txBody>
                  <a:tcPr/>
                </a:tc>
              </a:tr>
              <a:tr h="400685">
                <a:tc>
                  <a:txBody>
                    <a:bodyPr/>
                    <a:p>
                      <a:pPr>
                        <a:buNone/>
                      </a:pPr>
                      <a:r>
                        <a:rPr lang="zh-CN" altLang="en-US"/>
                        <a:t>目的状语</a:t>
                      </a:r>
                      <a:r>
                        <a:rPr lang="zh-CN" altLang="en-US"/>
                        <a:t>从句</a:t>
                      </a:r>
                      <a:endParaRPr lang="zh-CN" altLang="en-US"/>
                    </a:p>
                  </a:txBody>
                  <a:tcPr/>
                </a:tc>
                <a:tc>
                  <a:txBody>
                    <a:bodyPr/>
                    <a:p>
                      <a:pPr>
                        <a:buNone/>
                      </a:pPr>
                      <a:r>
                        <a:rPr lang="en-US" altLang="zh-CN"/>
                        <a:t>in order that </a:t>
                      </a:r>
                      <a:endParaRPr lang="en-US" altLang="zh-CN"/>
                    </a:p>
                  </a:txBody>
                  <a:tcPr/>
                </a:tc>
              </a:tr>
              <a:tr h="400685">
                <a:tc>
                  <a:txBody>
                    <a:bodyPr/>
                    <a:p>
                      <a:pPr>
                        <a:buNone/>
                      </a:pPr>
                      <a:r>
                        <a:rPr lang="zh-CN" altLang="en-US"/>
                        <a:t>结果状语</a:t>
                      </a:r>
                      <a:r>
                        <a:rPr lang="zh-CN" altLang="en-US"/>
                        <a:t>从句</a:t>
                      </a:r>
                      <a:endParaRPr lang="zh-CN" altLang="en-US"/>
                    </a:p>
                  </a:txBody>
                  <a:tcPr/>
                </a:tc>
                <a:tc>
                  <a:txBody>
                    <a:bodyPr/>
                    <a:p>
                      <a:pPr>
                        <a:buNone/>
                      </a:pPr>
                      <a:r>
                        <a:rPr lang="en-US" altLang="zh-CN"/>
                        <a:t>so that </a:t>
                      </a:r>
                      <a:endParaRPr lang="en-US" altLang="zh-CN"/>
                    </a:p>
                  </a:txBody>
                  <a:tcPr/>
                </a:tc>
              </a:tr>
              <a:tr h="400685">
                <a:tc>
                  <a:txBody>
                    <a:bodyPr/>
                    <a:p>
                      <a:pPr>
                        <a:buNone/>
                      </a:pPr>
                      <a:r>
                        <a:rPr lang="zh-CN" altLang="en-US"/>
                        <a:t>让步状语</a:t>
                      </a:r>
                      <a:r>
                        <a:rPr lang="zh-CN" altLang="en-US"/>
                        <a:t>从句</a:t>
                      </a:r>
                      <a:endParaRPr lang="zh-CN" altLang="en-US"/>
                    </a:p>
                  </a:txBody>
                  <a:tcPr/>
                </a:tc>
                <a:tc>
                  <a:txBody>
                    <a:bodyPr/>
                    <a:p>
                      <a:pPr>
                        <a:buNone/>
                      </a:pPr>
                      <a:r>
                        <a:rPr lang="en-US" altLang="zh-CN"/>
                        <a:t>although; even though; while</a:t>
                      </a:r>
                      <a:endParaRPr lang="en-US" altLang="zh-CN"/>
                    </a:p>
                  </a:txBody>
                  <a:tcPr/>
                </a:tc>
              </a:tr>
              <a:tr h="400685">
                <a:tc>
                  <a:txBody>
                    <a:bodyPr/>
                    <a:p>
                      <a:pPr>
                        <a:buNone/>
                      </a:pPr>
                      <a:r>
                        <a:rPr lang="zh-CN" altLang="en-US"/>
                        <a:t>比较状语</a:t>
                      </a:r>
                      <a:r>
                        <a:rPr lang="zh-CN" altLang="en-US"/>
                        <a:t>从句</a:t>
                      </a:r>
                      <a:endParaRPr lang="zh-CN" altLang="en-US"/>
                    </a:p>
                  </a:txBody>
                  <a:tcPr/>
                </a:tc>
                <a:tc>
                  <a:txBody>
                    <a:bodyPr/>
                    <a:p>
                      <a:pPr>
                        <a:buNone/>
                      </a:pPr>
                      <a:r>
                        <a:rPr lang="en-US" altLang="zh-CN"/>
                        <a:t>than; as....as...</a:t>
                      </a:r>
                      <a:endParaRPr lang="en-US" altLang="zh-CN"/>
                    </a:p>
                  </a:txBody>
                  <a:tcPr/>
                </a:tc>
              </a:tr>
              <a:tr h="400685">
                <a:tc>
                  <a:txBody>
                    <a:bodyPr/>
                    <a:p>
                      <a:pPr>
                        <a:buNone/>
                      </a:pPr>
                      <a:r>
                        <a:rPr lang="zh-CN" altLang="en-US"/>
                        <a:t>方式状语</a:t>
                      </a:r>
                      <a:r>
                        <a:rPr lang="zh-CN" altLang="en-US"/>
                        <a:t>从句</a:t>
                      </a:r>
                      <a:endParaRPr lang="zh-CN" altLang="en-US"/>
                    </a:p>
                  </a:txBody>
                  <a:tcPr/>
                </a:tc>
                <a:tc>
                  <a:txBody>
                    <a:bodyPr/>
                    <a:p>
                      <a:pPr>
                        <a:buNone/>
                      </a:pPr>
                      <a:r>
                        <a:rPr lang="en-US" altLang="zh-CN"/>
                        <a:t>as; as if</a:t>
                      </a:r>
                      <a:endParaRPr lang="en-US" altLang="zh-CN"/>
                    </a:p>
                  </a:txBody>
                  <a:tcPr/>
                </a:tc>
              </a:tr>
            </a:tbl>
          </a:graphicData>
        </a:graphic>
      </p:graphicFrame>
      <p:sp>
        <p:nvSpPr>
          <p:cNvPr id="4" name="标题 3"/>
          <p:cNvSpPr>
            <a:spLocks noGrp="1"/>
          </p:cNvSpPr>
          <p:nvPr>
            <p:ph type="title"/>
          </p:nvPr>
        </p:nvSpPr>
        <p:spPr/>
        <p:txBody>
          <a:bodyPr/>
          <a:p>
            <a:r>
              <a:rPr lang="zh-CN" altLang="en-US" dirty="0" smtClean="0">
                <a:solidFill>
                  <a:schemeClr val="tx1"/>
                </a:solidFill>
              </a:rPr>
              <a:t>③状语从句做状语</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smtClean="0">
                <a:solidFill>
                  <a:schemeClr val="tx1"/>
                </a:solidFill>
              </a:rPr>
              <a:t>③状语从句做状语</a:t>
            </a:r>
            <a:endParaRPr lang="zh-CN" altLang="en-US" dirty="0">
              <a:solidFill>
                <a:schemeClr val="tx1"/>
              </a:solidFill>
            </a:endParaRPr>
          </a:p>
        </p:txBody>
      </p:sp>
      <p:sp>
        <p:nvSpPr>
          <p:cNvPr id="2" name="内容占位符 1"/>
          <p:cNvSpPr/>
          <p:nvPr>
            <p:ph idx="1"/>
          </p:nvPr>
        </p:nvSpPr>
        <p:spPr/>
        <p:txBody>
          <a:bodyPr/>
          <a:p>
            <a:pPr>
              <a:buFont typeface="Arial" panose="020B0604020202020204" pitchFamily="34" charset="0"/>
              <a:buChar char="•"/>
            </a:pPr>
            <a:r>
              <a:rPr lang="zh-CN" altLang="en-US" sz="2400" b="1">
                <a:solidFill>
                  <a:schemeClr val="tx1"/>
                </a:solidFill>
              </a:rPr>
              <a:t>状语从句的省略（时间、条件、让步）</a:t>
            </a:r>
            <a:endParaRPr lang="zh-CN" altLang="en-US" sz="2400" b="1">
              <a:solidFill>
                <a:schemeClr val="tx1"/>
              </a:solidFill>
            </a:endParaRPr>
          </a:p>
          <a:p>
            <a:pPr>
              <a:buFont typeface="Arial" panose="020B0604020202020204" pitchFamily="34" charset="0"/>
              <a:buChar char="•"/>
            </a:pPr>
            <a:r>
              <a:rPr lang="en-US" altLang="zh-CN" sz="2400" b="1" u="sng">
                <a:solidFill>
                  <a:srgbClr val="FF0000"/>
                </a:solidFill>
              </a:rPr>
              <a:t>If I pass the exam</a:t>
            </a:r>
            <a:r>
              <a:rPr lang="en-US" altLang="zh-CN" sz="2400" b="1">
                <a:solidFill>
                  <a:schemeClr val="tx1"/>
                </a:solidFill>
              </a:rPr>
              <a:t>, I will travel abroad.</a:t>
            </a:r>
            <a:endParaRPr lang="en-US" altLang="zh-CN" sz="2400" b="1">
              <a:solidFill>
                <a:schemeClr val="tx1"/>
              </a:solidFill>
            </a:endParaRPr>
          </a:p>
          <a:p>
            <a:pPr>
              <a:buFont typeface="Arial" panose="020B0604020202020204" pitchFamily="34" charset="0"/>
              <a:buChar char="•"/>
            </a:pPr>
            <a:r>
              <a:rPr lang="en-US" altLang="zh-CN" sz="2400" b="1" u="sng">
                <a:solidFill>
                  <a:srgbClr val="FF0000"/>
                </a:solidFill>
              </a:rPr>
              <a:t>If passing the exam</a:t>
            </a:r>
            <a:r>
              <a:rPr lang="en-US" altLang="zh-CN" sz="2400" b="1">
                <a:solidFill>
                  <a:schemeClr val="tx1"/>
                </a:solidFill>
              </a:rPr>
              <a:t>, I will travel abroad.</a:t>
            </a:r>
            <a:endParaRPr lang="en-US" altLang="zh-CN" sz="2400" b="1">
              <a:solidFill>
                <a:schemeClr val="tx1"/>
              </a:solidFill>
            </a:endParaRPr>
          </a:p>
          <a:p>
            <a:pPr>
              <a:buFont typeface="Arial" panose="020B0604020202020204" pitchFamily="34" charset="0"/>
              <a:buChar char="•"/>
            </a:pPr>
            <a:r>
              <a:rPr lang="en-US" altLang="zh-CN" sz="2400" b="1" u="sng">
                <a:solidFill>
                  <a:srgbClr val="0070C0"/>
                </a:solidFill>
              </a:rPr>
              <a:t>If I am invited to your home</a:t>
            </a:r>
            <a:r>
              <a:rPr lang="en-US" altLang="zh-CN" sz="2400" b="1">
                <a:solidFill>
                  <a:schemeClr val="tx1"/>
                </a:solidFill>
              </a:rPr>
              <a:t>, I will bring some gifts.</a:t>
            </a:r>
            <a:endParaRPr lang="en-US" altLang="zh-CN" sz="2400" b="1">
              <a:solidFill>
                <a:schemeClr val="tx1"/>
              </a:solidFill>
            </a:endParaRPr>
          </a:p>
          <a:p>
            <a:pPr>
              <a:buFont typeface="Arial" panose="020B0604020202020204" pitchFamily="34" charset="0"/>
              <a:buChar char="•"/>
            </a:pPr>
            <a:r>
              <a:rPr lang="en-US" altLang="zh-CN" sz="2400" b="1" u="sng">
                <a:solidFill>
                  <a:srgbClr val="0070C0"/>
                </a:solidFill>
                <a:sym typeface="+mn-ea"/>
              </a:rPr>
              <a:t>If invited to your home</a:t>
            </a:r>
            <a:r>
              <a:rPr lang="en-US" altLang="zh-CN" sz="2400" b="1">
                <a:solidFill>
                  <a:schemeClr val="tx1"/>
                </a:solidFill>
                <a:sym typeface="+mn-ea"/>
              </a:rPr>
              <a:t>, I will bring some gifts.</a:t>
            </a:r>
            <a:endParaRPr lang="en-US" altLang="zh-CN" sz="2400" b="1">
              <a:solidFill>
                <a:schemeClr val="tx1"/>
              </a:solidFill>
            </a:endParaRPr>
          </a:p>
          <a:p>
            <a:pPr>
              <a:buFont typeface="Arial" panose="020B0604020202020204" pitchFamily="34" charset="0"/>
              <a:buChar char="•"/>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smtClean="0">
                <a:solidFill>
                  <a:schemeClr val="tx1"/>
                </a:solidFill>
              </a:rPr>
              <a:t>③状语从句做状语</a:t>
            </a:r>
            <a:endParaRPr lang="zh-CN" altLang="en-US" dirty="0">
              <a:solidFill>
                <a:schemeClr val="tx1"/>
              </a:solidFill>
            </a:endParaRPr>
          </a:p>
        </p:txBody>
      </p:sp>
      <p:sp>
        <p:nvSpPr>
          <p:cNvPr id="2" name="内容占位符 1"/>
          <p:cNvSpPr/>
          <p:nvPr>
            <p:ph idx="1"/>
          </p:nvPr>
        </p:nvSpPr>
        <p:spPr/>
        <p:txBody>
          <a:bodyPr/>
          <a:p>
            <a:pPr>
              <a:buFont typeface="Arial" panose="020B0604020202020204" pitchFamily="34" charset="0"/>
              <a:buChar char="•"/>
            </a:pPr>
            <a:r>
              <a:rPr lang="zh-CN" altLang="en-US" sz="2400" b="1">
                <a:solidFill>
                  <a:schemeClr val="tx1"/>
                </a:solidFill>
              </a:rPr>
              <a:t>状语从句的省略（时间、条件、让步）</a:t>
            </a:r>
            <a:endParaRPr lang="zh-CN" altLang="en-US" sz="2400" b="1">
              <a:solidFill>
                <a:schemeClr val="tx1"/>
              </a:solidFill>
            </a:endParaRPr>
          </a:p>
          <a:p>
            <a:pPr>
              <a:buFont typeface="Arial" panose="020B0604020202020204" pitchFamily="34" charset="0"/>
              <a:buChar char="•"/>
            </a:pPr>
            <a:r>
              <a:rPr lang="zh-CN" altLang="en-US" sz="2400" b="1">
                <a:solidFill>
                  <a:schemeClr val="tx1"/>
                </a:solidFill>
              </a:rPr>
              <a:t>当毕业生找工作的时候，他们往往会重视工资而不是职业前景。</a:t>
            </a:r>
            <a:r>
              <a:rPr lang="en-US" altLang="zh-CN" sz="2400" b="1">
                <a:solidFill>
                  <a:schemeClr val="tx1"/>
                </a:solidFill>
              </a:rPr>
              <a:t>rather than; look for</a:t>
            </a:r>
            <a:endParaRPr lang="en-US" altLang="zh-CN" sz="2400" b="1">
              <a:solidFill>
                <a:schemeClr val="tx1"/>
              </a:solidFill>
            </a:endParaRPr>
          </a:p>
          <a:p>
            <a:pPr>
              <a:buFont typeface="Arial" panose="020B0604020202020204" pitchFamily="34" charset="0"/>
              <a:buChar char="•"/>
            </a:pPr>
            <a:r>
              <a:rPr lang="en-US" altLang="zh-CN" sz="2400" b="1" u="sng">
                <a:solidFill>
                  <a:srgbClr val="0070C0"/>
                </a:solidFill>
              </a:rPr>
              <a:t>When looking for jobs</a:t>
            </a:r>
            <a:r>
              <a:rPr lang="en-US" altLang="zh-CN" sz="2400" b="1">
                <a:solidFill>
                  <a:schemeClr val="tx1"/>
                </a:solidFill>
              </a:rPr>
              <a:t>, graduates often put more emphasis on salaries rather than career prospect.</a:t>
            </a:r>
            <a:endParaRPr lang="en-US" altLang="zh-CN" sz="2400" b="1">
              <a:solidFill>
                <a:schemeClr val="tx1"/>
              </a:solidFill>
            </a:endParaRPr>
          </a:p>
          <a:p>
            <a:pPr marL="0" indent="0">
              <a:buFont typeface="Arial" panose="020B0604020202020204" pitchFamily="34" charset="0"/>
            </a:pPr>
            <a:endParaRPr lang="en-US" altLang="zh-CN" sz="2400" b="1">
              <a:solidFill>
                <a:schemeClr val="tx1"/>
              </a:solidFill>
            </a:endParaRPr>
          </a:p>
          <a:p>
            <a:pPr>
              <a:buFont typeface="Arial" panose="020B0604020202020204" pitchFamily="34" charset="0"/>
              <a:buChar char="•"/>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dirty="0" smtClean="0">
                <a:solidFill>
                  <a:schemeClr val="tx1"/>
                </a:solidFill>
              </a:rPr>
              <a:t>③状语从句做状语</a:t>
            </a:r>
            <a:endParaRPr lang="zh-CN" altLang="en-US" dirty="0">
              <a:solidFill>
                <a:schemeClr val="tx1"/>
              </a:solidFill>
            </a:endParaRPr>
          </a:p>
        </p:txBody>
      </p:sp>
      <p:sp>
        <p:nvSpPr>
          <p:cNvPr id="2" name="内容占位符 1"/>
          <p:cNvSpPr/>
          <p:nvPr>
            <p:ph idx="1"/>
          </p:nvPr>
        </p:nvSpPr>
        <p:spPr/>
        <p:txBody>
          <a:bodyPr/>
          <a:p>
            <a:pPr>
              <a:buFont typeface="Arial" panose="020B0604020202020204" pitchFamily="34" charset="0"/>
              <a:buChar char="•"/>
            </a:pPr>
            <a:r>
              <a:rPr lang="zh-CN" altLang="en-US" sz="2400" b="1">
                <a:solidFill>
                  <a:schemeClr val="tx1"/>
                </a:solidFill>
              </a:rPr>
              <a:t>状语从句的省略（时间、条件、让步）</a:t>
            </a:r>
            <a:endParaRPr lang="zh-CN" altLang="en-US" sz="2400" b="1">
              <a:solidFill>
                <a:schemeClr val="tx1"/>
              </a:solidFill>
            </a:endParaRPr>
          </a:p>
          <a:p>
            <a:pPr>
              <a:buFont typeface="Arial" panose="020B0604020202020204" pitchFamily="34" charset="0"/>
              <a:buChar char="•"/>
            </a:pPr>
            <a:r>
              <a:rPr lang="zh-CN" altLang="en-US" sz="2400" b="1">
                <a:solidFill>
                  <a:schemeClr val="tx1"/>
                </a:solidFill>
              </a:rPr>
              <a:t>虽然我被广告影响，我什么也没买</a:t>
            </a:r>
            <a:endParaRPr lang="zh-CN" altLang="en-US" sz="2400" b="1">
              <a:solidFill>
                <a:schemeClr val="tx1"/>
              </a:solidFill>
            </a:endParaRPr>
          </a:p>
          <a:p>
            <a:pPr>
              <a:buFont typeface="Arial" panose="020B0604020202020204" pitchFamily="34" charset="0"/>
              <a:buChar char="•"/>
            </a:pPr>
            <a:r>
              <a:rPr lang="en-US" altLang="zh-CN" sz="2400" b="1" u="sng">
                <a:solidFill>
                  <a:srgbClr val="0070C0"/>
                </a:solidFill>
              </a:rPr>
              <a:t>Although affected by advertisements</a:t>
            </a:r>
            <a:r>
              <a:rPr lang="en-US" altLang="zh-CN" sz="2400" b="1">
                <a:solidFill>
                  <a:schemeClr val="tx1"/>
                </a:solidFill>
              </a:rPr>
              <a:t>, I bought nothing.</a:t>
            </a:r>
            <a:endParaRPr lang="en-US" altLang="zh-CN" sz="2400" b="1">
              <a:solidFill>
                <a:schemeClr val="tx1"/>
              </a:solidFill>
            </a:endParaRPr>
          </a:p>
          <a:p>
            <a:pPr>
              <a:buFont typeface="Arial" panose="020B0604020202020204" pitchFamily="34" charset="0"/>
              <a:buChar char="•"/>
            </a:pPr>
            <a:endParaRPr lang="en-US" altLang="zh-CN" sz="2400" b="1">
              <a:solidFill>
                <a:schemeClr val="tx1"/>
              </a:solidFill>
            </a:endParaRPr>
          </a:p>
          <a:p>
            <a:pPr>
              <a:buFont typeface="Arial" panose="020B0604020202020204" pitchFamily="34" charset="0"/>
              <a:buChar char="•"/>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67649" y="627367"/>
            <a:ext cx="5357850" cy="500066"/>
          </a:xfrm>
        </p:spPr>
        <p:txBody>
          <a:bodyPr/>
          <a:p>
            <a:r>
              <a:rPr lang="zh-CN" altLang="en-US">
                <a:solidFill>
                  <a:schemeClr val="tx1"/>
                </a:solidFill>
              </a:rPr>
              <a:t>④</a:t>
            </a:r>
            <a:r>
              <a:rPr lang="zh-CN" altLang="en-US" sz="2400">
                <a:solidFill>
                  <a:schemeClr val="tx1"/>
                </a:solidFill>
              </a:rPr>
              <a:t>分词</a:t>
            </a:r>
            <a:r>
              <a:rPr lang="en-US" altLang="zh-CN" sz="2400">
                <a:solidFill>
                  <a:schemeClr val="tx1"/>
                </a:solidFill>
              </a:rPr>
              <a:t>(doing/done)</a:t>
            </a:r>
            <a:r>
              <a:rPr lang="zh-CN" altLang="en-US" sz="2400">
                <a:solidFill>
                  <a:schemeClr val="tx1"/>
                </a:solidFill>
              </a:rPr>
              <a:t>做状语</a:t>
            </a:r>
            <a:endParaRPr lang="zh-CN" altLang="en-US" sz="2400">
              <a:solidFill>
                <a:schemeClr val="tx1"/>
              </a:solidFill>
            </a:endParaRPr>
          </a:p>
        </p:txBody>
      </p:sp>
      <p:sp>
        <p:nvSpPr>
          <p:cNvPr id="3" name="内容占位符 2"/>
          <p:cNvSpPr>
            <a:spLocks noGrp="1"/>
          </p:cNvSpPr>
          <p:nvPr>
            <p:ph idx="1"/>
          </p:nvPr>
        </p:nvSpPr>
        <p:spPr>
          <a:xfrm>
            <a:off x="262255" y="1203325"/>
            <a:ext cx="8362950" cy="3692525"/>
          </a:xfrm>
        </p:spPr>
        <p:txBody>
          <a:bodyPr/>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Compared with apples, pears are sweeter.</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Compar</a:t>
            </a:r>
            <a:r>
              <a:rPr lang="en-US" altLang="zh-CN" sz="1800">
                <a:solidFill>
                  <a:schemeClr val="tx1"/>
                </a:solidFill>
                <a:cs typeface="微软雅黑" panose="020B0503020204020204" charset="-122"/>
              </a:rPr>
              <a:t>ing</a:t>
            </a:r>
            <a:r>
              <a:rPr lang="zh-CN" altLang="en-US" sz="1800">
                <a:solidFill>
                  <a:schemeClr val="tx1"/>
                </a:solidFill>
                <a:cs typeface="微软雅黑" panose="020B0503020204020204" charset="-122"/>
              </a:rPr>
              <a:t> those apples, I choose three.</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Feeling a little cold, I choose not to attend school.</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Influenced by advertisements, I bought many things that I do not need.</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en-US" altLang="zh-CN" sz="1800">
                <a:solidFill>
                  <a:schemeClr val="tx1"/>
                </a:solidFill>
                <a:cs typeface="微软雅黑" panose="020B0503020204020204" charset="-122"/>
              </a:rPr>
              <a:t>Many students are addicted to games, causing them to be easily distracted from their study.</a:t>
            </a:r>
            <a:endParaRPr lang="en-US" altLang="zh-CN"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en-US" altLang="zh-CN" sz="1800">
                <a:solidFill>
                  <a:schemeClr val="tx1"/>
                </a:solidFill>
                <a:cs typeface="微软雅黑" panose="020B0503020204020204" charset="-122"/>
              </a:rPr>
              <a:t>Nowadays, customers can have access to shopping online, making it possible for them to buy their ideal products without going out.</a:t>
            </a:r>
            <a:endParaRPr lang="en-US" altLang="zh-CN" sz="1800">
              <a:solidFill>
                <a:schemeClr val="tx1"/>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7056120" cy="500380"/>
          </a:xfrm>
        </p:spPr>
        <p:txBody>
          <a:bodyPr/>
          <a:lstStyle/>
          <a:p>
            <a:r>
              <a:rPr lang="en-US" altLang="zh-CN" dirty="0">
                <a:solidFill>
                  <a:schemeClr val="tx1"/>
                </a:solidFill>
                <a:latin typeface="Calibri" panose="020F0502020204030204" pitchFamily="34" charset="0"/>
                <a:cs typeface="Calibri" panose="020F0502020204030204" pitchFamily="34" charset="0"/>
              </a:rPr>
              <a:t>A. </a:t>
            </a:r>
            <a:r>
              <a:rPr lang="zh-CN" altLang="en-US" dirty="0">
                <a:solidFill>
                  <a:schemeClr val="tx1"/>
                </a:solidFill>
              </a:rPr>
              <a:t>时间状语从句在流程图中的使用</a:t>
            </a:r>
            <a:endParaRPr lang="zh-CN" altLang="en-US" dirty="0">
              <a:solidFill>
                <a:schemeClr val="tx1"/>
              </a:solidFill>
            </a:endParaRPr>
          </a:p>
        </p:txBody>
      </p:sp>
      <p:sp>
        <p:nvSpPr>
          <p:cNvPr id="3" name="内容占位符 2"/>
          <p:cNvSpPr>
            <a:spLocks noGrp="1"/>
          </p:cNvSpPr>
          <p:nvPr>
            <p:ph idx="1"/>
          </p:nvPr>
        </p:nvSpPr>
        <p:spPr>
          <a:xfrm>
            <a:off x="231140" y="1312545"/>
            <a:ext cx="8579485" cy="3625215"/>
          </a:xfrm>
        </p:spPr>
        <p:txBody>
          <a:bodyPr/>
          <a:lstStyle/>
          <a:p>
            <a:pPr marL="0" indent="0">
              <a:lnSpc>
                <a:spcPct val="150000"/>
              </a:lnSpc>
              <a:buFont typeface="Arial" panose="020B0604020202020204" pitchFamily="34" charset="0"/>
            </a:pPr>
            <a:r>
              <a:rPr lang="zh-CN" altLang="en-US">
                <a:solidFill>
                  <a:schemeClr val="tx1"/>
                </a:solidFill>
              </a:rPr>
              <a:t>①Before</a:t>
            </a:r>
            <a:r>
              <a:rPr lang="en-US" altLang="zh-CN">
                <a:solidFill>
                  <a:schemeClr val="tx1"/>
                </a:solidFill>
              </a:rPr>
              <a:t>+</a:t>
            </a:r>
            <a:r>
              <a:rPr lang="zh-CN" altLang="en-US">
                <a:solidFill>
                  <a:schemeClr val="tx1"/>
                </a:solidFill>
              </a:rPr>
              <a:t>句子</a:t>
            </a:r>
            <a:r>
              <a:rPr lang="en-US" altLang="zh-CN">
                <a:solidFill>
                  <a:schemeClr val="tx1"/>
                </a:solidFill>
              </a:rPr>
              <a:t>/being done(</a:t>
            </a:r>
            <a:r>
              <a:rPr lang="zh-CN" altLang="en-US">
                <a:solidFill>
                  <a:schemeClr val="tx1"/>
                </a:solidFill>
              </a:rPr>
              <a:t>被动</a:t>
            </a:r>
            <a:r>
              <a:rPr lang="en-US" altLang="zh-CN">
                <a:solidFill>
                  <a:schemeClr val="tx1"/>
                </a:solidFill>
              </a:rPr>
              <a:t>)/doing</a:t>
            </a:r>
            <a:r>
              <a:rPr lang="zh-CN" altLang="en-US">
                <a:solidFill>
                  <a:schemeClr val="tx1"/>
                </a:solidFill>
              </a:rPr>
              <a:t>（主动）</a:t>
            </a:r>
            <a:endParaRPr lang="zh-CN" altLang="en-US">
              <a:solidFill>
                <a:schemeClr val="tx1"/>
              </a:solidFill>
            </a:endParaRPr>
          </a:p>
          <a:p>
            <a:pPr>
              <a:lnSpc>
                <a:spcPct val="150000"/>
              </a:lnSpc>
              <a:buFont typeface="Arial" panose="020B0604020202020204" pitchFamily="34" charset="0"/>
              <a:buChar char="•"/>
            </a:pPr>
            <a:r>
              <a:rPr lang="zh-CN" altLang="en-US">
                <a:solidFill>
                  <a:schemeClr val="tx1"/>
                </a:solidFill>
              </a:rPr>
              <a:t>鱼先煮熟再吃</a:t>
            </a:r>
            <a:endParaRPr lang="zh-CN" altLang="en-US">
              <a:solidFill>
                <a:schemeClr val="tx1"/>
              </a:solidFill>
            </a:endParaRPr>
          </a:p>
          <a:p>
            <a:pPr>
              <a:lnSpc>
                <a:spcPct val="100000"/>
              </a:lnSpc>
              <a:buFont typeface="Arial" panose="020B0604020202020204" pitchFamily="34" charset="0"/>
              <a:buChar char="•"/>
            </a:pPr>
            <a:r>
              <a:rPr lang="zh-CN" altLang="en-US">
                <a:solidFill>
                  <a:schemeClr val="tx1"/>
                </a:solidFill>
              </a:rPr>
              <a:t>The fish are cooked before they are eaten. 连词</a:t>
            </a:r>
            <a:endParaRPr lang="zh-CN" altLang="en-US">
              <a:solidFill>
                <a:schemeClr val="tx1"/>
              </a:solidFill>
            </a:endParaRPr>
          </a:p>
          <a:p>
            <a:pPr>
              <a:lnSpc>
                <a:spcPct val="100000"/>
              </a:lnSpc>
              <a:buFont typeface="Arial" panose="020B0604020202020204" pitchFamily="34" charset="0"/>
              <a:buChar char="•"/>
            </a:pPr>
            <a:r>
              <a:rPr lang="zh-CN" altLang="en-US">
                <a:solidFill>
                  <a:schemeClr val="tx1"/>
                </a:solidFill>
              </a:rPr>
              <a:t>The fish are cooked before being eaten.介词</a:t>
            </a:r>
            <a:endParaRPr lang="zh-CN" altLang="en-US">
              <a:solidFill>
                <a:schemeClr val="tx1"/>
              </a:solidFill>
            </a:endParaRPr>
          </a:p>
          <a:p>
            <a:pPr>
              <a:lnSpc>
                <a:spcPct val="100000"/>
              </a:lnSpc>
              <a:buFont typeface="Arial" panose="020B0604020202020204" pitchFamily="34" charset="0"/>
              <a:buChar char="•"/>
            </a:pPr>
            <a:r>
              <a:rPr lang="zh-CN" altLang="en-US">
                <a:solidFill>
                  <a:schemeClr val="tx1"/>
                </a:solidFill>
              </a:rPr>
              <a:t>苹果先洗再吃</a:t>
            </a:r>
            <a:endParaRPr lang="zh-CN" altLang="en-US">
              <a:solidFill>
                <a:schemeClr val="tx1"/>
              </a:solidFill>
            </a:endParaRPr>
          </a:p>
          <a:p>
            <a:pPr>
              <a:lnSpc>
                <a:spcPct val="100000"/>
              </a:lnSpc>
              <a:buFont typeface="Arial" panose="020B0604020202020204" pitchFamily="34" charset="0"/>
              <a:buChar char="•"/>
            </a:pPr>
            <a:r>
              <a:rPr lang="zh-CN" altLang="en-US">
                <a:solidFill>
                  <a:schemeClr val="tx1"/>
                </a:solidFill>
              </a:rPr>
              <a:t>The apples are washed before they are eaten.</a:t>
            </a:r>
            <a:endParaRPr lang="zh-CN" altLang="en-US">
              <a:solidFill>
                <a:schemeClr val="tx1"/>
              </a:solidFill>
            </a:endParaRPr>
          </a:p>
          <a:p>
            <a:pPr>
              <a:lnSpc>
                <a:spcPct val="100000"/>
              </a:lnSpc>
              <a:buFont typeface="Arial" panose="020B0604020202020204" pitchFamily="34" charset="0"/>
              <a:buChar char="•"/>
            </a:pPr>
            <a:r>
              <a:rPr lang="zh-CN" altLang="en-US">
                <a:solidFill>
                  <a:schemeClr val="tx1"/>
                </a:solidFill>
              </a:rPr>
              <a:t>The apples are washed before being eaten.</a:t>
            </a:r>
            <a:endParaRPr lang="zh-CN" altLang="en-US">
              <a:solidFill>
                <a:schemeClr val="tx1"/>
              </a:solidFill>
            </a:endParaRPr>
          </a:p>
          <a:p>
            <a:pPr>
              <a:lnSpc>
                <a:spcPct val="100000"/>
              </a:lnSpc>
              <a:buFont typeface="Arial" panose="020B0604020202020204" pitchFamily="34" charset="0"/>
              <a:buChar char="•"/>
            </a:pPr>
            <a:r>
              <a:rPr lang="zh-CN" altLang="en-US">
                <a:solidFill>
                  <a:schemeClr val="tx1"/>
                </a:solidFill>
              </a:rPr>
              <a:t>土豆先削皮再煮。</a:t>
            </a:r>
            <a:endParaRPr lang="zh-CN" altLang="en-US">
              <a:solidFill>
                <a:schemeClr val="tx1"/>
              </a:solidFill>
            </a:endParaRPr>
          </a:p>
          <a:p>
            <a:pPr>
              <a:lnSpc>
                <a:spcPct val="100000"/>
              </a:lnSpc>
              <a:buFont typeface="Arial" panose="020B0604020202020204" pitchFamily="34" charset="0"/>
              <a:buChar char="•"/>
            </a:pPr>
            <a:r>
              <a:rPr lang="en-US" altLang="zh-CN">
                <a:solidFill>
                  <a:schemeClr val="tx1"/>
                </a:solidFill>
              </a:rPr>
              <a:t>The potatoes are peeled before they are boiled.</a:t>
            </a:r>
            <a:endParaRPr lang="en-US" altLang="zh-CN">
              <a:solidFill>
                <a:schemeClr val="tx1"/>
              </a:solidFill>
            </a:endParaRPr>
          </a:p>
          <a:p>
            <a:pPr>
              <a:lnSpc>
                <a:spcPct val="100000"/>
              </a:lnSpc>
              <a:buFont typeface="Arial" panose="020B0604020202020204" pitchFamily="34" charset="0"/>
              <a:buChar char="•"/>
            </a:pPr>
            <a:r>
              <a:rPr lang="en-US" altLang="zh-CN">
                <a:solidFill>
                  <a:schemeClr val="tx1"/>
                </a:solidFill>
              </a:rPr>
              <a:t>The potatoes are peeled before being boiled. </a:t>
            </a:r>
            <a:endParaRPr lang="zh-CN" altLang="en-US">
              <a:solidFill>
                <a:schemeClr val="tx1"/>
              </a:solidFill>
            </a:endParaRPr>
          </a:p>
          <a:p>
            <a:pPr>
              <a:lnSpc>
                <a:spcPct val="100000"/>
              </a:lnSpc>
            </a:pPr>
            <a:endParaRPr lang="zh-CN" altLang="en-US">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80720" y="2890520"/>
              <a:ext cx="3990975" cy="123825"/>
            </p14:xfrm>
          </p:contentPart>
        </mc:Choice>
        <mc:Fallback xmlns="">
          <p:pic>
            <p:nvPicPr>
              <p:cNvPr id="4" name="墨迹 3"/>
            </p:nvPicPr>
            <p:blipFill>
              <a:blip r:embed="rId2"/>
            </p:blipFill>
            <p:spPr>
              <a:xfrm>
                <a:off x="680720" y="2890520"/>
                <a:ext cx="3990975" cy="1238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762250" y="3814445"/>
              <a:ext cx="1590675" cy="85725"/>
            </p14:xfrm>
          </p:contentPart>
        </mc:Choice>
        <mc:Fallback xmlns="">
          <p:pic>
            <p:nvPicPr>
              <p:cNvPr id="5" name="墨迹 4"/>
            </p:nvPicPr>
            <p:blipFill>
              <a:blip r:embed="rId4"/>
            </p:blipFill>
            <p:spPr>
              <a:xfrm>
                <a:off x="2762250" y="3814445"/>
                <a:ext cx="1590675" cy="8572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110" y="548005"/>
            <a:ext cx="6250940" cy="500380"/>
          </a:xfrm>
        </p:spPr>
        <p:txBody>
          <a:bodyPr/>
          <a:lstStyle/>
          <a:p>
            <a:r>
              <a:rPr lang="zh-CN" altLang="en-US">
                <a:solidFill>
                  <a:schemeClr val="tx1"/>
                </a:solidFill>
                <a:latin typeface="Calibri" panose="020F0502020204030204" pitchFamily="34" charset="0"/>
                <a:cs typeface="Calibri" panose="020F0502020204030204" pitchFamily="34" charset="0"/>
                <a:sym typeface="+mn-ea"/>
              </a:rPr>
              <a:t>A. </a:t>
            </a:r>
            <a:r>
              <a:rPr lang="zh-CN" altLang="en-US">
                <a:solidFill>
                  <a:schemeClr val="tx1"/>
                </a:solidFill>
                <a:sym typeface="+mn-ea"/>
              </a:rPr>
              <a:t>时间状语从句在流程图中的使用</a:t>
            </a:r>
            <a:endParaRPr lang="zh-CN" altLang="en-US">
              <a:solidFill>
                <a:schemeClr val="tx1"/>
              </a:solidFill>
            </a:endParaRPr>
          </a:p>
        </p:txBody>
      </p:sp>
      <p:sp>
        <p:nvSpPr>
          <p:cNvPr id="3" name="内容占位符 2"/>
          <p:cNvSpPr>
            <a:spLocks noGrp="1"/>
          </p:cNvSpPr>
          <p:nvPr>
            <p:ph idx="1"/>
          </p:nvPr>
        </p:nvSpPr>
        <p:spPr>
          <a:xfrm>
            <a:off x="499110" y="1113155"/>
            <a:ext cx="7992110" cy="3664585"/>
          </a:xfrm>
        </p:spPr>
        <p:txBody>
          <a:bodyPr/>
          <a:lstStyle/>
          <a:p>
            <a:pPr marL="0" indent="0">
              <a:lnSpc>
                <a:spcPct val="150000"/>
              </a:lnSpc>
              <a:buFont typeface="Arial" panose="020B0604020202020204" pitchFamily="34" charset="0"/>
            </a:pPr>
            <a:r>
              <a:rPr lang="zh-CN" altLang="en-US" dirty="0">
                <a:solidFill>
                  <a:schemeClr val="tx1"/>
                </a:solidFill>
              </a:rPr>
              <a:t>② After</a:t>
            </a:r>
            <a:r>
              <a:rPr lang="en-US" altLang="zh-CN" dirty="0">
                <a:solidFill>
                  <a:schemeClr val="tx1"/>
                </a:solidFill>
              </a:rPr>
              <a:t>+</a:t>
            </a:r>
            <a:r>
              <a:rPr lang="zh-CN" altLang="en-US" dirty="0">
                <a:solidFill>
                  <a:schemeClr val="tx1"/>
                </a:solidFill>
                <a:sym typeface="+mn-ea"/>
              </a:rPr>
              <a:t>句子</a:t>
            </a:r>
            <a:r>
              <a:rPr lang="en-US" altLang="zh-CN" dirty="0">
                <a:solidFill>
                  <a:schemeClr val="tx1"/>
                </a:solidFill>
                <a:sym typeface="+mn-ea"/>
              </a:rPr>
              <a:t>/being done(</a:t>
            </a:r>
            <a:r>
              <a:rPr lang="zh-CN" altLang="en-US" dirty="0">
                <a:solidFill>
                  <a:schemeClr val="tx1"/>
                </a:solidFill>
                <a:sym typeface="+mn-ea"/>
              </a:rPr>
              <a:t>被动</a:t>
            </a:r>
            <a:r>
              <a:rPr lang="en-US" altLang="zh-CN" dirty="0">
                <a:solidFill>
                  <a:schemeClr val="tx1"/>
                </a:solidFill>
                <a:sym typeface="+mn-ea"/>
              </a:rPr>
              <a:t>)/doing</a:t>
            </a:r>
            <a:r>
              <a:rPr lang="zh-CN" altLang="en-US" dirty="0">
                <a:solidFill>
                  <a:schemeClr val="tx1"/>
                </a:solidFill>
                <a:sym typeface="+mn-ea"/>
              </a:rPr>
              <a:t>（主动）</a:t>
            </a:r>
            <a:endParaRPr lang="zh-CN" altLang="en-US" dirty="0">
              <a:solidFill>
                <a:schemeClr val="tx1"/>
              </a:solidFill>
            </a:endParaRPr>
          </a:p>
          <a:p>
            <a:pPr>
              <a:lnSpc>
                <a:spcPct val="150000"/>
              </a:lnSpc>
              <a:buFont typeface="Arial" panose="020B0604020202020204" pitchFamily="34" charset="0"/>
              <a:buChar char="•"/>
            </a:pPr>
            <a:r>
              <a:rPr lang="zh-CN" altLang="en-US" dirty="0">
                <a:solidFill>
                  <a:schemeClr val="tx1"/>
                </a:solidFill>
              </a:rPr>
              <a:t>鱼被运输到工厂之后，被切成两</a:t>
            </a:r>
            <a:r>
              <a:rPr lang="zh-CN" altLang="en-US" dirty="0">
                <a:solidFill>
                  <a:schemeClr val="tx1"/>
                </a:solidFill>
              </a:rPr>
              <a:t>半。</a:t>
            </a:r>
            <a:endParaRPr lang="zh-CN" altLang="en-US" dirty="0">
              <a:solidFill>
                <a:schemeClr val="tx1"/>
              </a:solidFill>
            </a:endParaRPr>
          </a:p>
          <a:p>
            <a:pPr>
              <a:lnSpc>
                <a:spcPct val="150000"/>
              </a:lnSpc>
              <a:buFont typeface="Arial" panose="020B0604020202020204" pitchFamily="34" charset="0"/>
              <a:buChar char="•"/>
            </a:pPr>
            <a:r>
              <a:rPr lang="en-US" altLang="zh-CN" dirty="0">
                <a:solidFill>
                  <a:schemeClr val="tx1"/>
                </a:solidFill>
              </a:rPr>
              <a:t>After the fish are transported to the factory, they are </a:t>
            </a:r>
            <a:r>
              <a:rPr lang="en-US" altLang="zh-CN" dirty="0">
                <a:solidFill>
                  <a:schemeClr val="tx1"/>
                </a:solidFill>
              </a:rPr>
              <a:t>cut in half. </a:t>
            </a:r>
            <a:endParaRPr lang="zh-CN" altLang="en-US" dirty="0">
              <a:solidFill>
                <a:schemeClr val="tx1"/>
              </a:solidFill>
            </a:endParaRPr>
          </a:p>
          <a:p>
            <a:pPr>
              <a:lnSpc>
                <a:spcPct val="150000"/>
              </a:lnSpc>
              <a:buFont typeface="Arial" panose="020B0604020202020204" pitchFamily="34" charset="0"/>
              <a:buChar char="•"/>
            </a:pPr>
            <a:r>
              <a:rPr lang="zh-CN" altLang="en-US" dirty="0">
                <a:solidFill>
                  <a:schemeClr val="tx1"/>
                </a:solidFill>
              </a:rPr>
              <a:t>After </a:t>
            </a:r>
            <a:r>
              <a:rPr lang="en-US" altLang="zh-CN" dirty="0">
                <a:solidFill>
                  <a:schemeClr val="tx1"/>
                </a:solidFill>
              </a:rPr>
              <a:t>being transported</a:t>
            </a:r>
            <a:r>
              <a:rPr lang="zh-CN" altLang="en-US" dirty="0">
                <a:solidFill>
                  <a:schemeClr val="tx1"/>
                </a:solidFill>
              </a:rPr>
              <a:t> </a:t>
            </a:r>
            <a:r>
              <a:rPr lang="en-US" altLang="zh-CN" dirty="0" smtClean="0">
                <a:solidFill>
                  <a:schemeClr val="tx1"/>
                </a:solidFill>
              </a:rPr>
              <a:t>to</a:t>
            </a:r>
            <a:r>
              <a:rPr lang="zh-CN" altLang="en-US" dirty="0" smtClean="0">
                <a:solidFill>
                  <a:schemeClr val="tx1"/>
                </a:solidFill>
              </a:rPr>
              <a:t> </a:t>
            </a:r>
            <a:r>
              <a:rPr lang="en-US" altLang="zh-CN" dirty="0">
                <a:solidFill>
                  <a:schemeClr val="tx1"/>
                </a:solidFill>
              </a:rPr>
              <a:t>the factory</a:t>
            </a:r>
            <a:r>
              <a:rPr lang="zh-CN" altLang="en-US" dirty="0">
                <a:solidFill>
                  <a:schemeClr val="tx1"/>
                </a:solidFill>
              </a:rPr>
              <a:t>, the fish are </a:t>
            </a:r>
            <a:r>
              <a:rPr lang="en-US" altLang="zh-CN" dirty="0">
                <a:solidFill>
                  <a:schemeClr val="tx1"/>
                </a:solidFill>
              </a:rPr>
              <a:t>cut in half</a:t>
            </a:r>
            <a:r>
              <a:rPr lang="zh-CN" altLang="en-US" dirty="0">
                <a:solidFill>
                  <a:schemeClr val="tx1"/>
                </a:solidFill>
              </a:rPr>
              <a:t>. </a:t>
            </a:r>
            <a:endParaRPr lang="zh-CN" altLang="en-US" dirty="0">
              <a:solidFill>
                <a:schemeClr val="tx1"/>
              </a:solidFill>
            </a:endParaRPr>
          </a:p>
          <a:p>
            <a:pPr>
              <a:lnSpc>
                <a:spcPct val="150000"/>
              </a:lnSpc>
              <a:buFont typeface="Arial" panose="020B0604020202020204" pitchFamily="34" charset="0"/>
              <a:buChar char="•"/>
            </a:pPr>
            <a:r>
              <a:rPr lang="zh-CN" altLang="en-US" dirty="0">
                <a:solidFill>
                  <a:schemeClr val="tx1"/>
                </a:solidFill>
              </a:rPr>
              <a:t>在到达学校之后，我们决定去看电影</a:t>
            </a:r>
            <a:endParaRPr lang="zh-CN" altLang="en-US" dirty="0">
              <a:solidFill>
                <a:schemeClr val="tx1"/>
              </a:solidFill>
            </a:endParaRPr>
          </a:p>
          <a:p>
            <a:pPr>
              <a:lnSpc>
                <a:spcPct val="150000"/>
              </a:lnSpc>
              <a:buFont typeface="Arial" panose="020B0604020202020204" pitchFamily="34" charset="0"/>
              <a:buChar char="•"/>
            </a:pPr>
            <a:r>
              <a:rPr lang="en-US" altLang="zh-CN" dirty="0">
                <a:solidFill>
                  <a:schemeClr val="tx1"/>
                </a:solidFill>
              </a:rPr>
              <a:t>After arriving at school, we decided to watch movies.</a:t>
            </a:r>
            <a:endParaRPr lang="en-US" altLang="zh-CN" dirty="0">
              <a:solidFill>
                <a:schemeClr val="tx1"/>
              </a:solidFill>
            </a:endParaRPr>
          </a:p>
          <a:p>
            <a:pPr>
              <a:lnSpc>
                <a:spcPct val="150000"/>
              </a:lnSpc>
              <a:buFont typeface="Arial" panose="020B0604020202020204" pitchFamily="34" charset="0"/>
              <a:buChar char="•"/>
            </a:pPr>
            <a:r>
              <a:rPr lang="zh-CN" altLang="en-US" dirty="0">
                <a:solidFill>
                  <a:schemeClr val="tx1"/>
                </a:solidFill>
              </a:rPr>
              <a:t>在被削皮之后，</a:t>
            </a:r>
            <a:r>
              <a:rPr lang="zh-CN" altLang="en-US" dirty="0" smtClean="0">
                <a:solidFill>
                  <a:schemeClr val="tx1"/>
                </a:solidFill>
              </a:rPr>
              <a:t>马铃薯会被放</a:t>
            </a:r>
            <a:r>
              <a:rPr lang="zh-CN" altLang="en-US" dirty="0">
                <a:solidFill>
                  <a:schemeClr val="tx1"/>
                </a:solidFill>
              </a:rPr>
              <a:t>在微波炉中加热。</a:t>
            </a:r>
            <a:endParaRPr lang="zh-CN" altLang="en-US" dirty="0">
              <a:solidFill>
                <a:schemeClr val="tx1"/>
              </a:solidFill>
            </a:endParaRPr>
          </a:p>
          <a:p>
            <a:pPr>
              <a:lnSpc>
                <a:spcPct val="150000"/>
              </a:lnSpc>
              <a:buFont typeface="Arial" panose="020B0604020202020204" pitchFamily="34" charset="0"/>
              <a:buChar char="•"/>
            </a:pPr>
            <a:r>
              <a:rPr lang="en-US" altLang="zh-CN" dirty="0">
                <a:solidFill>
                  <a:schemeClr val="tx1"/>
                </a:solidFill>
              </a:rPr>
              <a:t>After being peeled, the potatoes are heated in microwave oven. </a:t>
            </a:r>
            <a:endParaRPr lang="en-US" altLang="zh-CN" dirty="0">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1390650" y="2476500"/>
              <a:ext cx="2280920" cy="47625"/>
            </p14:xfrm>
          </p:contentPart>
        </mc:Choice>
        <mc:Fallback xmlns="">
          <p:pic>
            <p:nvPicPr>
              <p:cNvPr id="4" name="墨迹 3"/>
            </p:nvPicPr>
            <p:blipFill>
              <a:blip r:embed="rId2"/>
            </p:blipFill>
            <p:spPr>
              <a:xfrm>
                <a:off x="1390650" y="2476500"/>
                <a:ext cx="2280920" cy="476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819275" y="2385695"/>
              <a:ext cx="209550" cy="176530"/>
            </p14:xfrm>
          </p:contentPart>
        </mc:Choice>
        <mc:Fallback xmlns="">
          <p:pic>
            <p:nvPicPr>
              <p:cNvPr id="5" name="墨迹 4"/>
            </p:nvPicPr>
            <p:blipFill>
              <a:blip r:embed="rId4"/>
            </p:blipFill>
            <p:spPr>
              <a:xfrm>
                <a:off x="1819275" y="2385695"/>
                <a:ext cx="209550" cy="17653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6903085" cy="500380"/>
          </a:xfrm>
        </p:spPr>
        <p:txBody>
          <a:bodyPr/>
          <a:lstStyle/>
          <a:p>
            <a:r>
              <a:rPr lang="zh-CN" altLang="en-US">
                <a:solidFill>
                  <a:schemeClr val="tx1"/>
                </a:solidFill>
                <a:latin typeface="+mj-lt"/>
                <a:cs typeface="+mj-lt"/>
              </a:rPr>
              <a:t>A. 时</a:t>
            </a:r>
            <a:r>
              <a:rPr lang="zh-CN" altLang="en-US">
                <a:solidFill>
                  <a:schemeClr val="tx1"/>
                </a:solidFill>
              </a:rPr>
              <a:t>间状</a:t>
            </a:r>
            <a:r>
              <a:rPr lang="zh-CN" altLang="en-US">
                <a:solidFill>
                  <a:schemeClr val="tx1"/>
                </a:solidFill>
                <a:sym typeface="+mn-ea"/>
              </a:rPr>
              <a:t>语从句在流程图中的使用</a:t>
            </a:r>
            <a:endParaRPr lang="zh-CN" altLang="en-US">
              <a:solidFill>
                <a:schemeClr val="tx1"/>
              </a:solidFill>
            </a:endParaRPr>
          </a:p>
        </p:txBody>
      </p:sp>
      <p:sp>
        <p:nvSpPr>
          <p:cNvPr id="3" name="内容占位符 2"/>
          <p:cNvSpPr>
            <a:spLocks noGrp="1"/>
          </p:cNvSpPr>
          <p:nvPr>
            <p:ph idx="1"/>
          </p:nvPr>
        </p:nvSpPr>
        <p:spPr>
          <a:xfrm>
            <a:off x="457200" y="1273810"/>
            <a:ext cx="8229600" cy="3458845"/>
          </a:xfrm>
        </p:spPr>
        <p:txBody>
          <a:bodyPr/>
          <a:lstStyle/>
          <a:p>
            <a:pPr marL="0" indent="0">
              <a:buFont typeface="Arial" panose="020B0604020202020204" pitchFamily="34" charset="0"/>
            </a:pPr>
            <a:r>
              <a:rPr lang="zh-CN" altLang="en-US" dirty="0">
                <a:solidFill>
                  <a:schemeClr val="tx1"/>
                </a:solidFill>
              </a:rPr>
              <a:t>③ until 直到 </a:t>
            </a:r>
            <a:r>
              <a:rPr lang="en-US" altLang="zh-CN" dirty="0">
                <a:solidFill>
                  <a:schemeClr val="tx1"/>
                </a:solidFill>
              </a:rPr>
              <a:t>+</a:t>
            </a:r>
            <a:r>
              <a:rPr lang="zh-CN" altLang="en-US" dirty="0">
                <a:solidFill>
                  <a:schemeClr val="tx1"/>
                </a:solidFill>
              </a:rPr>
              <a:t>句子</a:t>
            </a:r>
            <a:r>
              <a:rPr lang="en-US" altLang="zh-CN" dirty="0">
                <a:solidFill>
                  <a:schemeClr val="tx1"/>
                </a:solidFill>
              </a:rPr>
              <a:t>/doing/done</a:t>
            </a:r>
            <a:endParaRPr lang="zh-CN" altLang="en-US" dirty="0">
              <a:solidFill>
                <a:schemeClr val="tx1"/>
              </a:solidFill>
            </a:endParaRPr>
          </a:p>
          <a:p>
            <a:pPr>
              <a:buFont typeface="Arial" panose="020B0604020202020204" pitchFamily="34" charset="0"/>
              <a:buChar char="•"/>
            </a:pPr>
            <a:r>
              <a:rPr lang="zh-CN" altLang="en-US" dirty="0">
                <a:solidFill>
                  <a:schemeClr val="tx1"/>
                </a:solidFill>
              </a:rPr>
              <a:t>碎片被加热直到完全融化</a:t>
            </a:r>
            <a:endParaRPr lang="zh-CN" altLang="en-US" dirty="0">
              <a:solidFill>
                <a:schemeClr val="tx1"/>
              </a:solidFill>
            </a:endParaRPr>
          </a:p>
          <a:p>
            <a:pPr>
              <a:buFont typeface="Arial" panose="020B0604020202020204" pitchFamily="34" charset="0"/>
              <a:buChar char="•"/>
            </a:pPr>
            <a:r>
              <a:rPr lang="zh-CN" altLang="en-US" dirty="0">
                <a:solidFill>
                  <a:schemeClr val="tx1"/>
                </a:solidFill>
              </a:rPr>
              <a:t>The </a:t>
            </a:r>
            <a:r>
              <a:rPr lang="en-US" altLang="zh-CN" dirty="0">
                <a:solidFill>
                  <a:schemeClr val="tx1"/>
                </a:solidFill>
              </a:rPr>
              <a:t>pieces are</a:t>
            </a:r>
            <a:r>
              <a:rPr lang="zh-CN" altLang="en-US" dirty="0">
                <a:solidFill>
                  <a:schemeClr val="tx1"/>
                </a:solidFill>
              </a:rPr>
              <a:t> heated until they </a:t>
            </a:r>
            <a:r>
              <a:rPr lang="en-US" altLang="zh-CN" dirty="0">
                <a:solidFill>
                  <a:schemeClr val="tx1"/>
                </a:solidFill>
              </a:rPr>
              <a:t>are </a:t>
            </a:r>
            <a:r>
              <a:rPr lang="zh-CN" altLang="en-US" dirty="0" smtClean="0">
                <a:solidFill>
                  <a:schemeClr val="tx1"/>
                </a:solidFill>
              </a:rPr>
              <a:t>melt</a:t>
            </a:r>
            <a:r>
              <a:rPr lang="en-US" altLang="zh-CN" dirty="0" err="1" smtClean="0">
                <a:solidFill>
                  <a:schemeClr val="tx1"/>
                </a:solidFill>
              </a:rPr>
              <a:t>ed</a:t>
            </a:r>
            <a:r>
              <a:rPr lang="zh-CN" altLang="en-US" dirty="0" smtClean="0">
                <a:solidFill>
                  <a:schemeClr val="tx1"/>
                </a:solidFill>
              </a:rPr>
              <a:t> </a:t>
            </a:r>
            <a:r>
              <a:rPr lang="zh-CN" altLang="en-US" dirty="0">
                <a:solidFill>
                  <a:schemeClr val="tx1"/>
                </a:solidFill>
              </a:rPr>
              <a:t>completely.</a:t>
            </a:r>
            <a:endParaRPr lang="zh-CN" altLang="en-US" dirty="0">
              <a:solidFill>
                <a:schemeClr val="tx1"/>
              </a:solidFill>
            </a:endParaRPr>
          </a:p>
          <a:p>
            <a:pPr>
              <a:buFont typeface="Arial" panose="020B0604020202020204" pitchFamily="34" charset="0"/>
              <a:buChar char="•"/>
            </a:pPr>
            <a:r>
              <a:rPr lang="zh-CN" altLang="en-US" dirty="0">
                <a:solidFill>
                  <a:schemeClr val="tx1"/>
                </a:solidFill>
                <a:sym typeface="+mn-ea"/>
              </a:rPr>
              <a:t>The </a:t>
            </a:r>
            <a:r>
              <a:rPr lang="en-US" altLang="zh-CN" dirty="0">
                <a:solidFill>
                  <a:schemeClr val="tx1"/>
                </a:solidFill>
                <a:sym typeface="+mn-ea"/>
              </a:rPr>
              <a:t>pieces</a:t>
            </a:r>
            <a:r>
              <a:rPr lang="zh-CN" altLang="en-US" dirty="0">
                <a:solidFill>
                  <a:schemeClr val="tx1"/>
                </a:solidFill>
                <a:sym typeface="+mn-ea"/>
              </a:rPr>
              <a:t> are heated until </a:t>
            </a:r>
            <a:r>
              <a:rPr lang="zh-CN" altLang="en-US" dirty="0" smtClean="0">
                <a:solidFill>
                  <a:schemeClr val="tx1"/>
                </a:solidFill>
                <a:sym typeface="+mn-ea"/>
              </a:rPr>
              <a:t>melt</a:t>
            </a:r>
            <a:r>
              <a:rPr lang="en-US" altLang="zh-CN" dirty="0" err="1" smtClean="0">
                <a:solidFill>
                  <a:schemeClr val="tx1"/>
                </a:solidFill>
                <a:sym typeface="+mn-ea"/>
              </a:rPr>
              <a:t>ed</a:t>
            </a:r>
            <a:r>
              <a:rPr lang="zh-CN" altLang="en-US" dirty="0" smtClean="0">
                <a:solidFill>
                  <a:schemeClr val="tx1"/>
                </a:solidFill>
                <a:sym typeface="+mn-ea"/>
              </a:rPr>
              <a:t> </a:t>
            </a:r>
            <a:r>
              <a:rPr lang="zh-CN" altLang="en-US" dirty="0">
                <a:solidFill>
                  <a:schemeClr val="tx1"/>
                </a:solidFill>
                <a:sym typeface="+mn-ea"/>
              </a:rPr>
              <a:t>completely.</a:t>
            </a:r>
            <a:endParaRPr lang="zh-CN" altLang="en-US" dirty="0">
              <a:solidFill>
                <a:schemeClr val="tx1"/>
              </a:solidFill>
              <a:sym typeface="+mn-ea"/>
            </a:endParaRPr>
          </a:p>
          <a:p>
            <a:pPr>
              <a:buFont typeface="Arial" panose="020B0604020202020204" pitchFamily="34" charset="0"/>
              <a:buChar char="•"/>
            </a:pPr>
            <a:r>
              <a:rPr lang="zh-CN" altLang="en-US" dirty="0">
                <a:solidFill>
                  <a:schemeClr val="tx1"/>
                </a:solidFill>
                <a:sym typeface="+mn-ea"/>
              </a:rPr>
              <a:t>清洗好的鱼被浸泡在有染料的水中，直到变成黄色。</a:t>
            </a:r>
            <a:endParaRPr lang="zh-CN" altLang="en-US" dirty="0">
              <a:solidFill>
                <a:schemeClr val="tx1"/>
              </a:solidFill>
              <a:sym typeface="+mn-ea"/>
            </a:endParaRPr>
          </a:p>
          <a:p>
            <a:pPr>
              <a:buFont typeface="Arial" panose="020B0604020202020204" pitchFamily="34" charset="0"/>
              <a:buChar char="•"/>
            </a:pPr>
            <a:r>
              <a:rPr lang="en-US" altLang="zh-CN" dirty="0">
                <a:solidFill>
                  <a:schemeClr val="tx1"/>
                </a:solidFill>
              </a:rPr>
              <a:t>The cleaned fish are soaked in the water full of coloring until they turn yellow.</a:t>
            </a:r>
            <a:endParaRPr lang="en-US" altLang="zh-CN" dirty="0">
              <a:solidFill>
                <a:schemeClr val="tx1"/>
              </a:solidFill>
            </a:endParaRPr>
          </a:p>
          <a:p>
            <a:pPr>
              <a:buFont typeface="Arial" panose="020B0604020202020204" pitchFamily="34" charset="0"/>
              <a:buChar char="•"/>
            </a:pPr>
            <a:r>
              <a:rPr lang="en-US" altLang="zh-CN" dirty="0">
                <a:solidFill>
                  <a:schemeClr val="tx1"/>
                </a:solidFill>
                <a:sym typeface="+mn-ea"/>
              </a:rPr>
              <a:t>The cleaned fish are soaked in the water full of coloring until turning yellow.</a:t>
            </a:r>
            <a:endParaRPr lang="zh-CN" altLang="en-US" dirty="0">
              <a:solidFill>
                <a:schemeClr val="tx1"/>
              </a:solidFill>
            </a:endParaRPr>
          </a:p>
          <a:p>
            <a:endParaRPr lang="zh-CN" altLang="en-US" dirty="0">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3023870" y="2705100"/>
              <a:ext cx="3176905" cy="4445"/>
            </p14:xfrm>
          </p:contentPart>
        </mc:Choice>
        <mc:Fallback xmlns="">
          <p:pic>
            <p:nvPicPr>
              <p:cNvPr id="4" name="墨迹 3"/>
            </p:nvPicPr>
            <p:blipFill>
              <a:blip r:embed="rId2"/>
            </p:blipFill>
            <p:spPr>
              <a:xfrm>
                <a:off x="3023870" y="2705100"/>
                <a:ext cx="3176905" cy="444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3338195" y="2319020"/>
              <a:ext cx="600075" cy="452755"/>
            </p14:xfrm>
          </p:contentPart>
        </mc:Choice>
        <mc:Fallback xmlns="">
          <p:pic>
            <p:nvPicPr>
              <p:cNvPr id="5" name="墨迹 4"/>
            </p:nvPicPr>
            <p:blipFill>
              <a:blip r:embed="rId4"/>
            </p:blipFill>
            <p:spPr>
              <a:xfrm>
                <a:off x="3338195" y="2319020"/>
                <a:ext cx="600075" cy="45275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842645" y="2352675"/>
              <a:ext cx="967105" cy="433070"/>
            </p14:xfrm>
          </p:contentPart>
        </mc:Choice>
        <mc:Fallback xmlns="">
          <p:pic>
            <p:nvPicPr>
              <p:cNvPr id="6" name="墨迹 5"/>
            </p:nvPicPr>
            <p:blipFill>
              <a:blip r:embed="rId6"/>
            </p:blipFill>
            <p:spPr>
              <a:xfrm>
                <a:off x="842645" y="2352675"/>
                <a:ext cx="967105" cy="43307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3400425" y="2261870"/>
              <a:ext cx="471170" cy="495300"/>
            </p14:xfrm>
          </p:contentPart>
        </mc:Choice>
        <mc:Fallback xmlns="">
          <p:pic>
            <p:nvPicPr>
              <p:cNvPr id="7" name="墨迹 6"/>
            </p:nvPicPr>
            <p:blipFill>
              <a:blip r:embed="rId8"/>
            </p:blipFill>
            <p:spPr>
              <a:xfrm>
                <a:off x="3400425" y="2261870"/>
                <a:ext cx="471170" cy="4953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3385820" y="2195195"/>
              <a:ext cx="371475" cy="662305"/>
            </p14:xfrm>
          </p:contentPart>
        </mc:Choice>
        <mc:Fallback xmlns="">
          <p:pic>
            <p:nvPicPr>
              <p:cNvPr id="8" name="墨迹 7"/>
            </p:nvPicPr>
            <p:blipFill>
              <a:blip r:embed="rId10"/>
            </p:blipFill>
            <p:spPr>
              <a:xfrm>
                <a:off x="3385820" y="2195195"/>
                <a:ext cx="371475" cy="66230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a:t>
            </a:r>
            <a:r>
              <a:rPr lang="zh-CN" altLang="en-US"/>
              <a:t>常用复杂句</a:t>
            </a:r>
            <a:endParaRPr lang="zh-CN" altLang="en-US"/>
          </a:p>
        </p:txBody>
      </p:sp>
      <p:sp>
        <p:nvSpPr>
          <p:cNvPr id="3" name="内容占位符 2"/>
          <p:cNvSpPr>
            <a:spLocks noGrp="1"/>
          </p:cNvSpPr>
          <p:nvPr>
            <p:ph idx="1"/>
          </p:nvPr>
        </p:nvSpPr>
        <p:spPr>
          <a:xfrm>
            <a:off x="457200" y="1428750"/>
            <a:ext cx="8253095" cy="3467100"/>
          </a:xfrm>
        </p:spPr>
        <p:txBody>
          <a:bodyPr/>
          <a:lstStyle/>
          <a:p>
            <a:pPr marL="0" indent="0">
              <a:buFont typeface="Arial" panose="020B0604020202020204" pitchFamily="34" charset="0"/>
            </a:pPr>
            <a:r>
              <a:rPr lang="zh-CN" altLang="en-US">
                <a:solidFill>
                  <a:schemeClr val="tx1"/>
                </a:solidFill>
              </a:rPr>
              <a:t>④ Once 一旦</a:t>
            </a:r>
            <a:r>
              <a:rPr lang="en-US" altLang="zh-CN">
                <a:solidFill>
                  <a:schemeClr val="tx1"/>
                </a:solidFill>
              </a:rPr>
              <a:t>+</a:t>
            </a:r>
            <a:r>
              <a:rPr lang="zh-CN" altLang="en-US">
                <a:solidFill>
                  <a:schemeClr val="tx1"/>
                </a:solidFill>
                <a:sym typeface="+mn-ea"/>
              </a:rPr>
              <a:t>句子</a:t>
            </a:r>
            <a:r>
              <a:rPr lang="en-US" altLang="zh-CN">
                <a:solidFill>
                  <a:schemeClr val="tx1"/>
                </a:solidFill>
                <a:sym typeface="+mn-ea"/>
              </a:rPr>
              <a:t>/doing/done</a:t>
            </a:r>
            <a:endParaRPr lang="zh-CN" altLang="en-US">
              <a:solidFill>
                <a:schemeClr val="tx1"/>
              </a:solidFill>
            </a:endParaRPr>
          </a:p>
          <a:p>
            <a:pPr>
              <a:buFont typeface="Arial" panose="020B0604020202020204" pitchFamily="34" charset="0"/>
              <a:buChar char="•"/>
            </a:pPr>
            <a:r>
              <a:rPr lang="zh-CN" altLang="en-US">
                <a:solidFill>
                  <a:schemeClr val="tx1"/>
                </a:solidFill>
              </a:rPr>
              <a:t>一旦鱼完全解冻，他们会在清水中被清洗。</a:t>
            </a:r>
            <a:endParaRPr lang="zh-CN" altLang="en-US">
              <a:solidFill>
                <a:schemeClr val="tx1"/>
              </a:solidFill>
            </a:endParaRPr>
          </a:p>
          <a:p>
            <a:pPr>
              <a:buFont typeface="Arial" panose="020B0604020202020204" pitchFamily="34" charset="0"/>
              <a:buChar char="•"/>
            </a:pPr>
            <a:r>
              <a:rPr lang="zh-CN" altLang="en-US">
                <a:solidFill>
                  <a:schemeClr val="tx1"/>
                </a:solidFill>
              </a:rPr>
              <a:t>Once </a:t>
            </a:r>
            <a:r>
              <a:rPr lang="en-US" altLang="zh-CN">
                <a:solidFill>
                  <a:schemeClr val="tx1"/>
                </a:solidFill>
              </a:rPr>
              <a:t>the fish</a:t>
            </a:r>
            <a:r>
              <a:rPr lang="zh-CN" altLang="en-US">
                <a:solidFill>
                  <a:schemeClr val="tx1"/>
                </a:solidFill>
              </a:rPr>
              <a:t> </a:t>
            </a:r>
            <a:r>
              <a:rPr lang="en-US" altLang="zh-CN">
                <a:solidFill>
                  <a:schemeClr val="tx1"/>
                </a:solidFill>
              </a:rPr>
              <a:t>are defrosted</a:t>
            </a:r>
            <a:r>
              <a:rPr lang="zh-CN" altLang="en-US">
                <a:solidFill>
                  <a:schemeClr val="tx1"/>
                </a:solidFill>
              </a:rPr>
              <a:t> completely, they </a:t>
            </a:r>
            <a:r>
              <a:rPr lang="en-US" altLang="zh-CN">
                <a:solidFill>
                  <a:schemeClr val="tx1"/>
                </a:solidFill>
              </a:rPr>
              <a:t>will be</a:t>
            </a:r>
            <a:r>
              <a:rPr lang="zh-CN" altLang="en-US">
                <a:solidFill>
                  <a:schemeClr val="tx1"/>
                </a:solidFill>
              </a:rPr>
              <a:t> cleaned in fresh water.</a:t>
            </a:r>
            <a:endParaRPr lang="zh-CN" altLang="en-US">
              <a:solidFill>
                <a:schemeClr val="tx1"/>
              </a:solidFill>
            </a:endParaRPr>
          </a:p>
          <a:p>
            <a:pPr>
              <a:buFont typeface="Arial" panose="020B0604020202020204" pitchFamily="34" charset="0"/>
              <a:buChar char="•"/>
            </a:pPr>
            <a:r>
              <a:rPr lang="zh-CN" altLang="en-US">
                <a:solidFill>
                  <a:schemeClr val="tx1"/>
                </a:solidFill>
              </a:rPr>
              <a:t>Once </a:t>
            </a:r>
            <a:r>
              <a:rPr lang="en-US" altLang="zh-CN">
                <a:solidFill>
                  <a:schemeClr val="tx1"/>
                </a:solidFill>
              </a:rPr>
              <a:t>defrosted </a:t>
            </a:r>
            <a:r>
              <a:rPr lang="zh-CN" altLang="en-US">
                <a:solidFill>
                  <a:schemeClr val="tx1"/>
                </a:solidFill>
              </a:rPr>
              <a:t>completely, </a:t>
            </a:r>
            <a:r>
              <a:rPr lang="en-US" altLang="zh-CN">
                <a:solidFill>
                  <a:schemeClr val="tx1"/>
                </a:solidFill>
              </a:rPr>
              <a:t>the fish</a:t>
            </a:r>
            <a:r>
              <a:rPr lang="zh-CN" altLang="en-US">
                <a:solidFill>
                  <a:schemeClr val="tx1"/>
                </a:solidFill>
              </a:rPr>
              <a:t> </a:t>
            </a:r>
            <a:r>
              <a:rPr lang="en-US" altLang="zh-CN">
                <a:solidFill>
                  <a:schemeClr val="tx1"/>
                </a:solidFill>
              </a:rPr>
              <a:t>will be</a:t>
            </a:r>
            <a:r>
              <a:rPr lang="zh-CN" altLang="en-US">
                <a:solidFill>
                  <a:schemeClr val="tx1"/>
                </a:solidFill>
              </a:rPr>
              <a:t> cleaned in fresh water.</a:t>
            </a:r>
            <a:endParaRPr lang="zh-CN" altLang="en-US">
              <a:solidFill>
                <a:schemeClr val="tx1"/>
              </a:solidFill>
            </a:endParaRPr>
          </a:p>
          <a:p>
            <a:pPr>
              <a:buFont typeface="Arial" panose="020B0604020202020204" pitchFamily="34" charset="0"/>
              <a:buChar char="•"/>
            </a:pPr>
            <a:r>
              <a:rPr lang="zh-CN" altLang="en-US">
                <a:solidFill>
                  <a:schemeClr val="tx1"/>
                </a:solidFill>
              </a:rPr>
              <a:t>一旦通过笔试，申请者就有资格参加路考。</a:t>
            </a:r>
            <a:endParaRPr lang="zh-CN" altLang="en-US">
              <a:solidFill>
                <a:schemeClr val="tx1"/>
              </a:solidFill>
            </a:endParaRPr>
          </a:p>
          <a:p>
            <a:pPr>
              <a:buFont typeface="Arial" panose="020B0604020202020204" pitchFamily="34" charset="0"/>
              <a:buChar char="•"/>
            </a:pPr>
            <a:r>
              <a:rPr lang="en-US" altLang="zh-CN">
                <a:solidFill>
                  <a:schemeClr val="tx1"/>
                </a:solidFill>
              </a:rPr>
              <a:t>Once the applicant passes the written test, he is qualified to take the road test.</a:t>
            </a:r>
            <a:endParaRPr lang="en-US" altLang="zh-CN">
              <a:solidFill>
                <a:schemeClr val="tx1"/>
              </a:solidFill>
            </a:endParaRPr>
          </a:p>
          <a:p>
            <a:pPr>
              <a:buFont typeface="Arial" panose="020B0604020202020204" pitchFamily="34" charset="0"/>
              <a:buChar char="•"/>
            </a:pPr>
            <a:r>
              <a:rPr lang="en-US" altLang="zh-CN">
                <a:solidFill>
                  <a:schemeClr val="tx1"/>
                </a:solidFill>
                <a:sym typeface="+mn-ea"/>
              </a:rPr>
              <a:t>Once passing the written  test, the applicant is qualified to take the road test.</a:t>
            </a:r>
            <a:endParaRPr lang="zh-CN" altLang="en-US">
              <a:solidFill>
                <a:schemeClr val="tx1"/>
              </a:solidFill>
            </a:endParaRPr>
          </a:p>
          <a:p>
            <a:pPr>
              <a:buFont typeface="Arial" panose="020B0604020202020204" pitchFamily="34" charset="0"/>
              <a:buChar char="•"/>
            </a:pPr>
            <a:endParaRPr lang="zh-CN" altLang="en-US">
              <a:solidFill>
                <a:schemeClr val="tx1"/>
              </a:solidFill>
            </a:endParaRPr>
          </a:p>
        </p:txBody>
      </p:sp>
      <p:sp>
        <p:nvSpPr>
          <p:cNvPr id="4" name="标题 1"/>
          <p:cNvSpPr>
            <a:spLocks noGrp="1"/>
          </p:cNvSpPr>
          <p:nvPr/>
        </p:nvSpPr>
        <p:spPr>
          <a:xfrm>
            <a:off x="593725" y="636905"/>
            <a:ext cx="6148705" cy="704850"/>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r>
              <a:rPr lang="zh-CN" altLang="en-US">
                <a:solidFill>
                  <a:schemeClr val="tx1"/>
                </a:solidFill>
                <a:latin typeface="Calibri" panose="020F0502020204030204" pitchFamily="34" charset="0"/>
                <a:cs typeface="Calibri" panose="020F0502020204030204" pitchFamily="34" charset="0"/>
              </a:rPr>
              <a:t>A. 时间</a:t>
            </a:r>
            <a:r>
              <a:rPr lang="zh-CN" altLang="en-US">
                <a:solidFill>
                  <a:schemeClr val="tx1"/>
                </a:solidFill>
                <a:sym typeface="+mn-ea"/>
              </a:rPr>
              <a:t>状语从句在流程图中的使用</a:t>
            </a:r>
            <a:endParaRPr lang="zh-CN" altLang="en-US">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400050" y="2842895"/>
              <a:ext cx="4133850" cy="381000"/>
            </p14:xfrm>
          </p:contentPart>
        </mc:Choice>
        <mc:Fallback xmlns="">
          <p:pic>
            <p:nvPicPr>
              <p:cNvPr id="5" name="墨迹 4"/>
            </p:nvPicPr>
            <p:blipFill>
              <a:blip r:embed="rId2"/>
            </p:blipFill>
            <p:spPr>
              <a:xfrm>
                <a:off x="400050" y="2842895"/>
                <a:ext cx="4133850" cy="3810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1352550" y="2366645"/>
              <a:ext cx="714375" cy="552450"/>
            </p14:xfrm>
          </p:contentPart>
        </mc:Choice>
        <mc:Fallback xmlns="">
          <p:pic>
            <p:nvPicPr>
              <p:cNvPr id="6" name="墨迹 5"/>
            </p:nvPicPr>
            <p:blipFill>
              <a:blip r:embed="rId4"/>
            </p:blipFill>
            <p:spPr>
              <a:xfrm>
                <a:off x="1352550" y="2366645"/>
                <a:ext cx="714375" cy="5524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4562475" y="2314575"/>
              <a:ext cx="471170" cy="647700"/>
            </p14:xfrm>
          </p:contentPart>
        </mc:Choice>
        <mc:Fallback xmlns="">
          <p:pic>
            <p:nvPicPr>
              <p:cNvPr id="7" name="墨迹 6"/>
            </p:nvPicPr>
            <p:blipFill>
              <a:blip r:embed="rId6"/>
            </p:blipFill>
            <p:spPr>
              <a:xfrm>
                <a:off x="4562475" y="2314575"/>
                <a:ext cx="471170" cy="6477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a:t>
            </a:r>
            <a:r>
              <a:rPr lang="zh-CN" altLang="en-US"/>
              <a:t>常用复杂句</a:t>
            </a:r>
            <a:endParaRPr lang="zh-CN" altLang="en-US"/>
          </a:p>
        </p:txBody>
      </p:sp>
      <p:sp>
        <p:nvSpPr>
          <p:cNvPr id="3" name="内容占位符 2"/>
          <p:cNvSpPr>
            <a:spLocks noGrp="1"/>
          </p:cNvSpPr>
          <p:nvPr>
            <p:ph idx="1"/>
          </p:nvPr>
        </p:nvSpPr>
        <p:spPr>
          <a:xfrm>
            <a:off x="457200" y="1428750"/>
            <a:ext cx="8253095" cy="3467100"/>
          </a:xfrm>
        </p:spPr>
        <p:txBody>
          <a:bodyPr/>
          <a:lstStyle/>
          <a:p>
            <a:pPr marL="0" indent="0">
              <a:buFont typeface="Arial" panose="020B0604020202020204" pitchFamily="34" charset="0"/>
            </a:pPr>
            <a:r>
              <a:rPr lang="zh-CN" altLang="en-US">
                <a:solidFill>
                  <a:schemeClr val="tx1"/>
                </a:solidFill>
                <a:sym typeface="+mn-ea"/>
              </a:rPr>
              <a:t>⑤地点名词</a:t>
            </a:r>
            <a:r>
              <a:rPr lang="en-US" altLang="zh-CN">
                <a:solidFill>
                  <a:schemeClr val="tx1"/>
                </a:solidFill>
                <a:sym typeface="+mn-ea"/>
              </a:rPr>
              <a:t>+</a:t>
            </a:r>
            <a:r>
              <a:rPr lang="zh-CN" altLang="en-US">
                <a:solidFill>
                  <a:schemeClr val="tx1"/>
                </a:solidFill>
                <a:sym typeface="+mn-ea"/>
              </a:rPr>
              <a:t>Where 引导定语从句</a:t>
            </a:r>
            <a:r>
              <a:rPr lang="en-US" altLang="zh-CN">
                <a:solidFill>
                  <a:schemeClr val="tx1"/>
                </a:solidFill>
                <a:sym typeface="+mn-ea"/>
              </a:rPr>
              <a:t>+</a:t>
            </a:r>
            <a:r>
              <a:rPr lang="zh-CN" altLang="en-US">
                <a:solidFill>
                  <a:schemeClr val="tx1"/>
                </a:solidFill>
                <a:sym typeface="+mn-ea"/>
              </a:rPr>
              <a:t>完整句子</a:t>
            </a:r>
            <a:endParaRPr lang="zh-CN" altLang="en-US">
              <a:solidFill>
                <a:schemeClr val="tx1"/>
              </a:solidFill>
            </a:endParaRPr>
          </a:p>
          <a:p>
            <a:pPr>
              <a:buFont typeface="Arial" panose="020B0604020202020204" pitchFamily="34" charset="0"/>
              <a:buChar char="•"/>
            </a:pPr>
            <a:r>
              <a:rPr lang="zh-CN" altLang="en-US">
                <a:solidFill>
                  <a:schemeClr val="tx1"/>
                </a:solidFill>
                <a:sym typeface="+mn-ea"/>
              </a:rPr>
              <a:t>The fish are put into a container where they are cleaned. </a:t>
            </a:r>
            <a:endParaRPr lang="zh-CN" altLang="en-US">
              <a:solidFill>
                <a:schemeClr val="tx1"/>
              </a:solidFill>
            </a:endParaRPr>
          </a:p>
          <a:p>
            <a:pPr>
              <a:buFont typeface="Arial" panose="020B0604020202020204" pitchFamily="34" charset="0"/>
              <a:buChar char="•"/>
            </a:pPr>
            <a:r>
              <a:rPr lang="zh-CN" altLang="en-US">
                <a:solidFill>
                  <a:schemeClr val="tx1"/>
                </a:solidFill>
                <a:sym typeface="+mn-ea"/>
              </a:rPr>
              <a:t>The cement enters the grinder where it is ground.</a:t>
            </a:r>
            <a:endParaRPr lang="zh-CN" altLang="en-US">
              <a:solidFill>
                <a:schemeClr val="tx1"/>
              </a:solidFill>
            </a:endParaRPr>
          </a:p>
          <a:p>
            <a:pPr>
              <a:buFont typeface="Arial" panose="020B0604020202020204" pitchFamily="34" charset="0"/>
              <a:buChar char="•"/>
            </a:pPr>
            <a:r>
              <a:rPr lang="zh-CN" altLang="en-US">
                <a:solidFill>
                  <a:schemeClr val="tx1"/>
                </a:solidFill>
                <a:sym typeface="+mn-ea"/>
              </a:rPr>
              <a:t>The </a:t>
            </a:r>
            <a:r>
              <a:rPr lang="en-US" altLang="zh-CN">
                <a:solidFill>
                  <a:schemeClr val="tx1"/>
                </a:solidFill>
                <a:sym typeface="+mn-ea"/>
              </a:rPr>
              <a:t>pieces</a:t>
            </a:r>
            <a:r>
              <a:rPr lang="zh-CN" altLang="en-US">
                <a:solidFill>
                  <a:schemeClr val="tx1"/>
                </a:solidFill>
                <a:sym typeface="+mn-ea"/>
              </a:rPr>
              <a:t> </a:t>
            </a:r>
            <a:r>
              <a:rPr lang="en-US" altLang="zh-CN">
                <a:solidFill>
                  <a:schemeClr val="tx1"/>
                </a:solidFill>
                <a:sym typeface="+mn-ea"/>
              </a:rPr>
              <a:t>are </a:t>
            </a:r>
            <a:r>
              <a:rPr lang="zh-CN" altLang="en-US">
                <a:solidFill>
                  <a:schemeClr val="tx1"/>
                </a:solidFill>
                <a:sym typeface="+mn-ea"/>
              </a:rPr>
              <a:t>introduced into a furnace where </a:t>
            </a:r>
            <a:r>
              <a:rPr lang="en-US" altLang="zh-CN">
                <a:solidFill>
                  <a:schemeClr val="tx1"/>
                </a:solidFill>
                <a:sym typeface="+mn-ea"/>
              </a:rPr>
              <a:t>it is</a:t>
            </a:r>
            <a:r>
              <a:rPr lang="zh-CN" altLang="en-US">
                <a:solidFill>
                  <a:schemeClr val="tx1"/>
                </a:solidFill>
                <a:sym typeface="+mn-ea"/>
              </a:rPr>
              <a:t> heated.  </a:t>
            </a:r>
            <a:endParaRPr lang="zh-CN" altLang="en-US">
              <a:solidFill>
                <a:schemeClr val="tx1"/>
              </a:solidFill>
            </a:endParaRPr>
          </a:p>
          <a:p>
            <a:pPr marL="0" indent="0">
              <a:buFont typeface="Arial" panose="020B0604020202020204" pitchFamily="34" charset="0"/>
            </a:pPr>
            <a:r>
              <a:rPr lang="zh-CN" altLang="en-US">
                <a:solidFill>
                  <a:schemeClr val="tx1"/>
                </a:solidFill>
                <a:sym typeface="+mn-ea"/>
              </a:rPr>
              <a:t>⑥</a:t>
            </a:r>
            <a:r>
              <a:rPr lang="en-US" altLang="zh-CN">
                <a:solidFill>
                  <a:schemeClr val="tx1"/>
                </a:solidFill>
                <a:sym typeface="+mn-ea"/>
              </a:rPr>
              <a:t>a</a:t>
            </a:r>
            <a:r>
              <a:rPr lang="zh-CN" altLang="en-US">
                <a:solidFill>
                  <a:schemeClr val="tx1"/>
                </a:solidFill>
                <a:sym typeface="+mn-ea"/>
              </a:rPr>
              <a:t>fter which 引导定语从句</a:t>
            </a:r>
            <a:r>
              <a:rPr lang="en-US" altLang="zh-CN">
                <a:solidFill>
                  <a:schemeClr val="tx1"/>
                </a:solidFill>
                <a:sym typeface="+mn-ea"/>
              </a:rPr>
              <a:t>+</a:t>
            </a:r>
            <a:r>
              <a:rPr lang="zh-CN" altLang="en-US">
                <a:solidFill>
                  <a:schemeClr val="tx1"/>
                </a:solidFill>
                <a:sym typeface="+mn-ea"/>
              </a:rPr>
              <a:t>完整句子</a:t>
            </a:r>
            <a:endParaRPr lang="zh-CN" altLang="en-US">
              <a:solidFill>
                <a:schemeClr val="tx1"/>
              </a:solidFill>
            </a:endParaRPr>
          </a:p>
          <a:p>
            <a:pPr>
              <a:buFont typeface="Arial" panose="020B0604020202020204" pitchFamily="34" charset="0"/>
              <a:buChar char="•"/>
            </a:pPr>
            <a:r>
              <a:rPr lang="zh-CN" altLang="en-US">
                <a:solidFill>
                  <a:schemeClr val="tx1"/>
                </a:solidFill>
                <a:sym typeface="+mn-ea"/>
              </a:rPr>
              <a:t>The fish are cooked , after which they are eaten.</a:t>
            </a:r>
            <a:endParaRPr lang="zh-CN" altLang="en-US">
              <a:solidFill>
                <a:schemeClr val="tx1"/>
              </a:solidFill>
            </a:endParaRPr>
          </a:p>
          <a:p>
            <a:pPr>
              <a:buFont typeface="Arial" panose="020B0604020202020204" pitchFamily="34" charset="0"/>
              <a:buChar char="•"/>
            </a:pPr>
            <a:r>
              <a:rPr lang="zh-CN" altLang="en-US">
                <a:solidFill>
                  <a:schemeClr val="tx1"/>
                </a:solidFill>
                <a:sym typeface="+mn-ea"/>
              </a:rPr>
              <a:t>The fish are cut open, after which they are smoked.</a:t>
            </a:r>
            <a:endParaRPr lang="zh-CN" altLang="en-US">
              <a:solidFill>
                <a:schemeClr val="tx1"/>
              </a:solidFill>
            </a:endParaRPr>
          </a:p>
          <a:p>
            <a:pPr>
              <a:buFont typeface="Arial" panose="020B0604020202020204" pitchFamily="34" charset="0"/>
              <a:buChar char="•"/>
            </a:pPr>
            <a:endParaRPr lang="zh-CN" altLang="en-US">
              <a:solidFill>
                <a:schemeClr val="tx1"/>
              </a:solidFill>
            </a:endParaRPr>
          </a:p>
        </p:txBody>
      </p:sp>
      <p:sp>
        <p:nvSpPr>
          <p:cNvPr id="4" name="标题 1"/>
          <p:cNvSpPr>
            <a:spLocks noGrp="1"/>
          </p:cNvSpPr>
          <p:nvPr/>
        </p:nvSpPr>
        <p:spPr>
          <a:xfrm>
            <a:off x="593725" y="636905"/>
            <a:ext cx="6148705" cy="704850"/>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r>
              <a:rPr lang="zh-CN" altLang="en-US">
                <a:solidFill>
                  <a:schemeClr val="tx1"/>
                </a:solidFill>
                <a:latin typeface="Calibri" panose="020F0502020204030204" pitchFamily="34" charset="0"/>
                <a:cs typeface="Calibri" panose="020F0502020204030204" pitchFamily="34" charset="0"/>
              </a:rPr>
              <a:t>A. 时间</a:t>
            </a:r>
            <a:r>
              <a:rPr lang="zh-CN" altLang="en-US">
                <a:solidFill>
                  <a:schemeClr val="tx1"/>
                </a:solidFill>
                <a:sym typeface="+mn-ea"/>
              </a:rPr>
              <a:t>状语从句在流程图中的使用</a:t>
            </a: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8615" y="534670"/>
            <a:ext cx="8215630" cy="549275"/>
          </a:xfrm>
        </p:spPr>
        <p:txBody>
          <a:bodyPr/>
          <a:lstStyle/>
          <a:p>
            <a:r>
              <a:rPr lang="en-US" altLang="zh-CN" sz="2400" dirty="0" smtClean="0">
                <a:solidFill>
                  <a:schemeClr val="tx1"/>
                </a:solidFill>
                <a:latin typeface="Times New Roman" panose="02020603050405020304" charset="0"/>
                <a:cs typeface="Times New Roman" panose="02020603050405020304" charset="0"/>
              </a:rPr>
              <a:t>before; after; until; once; where; after which</a:t>
            </a:r>
            <a:endParaRPr lang="en-US" altLang="zh-CN" sz="2400" dirty="0" smtClean="0">
              <a:solidFill>
                <a:schemeClr val="tx1"/>
              </a:solidFill>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91490" y="1214755"/>
            <a:ext cx="8234680" cy="3799840"/>
          </a:xfrm>
        </p:spPr>
        <p:txBody>
          <a:bodyPr/>
          <a:lstStyle/>
          <a:p>
            <a:pPr marL="514350" indent="-514350" algn="l"/>
            <a:r>
              <a:rPr lang="en-US" altLang="zh-CN" dirty="0" smtClean="0">
                <a:solidFill>
                  <a:schemeClr val="tx1"/>
                </a:solidFill>
              </a:rPr>
              <a:t>1. </a:t>
            </a:r>
            <a:r>
              <a:rPr lang="zh-CN" altLang="en-US" dirty="0" smtClean="0">
                <a:solidFill>
                  <a:schemeClr val="tx1"/>
                </a:solidFill>
              </a:rPr>
              <a:t>鱼先被抓，然后运输到港口，在那里被冻住。</a:t>
            </a:r>
            <a:endParaRPr lang="en-US" altLang="zh-CN" dirty="0" smtClean="0">
              <a:solidFill>
                <a:schemeClr val="tx1"/>
              </a:solidFill>
            </a:endParaRPr>
          </a:p>
          <a:p>
            <a:pPr marL="514350" indent="-514350" algn="l"/>
            <a:r>
              <a:rPr lang="en-US" altLang="zh-CN" dirty="0" smtClean="0">
                <a:solidFill>
                  <a:schemeClr val="tx1"/>
                </a:solidFill>
              </a:rPr>
              <a:t>After being caught, the fish are transported to the port where they are frozen. </a:t>
            </a:r>
            <a:endParaRPr lang="en-US" altLang="zh-CN" dirty="0" smtClean="0">
              <a:solidFill>
                <a:schemeClr val="tx1"/>
              </a:solidFill>
            </a:endParaRPr>
          </a:p>
          <a:p>
            <a:pPr marL="514350" indent="-514350" algn="l"/>
            <a:r>
              <a:rPr lang="en-US" altLang="zh-CN" dirty="0" smtClean="0">
                <a:solidFill>
                  <a:schemeClr val="tx1"/>
                </a:solidFill>
              </a:rPr>
              <a:t>2. </a:t>
            </a:r>
            <a:r>
              <a:rPr lang="zh-CN" altLang="en-US" dirty="0" smtClean="0">
                <a:solidFill>
                  <a:schemeClr val="tx1"/>
                </a:solidFill>
              </a:rPr>
              <a:t>一旦完全解冻，鱼会被切成两半，然后浸泡在有染料的水中，直到变成黄色。</a:t>
            </a:r>
            <a:endParaRPr lang="en-US" altLang="zh-CN" dirty="0" smtClean="0">
              <a:solidFill>
                <a:schemeClr val="tx1"/>
              </a:solidFill>
            </a:endParaRPr>
          </a:p>
          <a:p>
            <a:pPr marL="514350" indent="-514350" algn="l"/>
            <a:r>
              <a:rPr lang="en-US" altLang="zh-CN" dirty="0" smtClean="0">
                <a:solidFill>
                  <a:schemeClr val="tx1"/>
                </a:solidFill>
              </a:rPr>
              <a:t>Once defrosted completely , the fish are cut in half, after which they are </a:t>
            </a:r>
            <a:endParaRPr lang="en-US" altLang="zh-CN" dirty="0" smtClean="0">
              <a:solidFill>
                <a:schemeClr val="tx1"/>
              </a:solidFill>
            </a:endParaRPr>
          </a:p>
          <a:p>
            <a:pPr marL="514350" indent="-514350" algn="l"/>
            <a:r>
              <a:rPr lang="en-US" altLang="zh-CN" dirty="0" smtClean="0">
                <a:solidFill>
                  <a:schemeClr val="tx1"/>
                </a:solidFill>
              </a:rPr>
              <a:t>soaked in the water full of coloring until becoming yellow. </a:t>
            </a:r>
            <a:endParaRPr lang="en-US" altLang="zh-CN" sz="2400" dirty="0" smtClean="0">
              <a:solidFill>
                <a:schemeClr val="tx1"/>
              </a:solidFill>
            </a:endParaRPr>
          </a:p>
          <a:p>
            <a:pPr marL="514350" indent="-514350" algn="l"/>
            <a:r>
              <a:rPr lang="en-US" altLang="zh-CN" sz="2000" dirty="0" smtClean="0">
                <a:solidFill>
                  <a:schemeClr val="tx1"/>
                </a:solidFill>
              </a:rPr>
              <a:t>3. </a:t>
            </a:r>
            <a:r>
              <a:rPr lang="zh-CN" altLang="en-US" sz="2000" dirty="0" smtClean="0">
                <a:solidFill>
                  <a:schemeClr val="tx1"/>
                </a:solidFill>
              </a:rPr>
              <a:t>使用过的玻璃瓶先被收集在回收站，然后运输到工厂，在那里被清洗。</a:t>
            </a:r>
            <a:endParaRPr lang="zh-CN" altLang="en-US" sz="2000" dirty="0" smtClean="0">
              <a:solidFill>
                <a:schemeClr val="tx1"/>
              </a:solidFill>
            </a:endParaRPr>
          </a:p>
          <a:p>
            <a:pPr marL="514350" indent="-514350" algn="l"/>
            <a:r>
              <a:rPr lang="en-US" altLang="zh-CN" dirty="0" smtClean="0">
                <a:solidFill>
                  <a:schemeClr val="tx1"/>
                </a:solidFill>
              </a:rPr>
              <a:t>After being collected at the recycling station, the used glass bottles are transported </a:t>
            </a:r>
            <a:endParaRPr lang="en-US" altLang="zh-CN" dirty="0" smtClean="0">
              <a:solidFill>
                <a:schemeClr val="tx1"/>
              </a:solidFill>
            </a:endParaRPr>
          </a:p>
          <a:p>
            <a:pPr marL="514350" indent="-514350" algn="l"/>
            <a:r>
              <a:rPr lang="en-US" altLang="zh-CN" dirty="0" smtClean="0">
                <a:solidFill>
                  <a:schemeClr val="tx1"/>
                </a:solidFill>
              </a:rPr>
              <a:t>to the factory where they </a:t>
            </a:r>
            <a:r>
              <a:rPr lang="zh-CN" altLang="en-US" dirty="0" smtClean="0">
                <a:solidFill>
                  <a:schemeClr val="tx1"/>
                </a:solidFill>
              </a:rPr>
              <a:t> </a:t>
            </a:r>
            <a:r>
              <a:rPr lang="en-US" altLang="zh-CN" dirty="0" smtClean="0">
                <a:solidFill>
                  <a:schemeClr val="tx1"/>
                </a:solidFill>
              </a:rPr>
              <a:t>are washed. </a:t>
            </a:r>
            <a:endParaRPr lang="en-US" altLang="zh-CN" dirty="0" smtClean="0">
              <a:solidFill>
                <a:schemeClr val="tx1"/>
              </a:solidFill>
            </a:endParaRPr>
          </a:p>
          <a:p>
            <a:pPr marL="514350" indent="-514350" algn="l"/>
            <a:r>
              <a:rPr lang="zh-CN" altLang="en-US" sz="2000" dirty="0" smtClean="0">
                <a:solidFill>
                  <a:schemeClr val="tx1"/>
                </a:solidFill>
              </a:rPr>
              <a:t> </a:t>
            </a:r>
            <a:endParaRPr lang="en-US" altLang="zh-CN" sz="1600" dirty="0" smtClean="0">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1214120" y="490220"/>
              <a:ext cx="809625" cy="443230"/>
            </p14:xfrm>
          </p:contentPart>
        </mc:Choice>
        <mc:Fallback xmlns="">
          <p:pic>
            <p:nvPicPr>
              <p:cNvPr id="4" name="墨迹 3"/>
            </p:nvPicPr>
            <p:blipFill>
              <a:blip r:embed="rId2"/>
            </p:blipFill>
            <p:spPr>
              <a:xfrm>
                <a:off x="1214120" y="490220"/>
                <a:ext cx="809625" cy="44323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728345" y="838200"/>
              <a:ext cx="805180" cy="638175"/>
            </p14:xfrm>
          </p:contentPart>
        </mc:Choice>
        <mc:Fallback xmlns="">
          <p:pic>
            <p:nvPicPr>
              <p:cNvPr id="5" name="墨迹 4"/>
            </p:nvPicPr>
            <p:blipFill>
              <a:blip r:embed="rId4"/>
            </p:blipFill>
            <p:spPr>
              <a:xfrm>
                <a:off x="728345" y="838200"/>
                <a:ext cx="805180" cy="63817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695325" y="1295400"/>
              <a:ext cx="528320" cy="276225"/>
            </p14:xfrm>
          </p:contentPart>
        </mc:Choice>
        <mc:Fallback xmlns="">
          <p:pic>
            <p:nvPicPr>
              <p:cNvPr id="6" name="墨迹 5"/>
            </p:nvPicPr>
            <p:blipFill>
              <a:blip r:embed="rId6"/>
            </p:blipFill>
            <p:spPr>
              <a:xfrm>
                <a:off x="695325" y="1295400"/>
                <a:ext cx="528320" cy="27622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3686175" y="871220"/>
              <a:ext cx="180975" cy="733425"/>
            </p14:xfrm>
          </p:contentPart>
        </mc:Choice>
        <mc:Fallback xmlns="">
          <p:pic>
            <p:nvPicPr>
              <p:cNvPr id="7" name="墨迹 6"/>
            </p:nvPicPr>
            <p:blipFill>
              <a:blip r:embed="rId8"/>
            </p:blipFill>
            <p:spPr>
              <a:xfrm>
                <a:off x="3686175" y="871220"/>
                <a:ext cx="180975" cy="73342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3648075" y="1299845"/>
              <a:ext cx="419100" cy="386080"/>
            </p14:xfrm>
          </p:contentPart>
        </mc:Choice>
        <mc:Fallback xmlns="">
          <p:pic>
            <p:nvPicPr>
              <p:cNvPr id="8" name="墨迹 7"/>
            </p:nvPicPr>
            <p:blipFill>
              <a:blip r:embed="rId10"/>
            </p:blipFill>
            <p:spPr>
              <a:xfrm>
                <a:off x="3648075" y="1299845"/>
                <a:ext cx="419100" cy="3860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4724400" y="1685925"/>
              <a:ext cx="504825" cy="80645"/>
            </p14:xfrm>
          </p:contentPart>
        </mc:Choice>
        <mc:Fallback xmlns="">
          <p:pic>
            <p:nvPicPr>
              <p:cNvPr id="9" name="墨迹 8"/>
            </p:nvPicPr>
            <p:blipFill>
              <a:blip r:embed="rId12"/>
            </p:blipFill>
            <p:spPr>
              <a:xfrm>
                <a:off x="4724400" y="1685925"/>
                <a:ext cx="504825" cy="806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1828800" y="1238250"/>
              <a:ext cx="1685925" cy="471170"/>
            </p14:xfrm>
          </p:contentPart>
        </mc:Choice>
        <mc:Fallback xmlns="">
          <p:pic>
            <p:nvPicPr>
              <p:cNvPr id="10" name="墨迹 9"/>
            </p:nvPicPr>
            <p:blipFill>
              <a:blip r:embed="rId14"/>
            </p:blipFill>
            <p:spPr>
              <a:xfrm>
                <a:off x="1828800" y="1238250"/>
                <a:ext cx="1685925" cy="47117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2524125" y="795020"/>
              <a:ext cx="133350" cy="128905"/>
            </p14:xfrm>
          </p:contentPart>
        </mc:Choice>
        <mc:Fallback xmlns="">
          <p:pic>
            <p:nvPicPr>
              <p:cNvPr id="11" name="墨迹 10"/>
            </p:nvPicPr>
            <p:blipFill>
              <a:blip r:embed="rId16"/>
            </p:blipFill>
            <p:spPr>
              <a:xfrm>
                <a:off x="2524125" y="795020"/>
                <a:ext cx="133350" cy="12890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2642870" y="1038225"/>
              <a:ext cx="128905" cy="38100"/>
            </p14:xfrm>
          </p:contentPart>
        </mc:Choice>
        <mc:Fallback xmlns="">
          <p:pic>
            <p:nvPicPr>
              <p:cNvPr id="12" name="墨迹 11"/>
            </p:nvPicPr>
            <p:blipFill>
              <a:blip r:embed="rId18"/>
            </p:blipFill>
            <p:spPr>
              <a:xfrm>
                <a:off x="2642870" y="1038225"/>
                <a:ext cx="128905" cy="381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2714625" y="1147445"/>
              <a:ext cx="133350" cy="24130"/>
            </p14:xfrm>
          </p:contentPart>
        </mc:Choice>
        <mc:Fallback xmlns="">
          <p:pic>
            <p:nvPicPr>
              <p:cNvPr id="13" name="墨迹 12"/>
            </p:nvPicPr>
            <p:blipFill>
              <a:blip r:embed="rId20"/>
            </p:blipFill>
            <p:spPr>
              <a:xfrm>
                <a:off x="2714625" y="1147445"/>
                <a:ext cx="133350" cy="2413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2766695" y="1042670"/>
              <a:ext cx="14605" cy="205105"/>
            </p14:xfrm>
          </p:contentPart>
        </mc:Choice>
        <mc:Fallback xmlns="">
          <p:pic>
            <p:nvPicPr>
              <p:cNvPr id="14" name="墨迹 13"/>
            </p:nvPicPr>
            <p:blipFill>
              <a:blip r:embed="rId22"/>
            </p:blipFill>
            <p:spPr>
              <a:xfrm>
                <a:off x="2766695" y="1042670"/>
                <a:ext cx="14605" cy="20510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2790825" y="1219200"/>
              <a:ext cx="123825" cy="38100"/>
            </p14:xfrm>
          </p:contentPart>
        </mc:Choice>
        <mc:Fallback xmlns="">
          <p:pic>
            <p:nvPicPr>
              <p:cNvPr id="15" name="墨迹 14"/>
            </p:nvPicPr>
            <p:blipFill>
              <a:blip r:embed="rId24"/>
            </p:blipFill>
            <p:spPr>
              <a:xfrm>
                <a:off x="2790825" y="1219200"/>
                <a:ext cx="123825" cy="381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2905125" y="1000125"/>
              <a:ext cx="147320" cy="4445"/>
            </p14:xfrm>
          </p:contentPart>
        </mc:Choice>
        <mc:Fallback xmlns="">
          <p:pic>
            <p:nvPicPr>
              <p:cNvPr id="16" name="墨迹 15"/>
            </p:nvPicPr>
            <p:blipFill>
              <a:blip r:embed="rId26"/>
            </p:blipFill>
            <p:spPr>
              <a:xfrm>
                <a:off x="2905125" y="1000125"/>
                <a:ext cx="147320" cy="444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2995295" y="1052195"/>
              <a:ext cx="147955" cy="19050"/>
            </p14:xfrm>
          </p:contentPart>
        </mc:Choice>
        <mc:Fallback xmlns="">
          <p:pic>
            <p:nvPicPr>
              <p:cNvPr id="17" name="墨迹 16"/>
            </p:nvPicPr>
            <p:blipFill>
              <a:blip r:embed="rId28"/>
            </p:blipFill>
            <p:spPr>
              <a:xfrm>
                <a:off x="2995295" y="1052195"/>
                <a:ext cx="147955" cy="190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3009900" y="1014095"/>
              <a:ext cx="85725" cy="400050"/>
            </p14:xfrm>
          </p:contentPart>
        </mc:Choice>
        <mc:Fallback xmlns="">
          <p:pic>
            <p:nvPicPr>
              <p:cNvPr id="18" name="墨迹 17"/>
            </p:nvPicPr>
            <p:blipFill>
              <a:blip r:embed="rId30"/>
            </p:blipFill>
            <p:spPr>
              <a:xfrm>
                <a:off x="3009900" y="1014095"/>
                <a:ext cx="85725" cy="4000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2919095" y="1042670"/>
              <a:ext cx="152400" cy="9525"/>
            </p14:xfrm>
          </p:contentPart>
        </mc:Choice>
        <mc:Fallback xmlns="">
          <p:pic>
            <p:nvPicPr>
              <p:cNvPr id="19" name="墨迹 18"/>
            </p:nvPicPr>
            <p:blipFill>
              <a:blip r:embed="rId32"/>
            </p:blipFill>
            <p:spPr>
              <a:xfrm>
                <a:off x="2919095" y="1042670"/>
                <a:ext cx="152400" cy="95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3290570" y="1014095"/>
              <a:ext cx="9525" cy="360"/>
            </p14:xfrm>
          </p:contentPart>
        </mc:Choice>
        <mc:Fallback xmlns="">
          <p:pic>
            <p:nvPicPr>
              <p:cNvPr id="20" name="墨迹 19"/>
            </p:nvPicPr>
            <p:blipFill>
              <a:blip r:embed="rId34"/>
            </p:blipFill>
            <p:spPr>
              <a:xfrm>
                <a:off x="3290570" y="1014095"/>
                <a:ext cx="9525" cy="36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4076700" y="2223770"/>
              <a:ext cx="9525" cy="360"/>
            </p14:xfrm>
          </p:contentPart>
        </mc:Choice>
        <mc:Fallback xmlns="">
          <p:pic>
            <p:nvPicPr>
              <p:cNvPr id="21" name="墨迹 20"/>
            </p:nvPicPr>
            <p:blipFill>
              <a:blip r:embed="rId34"/>
            </p:blipFill>
            <p:spPr>
              <a:xfrm>
                <a:off x="4076700" y="2223770"/>
                <a:ext cx="9525" cy="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B.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地点状语从句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2770" name="内容占位符 2"/>
          <p:cNvSpPr>
            <a:spLocks noGrp="1"/>
          </p:cNvSpPr>
          <p:nvPr>
            <p:ph idx="1"/>
          </p:nvPr>
        </p:nvSpPr>
        <p:spPr>
          <a:xfrm>
            <a:off x="433070" y="1266825"/>
            <a:ext cx="8388985" cy="3681730"/>
          </a:xfrm>
        </p:spPr>
        <p:txBody>
          <a:bodyPr/>
          <a:lstStyle/>
          <a:p>
            <a:pPr>
              <a:buFont typeface="Wingdings" panose="05000000000000000000" pitchFamily="2" charset="2"/>
              <a:buChar char="Ø"/>
            </a:pPr>
            <a:r>
              <a:rPr lang="zh-CN" altLang="en-US" smtClean="0">
                <a:solidFill>
                  <a:schemeClr val="tx2"/>
                </a:solidFill>
                <a:latin typeface="华文细黑" panose="02010600040101010101" charset="-122"/>
                <a:ea typeface="华文细黑" panose="02010600040101010101" charset="-122"/>
                <a:cs typeface="华文细黑" panose="02010600040101010101" charset="-122"/>
              </a:rPr>
              <a:t>引导词：</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where; wherever; no matter where </a:t>
            </a:r>
            <a:r>
              <a:rPr lang="en-US" altLang="zh-CN" smtClean="0">
                <a:solidFill>
                  <a:schemeClr val="tx1"/>
                </a:solidFill>
                <a:latin typeface="华文细黑" panose="02010600040101010101" charset="-122"/>
                <a:ea typeface="华文细黑" panose="02010600040101010101" charset="-122"/>
                <a:cs typeface="华文细黑" panose="02010600040101010101" charset="-122"/>
                <a:sym typeface="+mn-ea"/>
              </a:rPr>
              <a:t>  </a:t>
            </a:r>
            <a:r>
              <a:rPr lang="zh-CN" altLang="en-US" smtClean="0">
                <a:solidFill>
                  <a:schemeClr val="tx1"/>
                </a:solidFill>
                <a:latin typeface="华文细黑" panose="02010600040101010101" charset="-122"/>
                <a:ea typeface="华文细黑" panose="02010600040101010101" charset="-122"/>
                <a:cs typeface="华文细黑" panose="02010600040101010101" charset="-122"/>
                <a:sym typeface="+mn-ea"/>
              </a:rPr>
              <a:t>在</a:t>
            </a:r>
            <a:r>
              <a:rPr lang="en-US" altLang="zh-CN" smtClean="0">
                <a:solidFill>
                  <a:schemeClr val="tx1"/>
                </a:solidFill>
                <a:latin typeface="华文细黑" panose="02010600040101010101" charset="-122"/>
                <a:ea typeface="华文细黑" panose="02010600040101010101" charset="-122"/>
                <a:cs typeface="华文细黑" panose="02010600040101010101" charset="-122"/>
                <a:sym typeface="+mn-ea"/>
              </a:rPr>
              <a:t>……</a:t>
            </a:r>
            <a:r>
              <a:rPr lang="zh-CN" altLang="en-US" smtClean="0">
                <a:solidFill>
                  <a:schemeClr val="tx1"/>
                </a:solidFill>
                <a:latin typeface="华文细黑" panose="02010600040101010101" charset="-122"/>
                <a:ea typeface="华文细黑" panose="02010600040101010101" charset="-122"/>
                <a:cs typeface="华文细黑" panose="02010600040101010101" charset="-122"/>
                <a:sym typeface="+mn-ea"/>
              </a:rPr>
              <a:t>的地方</a:t>
            </a:r>
            <a:endParaRPr lang="en-US" altLang="zh-CN" smtClean="0">
              <a:solidFill>
                <a:schemeClr val="tx2"/>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rPr>
              <a:t>Where there is a will, there is a way.</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Wherever you go, I will go with you.</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I picked five dollars where you did your homework.</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I had lunch where you studied English. </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I like the place where you study IELTS</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Graduates should settle down in the city where they can fully develop theirr potential. </a:t>
            </a:r>
            <a:endParaRPr lang="zh-CN" altLang="en-US">
              <a:solidFill>
                <a:schemeClr val="tx1"/>
              </a:solidFill>
            </a:endParaRPr>
          </a:p>
          <a:p>
            <a:pPr algn="l">
              <a:buClrTx/>
              <a:buSzTx/>
              <a:buFont typeface="Wingdings" panose="05000000000000000000" pitchFamily="2" charset="2"/>
              <a:buChar char="Ø"/>
            </a:pPr>
            <a:endParaRPr lang="zh-CN" altLang="en-US">
              <a:solidFill>
                <a:schemeClr val="tx1"/>
              </a:solidFill>
            </a:endParaRPr>
          </a:p>
          <a:p>
            <a:pPr>
              <a:buFont typeface="Wingdings" panose="05000000000000000000" pitchFamily="2" charset="2"/>
              <a:buChar char="Ø"/>
            </a:pPr>
            <a:endParaRPr lang="en-US" altLang="zh-CN" smtClean="0">
              <a:solidFill>
                <a:srgbClr val="00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endParaRPr lang="en-US" altLang="zh-CN"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endParaRPr lang="zh-CN" altLang="en-US"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 calcmode="lin" valueType="num">
                                      <p:cBhvr additive="base">
                                        <p:cTn id="7" dur="500" fill="hold"/>
                                        <p:tgtEl>
                                          <p:spTgt spid="327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0">
                                            <p:txEl>
                                              <p:pRg st="1" end="1"/>
                                            </p:txEl>
                                          </p:spTgt>
                                        </p:tgtEl>
                                        <p:attrNameLst>
                                          <p:attrName>style.visibility</p:attrName>
                                        </p:attrNameLst>
                                      </p:cBhvr>
                                      <p:to>
                                        <p:strVal val="visible"/>
                                      </p:to>
                                    </p:set>
                                    <p:anim calcmode="lin" valueType="num">
                                      <p:cBhvr additive="base">
                                        <p:cTn id="13" dur="500" fill="hold"/>
                                        <p:tgtEl>
                                          <p:spTgt spid="327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0">
                                            <p:txEl>
                                              <p:pRg st="2" end="2"/>
                                            </p:txEl>
                                          </p:spTgt>
                                        </p:tgtEl>
                                        <p:attrNameLst>
                                          <p:attrName>style.visibility</p:attrName>
                                        </p:attrNameLst>
                                      </p:cBhvr>
                                      <p:to>
                                        <p:strVal val="visible"/>
                                      </p:to>
                                    </p:set>
                                    <p:anim calcmode="lin" valueType="num">
                                      <p:cBhvr additive="base">
                                        <p:cTn id="19" dur="500" fill="hold"/>
                                        <p:tgtEl>
                                          <p:spTgt spid="327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770">
                                            <p:txEl>
                                              <p:pRg st="3" end="3"/>
                                            </p:txEl>
                                          </p:spTgt>
                                        </p:tgtEl>
                                        <p:attrNameLst>
                                          <p:attrName>style.visibility</p:attrName>
                                        </p:attrNameLst>
                                      </p:cBhvr>
                                      <p:to>
                                        <p:strVal val="visible"/>
                                      </p:to>
                                    </p:set>
                                    <p:anim calcmode="lin" valueType="num">
                                      <p:cBhvr additive="base">
                                        <p:cTn id="25" dur="500" fill="hold"/>
                                        <p:tgtEl>
                                          <p:spTgt spid="3277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770">
                                            <p:txEl>
                                              <p:pRg st="4" end="4"/>
                                            </p:txEl>
                                          </p:spTgt>
                                        </p:tgtEl>
                                        <p:attrNameLst>
                                          <p:attrName>style.visibility</p:attrName>
                                        </p:attrNameLst>
                                      </p:cBhvr>
                                      <p:to>
                                        <p:strVal val="visible"/>
                                      </p:to>
                                    </p:set>
                                    <p:anim calcmode="lin" valueType="num">
                                      <p:cBhvr additive="base">
                                        <p:cTn id="31" dur="500" fill="hold"/>
                                        <p:tgtEl>
                                          <p:spTgt spid="3277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770">
                                            <p:txEl>
                                              <p:pRg st="5" end="5"/>
                                            </p:txEl>
                                          </p:spTgt>
                                        </p:tgtEl>
                                        <p:attrNameLst>
                                          <p:attrName>style.visibility</p:attrName>
                                        </p:attrNameLst>
                                      </p:cBhvr>
                                      <p:to>
                                        <p:strVal val="visible"/>
                                      </p:to>
                                    </p:set>
                                    <p:anim calcmode="lin" valueType="num">
                                      <p:cBhvr additive="base">
                                        <p:cTn id="37" dur="500" fill="hold"/>
                                        <p:tgtEl>
                                          <p:spTgt spid="3277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77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2770">
                                            <p:txEl>
                                              <p:pRg st="6" end="6"/>
                                            </p:txEl>
                                          </p:spTgt>
                                        </p:tgtEl>
                                        <p:attrNameLst>
                                          <p:attrName>style.visibility</p:attrName>
                                        </p:attrNameLst>
                                      </p:cBhvr>
                                      <p:to>
                                        <p:strVal val="visible"/>
                                      </p:to>
                                    </p:set>
                                    <p:anim calcmode="lin" valueType="num">
                                      <p:cBhvr additive="base">
                                        <p:cTn id="43" dur="500" fill="hold"/>
                                        <p:tgtEl>
                                          <p:spTgt spid="3277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277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C.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条件状语从句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3794" name="内容占位符 2"/>
          <p:cNvSpPr>
            <a:spLocks noGrp="1"/>
          </p:cNvSpPr>
          <p:nvPr>
            <p:ph idx="1"/>
          </p:nvPr>
        </p:nvSpPr>
        <p:spPr>
          <a:xfrm>
            <a:off x="323850" y="1275080"/>
            <a:ext cx="8565515" cy="3566795"/>
          </a:xfrm>
        </p:spPr>
        <p:txBody>
          <a:bodyPr/>
          <a:lstStyle/>
          <a:p>
            <a:pPr>
              <a:buFont typeface="Wingdings" panose="05000000000000000000" pitchFamily="2" charset="2"/>
              <a:buChar char="Ø"/>
            </a:pPr>
            <a:r>
              <a:rPr lang="zh-CN" altLang="en-US" smtClean="0">
                <a:solidFill>
                  <a:schemeClr val="tx2"/>
                </a:solidFill>
                <a:latin typeface="华文细黑" panose="02010600040101010101" charset="-122"/>
                <a:ea typeface="华文细黑" panose="02010600040101010101" charset="-122"/>
                <a:cs typeface="华文细黑" panose="02010600040101010101" charset="-122"/>
              </a:rPr>
              <a:t>引导词：</a:t>
            </a:r>
            <a:r>
              <a:rPr lang="en-US" altLang="zh-CN" smtClean="0">
                <a:solidFill>
                  <a:srgbClr val="FF0000"/>
                </a:solidFill>
                <a:latin typeface="华文细黑" panose="02010600040101010101" charset="-122"/>
                <a:ea typeface="华文细黑" panose="02010600040101010101" charset="-122"/>
                <a:cs typeface="华文细黑" panose="02010600040101010101" charset="-122"/>
              </a:rPr>
              <a:t>if, unless</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 as long as</a:t>
            </a:r>
            <a:endParaRPr lang="en-US" altLang="zh-CN" smtClean="0">
              <a:solidFill>
                <a:schemeClr val="tx2"/>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sym typeface="+mn-ea"/>
              </a:rPr>
              <a:t>In conclusion, the problem can be solved as long as the above-mentioned solutions are taken.</a:t>
            </a:r>
            <a:r>
              <a:rPr lang="zh-CN" altLang="en-US" sz="1800">
                <a:solidFill>
                  <a:schemeClr val="tx1"/>
                </a:solidFill>
                <a:sym typeface="+mn-ea"/>
              </a:rPr>
              <a:t> (报告类 原因+解决方法)</a:t>
            </a:r>
            <a:endParaRPr lang="zh-CN" altLang="en-US" sz="1800">
              <a:solidFill>
                <a:schemeClr val="tx1"/>
              </a:solidFill>
              <a:sym typeface="+mn-ea"/>
            </a:endParaRPr>
          </a:p>
          <a:p>
            <a:pPr algn="l">
              <a:buClrTx/>
              <a:buSzTx/>
              <a:buFont typeface="Wingdings" panose="05000000000000000000" pitchFamily="2" charset="2"/>
              <a:buChar char="Ø"/>
            </a:pPr>
            <a:r>
              <a:rPr lang="zh-CN" altLang="en-US" sz="1600">
                <a:solidFill>
                  <a:schemeClr val="tx1"/>
                </a:solidFill>
              </a:rPr>
              <a:t>如果家长在使用电子设备方面给孩子树立一个好的榜样，那么他们将更加有效地控制孩子们的屏幕时长。</a:t>
            </a:r>
            <a:endParaRPr lang="zh-CN" altLang="en-US" sz="1600">
              <a:solidFill>
                <a:schemeClr val="tx1"/>
              </a:solidFill>
            </a:endParaRPr>
          </a:p>
          <a:p>
            <a:pPr algn="l">
              <a:buClrTx/>
              <a:buSzTx/>
              <a:buFont typeface="Wingdings" panose="05000000000000000000" pitchFamily="2" charset="2"/>
              <a:buChar char="Ø"/>
            </a:pPr>
            <a:r>
              <a:rPr lang="zh-CN" altLang="en-US">
                <a:solidFill>
                  <a:schemeClr val="tx1"/>
                </a:solidFill>
              </a:rPr>
              <a:t>If the parents can set a good example for the children in using electronic devices, then they will control children’s screen time more effectively..</a:t>
            </a:r>
            <a:endParaRPr lang="zh-CN" altLang="en-US">
              <a:solidFill>
                <a:schemeClr val="tx1"/>
              </a:solidFill>
            </a:endParaRPr>
          </a:p>
          <a:p>
            <a:pPr algn="l">
              <a:buClrTx/>
              <a:buSzTx/>
              <a:buFont typeface="Wingdings" panose="05000000000000000000" pitchFamily="2" charset="2"/>
              <a:buChar char="Ø"/>
            </a:pPr>
            <a:endParaRPr lang="zh-CN" altLang="en-US">
              <a:solidFill>
                <a:schemeClr val="tx1"/>
              </a:solidFill>
            </a:endParaRPr>
          </a:p>
          <a:p>
            <a:pPr>
              <a:buFont typeface="Wingdings" panose="05000000000000000000" pitchFamily="2" charset="2"/>
              <a:buChar char="Ø"/>
            </a:pPr>
            <a:endParaRPr lang="en-US" altLang="zh-CN"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endParaRPr lang="zh-CN" altLang="en-US"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 calcmode="lin" valueType="num">
                                      <p:cBhvr additive="base">
                                        <p:cTn id="7" dur="500" fill="hold"/>
                                        <p:tgtEl>
                                          <p:spTgt spid="337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794">
                                            <p:txEl>
                                              <p:pRg st="1" end="1"/>
                                            </p:txEl>
                                          </p:spTgt>
                                        </p:tgtEl>
                                        <p:attrNameLst>
                                          <p:attrName>style.visibility</p:attrName>
                                        </p:attrNameLst>
                                      </p:cBhvr>
                                      <p:to>
                                        <p:strVal val="visible"/>
                                      </p:to>
                                    </p:set>
                                    <p:anim calcmode="lin" valueType="num">
                                      <p:cBhvr additive="base">
                                        <p:cTn id="13" dur="500" fill="hold"/>
                                        <p:tgtEl>
                                          <p:spTgt spid="337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3794">
                                            <p:txEl>
                                              <p:pRg st="2" end="2"/>
                                            </p:txEl>
                                          </p:spTgt>
                                        </p:tgtEl>
                                        <p:attrNameLst>
                                          <p:attrName>style.visibility</p:attrName>
                                        </p:attrNameLst>
                                      </p:cBhvr>
                                      <p:to>
                                        <p:strVal val="visible"/>
                                      </p:to>
                                    </p:set>
                                    <p:anim calcmode="lin" valueType="num">
                                      <p:cBhvr additive="base">
                                        <p:cTn id="19" dur="500" fill="hold"/>
                                        <p:tgtEl>
                                          <p:spTgt spid="337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37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3794">
                                            <p:txEl>
                                              <p:pRg st="3" end="3"/>
                                            </p:txEl>
                                          </p:spTgt>
                                        </p:tgtEl>
                                        <p:attrNameLst>
                                          <p:attrName>style.visibility</p:attrName>
                                        </p:attrNameLst>
                                      </p:cBhvr>
                                      <p:to>
                                        <p:strVal val="visible"/>
                                      </p:to>
                                    </p:set>
                                    <p:anim calcmode="lin" valueType="num">
                                      <p:cBhvr additive="base">
                                        <p:cTn id="25" dur="500" fill="hold"/>
                                        <p:tgtEl>
                                          <p:spTgt spid="337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条件状语从句</a:t>
            </a:r>
            <a:r>
              <a:rPr lang="en-US" altLang="zh-CN" sz="2400">
                <a:solidFill>
                  <a:schemeClr val="tx1"/>
                </a:solidFill>
              </a:rPr>
              <a:t>&amp;</a:t>
            </a:r>
            <a:r>
              <a:rPr lang="zh-CN" altLang="en-US" sz="2400">
                <a:solidFill>
                  <a:schemeClr val="tx1"/>
                </a:solidFill>
              </a:rPr>
              <a:t>虚拟语气</a:t>
            </a:r>
            <a:endParaRPr lang="zh-CN" altLang="en-US" sz="2400">
              <a:solidFill>
                <a:schemeClr val="tx1"/>
              </a:solidFill>
            </a:endParaRPr>
          </a:p>
        </p:txBody>
      </p:sp>
      <p:sp>
        <p:nvSpPr>
          <p:cNvPr id="3" name="内容占位符 2"/>
          <p:cNvSpPr>
            <a:spLocks noGrp="1"/>
          </p:cNvSpPr>
          <p:nvPr>
            <p:ph idx="1"/>
          </p:nvPr>
        </p:nvSpPr>
        <p:spPr/>
        <p:txBody>
          <a:bodyPr/>
          <a:lstStyle/>
          <a:p>
            <a:pPr>
              <a:lnSpc>
                <a:spcPct val="140000"/>
              </a:lnSpc>
            </a:pPr>
            <a:r>
              <a:rPr lang="zh-CN" altLang="en-US" sz="1600">
                <a:solidFill>
                  <a:schemeClr val="tx1"/>
                </a:solidFill>
              </a:rPr>
              <a:t>如果我去公园，我会心情很好。</a:t>
            </a:r>
            <a:endParaRPr lang="zh-CN" altLang="en-US" sz="1600">
              <a:solidFill>
                <a:schemeClr val="tx1"/>
              </a:solidFill>
            </a:endParaRPr>
          </a:p>
          <a:p>
            <a:pPr>
              <a:lnSpc>
                <a:spcPct val="140000"/>
              </a:lnSpc>
            </a:pPr>
            <a:r>
              <a:rPr lang="zh-CN" altLang="en-US" sz="1600">
                <a:solidFill>
                  <a:schemeClr val="tx1"/>
                </a:solidFill>
              </a:rPr>
              <a:t>如果他请你吃饭，我请你吃一年。</a:t>
            </a:r>
            <a:endParaRPr lang="zh-CN" altLang="en-US" sz="1600">
              <a:solidFill>
                <a:schemeClr val="tx1"/>
              </a:solidFill>
            </a:endParaRPr>
          </a:p>
          <a:p>
            <a:pPr>
              <a:lnSpc>
                <a:spcPct val="140000"/>
              </a:lnSpc>
            </a:pPr>
            <a:r>
              <a:rPr lang="zh-CN" altLang="en-US" sz="1600">
                <a:solidFill>
                  <a:schemeClr val="tx1"/>
                </a:solidFill>
              </a:rPr>
              <a:t>如果妈妈晚上做饭，我就多吃一碗。</a:t>
            </a:r>
            <a:endParaRPr lang="zh-CN" altLang="en-US" sz="1600">
              <a:solidFill>
                <a:schemeClr val="tx1"/>
              </a:solidFill>
            </a:endParaRPr>
          </a:p>
          <a:p>
            <a:pPr>
              <a:lnSpc>
                <a:spcPct val="140000"/>
              </a:lnSpc>
            </a:pPr>
            <a:r>
              <a:rPr lang="zh-CN" altLang="en-US" sz="1600">
                <a:solidFill>
                  <a:schemeClr val="tx1"/>
                </a:solidFill>
              </a:rPr>
              <a:t>如果妈妈晚上做饭，我就把碗吃了。</a:t>
            </a:r>
            <a:endParaRPr lang="zh-CN" altLang="en-US" sz="16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284" y="628002"/>
            <a:ext cx="5357850" cy="500066"/>
          </a:xfrm>
        </p:spPr>
        <p:txBody>
          <a:bodyPr/>
          <a:lstStyle/>
          <a:p>
            <a:r>
              <a:rPr lang="zh-CN" altLang="en-US">
                <a:solidFill>
                  <a:schemeClr val="tx1"/>
                </a:solidFill>
              </a:rPr>
              <a:t>虚拟语气</a:t>
            </a:r>
            <a:endParaRPr lang="zh-CN" altLang="en-US">
              <a:solidFill>
                <a:schemeClr val="tx1"/>
              </a:solidFill>
            </a:endParaRPr>
          </a:p>
        </p:txBody>
      </p:sp>
      <p:sp>
        <p:nvSpPr>
          <p:cNvPr id="3" name="内容占位符 2"/>
          <p:cNvSpPr>
            <a:spLocks noGrp="1"/>
          </p:cNvSpPr>
          <p:nvPr>
            <p:ph idx="1"/>
          </p:nvPr>
        </p:nvSpPr>
        <p:spPr>
          <a:xfrm>
            <a:off x="315595" y="1215390"/>
            <a:ext cx="8665210" cy="3676015"/>
          </a:xfrm>
        </p:spPr>
        <p:txBody>
          <a:bodyPr/>
          <a:lstStyle/>
          <a:p>
            <a:pPr>
              <a:lnSpc>
                <a:spcPct val="110000"/>
              </a:lnSpc>
            </a:pPr>
            <a:r>
              <a:rPr lang="zh-CN" altLang="en-US" sz="2000" dirty="0">
                <a:solidFill>
                  <a:schemeClr val="tx1"/>
                </a:solidFill>
              </a:rPr>
              <a:t>虚拟语气：表示不太可能发生的事或者与现在事实相反的事。</a:t>
            </a:r>
            <a:endParaRPr lang="zh-CN" altLang="en-US" sz="2000" dirty="0">
              <a:solidFill>
                <a:schemeClr val="tx1"/>
              </a:solidFill>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If....did/were....,...would/could/might......</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If I were a m</a:t>
            </a:r>
            <a:r>
              <a:rPr sz="1800">
                <a:solidFill>
                  <a:schemeClr val="tx1"/>
                </a:solidFill>
                <a:cs typeface="微软雅黑" panose="020B0503020204020204" charset="-122"/>
              </a:rPr>
              <a:t>a</a:t>
            </a:r>
            <a:r>
              <a:rPr lang="zh-CN" altLang="en-US" sz="1800">
                <a:solidFill>
                  <a:schemeClr val="tx1"/>
                </a:solidFill>
                <a:cs typeface="微软雅黑" panose="020B0503020204020204" charset="-122"/>
              </a:rPr>
              <a:t>n, I would</a:t>
            </a:r>
            <a:r>
              <a:rPr sz="1800">
                <a:solidFill>
                  <a:schemeClr val="tx1"/>
                </a:solidFill>
                <a:cs typeface="微软雅黑" panose="020B0503020204020204" charset="-122"/>
              </a:rPr>
              <a:t> serve the army.</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sz="1800">
                <a:solidFill>
                  <a:schemeClr val="tx1"/>
                </a:solidFill>
                <a:cs typeface="微软雅黑" panose="020B0503020204020204" charset="-122"/>
              </a:rPr>
              <a:t>If I were a woman, I would wear dresses rather than pants.</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口语中常见虚拟语气</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sz="1800">
                <a:solidFill>
                  <a:schemeClr val="tx1"/>
                </a:solidFill>
                <a:cs typeface="微软雅黑" panose="020B0503020204020204" charset="-122"/>
              </a:rPr>
              <a:t>If I were you, I would......</a:t>
            </a:r>
            <a:endParaRPr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sz="1800">
                <a:solidFill>
                  <a:schemeClr val="tx1"/>
                </a:solidFill>
                <a:cs typeface="微软雅黑" panose="020B0503020204020204" charset="-122"/>
              </a:rPr>
              <a:t>If I were somebody, I would.......</a:t>
            </a:r>
            <a:endParaRPr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sz="1800">
                <a:solidFill>
                  <a:schemeClr val="tx1"/>
                </a:solidFill>
                <a:cs typeface="微软雅黑" panose="020B0503020204020204" charset="-122"/>
              </a:rPr>
              <a:t>If I had enough time/money, I would......</a:t>
            </a:r>
            <a:endParaRPr lang="zh-CN" altLang="en-US" sz="1800">
              <a:solidFill>
                <a:schemeClr val="tx1"/>
              </a:solidFill>
              <a:cs typeface="微软雅黑" panose="020B0503020204020204" charset="-122"/>
            </a:endParaRPr>
          </a:p>
          <a:p>
            <a:endParaRPr lang="zh-CN" altLang="en-US"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D.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原因状语从句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4818" name="内容占位符 2"/>
          <p:cNvSpPr>
            <a:spLocks noGrp="1"/>
          </p:cNvSpPr>
          <p:nvPr>
            <p:ph idx="1"/>
          </p:nvPr>
        </p:nvSpPr>
        <p:spPr>
          <a:xfrm>
            <a:off x="249238" y="1203325"/>
            <a:ext cx="8716962" cy="3940175"/>
          </a:xfrm>
        </p:spPr>
        <p:txBody>
          <a:bodyPr/>
          <a:lstStyle/>
          <a:p>
            <a:pPr>
              <a:buFont typeface="Wingdings" panose="05000000000000000000" pitchFamily="2" charset="2"/>
              <a:buChar char="Ø"/>
            </a:pPr>
            <a:r>
              <a:rPr lang="zh-CN" altLang="en-US" smtClean="0">
                <a:solidFill>
                  <a:schemeClr val="tx2"/>
                </a:solidFill>
                <a:latin typeface="华文细黑" panose="02010600040101010101" charset="-122"/>
                <a:ea typeface="华文细黑" panose="02010600040101010101" charset="-122"/>
                <a:cs typeface="华文细黑" panose="02010600040101010101" charset="-122"/>
              </a:rPr>
              <a:t>引导词：</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because, </a:t>
            </a:r>
            <a:r>
              <a:rPr lang="en-US" altLang="zh-CN" smtClean="0">
                <a:solidFill>
                  <a:schemeClr val="tx2"/>
                </a:solidFill>
                <a:latin typeface="华文细黑" panose="02010600040101010101" charset="-122"/>
                <a:ea typeface="华文细黑" panose="02010600040101010101" charset="-122"/>
                <a:cs typeface="华文细黑" panose="02010600040101010101" charset="-122"/>
                <a:sym typeface="+mn-ea"/>
              </a:rPr>
              <a:t>since, as</a:t>
            </a:r>
            <a:endParaRPr lang="en-US" altLang="zh-CN" smtClean="0">
              <a:solidFill>
                <a:schemeClr val="tx2"/>
              </a:solidFill>
              <a:latin typeface="华文细黑" panose="02010600040101010101" charset="-122"/>
              <a:ea typeface="华文细黑" panose="02010600040101010101" charset="-122"/>
              <a:cs typeface="华文细黑" panose="02010600040101010101" charset="-122"/>
              <a:sym typeface="+mn-ea"/>
            </a:endParaRPr>
          </a:p>
          <a:p>
            <a:pPr>
              <a:buFont typeface="Wingdings" panose="05000000000000000000" pitchFamily="2" charset="2"/>
              <a:buChar char="Ø"/>
            </a:pPr>
            <a:r>
              <a:rPr lang="en-US" altLang="zh-CN" smtClean="0">
                <a:solidFill>
                  <a:schemeClr val="tx1"/>
                </a:solidFill>
                <a:latin typeface="华文细黑" panose="02010600040101010101" charset="-122"/>
                <a:ea typeface="华文细黑" panose="02010600040101010101" charset="-122"/>
                <a:cs typeface="华文细黑" panose="02010600040101010101" charset="-122"/>
              </a:rPr>
              <a:t>because</a:t>
            </a: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语气最强，用来回答</a:t>
            </a:r>
            <a:r>
              <a:rPr lang="en-US" altLang="zh-CN" smtClean="0">
                <a:solidFill>
                  <a:schemeClr val="tx1"/>
                </a:solidFill>
                <a:latin typeface="华文细黑" panose="02010600040101010101" charset="-122"/>
                <a:ea typeface="华文细黑" panose="02010600040101010101" charset="-122"/>
                <a:cs typeface="华文细黑" panose="02010600040101010101" charset="-122"/>
              </a:rPr>
              <a:t>why; since &amp;as </a:t>
            </a: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表示明显的原因，常放在</a:t>
            </a: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句首。</a:t>
            </a:r>
            <a:endParaRPr lang="zh-CN" altLang="en-US" smtClean="0">
              <a:solidFill>
                <a:schemeClr val="tx1"/>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rPr>
              <a:t>He is ill </a:t>
            </a:r>
            <a:r>
              <a:rPr lang="zh-CN" altLang="en-US" u="sng">
                <a:solidFill>
                  <a:schemeClr val="tx1"/>
                </a:solidFill>
              </a:rPr>
              <a:t>because he had a cold water shower yesterday</a:t>
            </a:r>
            <a:r>
              <a:rPr lang="zh-CN" altLang="en-US">
                <a:solidFill>
                  <a:schemeClr val="tx1"/>
                </a:solidFill>
              </a:rPr>
              <a:t>.</a:t>
            </a:r>
            <a:endParaRPr lang="zh-CN" altLang="en-US">
              <a:solidFill>
                <a:schemeClr val="tx1"/>
              </a:solidFill>
            </a:endParaRPr>
          </a:p>
          <a:p>
            <a:pPr algn="l">
              <a:buClrTx/>
              <a:buSzTx/>
              <a:buFont typeface="Wingdings" panose="05000000000000000000" pitchFamily="2" charset="2"/>
              <a:buChar char="Ø"/>
            </a:pPr>
            <a:r>
              <a:rPr lang="zh-CN" altLang="en-US" u="sng">
                <a:solidFill>
                  <a:schemeClr val="tx1"/>
                </a:solidFill>
              </a:rPr>
              <a:t>As/since he is ill</a:t>
            </a:r>
            <a:r>
              <a:rPr lang="zh-CN" altLang="en-US">
                <a:solidFill>
                  <a:schemeClr val="tx1"/>
                </a:solidFill>
              </a:rPr>
              <a:t>, we should not arrange him to do outdoor work.</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An increasing amount of teenagers prefer to buy famous brands </a:t>
            </a:r>
            <a:r>
              <a:rPr lang="zh-CN" altLang="en-US" u="sng">
                <a:solidFill>
                  <a:schemeClr val="tx1"/>
                </a:solidFill>
              </a:rPr>
              <a:t>because they are seirouly affeced by advertisments.</a:t>
            </a:r>
            <a:endParaRPr lang="zh-CN" altLang="en-US" u="sng">
              <a:solidFill>
                <a:schemeClr val="tx1"/>
              </a:solidFill>
            </a:endParaRPr>
          </a:p>
          <a:p>
            <a:pPr algn="l">
              <a:buClrTx/>
              <a:buSzTx/>
              <a:buFont typeface="Wingdings" panose="05000000000000000000" pitchFamily="2" charset="2"/>
              <a:buChar char="Ø"/>
            </a:pPr>
            <a:r>
              <a:rPr lang="zh-CN" altLang="en-US" u="sng">
                <a:solidFill>
                  <a:schemeClr val="tx1"/>
                </a:solidFill>
              </a:rPr>
              <a:t>Since/as parents do not teach their children what to do</a:t>
            </a:r>
            <a:r>
              <a:rPr lang="zh-CN" altLang="en-US">
                <a:solidFill>
                  <a:schemeClr val="tx1"/>
                </a:solidFill>
              </a:rPr>
              <a:t>, the modern media would perform this function.  </a:t>
            </a: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E.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结果状语从句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5842" name="内容占位符 2"/>
          <p:cNvSpPr>
            <a:spLocks noGrp="1"/>
          </p:cNvSpPr>
          <p:nvPr>
            <p:ph idx="1"/>
          </p:nvPr>
        </p:nvSpPr>
        <p:spPr>
          <a:xfrm>
            <a:off x="223520" y="1277620"/>
            <a:ext cx="8742680" cy="3865880"/>
          </a:xfrm>
        </p:spPr>
        <p:txBody>
          <a:bodyPr/>
          <a:lstStyle/>
          <a:p>
            <a:pPr>
              <a:buFont typeface="Wingdings" panose="05000000000000000000" pitchFamily="2" charset="2"/>
              <a:buChar char="Ø"/>
            </a:pPr>
            <a:r>
              <a:rPr lang="zh-CN" altLang="en-US" smtClean="0">
                <a:solidFill>
                  <a:schemeClr val="tx2"/>
                </a:solidFill>
                <a:latin typeface="华文细黑" panose="02010600040101010101" charset="-122"/>
                <a:ea typeface="华文细黑" panose="02010600040101010101" charset="-122"/>
                <a:cs typeface="华文细黑" panose="02010600040101010101" charset="-122"/>
              </a:rPr>
              <a:t>引导词：</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so that</a:t>
            </a:r>
            <a:endParaRPr lang="en-US" altLang="zh-CN" smtClean="0">
              <a:solidFill>
                <a:schemeClr val="tx2"/>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rPr>
              <a:t>The overuse of phones has seriously affected our public life so that some people begin to compare it with smoking.</a:t>
            </a:r>
            <a:endParaRPr lang="zh-CN" altLang="en-US">
              <a:solidFill>
                <a:schemeClr val="tx1"/>
              </a:solidFill>
            </a:endParaRPr>
          </a:p>
          <a:p>
            <a:pPr algn="l">
              <a:buClrTx/>
              <a:buSzTx/>
              <a:buFont typeface="Wingdings" panose="05000000000000000000" pitchFamily="2" charset="2"/>
              <a:buChar char="Ø"/>
            </a:pPr>
            <a:endParaRPr lang="zh-CN" altLang="en-US">
              <a:solidFill>
                <a:schemeClr val="tx1"/>
              </a:solidFill>
            </a:endParaRPr>
          </a:p>
          <a:p>
            <a:pPr algn="l">
              <a:buClrTx/>
              <a:buSzTx/>
              <a:buFont typeface="Wingdings" panose="05000000000000000000" pitchFamily="2" charset="2"/>
              <a:buChar char="Ø"/>
            </a:pP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F.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目的状语从句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6866" name="内容占位符 2"/>
          <p:cNvSpPr>
            <a:spLocks noGrp="1"/>
          </p:cNvSpPr>
          <p:nvPr>
            <p:ph idx="1"/>
          </p:nvPr>
        </p:nvSpPr>
        <p:spPr>
          <a:xfrm>
            <a:off x="238125" y="1318895"/>
            <a:ext cx="8728075" cy="3824605"/>
          </a:xfrm>
        </p:spPr>
        <p:txBody>
          <a:bodyPr/>
          <a:lstStyle/>
          <a:p>
            <a:pPr>
              <a:buFont typeface="Wingdings" panose="05000000000000000000" pitchFamily="2" charset="2"/>
              <a:buChar char="Ø"/>
            </a:pPr>
            <a:r>
              <a:rPr lang="zh-CN" altLang="en-US" smtClean="0">
                <a:solidFill>
                  <a:schemeClr val="tx2"/>
                </a:solidFill>
                <a:latin typeface="华文细黑" panose="02010600040101010101" charset="-122"/>
                <a:ea typeface="华文细黑" panose="02010600040101010101" charset="-122"/>
                <a:cs typeface="华文细黑" panose="02010600040101010101" charset="-122"/>
              </a:rPr>
              <a:t>引导词：</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in order that</a:t>
            </a:r>
            <a:endParaRPr lang="en-US" altLang="zh-CN" smtClean="0">
              <a:solidFill>
                <a:schemeClr val="tx2"/>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rPr>
              <a:t>They set out early in order that they can arrive at the station on time. </a:t>
            </a: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G.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让步状语从句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7890" name="内容占位符 2"/>
          <p:cNvSpPr>
            <a:spLocks noGrp="1"/>
          </p:cNvSpPr>
          <p:nvPr>
            <p:ph idx="1"/>
          </p:nvPr>
        </p:nvSpPr>
        <p:spPr>
          <a:xfrm>
            <a:off x="249238" y="1203325"/>
            <a:ext cx="8716962" cy="3940175"/>
          </a:xfrm>
        </p:spPr>
        <p:txBody>
          <a:bodyPr/>
          <a:lstStyle/>
          <a:p>
            <a:pPr>
              <a:buFont typeface="Wingdings" panose="05000000000000000000" pitchFamily="2" charset="2"/>
              <a:buChar char="Ø"/>
            </a:pPr>
            <a:r>
              <a:rPr lang="zh-CN" altLang="en-US" smtClean="0">
                <a:solidFill>
                  <a:schemeClr val="tx2"/>
                </a:solidFill>
                <a:latin typeface="华文细黑" panose="02010600040101010101" charset="-122"/>
                <a:ea typeface="华文细黑" panose="02010600040101010101" charset="-122"/>
                <a:cs typeface="华文细黑" panose="02010600040101010101" charset="-122"/>
              </a:rPr>
              <a:t>引导词：</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although, while, Despite+n,........</a:t>
            </a:r>
            <a:endParaRPr lang="en-US" altLang="zh-CN" smtClean="0">
              <a:solidFill>
                <a:srgbClr val="FF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endParaRPr lang="en-US" altLang="zh-CN"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lgn="l" eaLnBrk="1" hangingPunct="1">
              <a:lnSpc>
                <a:spcPct val="150000"/>
              </a:lnSpc>
              <a:spcBef>
                <a:spcPct val="20000"/>
              </a:spcBef>
              <a:buClrTx/>
              <a:buSzTx/>
              <a:buFont typeface="Wingdings" panose="05000000000000000000" pitchFamily="2" charset="2"/>
              <a:buNone/>
            </a:pPr>
            <a:r>
              <a:rPr lang="zh-CN" altLang="en-US" sz="2000">
                <a:solidFill>
                  <a:schemeClr val="tx1"/>
                </a:solidFill>
                <a:latin typeface="+mn-lt"/>
                <a:ea typeface="+mn-ea"/>
              </a:rPr>
              <a:t>改写方法--换主语</a:t>
            </a:r>
            <a:endParaRPr lang="zh-CN" altLang="en-US" sz="2000">
              <a:solidFill>
                <a:schemeClr val="tx1"/>
              </a:solidFill>
              <a:latin typeface="+mn-lt"/>
              <a:ea typeface="+mn-ea"/>
            </a:endParaRPr>
          </a:p>
        </p:txBody>
      </p:sp>
      <p:sp>
        <p:nvSpPr>
          <p:cNvPr id="3" name="内容占位符 2"/>
          <p:cNvSpPr>
            <a:spLocks noGrp="1"/>
          </p:cNvSpPr>
          <p:nvPr>
            <p:ph idx="1"/>
          </p:nvPr>
        </p:nvSpPr>
        <p:spPr>
          <a:xfrm>
            <a:off x="329565" y="1404620"/>
            <a:ext cx="8357235" cy="3328035"/>
          </a:xfrm>
        </p:spPr>
        <p:txBody>
          <a:bodyPr/>
          <a:lstStyle/>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主谓宾</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宾+ be done by + 主    </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It is + adj for sb to do sth</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There be…..</a:t>
            </a:r>
            <a:endParaRPr lang="zh-CN" altLang="en-US"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zh-CN" altLang="en-US" sz="1800">
                <a:solidFill>
                  <a:schemeClr val="tx1"/>
                </a:solidFill>
                <a:cs typeface="微软雅黑" panose="020B0503020204020204" charset="-122"/>
              </a:rPr>
              <a:t>换词性  </a:t>
            </a:r>
            <a:endParaRPr lang="zh-CN" altLang="en-US" sz="1800">
              <a:solidFill>
                <a:schemeClr val="tx1"/>
              </a:solidFill>
              <a:cs typeface="微软雅黑" panose="020B0503020204020204"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p:cNvSpPr>
          <p:nvPr>
            <p:ph type="title"/>
          </p:nvPr>
        </p:nvSpPr>
        <p:spPr>
          <a:xfrm>
            <a:off x="395576" y="797545"/>
            <a:ext cx="5357812" cy="500063"/>
          </a:xfrm>
        </p:spPr>
        <p:txBody>
          <a:bodyPr/>
          <a:lstStyle/>
          <a:p>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H. </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方式状语从句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8914" name="内容占位符 2"/>
          <p:cNvSpPr>
            <a:spLocks noGrp="1"/>
          </p:cNvSpPr>
          <p:nvPr>
            <p:ph idx="1"/>
          </p:nvPr>
        </p:nvSpPr>
        <p:spPr>
          <a:xfrm>
            <a:off x="271145" y="1297940"/>
            <a:ext cx="8731250" cy="3570605"/>
          </a:xfrm>
        </p:spPr>
        <p:txBody>
          <a:bodyPr/>
          <a:lstStyle/>
          <a:p>
            <a:pPr>
              <a:buFont typeface="Wingdings" panose="05000000000000000000" pitchFamily="2" charset="2"/>
              <a:buChar char="Ø"/>
            </a:pP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rPr>
              <a:t>引导词：</a:t>
            </a:r>
            <a:r>
              <a:rPr lang="en-US" altLang="zh-CN" dirty="0" smtClean="0">
                <a:solidFill>
                  <a:schemeClr val="tx2"/>
                </a:solidFill>
                <a:latin typeface="华文细黑" panose="02010600040101010101" charset="-122"/>
                <a:ea typeface="华文细黑" panose="02010600040101010101" charset="-122"/>
                <a:cs typeface="华文细黑" panose="02010600040101010101" charset="-122"/>
              </a:rPr>
              <a:t>as, as if</a:t>
            </a:r>
            <a:endParaRPr lang="en-US" altLang="zh-CN" dirty="0" smtClean="0">
              <a:solidFill>
                <a:schemeClr val="tx2"/>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rPr>
              <a:t>When the journalist again failed to reply, the editor reluctantly published the article as it had originally been written. </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She played with him as a cat would play with a mouse.</a:t>
            </a:r>
            <a:endParaRPr lang="zh-CN" altLang="en-US">
              <a:solidFill>
                <a:schemeClr val="tx1"/>
              </a:solidFill>
            </a:endParaRPr>
          </a:p>
          <a:p>
            <a:pPr algn="l">
              <a:buClrTx/>
              <a:buSzTx/>
              <a:buFont typeface="Wingdings" panose="05000000000000000000" pitchFamily="2" charset="2"/>
              <a:buChar char="Ø"/>
            </a:pPr>
            <a:r>
              <a:rPr lang="zh-CN" altLang="en-US">
                <a:solidFill>
                  <a:schemeClr val="tx1"/>
                </a:solidFill>
              </a:rPr>
              <a:t>He talks as if he were a professor and that he knew a lot of art.</a:t>
            </a:r>
            <a:endParaRPr lang="zh-CN" altLang="en-US">
              <a:solidFill>
                <a:schemeClr val="tx1"/>
              </a:solidFill>
            </a:endParaRPr>
          </a:p>
          <a:p>
            <a:pPr algn="l">
              <a:buClrTx/>
              <a:buSzTx/>
              <a:buFont typeface="Wingdings" panose="05000000000000000000" pitchFamily="2" charset="2"/>
              <a:buChar char="Ø"/>
            </a:pP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p:cNvSpPr>
          <p:nvPr>
            <p:ph type="title"/>
          </p:nvPr>
        </p:nvSpPr>
        <p:spPr>
          <a:xfrm>
            <a:off x="500063" y="714375"/>
            <a:ext cx="5357812" cy="500063"/>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I. </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比较状语从句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9938" name="内容占位符 2"/>
          <p:cNvSpPr>
            <a:spLocks noGrp="1"/>
          </p:cNvSpPr>
          <p:nvPr>
            <p:ph idx="1"/>
          </p:nvPr>
        </p:nvSpPr>
        <p:spPr>
          <a:xfrm>
            <a:off x="249555" y="1203325"/>
            <a:ext cx="8716645" cy="3638550"/>
          </a:xfrm>
        </p:spPr>
        <p:txBody>
          <a:bodyPr/>
          <a:lstStyle/>
          <a:p>
            <a:pPr>
              <a:buFont typeface="Wingdings" panose="05000000000000000000" pitchFamily="2" charset="2"/>
              <a:buChar char="Ø"/>
            </a:pP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引导词：</a:t>
            </a:r>
            <a:r>
              <a:rPr lang="en-US" altLang="zh-CN" smtClean="0">
                <a:solidFill>
                  <a:schemeClr val="tx2"/>
                </a:solidFill>
                <a:latin typeface="华文细黑" panose="02010600040101010101" charset="-122"/>
                <a:ea typeface="华文细黑" panose="02010600040101010101" charset="-122"/>
                <a:cs typeface="华文细黑" panose="02010600040101010101" charset="-122"/>
              </a:rPr>
              <a:t>than, not so… as, the … the…, as…as…</a:t>
            </a:r>
            <a:endParaRPr lang="en-US" altLang="zh-CN" smtClean="0">
              <a:solidFill>
                <a:schemeClr val="tx2"/>
              </a:solidFill>
              <a:latin typeface="华文细黑" panose="02010600040101010101" charset="-122"/>
              <a:ea typeface="华文细黑" panose="02010600040101010101" charset="-122"/>
              <a:cs typeface="华文细黑" panose="02010600040101010101" charset="-122"/>
            </a:endParaRPr>
          </a:p>
          <a:p>
            <a:pPr algn="l">
              <a:buClrTx/>
              <a:buSzTx/>
              <a:buFont typeface="Wingdings" panose="05000000000000000000" pitchFamily="2" charset="2"/>
              <a:buChar char="Ø"/>
            </a:pPr>
            <a:r>
              <a:rPr lang="zh-CN" altLang="en-US">
                <a:solidFill>
                  <a:schemeClr val="tx1"/>
                </a:solidFill>
              </a:rPr>
              <a:t>The project was completed earlier than we had expected. </a:t>
            </a:r>
            <a:endParaRPr lang="zh-CN" altLang="en-US">
              <a:solidFill>
                <a:schemeClr val="tx1"/>
              </a:solidFill>
            </a:endParaRPr>
          </a:p>
          <a:p>
            <a:pPr algn="l">
              <a:buClrTx/>
              <a:buSzTx/>
              <a:buFont typeface="Wingdings" panose="05000000000000000000" pitchFamily="2" charset="2"/>
              <a:buChar char="Ø"/>
            </a:pP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750" y="699135"/>
            <a:ext cx="7550150" cy="500380"/>
          </a:xfrm>
        </p:spPr>
        <p:txBody>
          <a:bodyPr/>
          <a:lstStyle/>
          <a:p>
            <a:pPr algn="l">
              <a:buClrTx/>
              <a:buSzTx/>
              <a:buFontTx/>
            </a:pPr>
            <a:r>
              <a:rPr lang="zh-CN" altLang="en-US" sz="2400" dirty="0" smtClean="0">
                <a:solidFill>
                  <a:schemeClr val="tx1"/>
                </a:solidFill>
                <a:latin typeface="Calibri" panose="020F0502020204030204" pitchFamily="34" charset="0"/>
                <a:cs typeface="Calibri" panose="020F0502020204030204" pitchFamily="34" charset="0"/>
              </a:rPr>
              <a:t>练习</a:t>
            </a:r>
            <a:endParaRPr lang="zh-CN" altLang="en-US" sz="2400"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416560" y="1199515"/>
            <a:ext cx="8270240" cy="3533140"/>
          </a:xfrm>
        </p:spPr>
        <p:txBody>
          <a:bodyPr/>
          <a:lstStyle/>
          <a:p>
            <a:pPr marL="285750" indent="-285750">
              <a:lnSpc>
                <a:spcPct val="170000"/>
              </a:lnSpc>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政府应该给老年人提供足够多的养老金，因为他们自己无法在大城市谋生。</a:t>
            </a:r>
            <a:r>
              <a:rPr lang="en-US" altLang="zh-CN" sz="1400" dirty="0" smtClean="0">
                <a:solidFill>
                  <a:schemeClr val="tx1"/>
                </a:solidFill>
                <a:latin typeface="Verdana" panose="020B0604030504040204" pitchFamily="34" charset="0"/>
                <a:cs typeface="Verdana" panose="020B0604030504040204" pitchFamily="34" charset="0"/>
              </a:rPr>
              <a:t>(in the metropolis)</a:t>
            </a: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The government should provide enough pensions for the elderly </a:t>
            </a:r>
            <a:r>
              <a:rPr lang="en-US" altLang="zh-CN" sz="1400" u="sng" dirty="0" smtClean="0">
                <a:solidFill>
                  <a:srgbClr val="FF0000"/>
                </a:solidFill>
                <a:latin typeface="Verdana" panose="020B0604030504040204" pitchFamily="34" charset="0"/>
                <a:cs typeface="Verdana" panose="020B0604030504040204" pitchFamily="34" charset="0"/>
              </a:rPr>
              <a:t>because they cannot make a living in the metropolis by themselves. </a:t>
            </a:r>
            <a:endParaRPr lang="en-US" altLang="zh-CN" sz="1400" u="sng" dirty="0" smtClean="0">
              <a:solidFill>
                <a:srgbClr val="FF0000"/>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当毕业生找工作时，他们通常优先重视工资。</a:t>
            </a:r>
            <a:endParaRPr lang="en-US" altLang="zh-CN" sz="12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sz="1200" u="sng" dirty="0" smtClean="0">
                <a:solidFill>
                  <a:srgbClr val="FF0000"/>
                </a:solidFill>
                <a:latin typeface="Verdana" panose="020B0604030504040204" pitchFamily="34" charset="0"/>
                <a:cs typeface="Verdana" panose="020B0604030504040204" pitchFamily="34" charset="0"/>
              </a:rPr>
              <a:t>When graduates hunt for jobs,</a:t>
            </a:r>
            <a:r>
              <a:rPr lang="en-US" altLang="zh-CN" sz="1200" dirty="0" smtClean="0">
                <a:solidFill>
                  <a:schemeClr val="tx1"/>
                </a:solidFill>
                <a:latin typeface="Verdana" panose="020B0604030504040204" pitchFamily="34" charset="0"/>
                <a:cs typeface="Verdana" panose="020B0604030504040204" pitchFamily="34" charset="0"/>
              </a:rPr>
              <a:t> they usually give top priority to salaries. </a:t>
            </a:r>
            <a:endParaRPr lang="en-US" altLang="zh-CN" sz="12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学生们会出国旅游一旦他们通过考试。</a:t>
            </a:r>
            <a:r>
              <a:rPr lang="en-US" altLang="zh-CN" sz="1400" dirty="0" smtClean="0">
                <a:solidFill>
                  <a:schemeClr val="tx1"/>
                </a:solidFill>
                <a:latin typeface="Verdana" panose="020B0604030504040204" pitchFamily="34" charset="0"/>
                <a:cs typeface="Verdana" panose="020B0604030504040204" pitchFamily="34" charset="0"/>
              </a:rPr>
              <a:t>/</a:t>
            </a:r>
            <a:r>
              <a:rPr lang="zh-CN" altLang="en-US" sz="1400" dirty="0" smtClean="0">
                <a:solidFill>
                  <a:schemeClr val="tx1"/>
                </a:solidFill>
                <a:latin typeface="Verdana" panose="020B0604030504040204" pitchFamily="34" charset="0"/>
                <a:cs typeface="Verdana" panose="020B0604030504040204" pitchFamily="34" charset="0"/>
              </a:rPr>
              <a:t>一旦学生们通过考试他们会出国旅游。</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Students will travel abroad </a:t>
            </a:r>
            <a:r>
              <a:rPr lang="en-US" altLang="zh-CN" sz="1400" u="sng" dirty="0" smtClean="0">
                <a:solidFill>
                  <a:srgbClr val="FF0000"/>
                </a:solidFill>
                <a:latin typeface="Verdana" panose="020B0604030504040204" pitchFamily="34" charset="0"/>
                <a:cs typeface="Verdana" panose="020B0604030504040204" pitchFamily="34" charset="0"/>
              </a:rPr>
              <a:t>once they pass the exam.</a:t>
            </a:r>
            <a:endParaRPr lang="en-US" altLang="zh-CN" sz="1400" u="sng" dirty="0" smtClean="0">
              <a:solidFill>
                <a:srgbClr val="FF0000"/>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sz="1400" u="sng" dirty="0" smtClean="0">
                <a:solidFill>
                  <a:srgbClr val="FF0000"/>
                </a:solidFill>
                <a:latin typeface="Verdana" panose="020B0604030504040204" pitchFamily="34" charset="0"/>
                <a:cs typeface="Verdana" panose="020B0604030504040204" pitchFamily="34" charset="0"/>
              </a:rPr>
              <a:t>Once students pass the exam,</a:t>
            </a:r>
            <a:r>
              <a:rPr lang="en-US" altLang="zh-CN" sz="1400" dirty="0" smtClean="0">
                <a:solidFill>
                  <a:schemeClr val="tx1"/>
                </a:solidFill>
                <a:latin typeface="Verdana" panose="020B0604030504040204" pitchFamily="34" charset="0"/>
                <a:cs typeface="Verdana" panose="020B0604030504040204" pitchFamily="34" charset="0"/>
              </a:rPr>
              <a:t> they will travel abroad.</a:t>
            </a: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endParaRPr lang="en-US" altLang="zh-CN" sz="1400" dirty="0" smtClean="0">
              <a:solidFill>
                <a:schemeClr val="tx1"/>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750" y="699135"/>
            <a:ext cx="7550150" cy="500380"/>
          </a:xfrm>
        </p:spPr>
        <p:txBody>
          <a:bodyPr/>
          <a:lstStyle/>
          <a:p>
            <a:pPr algn="l">
              <a:buClrTx/>
              <a:buSzTx/>
              <a:buFontTx/>
            </a:pPr>
            <a:r>
              <a:rPr lang="zh-CN" altLang="en-US" sz="2400" dirty="0" smtClean="0">
                <a:solidFill>
                  <a:schemeClr val="tx1"/>
                </a:solidFill>
                <a:latin typeface="Calibri" panose="020F0502020204030204" pitchFamily="34" charset="0"/>
                <a:cs typeface="Calibri" panose="020F0502020204030204" pitchFamily="34" charset="0"/>
              </a:rPr>
              <a:t>练习</a:t>
            </a:r>
            <a:endParaRPr lang="zh-CN" altLang="en-US" sz="2400"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416560" y="1280795"/>
            <a:ext cx="8270240" cy="3451860"/>
          </a:xfrm>
        </p:spPr>
        <p:txBody>
          <a:bodyPr/>
          <a:lstStyle/>
          <a:p>
            <a:pPr marL="285750" indent="-285750">
              <a:lnSpc>
                <a:spcPct val="170000"/>
              </a:lnSpc>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虽然手机的使用不像吸烟一样</a:t>
            </a:r>
            <a:r>
              <a:rPr lang="zh-CN" altLang="en-US" sz="1400" dirty="0" smtClean="0">
                <a:solidFill>
                  <a:schemeClr val="tx1"/>
                </a:solidFill>
                <a:latin typeface="Verdana" panose="020B0604030504040204" pitchFamily="34" charset="0"/>
                <a:cs typeface="Verdana" panose="020B0604030504040204" pitchFamily="34" charset="0"/>
              </a:rPr>
              <a:t>有害，但是有必要在一些地方禁止</a:t>
            </a:r>
            <a:r>
              <a:rPr lang="zh-CN" altLang="en-US" sz="1400" dirty="0" smtClean="0">
                <a:solidFill>
                  <a:schemeClr val="tx1"/>
                </a:solidFill>
                <a:latin typeface="Verdana" panose="020B0604030504040204" pitchFamily="34" charset="0"/>
                <a:cs typeface="Verdana" panose="020B0604030504040204" pitchFamily="34" charset="0"/>
              </a:rPr>
              <a:t>它。</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sz="1400" u="sng" dirty="0" smtClean="0">
                <a:solidFill>
                  <a:srgbClr val="FF0000"/>
                </a:solidFill>
                <a:latin typeface="Verdana" panose="020B0604030504040204" pitchFamily="34" charset="0"/>
                <a:cs typeface="Verdana" panose="020B0604030504040204" pitchFamily="34" charset="0"/>
              </a:rPr>
              <a:t>Although the use of phones is not as detrimental as smoking, </a:t>
            </a:r>
            <a:r>
              <a:rPr lang="en-US" altLang="zh-CN" sz="1400" dirty="0" smtClean="0">
                <a:solidFill>
                  <a:schemeClr val="tx1"/>
                </a:solidFill>
                <a:latin typeface="Verdana" panose="020B0604030504040204" pitchFamily="34" charset="0"/>
                <a:cs typeface="Verdana" panose="020B0604030504040204" pitchFamily="34" charset="0"/>
              </a:rPr>
              <a:t>it is still necessary to prohibit it in some occasions.</a:t>
            </a: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很多商家会雇佣明星来代言他们的品牌以致于有更多的消费者来购买他们的商品。（</a:t>
            </a:r>
            <a:r>
              <a:rPr lang="en-US" altLang="zh-CN" sz="1400" dirty="0" smtClean="0">
                <a:solidFill>
                  <a:schemeClr val="tx1"/>
                </a:solidFill>
                <a:latin typeface="Verdana" panose="020B0604030504040204" pitchFamily="34" charset="0"/>
                <a:cs typeface="Verdana" panose="020B0604030504040204" pitchFamily="34" charset="0"/>
              </a:rPr>
              <a:t>endorse</a:t>
            </a:r>
            <a:r>
              <a:rPr lang="zh-CN" altLang="en-US" sz="1400" dirty="0" smtClean="0">
                <a:solidFill>
                  <a:schemeClr val="tx1"/>
                </a:solidFill>
                <a:latin typeface="Verdana" panose="020B0604030504040204" pitchFamily="34" charset="0"/>
                <a:cs typeface="Verdana" panose="020B0604030504040204" pitchFamily="34" charset="0"/>
              </a:rPr>
              <a:t>）</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Many businessmen would employ celebrities to endorse their brands</a:t>
            </a:r>
            <a:r>
              <a:rPr lang="en-US" altLang="zh-CN" sz="1400" u="sng" dirty="0" smtClean="0">
                <a:solidFill>
                  <a:srgbClr val="FF0000"/>
                </a:solidFill>
                <a:latin typeface="Verdana" panose="020B0604030504040204" pitchFamily="34" charset="0"/>
                <a:cs typeface="Verdana" panose="020B0604030504040204" pitchFamily="34" charset="0"/>
              </a:rPr>
              <a:t> so that there will be more customers purchasing their products.</a:t>
            </a:r>
            <a:endParaRPr lang="en-US" altLang="zh-CN" sz="1400" u="sng" dirty="0" smtClean="0">
              <a:solidFill>
                <a:srgbClr val="FF0000"/>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400">
                <a:solidFill>
                  <a:schemeClr val="tx1"/>
                </a:solidFill>
              </a:rPr>
              <a:t>⑤</a:t>
            </a:r>
            <a:r>
              <a:rPr lang="en-US" altLang="zh-CN" sz="2400">
                <a:solidFill>
                  <a:schemeClr val="tx1"/>
                </a:solidFill>
              </a:rPr>
              <a:t>adj</a:t>
            </a:r>
            <a:r>
              <a:rPr lang="zh-CN" altLang="en-US" sz="2400">
                <a:solidFill>
                  <a:schemeClr val="tx1"/>
                </a:solidFill>
              </a:rPr>
              <a:t>短语做状语</a:t>
            </a:r>
            <a:endParaRPr lang="zh-CN" altLang="en-US" sz="2400">
              <a:solidFill>
                <a:schemeClr val="tx1"/>
              </a:solidFill>
            </a:endParaRPr>
          </a:p>
        </p:txBody>
      </p:sp>
      <p:sp>
        <p:nvSpPr>
          <p:cNvPr id="3" name="内容占位符 2"/>
          <p:cNvSpPr>
            <a:spLocks noGrp="1"/>
          </p:cNvSpPr>
          <p:nvPr>
            <p:ph idx="1"/>
          </p:nvPr>
        </p:nvSpPr>
        <p:spPr/>
        <p:txBody>
          <a:bodyPr/>
          <a:p>
            <a:pPr algn="l" eaLnBrk="1" hangingPunct="1">
              <a:lnSpc>
                <a:spcPct val="150000"/>
              </a:lnSpc>
              <a:buClrTx/>
              <a:buSzTx/>
              <a:buFont typeface="Wingdings" panose="05000000000000000000" pitchFamily="2" charset="2"/>
              <a:buChar char="Ø"/>
            </a:pPr>
            <a:r>
              <a:rPr sz="1800">
                <a:solidFill>
                  <a:schemeClr val="tx1"/>
                </a:solidFill>
                <a:cs typeface="微软雅黑" panose="020B0503020204020204" charset="-122"/>
              </a:rPr>
              <a:t>Hungry and thirsty, </a:t>
            </a:r>
            <a:r>
              <a:rPr lang="en-US" altLang="zh-CN" sz="1800">
                <a:solidFill>
                  <a:schemeClr val="tx1"/>
                </a:solidFill>
                <a:cs typeface="微软雅黑" panose="020B0503020204020204" charset="-122"/>
              </a:rPr>
              <a:t>the travellers have</a:t>
            </a:r>
            <a:r>
              <a:rPr sz="1800">
                <a:solidFill>
                  <a:schemeClr val="tx1"/>
                </a:solidFill>
                <a:cs typeface="微软雅黑" panose="020B0503020204020204" charset="-122"/>
              </a:rPr>
              <a:t> to find someplace to stay.</a:t>
            </a:r>
            <a:endParaRPr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en-US" altLang="zh-CN" sz="1800">
                <a:solidFill>
                  <a:schemeClr val="tx1"/>
                </a:solidFill>
                <a:cs typeface="微软雅黑" panose="020B0503020204020204" charset="-122"/>
              </a:rPr>
              <a:t>Unable to afford school, she had to drop out and work.</a:t>
            </a:r>
            <a:endParaRPr lang="en-US" altLang="zh-CN" sz="1800">
              <a:solidFill>
                <a:schemeClr val="tx1"/>
              </a:solidFill>
              <a:cs typeface="微软雅黑" panose="020B0503020204020204" charset="-122"/>
            </a:endParaRPr>
          </a:p>
          <a:p>
            <a:pPr algn="l" eaLnBrk="1" hangingPunct="1">
              <a:lnSpc>
                <a:spcPct val="150000"/>
              </a:lnSpc>
              <a:buClrTx/>
              <a:buSzTx/>
              <a:buFont typeface="Wingdings" panose="05000000000000000000" pitchFamily="2" charset="2"/>
              <a:buChar char="Ø"/>
            </a:pPr>
            <a:r>
              <a:rPr lang="en-US" altLang="zh-CN" sz="1800">
                <a:solidFill>
                  <a:schemeClr val="tx1"/>
                </a:solidFill>
                <a:cs typeface="微软雅黑" panose="020B0503020204020204" charset="-122"/>
              </a:rPr>
              <a:t>Curious about the end, she turned to the last page.</a:t>
            </a:r>
            <a:endParaRPr lang="en-US" altLang="zh-CN" sz="1800">
              <a:solidFill>
                <a:schemeClr val="tx1"/>
              </a:solidFill>
              <a:cs typeface="微软雅黑" panose="020B0503020204020204" charset="-122"/>
            </a:endParaRPr>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823595" y="2338070"/>
              <a:ext cx="2110105" cy="114300"/>
            </p14:xfrm>
          </p:contentPart>
        </mc:Choice>
        <mc:Fallback xmlns="">
          <p:pic>
            <p:nvPicPr>
              <p:cNvPr id="5" name="墨迹 4"/>
            </p:nvPicPr>
            <p:blipFill>
              <a:blip r:embed="rId2"/>
            </p:blipFill>
            <p:spPr>
              <a:xfrm>
                <a:off x="823595" y="2338070"/>
                <a:ext cx="2110105" cy="1143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3429000" y="2261870"/>
              <a:ext cx="2714625" cy="171450"/>
            </p14:xfrm>
          </p:contentPart>
        </mc:Choice>
        <mc:Fallback xmlns="">
          <p:pic>
            <p:nvPicPr>
              <p:cNvPr id="7" name="墨迹 6"/>
            </p:nvPicPr>
            <p:blipFill>
              <a:blip r:embed="rId4"/>
            </p:blipFill>
            <p:spPr>
              <a:xfrm>
                <a:off x="3429000" y="2261870"/>
                <a:ext cx="2714625" cy="1714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1109345" y="2847975"/>
              <a:ext cx="1495425" cy="38100"/>
            </p14:xfrm>
          </p:contentPart>
        </mc:Choice>
        <mc:Fallback xmlns="">
          <p:pic>
            <p:nvPicPr>
              <p:cNvPr id="8" name="墨迹 7"/>
            </p:nvPicPr>
            <p:blipFill>
              <a:blip r:embed="rId6"/>
            </p:blipFill>
            <p:spPr>
              <a:xfrm>
                <a:off x="1109345" y="2847975"/>
                <a:ext cx="1495425" cy="381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墨迹 8"/>
              <p14:cNvContentPartPr/>
              <p14:nvPr/>
            </p14:nvContentPartPr>
            <p14:xfrm>
              <a:off x="3157220" y="2785745"/>
              <a:ext cx="2300605" cy="28575"/>
            </p14:xfrm>
          </p:contentPart>
        </mc:Choice>
        <mc:Fallback xmlns="">
          <p:pic>
            <p:nvPicPr>
              <p:cNvPr id="9" name="墨迹 8"/>
            </p:nvPicPr>
            <p:blipFill>
              <a:blip r:embed="rId8"/>
            </p:blipFill>
            <p:spPr>
              <a:xfrm>
                <a:off x="3157220" y="2785745"/>
                <a:ext cx="2300605" cy="285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1957070" y="2857500"/>
              <a:ext cx="281305" cy="204470"/>
            </p14:xfrm>
          </p:contentPart>
        </mc:Choice>
        <mc:Fallback xmlns="">
          <p:pic>
            <p:nvPicPr>
              <p:cNvPr id="10" name="墨迹 9"/>
            </p:nvPicPr>
            <p:blipFill>
              <a:blip r:embed="rId10"/>
            </p:blipFill>
            <p:spPr>
              <a:xfrm>
                <a:off x="1957070" y="2857500"/>
                <a:ext cx="281305" cy="20447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1985645" y="2400300"/>
              <a:ext cx="38100" cy="90170"/>
            </p14:xfrm>
          </p:contentPart>
        </mc:Choice>
        <mc:Fallback xmlns="">
          <p:pic>
            <p:nvPicPr>
              <p:cNvPr id="11" name="墨迹 10"/>
            </p:nvPicPr>
            <p:blipFill>
              <a:blip r:embed="rId12"/>
            </p:blipFill>
            <p:spPr>
              <a:xfrm>
                <a:off x="1985645" y="2400300"/>
                <a:ext cx="38100" cy="9017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TABLE_BEAUTIFY" val="smartTable{826a70e1-1452-4150-bb7c-cc5fd2566f22}"/>
  <p:tag name="TABLE_ENDDRAG_ORIGIN_RECT" val="719*380"/>
  <p:tag name="TABLE_ENDDRAG_RECT" val="0*37*719*380"/>
</p:tagLst>
</file>

<file path=ppt/tags/tag2.xml><?xml version="1.0" encoding="utf-8"?>
<p:tagLst xmlns:p="http://schemas.openxmlformats.org/presentationml/2006/main">
  <p:tag name="KSO_WM_UNIT_TABLE_BEAUTIFY" val="smartTable{6be224ef-5652-47b4-a35e-c5dcc4b18808}"/>
  <p:tag name="TABLE_ENDDRAG_ORIGIN_RECT" val="654*283"/>
  <p:tag name="TABLE_ENDDRAG_RECT" val="22*103*654*283"/>
</p:tagLst>
</file>

<file path=ppt/tags/tag3.xml><?xml version="1.0" encoding="utf-8"?>
<p:tagLst xmlns:p="http://schemas.openxmlformats.org/presentationml/2006/main">
  <p:tag name="COMMONDATA" val="eyJoZGlkIjoiOTNjNjI1OTcwN2JlZDgyNTQ3OGVlZWVmNDhhYWRmOTAifQ=="/>
  <p:tag name="commondata" val="eyJoZGlkIjoiZGEwNTVmNzNkYTY2NzY3NzRlODZjYzU2ZGE4YThhZmY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16721</Words>
  <Application>WPS 演示</Application>
  <PresentationFormat>全屏显示(16:9)</PresentationFormat>
  <Paragraphs>675</Paragraphs>
  <Slides>66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66</vt:i4>
      </vt:variant>
    </vt:vector>
  </HeadingPairs>
  <TitlesOfParts>
    <vt:vector size="77" baseType="lpstr">
      <vt:lpstr>Arial</vt:lpstr>
      <vt:lpstr>宋体</vt:lpstr>
      <vt:lpstr>Wingdings</vt:lpstr>
      <vt:lpstr>Calibri</vt:lpstr>
      <vt:lpstr>Comic Sans MS</vt:lpstr>
      <vt:lpstr>微软雅黑</vt:lpstr>
      <vt:lpstr>华文细黑</vt:lpstr>
      <vt:lpstr>Arial Unicode MS</vt:lpstr>
      <vt:lpstr>Times New Roman</vt:lpstr>
      <vt:lpstr>Verdana</vt:lpstr>
      <vt:lpstr>Office 主题​​</vt:lpstr>
      <vt:lpstr>补充语法点 ①which引导非限制性定从；对前面一件事进行评价；递进关系</vt:lpstr>
      <vt:lpstr>补充语法点 ①which引导非限制性定从；对前面一件事进行评价；递进关系</vt:lpstr>
      <vt:lpstr>补充语法点 ②非谓语：不是谓语--避免双谓语</vt:lpstr>
      <vt:lpstr>补充语法点 ②非谓语：不是谓语--避免双谓语</vt:lpstr>
      <vt:lpstr>补充语法点 ②非谓语：不是谓语--避免双谓语</vt:lpstr>
      <vt:lpstr>补充语法点 ②非谓语：不是谓语--避免双谓语</vt:lpstr>
      <vt:lpstr>补充语法点 ②非谓语：不是谓语--避免双谓语</vt:lpstr>
      <vt:lpstr>补充语法点 ②非谓语：不是谓语--避免双谓语</vt:lpstr>
      <vt:lpstr>补充语法点 ②非谓语：不是谓语--避免双谓语</vt:lpstr>
      <vt:lpstr>Lecture Four 状语-修饰动词/限定句子 微博：学为贵-赵颖伦 </vt:lpstr>
      <vt:lpstr>①副词做状语</vt:lpstr>
      <vt:lpstr>①副词做状语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②介词短语做状语</vt:lpstr>
      <vt:lpstr>PowerPoint 演示文稿</vt:lpstr>
      <vt:lpstr>paraphrase--换句型</vt:lpstr>
      <vt:lpstr>paraphrase--换句型</vt:lpstr>
      <vt:lpstr>paraphrase--换句型</vt:lpstr>
      <vt:lpstr>paraphrase--换句型</vt:lpstr>
      <vt:lpstr>2015-2-14</vt:lpstr>
      <vt:lpstr>PowerPoint 演示文稿</vt:lpstr>
      <vt:lpstr>PowerPoint 演示文稿</vt:lpstr>
      <vt:lpstr>③状语从句做状语</vt:lpstr>
      <vt:lpstr>③状语从句做状语</vt:lpstr>
      <vt:lpstr>③状语从句做状语</vt:lpstr>
      <vt:lpstr>③状语从句做状语</vt:lpstr>
      <vt:lpstr>③状语从句做状语</vt:lpstr>
      <vt:lpstr>④分词(doing/done)做状语</vt:lpstr>
      <vt:lpstr>A. 时间状语从句在流程图中的使用</vt:lpstr>
      <vt:lpstr>A. 时间状语从句在流程图中的使用</vt:lpstr>
      <vt:lpstr>A. 时间状语从句在流程图中的使用</vt:lpstr>
      <vt:lpstr>  A.常用复杂句</vt:lpstr>
      <vt:lpstr>  A.常用复杂句</vt:lpstr>
      <vt:lpstr>before; after; until; once; where; after which</vt:lpstr>
      <vt:lpstr>B. 地点状语从句</vt:lpstr>
      <vt:lpstr>C. 条件状语从句</vt:lpstr>
      <vt:lpstr>条件状语从句&amp;虚拟语气</vt:lpstr>
      <vt:lpstr>虚拟语气</vt:lpstr>
      <vt:lpstr>D. 原因状语从句</vt:lpstr>
      <vt:lpstr>E. 结果状语从句</vt:lpstr>
      <vt:lpstr>F. 目的状语从句</vt:lpstr>
      <vt:lpstr>G. 让步状语从句</vt:lpstr>
      <vt:lpstr>改写方法--换主语</vt:lpstr>
      <vt:lpstr>H. 方式状语从句</vt:lpstr>
      <vt:lpstr>I. 比较状语从句</vt:lpstr>
      <vt:lpstr>练习</vt:lpstr>
      <vt:lpstr>练习</vt:lpstr>
      <vt:lpstr>⑤adj短语做状语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LBDZ</dc:creator>
  <cp:lastModifiedBy>赵亦甜</cp:lastModifiedBy>
  <cp:revision>498</cp:revision>
  <dcterms:created xsi:type="dcterms:W3CDTF">2021-08-07T10:32:00Z</dcterms:created>
  <dcterms:modified xsi:type="dcterms:W3CDTF">2024-09-06T03:39:08Z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2052-12.1.0.17145</vt:lpwstr>
  </property>
  <property fmtid="{D5CDD505-2E9C-101B-9397-08002B2CF9AE}" pid="3" name="ICV">
    <vt:lpwstr>11EB38E2B4EC4966B2C0E6CAF23F9C6C</vt:lpwstr>
  </property>
</Properties>
</file>