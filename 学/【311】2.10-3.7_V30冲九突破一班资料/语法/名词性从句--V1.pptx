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8" r:id="rId3"/>
    <p:sldId id="601" r:id="rId4"/>
    <p:sldId id="602" r:id="rId5"/>
    <p:sldId id="603" r:id="rId6"/>
    <p:sldId id="977" r:id="rId7"/>
    <p:sldId id="813" r:id="rId8"/>
    <p:sldId id="944" r:id="rId9"/>
    <p:sldId id="945" r:id="rId10"/>
    <p:sldId id="816" r:id="rId11"/>
    <p:sldId id="817" r:id="rId12"/>
    <p:sldId id="818" r:id="rId13"/>
    <p:sldId id="819" r:id="rId14"/>
    <p:sldId id="820" r:id="rId15"/>
    <p:sldId id="978" r:id="rId16"/>
    <p:sldId id="821" r:id="rId17"/>
    <p:sldId id="822" r:id="rId18"/>
    <p:sldId id="823" r:id="rId19"/>
    <p:sldId id="895" r:id="rId20"/>
    <p:sldId id="825" r:id="rId21"/>
    <p:sldId id="611" r:id="rId22"/>
    <p:sldId id="827" r:id="rId23"/>
    <p:sldId id="923" r:id="rId24"/>
    <p:sldId id="874" r:id="rId25"/>
    <p:sldId id="826" r:id="rId26"/>
    <p:sldId id="705" r:id="rId27"/>
    <p:sldId id="946" r:id="rId28"/>
    <p:sldId id="947" r:id="rId29"/>
    <p:sldId id="948" r:id="rId30"/>
    <p:sldId id="949" r:id="rId31"/>
    <p:sldId id="620" r:id="rId32"/>
    <p:sldId id="854" r:id="rId33"/>
    <p:sldId id="666" r:id="rId34"/>
    <p:sldId id="856" r:id="rId35"/>
    <p:sldId id="925" r:id="rId36"/>
    <p:sldId id="861" r:id="rId37"/>
    <p:sldId id="862" r:id="rId38"/>
    <p:sldId id="859" r:id="rId39"/>
    <p:sldId id="863" r:id="rId40"/>
    <p:sldId id="864" r:id="rId41"/>
    <p:sldId id="865" r:id="rId42"/>
  </p:sldIdLst>
  <p:sldSz cx="9144000" cy="5143500" type="screen16x9"/>
  <p:notesSz cx="6858000" cy="9144000"/>
  <p:custDataLst>
    <p:tags r:id="rId4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5BA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5" d="100"/>
          <a:sy n="85" d="100"/>
        </p:scale>
        <p:origin x="96" y="210"/>
      </p:cViewPr>
      <p:guideLst>
        <p:guide orient="horz" pos="1620"/>
        <p:guide pos="28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gs" Target="tags/tag2.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a:defRPr lang="zh-CN" altLang="en-US" sz="2800" kern="1200" baseline="0" dirty="0">
                <a:solidFill>
                  <a:schemeClr val="bg1"/>
                </a:solidFill>
                <a:latin typeface="+mn-lt"/>
                <a:ea typeface="+mn-ea"/>
                <a:cs typeface="+mn-cs"/>
                <a:sym typeface="Calibri" panose="020F0502020204030204" pitchFamily="34" charset="0"/>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eaLnBrk="1" hangingPunct="1">
              <a:lnSpc>
                <a:spcPct val="150000"/>
              </a:lnSpc>
              <a:buFont typeface="Arial" panose="020B0604020202020204" pitchFamily="34" charset="0"/>
              <a:buNone/>
              <a:defRPr sz="1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642938"/>
            <a:ext cx="8229600" cy="420687"/>
          </a:xfrm>
          <a:prstGeom prst="rect">
            <a:avLst/>
          </a:prstGeom>
          <a:noFill/>
          <a:ln w="9525">
            <a:noFill/>
            <a:miter lim="800000"/>
          </a:ln>
        </p:spPr>
        <p:txBody>
          <a:bodyPr vert="horz" wrap="square" lIns="91440" tIns="45720" rIns="91440" bIns="45720" numCol="1" anchor="ctr" anchorCtr="0" compatLnSpc="1"/>
          <a:lstStyle/>
          <a:p>
            <a:pPr lvl="0"/>
            <a:r>
              <a:rPr lang="zh-CN" altLang="en-US" smtClean="0">
                <a:sym typeface="Calibri" panose="020F0502020204030204" pitchFamily="34" charset="0"/>
              </a:rPr>
              <a:t>贵学</a:t>
            </a:r>
            <a:r>
              <a:rPr lang="en-US" altLang="zh-CN" smtClean="0">
                <a:sym typeface="Calibri" panose="020F0502020204030204" pitchFamily="34" charset="0"/>
              </a:rPr>
              <a:t>PPT</a:t>
            </a:r>
            <a:r>
              <a:rPr lang="zh-CN" altLang="en-US" smtClean="0">
                <a:sym typeface="Calibri" panose="020F0502020204030204" pitchFamily="34" charset="0"/>
              </a:rPr>
              <a:t>制作要求</a:t>
            </a:r>
            <a:endParaRPr lang="zh-CN" smtClean="0">
              <a:sym typeface="Calibri" panose="020F0502020204030204" pitchFamily="34" charset="0"/>
            </a:endParaRPr>
          </a:p>
        </p:txBody>
      </p:sp>
      <p:sp>
        <p:nvSpPr>
          <p:cNvPr id="1027" name="文本占位符 2"/>
          <p:cNvSpPr>
            <a:spLocks noGrp="1" noChangeArrowheads="1"/>
          </p:cNvSpPr>
          <p:nvPr>
            <p:ph type="body" idx="1"/>
          </p:nvPr>
        </p:nvSpPr>
        <p:spPr bwMode="auto">
          <a:xfrm>
            <a:off x="428625" y="1357313"/>
            <a:ext cx="8229600" cy="3394075"/>
          </a:xfrm>
          <a:prstGeom prst="rect">
            <a:avLst/>
          </a:prstGeom>
          <a:noFill/>
          <a:ln w="9525">
            <a:noFill/>
            <a:miter lim="800000"/>
          </a:ln>
        </p:spPr>
        <p:txBody>
          <a:bodyPr vert="horz" wrap="square" lIns="91440" tIns="45720" rIns="91440" bIns="45720" numCol="1" anchor="t" anchorCtr="0" compatLnSpc="1"/>
          <a:lstStyle/>
          <a:p>
            <a:pPr lvl="0"/>
            <a:endParaRPr lang="en-US" altLang="zh-CN" smtClean="0">
              <a:sym typeface="Calibri" panose="020F0502020204030204" pitchFamily="34" charset="0"/>
            </a:endParaRPr>
          </a:p>
          <a:p>
            <a:pPr lvl="0"/>
            <a:r>
              <a:rPr lang="zh-CN" altLang="en-US" smtClean="0">
                <a:sym typeface="Calibri" panose="020F0502020204030204" pitchFamily="34" charset="0"/>
              </a:rPr>
              <a:t>雅思阅读真经  </a:t>
            </a:r>
            <a:r>
              <a:rPr lang="en-US" altLang="zh-CN" smtClean="0">
                <a:sym typeface="Calibri" panose="020F0502020204030204" pitchFamily="34" charset="0"/>
              </a:rPr>
              <a:t>1</a:t>
            </a:r>
            <a:endParaRPr lang="en-US" altLang="zh-CN" smtClean="0">
              <a:sym typeface="Calibri" panose="020F0502020204030204" pitchFamily="34" charset="0"/>
            </a:endParaRPr>
          </a:p>
          <a:p>
            <a:pPr lvl="0"/>
            <a:r>
              <a:rPr lang="zh-CN" altLang="en-US" smtClean="0">
                <a:sym typeface="Calibri" panose="020F0502020204030204" pitchFamily="34" charset="0"/>
              </a:rPr>
              <a:t>刘洪波</a:t>
            </a:r>
            <a:endParaRPr lang="zh-CN" smtClean="0">
              <a:sym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p:titleStyle>
    <p:bodyStyle>
      <a:lvl1pPr marL="342900" indent="-342900" algn="ctr" rtl="0" eaLnBrk="0" fontAlgn="base" hangingPunct="0">
        <a:spcBef>
          <a:spcPct val="20000"/>
        </a:spcBef>
        <a:spcAft>
          <a:spcPct val="0"/>
        </a:spcAft>
        <a:buFont typeface="Arial" panose="020B0604020202020204" pitchFamily="34" charset="0"/>
        <a:buChar char="•"/>
        <a:defRPr sz="3200" kern="1200">
          <a:solidFill>
            <a:schemeClr val="bg1"/>
          </a:solidFill>
          <a:latin typeface="+mn-lt"/>
          <a:ea typeface="+mn-ea"/>
          <a:cs typeface="微软雅黑" panose="020B0503020204020204" charset="-122"/>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jpeg"/><Relationship Id="rId2" Type="http://schemas.openxmlformats.org/officeDocument/2006/relationships/tags" Target="../tags/tag1.xml"/><Relationship Id="rId1" Type="http://schemas.openxmlformats.org/officeDocument/2006/relationships/image" Target="../media/image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p:cNvSpPr>
          <p:nvPr>
            <p:ph type="title"/>
          </p:nvPr>
        </p:nvSpPr>
        <p:spPr>
          <a:xfrm>
            <a:off x="1259840" y="1059180"/>
            <a:ext cx="6103620" cy="3111500"/>
          </a:xfrm>
        </p:spPr>
        <p:txBody>
          <a:bodyPr/>
          <a:lstStyle/>
          <a:p>
            <a:pPr algn="ctr">
              <a:lnSpc>
                <a:spcPct val="150000"/>
              </a:lnSpc>
            </a:pPr>
            <a:b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Lecture </a:t>
            </a:r>
            <a: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Five</a:t>
            </a:r>
            <a:br>
              <a:rPr lang="en-US" altLang="zh-CN"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名词性从句</a:t>
            </a:r>
            <a:b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r>
              <a:rPr lang="zh-CN" altLang="en-US" sz="20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微博：赵颖伦</a:t>
            </a: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zh-CN" altLang="en-US" sz="20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学为贵</a:t>
            </a:r>
            <a:b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b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br>
              <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br>
            <a:endParaRPr lang="zh-CN" altLang="en-US"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
          <p:cNvSpPr>
            <a:spLocks noGrp="1"/>
          </p:cNvSpPr>
          <p:nvPr>
            <p:ph type="title"/>
          </p:nvPr>
        </p:nvSpPr>
        <p:spPr>
          <a:xfrm>
            <a:off x="500063" y="714375"/>
            <a:ext cx="5357812" cy="500063"/>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判断句子成分</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6146" name="内容占位符 2"/>
          <p:cNvSpPr>
            <a:spLocks noGrp="1"/>
          </p:cNvSpPr>
          <p:nvPr>
            <p:ph idx="1"/>
          </p:nvPr>
        </p:nvSpPr>
        <p:spPr>
          <a:xfrm>
            <a:off x="466725" y="1274763"/>
            <a:ext cx="8355013" cy="3457575"/>
          </a:xfrm>
        </p:spPr>
        <p:txBody>
          <a:bodyPr/>
          <a:lstStyle/>
          <a:p>
            <a:pPr>
              <a:buFont typeface="Arial" panose="020B0604020202020204" pitchFamily="34" charset="0"/>
              <a:buChar char="•"/>
            </a:pPr>
            <a:r>
              <a:rPr lang="en-US" altLang="zh-CN" sz="2000" smtClean="0">
                <a:solidFill>
                  <a:schemeClr val="tx1"/>
                </a:solidFill>
                <a:latin typeface="华文细黑" panose="02010600040101010101" charset="-122"/>
                <a:ea typeface="华文细黑" panose="02010600040101010101" charset="-122"/>
                <a:cs typeface="华文细黑" panose="02010600040101010101" charset="-122"/>
              </a:rPr>
              <a:t>The</a:t>
            </a:r>
            <a:r>
              <a:rPr lang="en-US" altLang="zh-CN" sz="2000" smtClean="0">
                <a:solidFill>
                  <a:srgbClr val="FF0000"/>
                </a:solidFill>
                <a:latin typeface="华文细黑" panose="02010600040101010101" charset="-122"/>
                <a:ea typeface="华文细黑" panose="02010600040101010101" charset="-122"/>
                <a:cs typeface="华文细黑" panose="02010600040101010101" charset="-122"/>
              </a:rPr>
              <a:t> teacher </a:t>
            </a:r>
            <a:r>
              <a:rPr lang="en-US" altLang="zh-CN" sz="2000" smtClean="0">
                <a:solidFill>
                  <a:schemeClr val="tx1"/>
                </a:solidFill>
                <a:latin typeface="华文细黑" panose="02010600040101010101" charset="-122"/>
                <a:ea typeface="华文细黑" panose="02010600040101010101" charset="-122"/>
                <a:cs typeface="华文细黑" panose="02010600040101010101" charset="-122"/>
              </a:rPr>
              <a:t>is a young female.</a:t>
            </a:r>
            <a:endParaRPr lang="en-US" altLang="zh-CN" sz="200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Arial" panose="020B0604020202020204" pitchFamily="34" charset="0"/>
              <a:buChar char="•"/>
            </a:pPr>
            <a:r>
              <a:rPr lang="en-US" altLang="zh-CN" sz="2000" smtClean="0">
                <a:solidFill>
                  <a:schemeClr val="tx1"/>
                </a:solidFill>
                <a:latin typeface="华文细黑" panose="02010600040101010101" charset="-122"/>
                <a:ea typeface="华文细黑" panose="02010600040101010101" charset="-122"/>
                <a:cs typeface="华文细黑" panose="02010600040101010101" charset="-122"/>
              </a:rPr>
              <a:t>I like the</a:t>
            </a:r>
            <a:r>
              <a:rPr lang="en-US" altLang="zh-CN" sz="2000" smtClean="0">
                <a:solidFill>
                  <a:srgbClr val="FF0000"/>
                </a:solidFill>
                <a:latin typeface="华文细黑" panose="02010600040101010101" charset="-122"/>
                <a:ea typeface="华文细黑" panose="02010600040101010101" charset="-122"/>
                <a:cs typeface="华文细黑" panose="02010600040101010101" charset="-122"/>
              </a:rPr>
              <a:t> teacher.</a:t>
            </a:r>
            <a:endParaRPr lang="en-US" altLang="zh-CN" sz="200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Arial" panose="020B0604020202020204" pitchFamily="34" charset="0"/>
              <a:buChar char="•"/>
            </a:pPr>
            <a:r>
              <a:rPr lang="en-US" altLang="zh-CN" sz="2000" smtClean="0">
                <a:solidFill>
                  <a:schemeClr val="tx1"/>
                </a:solidFill>
                <a:latin typeface="华文细黑" panose="02010600040101010101" charset="-122"/>
                <a:ea typeface="华文细黑" panose="02010600040101010101" charset="-122"/>
                <a:cs typeface="华文细黑" panose="02010600040101010101" charset="-122"/>
              </a:rPr>
              <a:t>His mother is a </a:t>
            </a:r>
            <a:r>
              <a:rPr lang="en-US" altLang="zh-CN" sz="2000" smtClean="0">
                <a:solidFill>
                  <a:srgbClr val="FF0000"/>
                </a:solidFill>
                <a:latin typeface="华文细黑" panose="02010600040101010101" charset="-122"/>
                <a:ea typeface="华文细黑" panose="02010600040101010101" charset="-122"/>
                <a:cs typeface="华文细黑" panose="02010600040101010101" charset="-122"/>
              </a:rPr>
              <a:t>teacher.</a:t>
            </a:r>
            <a:endParaRPr lang="en-US" altLang="zh-CN" sz="2000" smtClean="0">
              <a:solidFill>
                <a:schemeClr val="tx1"/>
              </a:solidFill>
              <a:latin typeface="华文细黑" panose="02010600040101010101" charset="-122"/>
              <a:ea typeface="华文细黑" panose="02010600040101010101" charset="-122"/>
              <a:cs typeface="华文细黑" panose="02010600040101010101" charset="-122"/>
            </a:endParaRPr>
          </a:p>
          <a:p>
            <a:pPr>
              <a:buFont typeface="Arial" panose="020B0604020202020204" pitchFamily="34" charset="0"/>
              <a:buChar char="•"/>
            </a:pPr>
            <a:r>
              <a:rPr lang="en-US" altLang="zh-CN" sz="2000" smtClean="0">
                <a:solidFill>
                  <a:schemeClr val="tx1"/>
                </a:solidFill>
                <a:latin typeface="华文细黑" panose="02010600040101010101" charset="-122"/>
                <a:ea typeface="华文细黑" panose="02010600040101010101" charset="-122"/>
                <a:cs typeface="华文细黑" panose="02010600040101010101" charset="-122"/>
              </a:rPr>
              <a:t>My mother, one of the best </a:t>
            </a:r>
            <a:r>
              <a:rPr lang="en-US" altLang="zh-CN" sz="2000" smtClean="0">
                <a:solidFill>
                  <a:srgbClr val="FF0000"/>
                </a:solidFill>
                <a:latin typeface="华文细黑" panose="02010600040101010101" charset="-122"/>
                <a:ea typeface="华文细黑" panose="02010600040101010101" charset="-122"/>
                <a:cs typeface="华文细黑" panose="02010600040101010101" charset="-122"/>
              </a:rPr>
              <a:t>teachers </a:t>
            </a:r>
            <a:r>
              <a:rPr lang="en-US" altLang="zh-CN" sz="2000" smtClean="0">
                <a:solidFill>
                  <a:schemeClr val="tx1"/>
                </a:solidFill>
                <a:latin typeface="华文细黑" panose="02010600040101010101" charset="-122"/>
                <a:ea typeface="华文细黑" panose="02010600040101010101" charset="-122"/>
                <a:cs typeface="华文细黑" panose="02010600040101010101" charset="-122"/>
              </a:rPr>
              <a:t>in local high school, is regarded as role model to many young females.   </a:t>
            </a:r>
            <a:endParaRPr lang="en-US" altLang="zh-CN" sz="2000"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500063" y="714375"/>
            <a:ext cx="5357812" cy="500063"/>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名词性从句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538152" y="1419222"/>
            <a:ext cx="8283795" cy="2881319"/>
          </a:xfrm>
        </p:spPr>
        <p:txBody>
          <a:bodyPr>
            <a:normAutofit/>
          </a:bodyPr>
          <a:lstStyle/>
          <a:p>
            <a:pPr lvl="8">
              <a:defRPr/>
            </a:pPr>
            <a:r>
              <a:rPr lang="zh-CN" altLang="en-US" sz="2000" dirty="0" smtClean="0">
                <a:latin typeface="华文细黑" panose="02010600040101010101" charset="-122"/>
                <a:ea typeface="华文细黑" panose="02010600040101010101" charset="-122"/>
              </a:rPr>
              <a:t>主语从句</a:t>
            </a:r>
            <a:endParaRPr lang="en-US" altLang="zh-CN" sz="2000" dirty="0" smtClean="0">
              <a:latin typeface="华文细黑" panose="02010600040101010101" charset="-122"/>
              <a:ea typeface="华文细黑" panose="02010600040101010101" charset="-122"/>
            </a:endParaRPr>
          </a:p>
          <a:p>
            <a:pPr lvl="8">
              <a:defRPr/>
            </a:pPr>
            <a:endParaRPr lang="en-US" altLang="zh-CN" sz="2000" dirty="0" smtClean="0">
              <a:latin typeface="华文细黑" panose="02010600040101010101" charset="-122"/>
              <a:ea typeface="华文细黑" panose="02010600040101010101" charset="-122"/>
            </a:endParaRPr>
          </a:p>
          <a:p>
            <a:pPr lvl="8">
              <a:defRPr/>
            </a:pPr>
            <a:r>
              <a:rPr lang="zh-CN" altLang="en-US" sz="2000" dirty="0">
                <a:latin typeface="华文细黑" panose="02010600040101010101" charset="-122"/>
                <a:ea typeface="华文细黑" panose="02010600040101010101" charset="-122"/>
              </a:rPr>
              <a:t>表语</a:t>
            </a:r>
            <a:r>
              <a:rPr lang="zh-CN" altLang="en-US" sz="2000" dirty="0" smtClean="0">
                <a:latin typeface="华文细黑" panose="02010600040101010101" charset="-122"/>
                <a:ea typeface="华文细黑" panose="02010600040101010101" charset="-122"/>
              </a:rPr>
              <a:t>从句</a:t>
            </a:r>
            <a:endParaRPr lang="en-US" altLang="zh-CN" sz="2000" dirty="0" smtClean="0">
              <a:latin typeface="华文细黑" panose="02010600040101010101" charset="-122"/>
              <a:ea typeface="华文细黑" panose="02010600040101010101" charset="-122"/>
            </a:endParaRPr>
          </a:p>
          <a:p>
            <a:pPr lvl="8">
              <a:defRPr/>
            </a:pPr>
            <a:endParaRPr lang="en-US" altLang="zh-CN" sz="2000" dirty="0">
              <a:latin typeface="华文细黑" panose="02010600040101010101" charset="-122"/>
              <a:ea typeface="华文细黑" panose="02010600040101010101" charset="-122"/>
            </a:endParaRPr>
          </a:p>
          <a:p>
            <a:pPr lvl="8">
              <a:defRPr/>
            </a:pPr>
            <a:r>
              <a:rPr lang="zh-CN" altLang="en-US" sz="2000" dirty="0">
                <a:latin typeface="华文细黑" panose="02010600040101010101" charset="-122"/>
                <a:ea typeface="华文细黑" panose="02010600040101010101" charset="-122"/>
              </a:rPr>
              <a:t>宾语</a:t>
            </a:r>
            <a:r>
              <a:rPr lang="zh-CN" altLang="en-US" sz="2000" dirty="0" smtClean="0">
                <a:latin typeface="华文细黑" panose="02010600040101010101" charset="-122"/>
                <a:ea typeface="华文细黑" panose="02010600040101010101" charset="-122"/>
              </a:rPr>
              <a:t>从句</a:t>
            </a:r>
            <a:endParaRPr lang="en-US" altLang="zh-CN" sz="2000" dirty="0" smtClean="0">
              <a:latin typeface="华文细黑" panose="02010600040101010101" charset="-122"/>
              <a:ea typeface="华文细黑" panose="02010600040101010101" charset="-122"/>
            </a:endParaRPr>
          </a:p>
          <a:p>
            <a:pPr lvl="8">
              <a:defRPr/>
            </a:pPr>
            <a:endParaRPr lang="en-US" altLang="zh-CN" sz="2000" dirty="0">
              <a:latin typeface="华文细黑" panose="02010600040101010101" charset="-122"/>
              <a:ea typeface="华文细黑" panose="02010600040101010101" charset="-122"/>
            </a:endParaRPr>
          </a:p>
          <a:p>
            <a:pPr lvl="8">
              <a:defRPr/>
            </a:pPr>
            <a:r>
              <a:rPr lang="zh-CN" altLang="en-US" sz="2000" dirty="0">
                <a:latin typeface="华文细黑" panose="02010600040101010101" charset="-122"/>
                <a:ea typeface="华文细黑" panose="02010600040101010101" charset="-122"/>
              </a:rPr>
              <a:t>同位语从句</a:t>
            </a:r>
            <a:endParaRPr lang="zh-CN" altLang="en-US" sz="2000" dirty="0">
              <a:latin typeface="华文细黑" panose="02010600040101010101" charset="-122"/>
              <a:ea typeface="华文细黑" panose="0201060004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500063" y="714375"/>
            <a:ext cx="5357812" cy="500063"/>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主语从句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8194" name="内容占位符 2"/>
          <p:cNvSpPr>
            <a:spLocks noGrp="1"/>
          </p:cNvSpPr>
          <p:nvPr>
            <p:ph idx="1"/>
          </p:nvPr>
        </p:nvSpPr>
        <p:spPr>
          <a:xfrm>
            <a:off x="398145" y="1286510"/>
            <a:ext cx="8585835" cy="3720465"/>
          </a:xfrm>
        </p:spPr>
        <p:txBody>
          <a:bodyPr/>
          <a:lstStyle/>
          <a:p>
            <a:pPr>
              <a:buFont typeface="Arial" panose="020B0604020202020204" pitchFamily="34" charset="0"/>
              <a:buChar char="•"/>
            </a:pPr>
            <a:r>
              <a:rPr lang="zh-CN" altLang="en-US" sz="2000" b="1" dirty="0" smtClean="0">
                <a:solidFill>
                  <a:schemeClr val="tx1"/>
                </a:solidFill>
                <a:cs typeface="+mn-lt"/>
                <a:sym typeface="Arial" panose="020B0604020202020204" pitchFamily="34" charset="0"/>
              </a:rPr>
              <a:t>从句在句子中做主语，引导词有that, whether, what, who,（whoever, whatever） how, when, where, why .</a:t>
            </a:r>
            <a:endParaRPr lang="zh-CN" altLang="en-US" sz="2000" b="1" dirty="0" smtClean="0">
              <a:solidFill>
                <a:schemeClr val="tx1"/>
              </a:solidFill>
              <a:cs typeface="+mn-lt"/>
              <a:sym typeface="Arial" panose="020B0604020202020204" pitchFamily="34" charset="0"/>
            </a:endParaRPr>
          </a:p>
          <a:p>
            <a:pPr>
              <a:buFont typeface="Arial" panose="020B0604020202020204" pitchFamily="34" charset="0"/>
              <a:buChar char="•"/>
            </a:pPr>
            <a:r>
              <a:rPr lang="en-US" altLang="zh-CN" sz="2000" b="1" dirty="0" smtClean="0">
                <a:solidFill>
                  <a:schemeClr val="tx1"/>
                </a:solidFill>
                <a:cs typeface="+mn-lt"/>
                <a:sym typeface="Arial" panose="020B0604020202020204" pitchFamily="34" charset="0"/>
              </a:rPr>
              <a:t>which ; whose</a:t>
            </a:r>
            <a:endParaRPr lang="zh-CN" altLang="en-US" sz="2000" b="1" dirty="0" smtClean="0">
              <a:solidFill>
                <a:schemeClr val="tx1"/>
              </a:solidFill>
              <a:cs typeface="+mn-lt"/>
              <a:sym typeface="Arial" panose="020B0604020202020204" pitchFamily="34" charset="0"/>
            </a:endParaRPr>
          </a:p>
          <a:p>
            <a:pPr>
              <a:buFont typeface="Arial" panose="020B0604020202020204" pitchFamily="34" charset="0"/>
              <a:buChar char="•"/>
            </a:pPr>
            <a:endParaRPr lang="zh-CN" altLang="en-US" sz="2000" b="1" dirty="0" smtClean="0">
              <a:solidFill>
                <a:schemeClr val="tx1"/>
              </a:solidFill>
              <a:cs typeface="+mn-lt"/>
              <a:sym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397828" y="483235"/>
            <a:ext cx="5357812" cy="500063"/>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不定式做主语</a:t>
            </a:r>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改成</a:t>
            </a:r>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rPr>
              <a:t>It</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做形式</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主语</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8194" name="内容占位符 2"/>
          <p:cNvSpPr>
            <a:spLocks noGrp="1"/>
          </p:cNvSpPr>
          <p:nvPr>
            <p:ph idx="1"/>
          </p:nvPr>
        </p:nvSpPr>
        <p:spPr>
          <a:xfrm>
            <a:off x="362585" y="1156335"/>
            <a:ext cx="8621395" cy="3850640"/>
          </a:xfrm>
        </p:spPr>
        <p:txBody>
          <a:bodyPr/>
          <a:lstStyle/>
          <a:p>
            <a:pPr>
              <a:buFont typeface="Arial" panose="020B0604020202020204" pitchFamily="34" charset="0"/>
              <a:buChar char="•"/>
            </a:pPr>
            <a:r>
              <a:rPr lang="en-US" altLang="zh-CN" sz="2000" b="1" u="sng" dirty="0" smtClean="0">
                <a:solidFill>
                  <a:schemeClr val="tx1"/>
                </a:solidFill>
                <a:cs typeface="+mn-lt"/>
                <a:sym typeface="Arial" panose="020B0604020202020204" pitchFamily="34" charset="0"/>
              </a:rPr>
              <a:t>To learn English</a:t>
            </a:r>
            <a:r>
              <a:rPr lang="en-US" altLang="zh-CN" sz="2000" b="1" dirty="0" smtClean="0">
                <a:solidFill>
                  <a:schemeClr val="tx1"/>
                </a:solidFill>
                <a:cs typeface="+mn-lt"/>
                <a:sym typeface="Arial" panose="020B0604020202020204" pitchFamily="34" charset="0"/>
              </a:rPr>
              <a:t> is difficult.</a:t>
            </a:r>
            <a:endParaRPr lang="en-US" altLang="zh-CN" sz="2000" b="1" dirty="0" smtClean="0">
              <a:solidFill>
                <a:schemeClr val="tx1"/>
              </a:solidFill>
              <a:cs typeface="+mn-lt"/>
              <a:sym typeface="Arial" panose="020B0604020202020204" pitchFamily="34" charset="0"/>
            </a:endParaRPr>
          </a:p>
          <a:p>
            <a:pPr>
              <a:buFont typeface="Arial" panose="020B0604020202020204" pitchFamily="34" charset="0"/>
              <a:buChar char="•"/>
            </a:pPr>
            <a:r>
              <a:rPr lang="en-US" altLang="zh-CN" sz="2000" b="1" dirty="0" smtClean="0">
                <a:solidFill>
                  <a:schemeClr val="tx1"/>
                </a:solidFill>
                <a:cs typeface="+mn-lt"/>
                <a:sym typeface="Arial" panose="020B0604020202020204" pitchFamily="34" charset="0"/>
              </a:rPr>
              <a:t>It is difficult </a:t>
            </a:r>
            <a:r>
              <a:rPr lang="en-US" altLang="zh-CN" sz="2000" b="1" u="sng" dirty="0" smtClean="0">
                <a:solidFill>
                  <a:schemeClr val="tx1"/>
                </a:solidFill>
                <a:cs typeface="+mn-lt"/>
                <a:sym typeface="Arial" panose="020B0604020202020204" pitchFamily="34" charset="0"/>
              </a:rPr>
              <a:t>to learn English</a:t>
            </a:r>
            <a:r>
              <a:rPr lang="en-US" altLang="zh-CN" sz="2000" b="1" dirty="0" smtClean="0">
                <a:solidFill>
                  <a:schemeClr val="tx1"/>
                </a:solidFill>
                <a:cs typeface="+mn-lt"/>
                <a:sym typeface="Arial" panose="020B0604020202020204" pitchFamily="34" charset="0"/>
              </a:rPr>
              <a:t>.</a:t>
            </a:r>
            <a:endParaRPr lang="en-US" altLang="zh-CN" sz="2000" b="1" dirty="0" smtClean="0">
              <a:solidFill>
                <a:schemeClr val="tx1"/>
              </a:solidFill>
              <a:cs typeface="+mn-lt"/>
              <a:sym typeface="Arial" panose="020B0604020202020204" pitchFamily="34" charset="0"/>
            </a:endParaRPr>
          </a:p>
          <a:p>
            <a:pPr>
              <a:buFont typeface="Arial" panose="020B0604020202020204" pitchFamily="34" charset="0"/>
              <a:buChar char="•"/>
            </a:pPr>
            <a:r>
              <a:rPr lang="en-US" altLang="zh-CN" sz="2000" b="1" dirty="0" smtClean="0">
                <a:solidFill>
                  <a:schemeClr val="tx1"/>
                </a:solidFill>
                <a:cs typeface="+mn-lt"/>
                <a:sym typeface="Arial" panose="020B0604020202020204" pitchFamily="34" charset="0"/>
              </a:rPr>
              <a:t>It is effective for girls </a:t>
            </a:r>
            <a:r>
              <a:rPr lang="en-US" altLang="zh-CN" sz="2000" b="1" u="sng" dirty="0" smtClean="0">
                <a:solidFill>
                  <a:schemeClr val="tx1"/>
                </a:solidFill>
                <a:cs typeface="+mn-lt"/>
                <a:sym typeface="Arial" panose="020B0604020202020204" pitchFamily="34" charset="0"/>
              </a:rPr>
              <a:t>to lose weight by dieting</a:t>
            </a:r>
            <a:r>
              <a:rPr lang="en-US" altLang="zh-CN" sz="2000" b="1" dirty="0" smtClean="0">
                <a:solidFill>
                  <a:schemeClr val="tx1"/>
                </a:solidFill>
                <a:cs typeface="+mn-lt"/>
                <a:sym typeface="Arial" panose="020B0604020202020204" pitchFamily="34" charset="0"/>
              </a:rPr>
              <a:t>.</a:t>
            </a:r>
            <a:endParaRPr lang="en-US" altLang="zh-CN" sz="2000" b="1" dirty="0" smtClean="0">
              <a:solidFill>
                <a:schemeClr val="tx1"/>
              </a:solidFill>
              <a:cs typeface="+mn-lt"/>
              <a:sym typeface="Arial" panose="020B0604020202020204" pitchFamily="34" charset="0"/>
            </a:endParaRPr>
          </a:p>
          <a:p>
            <a:pPr>
              <a:buFont typeface="Arial" panose="020B0604020202020204" pitchFamily="34" charset="0"/>
              <a:buChar char="•"/>
            </a:pPr>
            <a:r>
              <a:rPr lang="en-US" altLang="zh-CN" sz="2000" b="1" dirty="0" smtClean="0">
                <a:solidFill>
                  <a:schemeClr val="tx1"/>
                </a:solidFill>
                <a:cs typeface="+mn-lt"/>
                <a:sym typeface="Arial" panose="020B0604020202020204" pitchFamily="34" charset="0"/>
              </a:rPr>
              <a:t>It is possible for students </a:t>
            </a:r>
            <a:r>
              <a:rPr lang="en-US" altLang="zh-CN" sz="2000" b="1" u="sng" dirty="0" smtClean="0">
                <a:solidFill>
                  <a:schemeClr val="tx1"/>
                </a:solidFill>
                <a:cs typeface="+mn-lt"/>
                <a:sym typeface="Arial" panose="020B0604020202020204" pitchFamily="34" charset="0"/>
              </a:rPr>
              <a:t>to achieve Band 7 by working hard</a:t>
            </a:r>
            <a:r>
              <a:rPr lang="en-US" altLang="zh-CN" sz="2000" b="1" dirty="0" smtClean="0">
                <a:solidFill>
                  <a:schemeClr val="tx1"/>
                </a:solidFill>
                <a:cs typeface="+mn-lt"/>
                <a:sym typeface="Arial" panose="020B0604020202020204" pitchFamily="34" charset="0"/>
              </a:rPr>
              <a:t>.</a:t>
            </a:r>
            <a:endParaRPr lang="en-US" altLang="zh-CN" sz="2000" b="1" dirty="0" smtClean="0">
              <a:solidFill>
                <a:schemeClr val="tx1"/>
              </a:solidFill>
              <a:cs typeface="+mn-lt"/>
              <a:sym typeface="Arial" panose="020B0604020202020204" pitchFamily="34" charset="0"/>
            </a:endParaRPr>
          </a:p>
          <a:p>
            <a:pPr>
              <a:buFont typeface="Arial" panose="020B0604020202020204" pitchFamily="34" charset="0"/>
              <a:buChar char="•"/>
            </a:pPr>
            <a:r>
              <a:rPr lang="en-US" altLang="zh-CN" sz="2000" b="1" dirty="0" smtClean="0">
                <a:solidFill>
                  <a:schemeClr val="tx1"/>
                </a:solidFill>
                <a:cs typeface="+mn-lt"/>
                <a:sym typeface="Arial" panose="020B0604020202020204" pitchFamily="34" charset="0"/>
              </a:rPr>
              <a:t>It is effective </a:t>
            </a:r>
            <a:r>
              <a:rPr lang="en-US" altLang="zh-CN" sz="2000" b="1" u="sng" dirty="0" smtClean="0">
                <a:solidFill>
                  <a:schemeClr val="tx1"/>
                </a:solidFill>
                <a:cs typeface="+mn-lt"/>
                <a:sym typeface="Arial" panose="020B0604020202020204" pitchFamily="34" charset="0"/>
              </a:rPr>
              <a:t>to improve air quality by decreasing car emissions</a:t>
            </a:r>
            <a:r>
              <a:rPr lang="en-US" altLang="zh-CN" sz="2000" b="1" dirty="0" smtClean="0">
                <a:solidFill>
                  <a:schemeClr val="tx1"/>
                </a:solidFill>
                <a:cs typeface="+mn-lt"/>
                <a:sym typeface="Arial" panose="020B0604020202020204" pitchFamily="34" charset="0"/>
              </a:rPr>
              <a:t>.</a:t>
            </a:r>
            <a:endParaRPr lang="en-US" altLang="zh-CN" sz="2000" b="1" dirty="0" smtClean="0">
              <a:solidFill>
                <a:schemeClr val="tx1"/>
              </a:solidFill>
              <a:cs typeface="+mn-lt"/>
              <a:sym typeface="Arial" panose="020B0604020202020204" pitchFamily="34" charset="0"/>
            </a:endParaRPr>
          </a:p>
          <a:p>
            <a:pPr>
              <a:buFont typeface="Arial" panose="020B0604020202020204" pitchFamily="34" charset="0"/>
              <a:buChar char="•"/>
            </a:pPr>
            <a:r>
              <a:rPr lang="en-US" altLang="zh-CN" sz="2000" b="1" dirty="0" smtClean="0">
                <a:solidFill>
                  <a:schemeClr val="tx1"/>
                </a:solidFill>
                <a:cs typeface="+mn-lt"/>
                <a:sym typeface="Arial" panose="020B0604020202020204" pitchFamily="34" charset="0"/>
              </a:rPr>
              <a:t>It is ineffective for parents </a:t>
            </a:r>
            <a:r>
              <a:rPr lang="en-US" altLang="zh-CN" sz="2000" b="1" u="sng" dirty="0" smtClean="0">
                <a:solidFill>
                  <a:schemeClr val="tx1"/>
                </a:solidFill>
                <a:cs typeface="+mn-lt"/>
                <a:sym typeface="Arial" panose="020B0604020202020204" pitchFamily="34" charset="0"/>
              </a:rPr>
              <a:t>to improve their children’s academic performance by harsh punishment.</a:t>
            </a:r>
            <a:endParaRPr lang="en-US" altLang="zh-CN" sz="2000" b="1" u="sng" dirty="0" smtClean="0">
              <a:solidFill>
                <a:schemeClr val="tx1"/>
              </a:solidFill>
              <a:cs typeface="+mn-lt"/>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4">
                                            <p:txEl>
                                              <p:pRg st="3" end="3"/>
                                            </p:txEl>
                                          </p:spTgt>
                                        </p:tgtEl>
                                        <p:attrNameLst>
                                          <p:attrName>style.visibility</p:attrName>
                                        </p:attrNameLst>
                                      </p:cBhvr>
                                      <p:to>
                                        <p:strVal val="visible"/>
                                      </p:to>
                                    </p:set>
                                    <p:anim calcmode="lin" valueType="num">
                                      <p:cBhvr additive="base">
                                        <p:cTn id="25" dur="500" fill="hold"/>
                                        <p:tgtEl>
                                          <p:spTgt spid="81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94">
                                            <p:txEl>
                                              <p:pRg st="4" end="4"/>
                                            </p:txEl>
                                          </p:spTgt>
                                        </p:tgtEl>
                                        <p:attrNameLst>
                                          <p:attrName>style.visibility</p:attrName>
                                        </p:attrNameLst>
                                      </p:cBhvr>
                                      <p:to>
                                        <p:strVal val="visible"/>
                                      </p:to>
                                    </p:set>
                                    <p:anim calcmode="lin" valueType="num">
                                      <p:cBhvr additive="base">
                                        <p:cTn id="31"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194">
                                            <p:txEl>
                                              <p:pRg st="5" end="5"/>
                                            </p:txEl>
                                          </p:spTgt>
                                        </p:tgtEl>
                                        <p:attrNameLst>
                                          <p:attrName>style.visibility</p:attrName>
                                        </p:attrNameLst>
                                      </p:cBhvr>
                                      <p:to>
                                        <p:strVal val="visible"/>
                                      </p:to>
                                    </p:set>
                                    <p:anim calcmode="lin" valueType="num">
                                      <p:cBhvr additive="base">
                                        <p:cTn id="37" dur="500" fill="hold"/>
                                        <p:tgtEl>
                                          <p:spTgt spid="819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208280" y="539115"/>
            <a:ext cx="8559800" cy="4467860"/>
          </a:xfrm>
        </p:spPr>
        <p:txBody>
          <a:bodyPr/>
          <a:lstStyle/>
          <a:p>
            <a:pPr>
              <a:buFont typeface="Arial" panose="020B0604020202020204" pitchFamily="34" charset="0"/>
              <a:buChar char="•"/>
            </a:pPr>
            <a:r>
              <a:rPr lang="zh-CN" altLang="en-US"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rPr>
              <a:t>常用主语从句：</a:t>
            </a:r>
            <a:r>
              <a:rPr lang="en-US" altLang="zh-CN"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rPr>
              <a:t> that+</a:t>
            </a:r>
            <a:r>
              <a:rPr lang="zh-CN" altLang="en-US"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rPr>
              <a:t>完整句子</a:t>
            </a:r>
            <a:endParaRPr lang="zh-CN" altLang="en-US"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endParaRPr>
          </a:p>
          <a:p>
            <a:pPr>
              <a:buFont typeface="Arial" panose="020B0604020202020204" pitchFamily="34" charset="0"/>
              <a:buChar char="•"/>
            </a:pPr>
            <a:r>
              <a:rPr lang="zh-CN" altLang="en-US" sz="2400" b="1" u="sng" dirty="0" smtClean="0">
                <a:solidFill>
                  <a:schemeClr val="tx1"/>
                </a:solidFill>
                <a:latin typeface="+mj-lt"/>
                <a:cs typeface="+mj-lt"/>
                <a:sym typeface="Arial" panose="020B0604020202020204" pitchFamily="34" charset="0"/>
              </a:rPr>
              <a:t>That dogs are </a:t>
            </a:r>
            <a:r>
              <a:rPr lang="en-US" altLang="zh-CN" sz="2400" b="1" u="sng" dirty="0" smtClean="0">
                <a:solidFill>
                  <a:schemeClr val="tx1"/>
                </a:solidFill>
                <a:latin typeface="+mj-lt"/>
                <a:cs typeface="+mj-lt"/>
                <a:sym typeface="Arial" panose="020B0604020202020204" pitchFamily="34" charset="0"/>
              </a:rPr>
              <a:t>loyal friends of human beings</a:t>
            </a:r>
            <a:r>
              <a:rPr lang="en-US" altLang="zh-CN" sz="2400" b="1" dirty="0" smtClean="0">
                <a:solidFill>
                  <a:schemeClr val="tx1"/>
                </a:solidFill>
                <a:latin typeface="+mj-lt"/>
                <a:cs typeface="+mj-lt"/>
                <a:sym typeface="Arial" panose="020B0604020202020204" pitchFamily="34" charset="0"/>
              </a:rPr>
              <a:t> </a:t>
            </a:r>
            <a:r>
              <a:rPr lang="zh-CN" altLang="en-US" sz="2400" b="1" dirty="0" smtClean="0">
                <a:solidFill>
                  <a:schemeClr val="tx1"/>
                </a:solidFill>
                <a:latin typeface="+mj-lt"/>
                <a:cs typeface="+mj-lt"/>
                <a:sym typeface="Arial" panose="020B0604020202020204" pitchFamily="34" charset="0"/>
              </a:rPr>
              <a:t>is a fact.</a:t>
            </a:r>
            <a:endParaRPr lang="zh-CN" altLang="en-US"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 </a:t>
            </a:r>
            <a:r>
              <a:rPr lang="en-US" altLang="zh-CN" sz="2400" b="1" u="sng" dirty="0" smtClean="0">
                <a:solidFill>
                  <a:srgbClr val="00B050"/>
                </a:solidFill>
                <a:latin typeface="+mj-lt"/>
                <a:cs typeface="+mj-lt"/>
                <a:sym typeface="Arial" panose="020B0604020202020204" pitchFamily="34" charset="0"/>
              </a:rPr>
              <a:t>a fact</a:t>
            </a:r>
            <a:r>
              <a:rPr lang="en-US" altLang="zh-CN" sz="2400" b="1" u="sng" dirty="0" smtClean="0">
                <a:solidFill>
                  <a:schemeClr val="tx1"/>
                </a:solidFill>
                <a:latin typeface="+mj-lt"/>
                <a:cs typeface="+mj-lt"/>
                <a:sym typeface="Arial" panose="020B0604020202020204" pitchFamily="34" charset="0"/>
              </a:rPr>
              <a:t> that dogs are loyal friends of human beings</a:t>
            </a:r>
            <a:r>
              <a:rPr lang="en-US" altLang="zh-CN" sz="2400" b="1" dirty="0" smtClean="0">
                <a:solidFill>
                  <a:schemeClr val="tx1"/>
                </a:solidFill>
                <a:latin typeface="+mj-lt"/>
                <a:cs typeface="+mj-lt"/>
                <a:sym typeface="Arial" panose="020B0604020202020204" pitchFamily="34" charset="0"/>
              </a:rPr>
              <a:t>.</a:t>
            </a:r>
            <a:endParaRPr lang="zh-CN" altLang="en-US"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zh-CN" altLang="en-US" sz="2400" b="1" dirty="0" smtClean="0">
                <a:solidFill>
                  <a:schemeClr val="tx1"/>
                </a:solidFill>
                <a:latin typeface="+mj-lt"/>
                <a:cs typeface="+mj-lt"/>
                <a:sym typeface="Arial" panose="020B0604020202020204" pitchFamily="34" charset="0"/>
              </a:rPr>
              <a:t>It is </a:t>
            </a:r>
            <a:r>
              <a:rPr lang="zh-CN" altLang="en-US" sz="2400" b="1" u="sng" dirty="0" smtClean="0">
                <a:solidFill>
                  <a:srgbClr val="00B050"/>
                </a:solidFill>
                <a:latin typeface="+mj-lt"/>
                <a:cs typeface="+mj-lt"/>
                <a:sym typeface="Arial" panose="020B0604020202020204" pitchFamily="34" charset="0"/>
              </a:rPr>
              <a:t>a common phenomenon</a:t>
            </a:r>
            <a:r>
              <a:rPr lang="zh-CN" altLang="en-US" sz="2400" b="1" dirty="0" smtClean="0">
                <a:solidFill>
                  <a:schemeClr val="tx1"/>
                </a:solidFill>
                <a:latin typeface="+mj-lt"/>
                <a:cs typeface="+mj-lt"/>
                <a:sym typeface="Arial" panose="020B0604020202020204" pitchFamily="34" charset="0"/>
              </a:rPr>
              <a:t> that</a:t>
            </a:r>
            <a:r>
              <a:rPr lang="en-US" altLang="zh-CN" sz="2400" b="1" dirty="0" smtClean="0">
                <a:solidFill>
                  <a:schemeClr val="tx1"/>
                </a:solidFill>
                <a:latin typeface="+mj-lt"/>
                <a:cs typeface="+mj-lt"/>
                <a:sym typeface="Arial" panose="020B0604020202020204" pitchFamily="34" charset="0"/>
              </a:rPr>
              <a:t> women often take maternity leave after giving birth to a child in China.</a:t>
            </a:r>
            <a:endParaRPr lang="en-US" altLang="zh-CN"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a:t>
            </a:r>
            <a:r>
              <a:rPr lang="zh-CN" altLang="en-US" sz="2400" b="1" u="sng" dirty="0" smtClean="0">
                <a:solidFill>
                  <a:srgbClr val="00B050"/>
                </a:solidFill>
                <a:latin typeface="+mj-lt"/>
                <a:cs typeface="+mj-lt"/>
                <a:sym typeface="Arial" panose="020B0604020202020204" pitchFamily="34" charset="0"/>
              </a:rPr>
              <a:t> a pity </a:t>
            </a:r>
            <a:r>
              <a:rPr lang="en-US" altLang="zh-CN" sz="2400" b="1" dirty="0" smtClean="0">
                <a:solidFill>
                  <a:schemeClr val="tx1"/>
                </a:solidFill>
                <a:latin typeface="+mj-lt"/>
                <a:cs typeface="+mj-lt"/>
                <a:sym typeface="Arial" panose="020B0604020202020204" pitchFamily="34" charset="0"/>
              </a:rPr>
              <a:t>that we missed his wedding.</a:t>
            </a:r>
            <a:endParaRPr lang="en-US" altLang="zh-CN"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 </a:t>
            </a:r>
            <a:r>
              <a:rPr lang="zh-CN" altLang="en-US" sz="2400" b="1" u="sng" dirty="0" smtClean="0">
                <a:solidFill>
                  <a:srgbClr val="00B050"/>
                </a:solidFill>
                <a:latin typeface="+mj-lt"/>
                <a:cs typeface="+mj-lt"/>
                <a:sym typeface="Arial" panose="020B0604020202020204" pitchFamily="34" charset="0"/>
              </a:rPr>
              <a:t>such an honor </a:t>
            </a:r>
            <a:r>
              <a:rPr lang="en-US" altLang="zh-CN" sz="2400" b="1" dirty="0" smtClean="0">
                <a:solidFill>
                  <a:schemeClr val="tx1"/>
                </a:solidFill>
                <a:latin typeface="+mj-lt"/>
                <a:cs typeface="+mj-lt"/>
                <a:sym typeface="Arial" panose="020B0604020202020204" pitchFamily="34" charset="0"/>
              </a:rPr>
              <a:t>that I am invited to your wedding.</a:t>
            </a:r>
            <a:endParaRPr lang="en-US" altLang="zh-CN" sz="2400" b="1" dirty="0" smtClean="0">
              <a:solidFill>
                <a:schemeClr val="tx1"/>
              </a:solidFill>
              <a:latin typeface="+mj-lt"/>
              <a:cs typeface="+mj-lt"/>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4">
                                            <p:txEl>
                                              <p:pRg st="3" end="3"/>
                                            </p:txEl>
                                          </p:spTgt>
                                        </p:tgtEl>
                                        <p:attrNameLst>
                                          <p:attrName>style.visibility</p:attrName>
                                        </p:attrNameLst>
                                      </p:cBhvr>
                                      <p:to>
                                        <p:strVal val="visible"/>
                                      </p:to>
                                    </p:set>
                                    <p:anim calcmode="lin" valueType="num">
                                      <p:cBhvr additive="base">
                                        <p:cTn id="25" dur="500" fill="hold"/>
                                        <p:tgtEl>
                                          <p:spTgt spid="81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4">
                                            <p:txEl>
                                              <p:pRg st="4" end="4"/>
                                            </p:txEl>
                                          </p:spTgt>
                                        </p:tgtEl>
                                        <p:attrNameLst>
                                          <p:attrName>style.visibility</p:attrName>
                                        </p:attrNameLst>
                                      </p:cBhvr>
                                      <p:to>
                                        <p:strVal val="visible"/>
                                      </p:to>
                                    </p:set>
                                    <p:anim calcmode="lin" valueType="num">
                                      <p:cBhvr additive="base">
                                        <p:cTn id="31"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4">
                                            <p:txEl>
                                              <p:pRg st="5" end="5"/>
                                            </p:txEl>
                                          </p:spTgt>
                                        </p:tgtEl>
                                        <p:attrNameLst>
                                          <p:attrName>style.visibility</p:attrName>
                                        </p:attrNameLst>
                                      </p:cBhvr>
                                      <p:to>
                                        <p:strVal val="visible"/>
                                      </p:to>
                                    </p:set>
                                    <p:anim calcmode="lin" valueType="num">
                                      <p:cBhvr additive="base">
                                        <p:cTn id="37" dur="500" fill="hold"/>
                                        <p:tgtEl>
                                          <p:spTgt spid="819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280670" y="340995"/>
            <a:ext cx="8487410" cy="4665980"/>
          </a:xfrm>
        </p:spPr>
        <p:txBody>
          <a:bodyPr/>
          <a:lstStyle/>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a:t>
            </a:r>
            <a:r>
              <a:rPr lang="en-US" altLang="zh-CN" sz="2400" b="1" u="sng" dirty="0" smtClean="0">
                <a:solidFill>
                  <a:srgbClr val="0070C0"/>
                </a:solidFill>
                <a:latin typeface="+mj-lt"/>
                <a:cs typeface="+mj-lt"/>
                <a:sym typeface="Arial" panose="020B0604020202020204" pitchFamily="34" charset="0"/>
              </a:rPr>
              <a:t> vitally important</a:t>
            </a:r>
            <a:r>
              <a:rPr lang="en-US" altLang="zh-CN" sz="2400" b="1" dirty="0" smtClean="0">
                <a:solidFill>
                  <a:schemeClr val="tx1"/>
                </a:solidFill>
                <a:latin typeface="+mj-lt"/>
                <a:cs typeface="+mj-lt"/>
                <a:sym typeface="Arial" panose="020B0604020202020204" pitchFamily="34" charset="0"/>
              </a:rPr>
              <a:t> </a:t>
            </a:r>
            <a:r>
              <a:rPr lang="en-US" altLang="zh-CN" sz="2400" b="1" dirty="0" smtClean="0">
                <a:solidFill>
                  <a:schemeClr val="tx1"/>
                </a:solidFill>
                <a:highlight>
                  <a:srgbClr val="FFFF00"/>
                </a:highlight>
                <a:latin typeface="+mj-lt"/>
                <a:cs typeface="+mj-lt"/>
                <a:sym typeface="Arial" panose="020B0604020202020204" pitchFamily="34" charset="0"/>
              </a:rPr>
              <a:t>that parents should set a good example for their children</a:t>
            </a:r>
            <a:r>
              <a:rPr lang="en-US" altLang="zh-CN" sz="2400" b="1" dirty="0" smtClean="0">
                <a:solidFill>
                  <a:schemeClr val="tx1"/>
                </a:solidFill>
                <a:latin typeface="+mj-lt"/>
                <a:cs typeface="+mj-lt"/>
                <a:sym typeface="Arial" panose="020B0604020202020204" pitchFamily="34" charset="0"/>
              </a:rPr>
              <a:t>.</a:t>
            </a:r>
            <a:endParaRPr lang="en-US" altLang="zh-CN"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a:t>
            </a:r>
            <a:r>
              <a:rPr lang="en-US" altLang="zh-CN" sz="2400" b="1" u="sng" dirty="0" smtClean="0">
                <a:solidFill>
                  <a:srgbClr val="0070C0"/>
                </a:solidFill>
                <a:latin typeface="+mj-lt"/>
                <a:cs typeface="+mj-lt"/>
                <a:sym typeface="Arial" panose="020B0604020202020204" pitchFamily="34" charset="0"/>
              </a:rPr>
              <a:t> clear</a:t>
            </a:r>
            <a:r>
              <a:rPr lang="en-US" altLang="zh-CN" sz="2400" b="1" dirty="0" smtClean="0">
                <a:solidFill>
                  <a:schemeClr val="tx1"/>
                </a:solidFill>
                <a:latin typeface="+mj-lt"/>
                <a:cs typeface="+mj-lt"/>
                <a:sym typeface="Arial" panose="020B0604020202020204" pitchFamily="34" charset="0"/>
              </a:rPr>
              <a:t> </a:t>
            </a:r>
            <a:r>
              <a:rPr lang="en-US" altLang="zh-CN" sz="2400" b="1" dirty="0" smtClean="0">
                <a:solidFill>
                  <a:schemeClr val="tx1"/>
                </a:solidFill>
                <a:highlight>
                  <a:srgbClr val="FFFF00"/>
                </a:highlight>
                <a:latin typeface="+mj-lt"/>
                <a:cs typeface="+mj-lt"/>
                <a:sym typeface="Arial" panose="020B0604020202020204" pitchFamily="34" charset="0"/>
              </a:rPr>
              <a:t>that the proportion of girls saw a dramatic increase</a:t>
            </a:r>
            <a:r>
              <a:rPr lang="en-US" altLang="zh-CN" sz="2400" b="1" dirty="0" smtClean="0">
                <a:solidFill>
                  <a:schemeClr val="tx1"/>
                </a:solidFill>
                <a:latin typeface="+mj-lt"/>
                <a:cs typeface="+mj-lt"/>
                <a:sym typeface="Arial" panose="020B0604020202020204" pitchFamily="34" charset="0"/>
              </a:rPr>
              <a:t>.</a:t>
            </a:r>
            <a:endParaRPr lang="en-US" altLang="zh-CN"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 </a:t>
            </a:r>
            <a:r>
              <a:rPr lang="en-US" altLang="zh-CN" sz="2400" b="1" u="sng" dirty="0" smtClean="0">
                <a:solidFill>
                  <a:srgbClr val="0070C0"/>
                </a:solidFill>
                <a:latin typeface="+mj-lt"/>
                <a:cs typeface="+mj-lt"/>
                <a:sym typeface="Arial" panose="020B0604020202020204" pitchFamily="34" charset="0"/>
              </a:rPr>
              <a:t>true</a:t>
            </a:r>
            <a:r>
              <a:rPr lang="en-US" altLang="zh-CN" sz="2400" b="1" dirty="0" smtClean="0">
                <a:solidFill>
                  <a:schemeClr val="tx1"/>
                </a:solidFill>
                <a:latin typeface="+mj-lt"/>
                <a:cs typeface="+mj-lt"/>
                <a:sym typeface="Arial" panose="020B0604020202020204" pitchFamily="34" charset="0"/>
              </a:rPr>
              <a:t> </a:t>
            </a:r>
            <a:r>
              <a:rPr lang="en-US" altLang="zh-CN" sz="2400" b="1" dirty="0" smtClean="0">
                <a:solidFill>
                  <a:schemeClr val="tx1"/>
                </a:solidFill>
                <a:highlight>
                  <a:srgbClr val="FFFF00"/>
                </a:highlight>
                <a:latin typeface="+mj-lt"/>
                <a:cs typeface="+mj-lt"/>
                <a:sym typeface="Arial" panose="020B0604020202020204" pitchFamily="34" charset="0"/>
              </a:rPr>
              <a:t>that many old buildings cannot meet the safety standard</a:t>
            </a:r>
            <a:r>
              <a:rPr lang="en-US" altLang="zh-CN" sz="2400" b="1" dirty="0" smtClean="0">
                <a:solidFill>
                  <a:schemeClr val="tx1"/>
                </a:solidFill>
                <a:latin typeface="+mj-lt"/>
                <a:cs typeface="+mj-lt"/>
                <a:sym typeface="Arial" panose="020B0604020202020204" pitchFamily="34" charset="0"/>
              </a:rPr>
              <a:t>.</a:t>
            </a:r>
            <a:endParaRPr lang="en-US" altLang="zh-CN"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 </a:t>
            </a:r>
            <a:r>
              <a:rPr lang="en-US" altLang="zh-CN" sz="2400" b="1" u="sng" dirty="0" smtClean="0">
                <a:solidFill>
                  <a:srgbClr val="0070C0"/>
                </a:solidFill>
                <a:latin typeface="+mj-lt"/>
                <a:cs typeface="+mj-lt"/>
                <a:sym typeface="Arial" panose="020B0604020202020204" pitchFamily="34" charset="0"/>
              </a:rPr>
              <a:t>admitted</a:t>
            </a:r>
            <a:r>
              <a:rPr lang="en-US" altLang="zh-CN" sz="2400" b="1" dirty="0" smtClean="0">
                <a:solidFill>
                  <a:schemeClr val="tx1"/>
                </a:solidFill>
                <a:latin typeface="+mj-lt"/>
                <a:cs typeface="+mj-lt"/>
                <a:sym typeface="Arial" panose="020B0604020202020204" pitchFamily="34" charset="0"/>
              </a:rPr>
              <a:t> </a:t>
            </a:r>
            <a:r>
              <a:rPr lang="en-US" altLang="zh-CN" sz="2400" b="1" dirty="0" smtClean="0">
                <a:solidFill>
                  <a:schemeClr val="tx1"/>
                </a:solidFill>
                <a:highlight>
                  <a:srgbClr val="FFFF00"/>
                </a:highlight>
                <a:latin typeface="+mj-lt"/>
                <a:cs typeface="+mj-lt"/>
                <a:sym typeface="Arial" panose="020B0604020202020204" pitchFamily="34" charset="0"/>
              </a:rPr>
              <a:t>that females are more adept in nurturing babies</a:t>
            </a:r>
            <a:r>
              <a:rPr lang="en-US" altLang="zh-CN" sz="2400" b="1" dirty="0" smtClean="0">
                <a:solidFill>
                  <a:schemeClr val="tx1"/>
                </a:solidFill>
                <a:latin typeface="+mj-lt"/>
                <a:cs typeface="+mj-lt"/>
                <a:sym typeface="Arial" panose="020B0604020202020204" pitchFamily="34" charset="0"/>
              </a:rPr>
              <a:t>.</a:t>
            </a:r>
            <a:endParaRPr lang="en-US" altLang="zh-CN"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 </a:t>
            </a:r>
            <a:r>
              <a:rPr lang="en-US" altLang="zh-CN" sz="2400" b="1" u="sng" dirty="0" smtClean="0">
                <a:solidFill>
                  <a:srgbClr val="0070C0"/>
                </a:solidFill>
                <a:latin typeface="+mj-lt"/>
                <a:cs typeface="+mj-lt"/>
                <a:sym typeface="Arial" panose="020B0604020202020204" pitchFamily="34" charset="0"/>
              </a:rPr>
              <a:t>believed by some people</a:t>
            </a:r>
            <a:r>
              <a:rPr lang="en-US" altLang="zh-CN" sz="2400" b="1" dirty="0" smtClean="0">
                <a:solidFill>
                  <a:schemeClr val="tx1"/>
                </a:solidFill>
                <a:latin typeface="+mj-lt"/>
                <a:cs typeface="+mj-lt"/>
                <a:sym typeface="Arial" panose="020B0604020202020204" pitchFamily="34" charset="0"/>
              </a:rPr>
              <a:t> </a:t>
            </a:r>
            <a:r>
              <a:rPr lang="en-US" altLang="zh-CN" sz="2400" b="1" dirty="0" smtClean="0">
                <a:solidFill>
                  <a:schemeClr val="tx1"/>
                </a:solidFill>
                <a:highlight>
                  <a:srgbClr val="FFFF00"/>
                </a:highlight>
                <a:latin typeface="+mj-lt"/>
                <a:cs typeface="+mj-lt"/>
                <a:sym typeface="Arial" panose="020B0604020202020204" pitchFamily="34" charset="0"/>
              </a:rPr>
              <a:t>that museums are for entertainments</a:t>
            </a:r>
            <a:r>
              <a:rPr lang="en-US" altLang="zh-CN" sz="2400" b="1" dirty="0" smtClean="0">
                <a:solidFill>
                  <a:schemeClr val="tx1"/>
                </a:solidFill>
                <a:latin typeface="+mj-lt"/>
                <a:cs typeface="+mj-lt"/>
                <a:sym typeface="Arial" panose="020B0604020202020204" pitchFamily="34" charset="0"/>
              </a:rPr>
              <a:t>.</a:t>
            </a:r>
            <a:endParaRPr lang="zh-CN" altLang="en-US"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endParaRPr lang="zh-CN" altLang="en-US" sz="2400" b="1" dirty="0" smtClean="0">
              <a:solidFill>
                <a:schemeClr val="tx1"/>
              </a:solidFill>
              <a:latin typeface="+mj-lt"/>
              <a:cs typeface="+mj-lt"/>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4">
                                            <p:txEl>
                                              <p:pRg st="3" end="3"/>
                                            </p:txEl>
                                          </p:spTgt>
                                        </p:tgtEl>
                                        <p:attrNameLst>
                                          <p:attrName>style.visibility</p:attrName>
                                        </p:attrNameLst>
                                      </p:cBhvr>
                                      <p:to>
                                        <p:strVal val="visible"/>
                                      </p:to>
                                    </p:set>
                                    <p:anim calcmode="lin" valueType="num">
                                      <p:cBhvr additive="base">
                                        <p:cTn id="25" dur="500" fill="hold"/>
                                        <p:tgtEl>
                                          <p:spTgt spid="81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4">
                                            <p:txEl>
                                              <p:pRg st="4" end="4"/>
                                            </p:txEl>
                                          </p:spTgt>
                                        </p:tgtEl>
                                        <p:attrNameLst>
                                          <p:attrName>style.visibility</p:attrName>
                                        </p:attrNameLst>
                                      </p:cBhvr>
                                      <p:to>
                                        <p:strVal val="visible"/>
                                      </p:to>
                                    </p:set>
                                    <p:anim calcmode="lin" valueType="num">
                                      <p:cBhvr additive="base">
                                        <p:cTn id="31" dur="500" fill="hold"/>
                                        <p:tgtEl>
                                          <p:spTgt spid="819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208280" y="539115"/>
            <a:ext cx="8559800" cy="4467860"/>
          </a:xfrm>
        </p:spPr>
        <p:txBody>
          <a:bodyPr/>
          <a:lstStyle/>
          <a:p>
            <a:pPr>
              <a:buFont typeface="Arial" panose="020B0604020202020204" pitchFamily="34" charset="0"/>
              <a:buChar char="•"/>
            </a:pPr>
            <a:r>
              <a:rPr lang="zh-CN" altLang="en-US"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rPr>
              <a:t>常用主语从句：</a:t>
            </a:r>
            <a:r>
              <a:rPr lang="en-US" altLang="zh-CN"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rPr>
              <a:t> that+</a:t>
            </a:r>
            <a:r>
              <a:rPr lang="zh-CN" altLang="en-US"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rPr>
              <a:t>完整句子</a:t>
            </a:r>
            <a:endParaRPr lang="zh-CN" altLang="en-US" sz="2000" b="1" dirty="0" smtClean="0">
              <a:solidFill>
                <a:srgbClr val="FF0000"/>
              </a:solidFill>
              <a:latin typeface="Times New Roman" panose="02020603050405020304" pitchFamily="18" charset="0"/>
              <a:cs typeface="Times New Roman" panose="02020603050405020304" pitchFamily="18" charset="0"/>
              <a:sym typeface="Arial" panose="020B0604020202020204" pitchFamily="34" charset="0"/>
            </a:endParaRPr>
          </a:p>
          <a:p>
            <a:pPr>
              <a:buFont typeface="Arial" panose="020B0604020202020204" pitchFamily="34" charset="0"/>
              <a:buChar char="•"/>
            </a:pPr>
            <a:r>
              <a:rPr lang="zh-CN" altLang="en-US" sz="2400" b="1" dirty="0" smtClean="0">
                <a:solidFill>
                  <a:schemeClr val="tx1"/>
                </a:solidFill>
                <a:latin typeface="+mj-lt"/>
                <a:cs typeface="+mj-lt"/>
                <a:sym typeface="Arial" panose="020B0604020202020204" pitchFamily="34" charset="0"/>
              </a:rPr>
              <a:t>It is </a:t>
            </a:r>
            <a:r>
              <a:rPr lang="en-US" altLang="zh-CN" sz="2400" b="1" u="sng" dirty="0" smtClean="0">
                <a:solidFill>
                  <a:srgbClr val="7030A0"/>
                </a:solidFill>
                <a:latin typeface="+mj-lt"/>
                <a:cs typeface="+mj-lt"/>
                <a:sym typeface="Arial" panose="020B0604020202020204" pitchFamily="34" charset="0"/>
              </a:rPr>
              <a:t>of great importance</a:t>
            </a:r>
            <a:r>
              <a:rPr lang="zh-CN" altLang="en-US" sz="2400" b="1" dirty="0" smtClean="0">
                <a:solidFill>
                  <a:schemeClr val="tx1"/>
                </a:solidFill>
                <a:latin typeface="+mj-lt"/>
                <a:cs typeface="+mj-lt"/>
                <a:sym typeface="Arial" panose="020B0604020202020204" pitchFamily="34" charset="0"/>
              </a:rPr>
              <a:t> that</a:t>
            </a:r>
            <a:r>
              <a:rPr lang="en-US" altLang="zh-CN" sz="2400" b="1" dirty="0" smtClean="0">
                <a:solidFill>
                  <a:schemeClr val="tx1"/>
                </a:solidFill>
                <a:latin typeface="+mj-lt"/>
                <a:cs typeface="+mj-lt"/>
                <a:sym typeface="Arial" panose="020B0604020202020204" pitchFamily="34" charset="0"/>
              </a:rPr>
              <a:t> the government should take responsibility for the local environment.</a:t>
            </a:r>
            <a:endParaRPr lang="zh-CN" altLang="en-US" sz="2400" b="1" dirty="0" smtClean="0">
              <a:solidFill>
                <a:schemeClr val="tx1"/>
              </a:solidFill>
              <a:latin typeface="+mj-lt"/>
              <a:cs typeface="+mj-lt"/>
              <a:sym typeface="Arial" panose="020B0604020202020204" pitchFamily="34" charset="0"/>
            </a:endParaRPr>
          </a:p>
          <a:p>
            <a:pPr>
              <a:buFont typeface="Arial" panose="020B0604020202020204" pitchFamily="34" charset="0"/>
              <a:buChar char="•"/>
            </a:pPr>
            <a:r>
              <a:rPr lang="en-US" altLang="zh-CN" sz="2400" b="1" dirty="0" smtClean="0">
                <a:solidFill>
                  <a:schemeClr val="tx1"/>
                </a:solidFill>
                <a:latin typeface="+mj-lt"/>
                <a:cs typeface="+mj-lt"/>
                <a:sym typeface="Arial" panose="020B0604020202020204" pitchFamily="34" charset="0"/>
              </a:rPr>
              <a:t>It is </a:t>
            </a:r>
            <a:r>
              <a:rPr lang="en-US" altLang="zh-CN" sz="2400" b="1" u="sng" dirty="0" smtClean="0">
                <a:solidFill>
                  <a:srgbClr val="7030A0"/>
                </a:solidFill>
                <a:latin typeface="+mj-lt"/>
                <a:cs typeface="+mj-lt"/>
                <a:sym typeface="Arial" panose="020B0604020202020204" pitchFamily="34" charset="0"/>
              </a:rPr>
              <a:t>of great significance</a:t>
            </a:r>
            <a:r>
              <a:rPr lang="en-US" altLang="zh-CN" sz="2400" b="1" dirty="0" smtClean="0">
                <a:solidFill>
                  <a:schemeClr val="tx1"/>
                </a:solidFill>
                <a:latin typeface="+mj-lt"/>
                <a:cs typeface="+mj-lt"/>
                <a:sym typeface="Arial" panose="020B0604020202020204" pitchFamily="34" charset="0"/>
              </a:rPr>
              <a:t> that couples often celebrite their anniversaries.</a:t>
            </a:r>
            <a:endParaRPr lang="zh-CN" altLang="en-US" sz="2400" b="1" dirty="0" smtClean="0">
              <a:solidFill>
                <a:schemeClr val="tx1"/>
              </a:solidFill>
              <a:latin typeface="+mj-lt"/>
              <a:cs typeface="+mj-lt"/>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1" descr="1"/>
          <p:cNvPicPr>
            <a:picLocks noGrp="1" noChangeAspect="1"/>
          </p:cNvPicPr>
          <p:nvPr>
            <p:ph idx="1"/>
          </p:nvPr>
        </p:nvPicPr>
        <p:blipFill>
          <a:blip r:embed="rId1" cstate="print"/>
          <a:srcRect/>
          <a:stretch>
            <a:fillRect/>
          </a:stretch>
        </p:blipFill>
        <p:spPr>
          <a:xfrm>
            <a:off x="200660" y="72390"/>
            <a:ext cx="8433435" cy="499808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2430" y="654050"/>
            <a:ext cx="8294370" cy="4078605"/>
          </a:xfrm>
        </p:spPr>
        <p:txBody>
          <a:bodyPr/>
          <a:lstStyle/>
          <a:p>
            <a:pPr>
              <a:lnSpc>
                <a:spcPct val="120000"/>
              </a:lnSpc>
              <a:buFont typeface="Wingdings" panose="05000000000000000000" pitchFamily="2" charset="2"/>
              <a:buChar char="Ø"/>
            </a:pPr>
            <a:r>
              <a:rPr kumimoji="1" lang="en-US" altLang="zh-CN" sz="1800" smtClean="0">
                <a:solidFill>
                  <a:schemeClr val="tx1"/>
                </a:solidFill>
                <a:latin typeface="华文细黑" panose="02010600040101010101" charset="-122"/>
                <a:ea typeface="华文细黑" panose="02010600040101010101" charset="-122"/>
                <a:cs typeface="华文细黑" panose="02010600040101010101" charset="-122"/>
                <a:sym typeface="+mn-ea"/>
              </a:rPr>
              <a:t>It is clear that spending on landline phones fell steadily over the 10-year period, while mobile phone expenditure rose quickly. </a:t>
            </a:r>
            <a:endParaRPr lang="zh-CN" altLang="en-US" sz="1600"/>
          </a:p>
          <a:p>
            <a:pPr>
              <a:buFont typeface="Wingdings" panose="05000000000000000000" pitchFamily="2" charset="2"/>
              <a:buChar char="Ø"/>
            </a:pPr>
            <a:endParaRPr kumimoji="1" lang="en-US" altLang="zh-CN" sz="2000" smtClean="0">
              <a:solidFill>
                <a:schemeClr val="tx1"/>
              </a:solidFill>
              <a:latin typeface="华文细黑" panose="02010600040101010101" charset="-122"/>
              <a:ea typeface="华文细黑" panose="02010600040101010101" charset="-122"/>
              <a:cs typeface="华文细黑" panose="02010600040101010101" charset="-122"/>
            </a:endParaRPr>
          </a:p>
          <a:p>
            <a:endParaRPr kumimoji="1" lang="en-US" altLang="zh-CN" sz="2000" smtClean="0">
              <a:solidFill>
                <a:schemeClr val="tx1"/>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3" descr="3"/>
          <p:cNvPicPr>
            <a:picLocks noGrp="1" noChangeAspect="1"/>
          </p:cNvPicPr>
          <p:nvPr>
            <p:ph idx="1"/>
          </p:nvPr>
        </p:nvPicPr>
        <p:blipFill>
          <a:blip r:embed="rId1"/>
          <a:srcRect/>
          <a:stretch>
            <a:fillRect/>
          </a:stretch>
        </p:blipFill>
        <p:spPr>
          <a:xfrm>
            <a:off x="1771650" y="76200"/>
            <a:ext cx="5452745" cy="482092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2430" y="654050"/>
            <a:ext cx="8294370" cy="4078605"/>
          </a:xfrm>
        </p:spPr>
        <p:txBody>
          <a:bodyPr/>
          <a:lstStyle/>
          <a:p>
            <a:pPr algn="just">
              <a:lnSpc>
                <a:spcPct val="120000"/>
              </a:lnSpc>
              <a:buFont typeface="Wingdings" panose="05000000000000000000" pitchFamily="2" charset="2"/>
              <a:buChar char="Ø"/>
            </a:pPr>
            <a:r>
              <a:rPr kumimoji="1"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It is noticeable that monthly figures for precipitation in Kolkata vary considerably, </a:t>
            </a:r>
            <a:r>
              <a:rPr kumimoji="1" lang="en-US" altLang="zh-CN" sz="1600" smtClean="0">
                <a:solidFill>
                  <a:srgbClr val="FF0000"/>
                </a:solidFill>
                <a:latin typeface="华文细黑" panose="02010600040101010101" charset="-122"/>
                <a:ea typeface="华文细黑" panose="02010600040101010101" charset="-122"/>
                <a:cs typeface="华文细黑" panose="02010600040101010101" charset="-122"/>
                <a:sym typeface="+mn-ea"/>
              </a:rPr>
              <a:t>whereas</a:t>
            </a:r>
            <a:r>
              <a:rPr kumimoji="1"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rPr>
              <a:t> monthly temperatures remain relatively stable.</a:t>
            </a:r>
            <a:endParaRPr kumimoji="1" lang="en-US" altLang="zh-CN" sz="1600" smtClean="0">
              <a:solidFill>
                <a:schemeClr val="tx1"/>
              </a:solidFill>
              <a:latin typeface="华文细黑" panose="02010600040101010101" charset="-122"/>
              <a:ea typeface="华文细黑" panose="02010600040101010101" charset="-122"/>
              <a:cs typeface="华文细黑" panose="02010600040101010101" charset="-122"/>
              <a:sym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47529" y="86982"/>
            <a:ext cx="5357850" cy="500066"/>
          </a:xfrm>
        </p:spPr>
        <p:txBody>
          <a:bodyPr/>
          <a:lstStyle/>
          <a:p>
            <a:r>
              <a:rPr lang="zh-CN" altLang="en-US" sz="2400">
                <a:solidFill>
                  <a:schemeClr val="tx1"/>
                </a:solidFill>
              </a:rPr>
              <a:t>Whether +完整句子/to do</a:t>
            </a:r>
            <a:endParaRPr lang="zh-CN" altLang="en-US" sz="2400">
              <a:solidFill>
                <a:schemeClr val="tx1"/>
              </a:solidFill>
            </a:endParaRPr>
          </a:p>
        </p:txBody>
      </p:sp>
      <p:sp>
        <p:nvSpPr>
          <p:cNvPr id="3" name="内容占位符 2"/>
          <p:cNvSpPr>
            <a:spLocks noGrp="1"/>
          </p:cNvSpPr>
          <p:nvPr>
            <p:ph idx="1"/>
          </p:nvPr>
        </p:nvSpPr>
        <p:spPr>
          <a:xfrm>
            <a:off x="323850" y="588010"/>
            <a:ext cx="8449310" cy="4389755"/>
          </a:xfrm>
        </p:spPr>
        <p:txBody>
          <a:bodyPr/>
          <a:lstStyle/>
          <a:p>
            <a:pPr>
              <a:lnSpc>
                <a:spcPct val="150000"/>
              </a:lnSpc>
            </a:pPr>
            <a:r>
              <a:rPr lang="zh-CN" altLang="en-US" sz="1800" u="sng">
                <a:solidFill>
                  <a:schemeClr val="tx1"/>
                </a:solidFill>
              </a:rPr>
              <a:t>Whether men and women should share housework equally</a:t>
            </a:r>
            <a:r>
              <a:rPr lang="zh-CN" altLang="en-US" sz="1800">
                <a:solidFill>
                  <a:schemeClr val="tx1"/>
                </a:solidFill>
              </a:rPr>
              <a:t> has triggered a heated debate. </a:t>
            </a:r>
            <a:endParaRPr lang="zh-CN" altLang="en-US" sz="1800">
              <a:solidFill>
                <a:schemeClr val="tx1"/>
              </a:solidFill>
            </a:endParaRPr>
          </a:p>
          <a:p>
            <a:pPr>
              <a:lnSpc>
                <a:spcPct val="150000"/>
              </a:lnSpc>
            </a:pPr>
            <a:r>
              <a:rPr lang="en-US" altLang="zh-CN" sz="1800">
                <a:solidFill>
                  <a:schemeClr val="tx1"/>
                </a:solidFill>
              </a:rPr>
              <a:t>It has triggered a heated debate</a:t>
            </a:r>
            <a:r>
              <a:rPr lang="en-US" altLang="zh-CN" sz="1800" u="sng">
                <a:solidFill>
                  <a:schemeClr val="tx1"/>
                </a:solidFill>
              </a:rPr>
              <a:t> whether men and women should share housework equally</a:t>
            </a:r>
            <a:r>
              <a:rPr lang="en-US" altLang="zh-CN" sz="1800">
                <a:solidFill>
                  <a:schemeClr val="tx1"/>
                </a:solidFill>
              </a:rPr>
              <a:t>.</a:t>
            </a:r>
            <a:endParaRPr lang="zh-CN" altLang="en-US" sz="1800">
              <a:solidFill>
                <a:schemeClr val="tx1"/>
              </a:solidFill>
            </a:endParaRPr>
          </a:p>
          <a:p>
            <a:pPr>
              <a:lnSpc>
                <a:spcPct val="150000"/>
              </a:lnSpc>
            </a:pPr>
            <a:r>
              <a:rPr lang="zh-CN" altLang="en-US" sz="1800">
                <a:solidFill>
                  <a:schemeClr val="tx1"/>
                </a:solidFill>
              </a:rPr>
              <a:t>是否要维护老建筑取决于他们的历史文化价值。</a:t>
            </a:r>
            <a:endParaRPr lang="zh-CN" altLang="en-US" sz="1800">
              <a:solidFill>
                <a:schemeClr val="tx1"/>
              </a:solidFill>
            </a:endParaRPr>
          </a:p>
          <a:p>
            <a:pPr>
              <a:lnSpc>
                <a:spcPct val="150000"/>
              </a:lnSpc>
            </a:pPr>
            <a:r>
              <a:rPr lang="zh-CN" altLang="en-US" sz="1800">
                <a:solidFill>
                  <a:schemeClr val="tx1"/>
                </a:solidFill>
              </a:rPr>
              <a:t>Whether to maintain old buildings depends on their significance in culture and history.</a:t>
            </a:r>
            <a:endParaRPr lang="zh-CN" altLang="en-US" sz="1800">
              <a:solidFill>
                <a:schemeClr val="tx1"/>
              </a:solidFill>
            </a:endParaRPr>
          </a:p>
          <a:p>
            <a:endParaRPr lang="zh-CN" altLang="en-US" sz="16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47529" y="86982"/>
            <a:ext cx="5357850" cy="500066"/>
          </a:xfrm>
        </p:spPr>
        <p:txBody>
          <a:bodyPr/>
          <a:lstStyle/>
          <a:p>
            <a:r>
              <a:rPr lang="zh-CN" altLang="en-US" sz="2400">
                <a:solidFill>
                  <a:schemeClr val="tx1"/>
                </a:solidFill>
              </a:rPr>
              <a:t>Whether +完整句子/to do</a:t>
            </a:r>
            <a:endParaRPr lang="zh-CN" altLang="en-US" sz="2400">
              <a:solidFill>
                <a:schemeClr val="tx1"/>
              </a:solidFill>
            </a:endParaRPr>
          </a:p>
        </p:txBody>
      </p:sp>
      <p:sp>
        <p:nvSpPr>
          <p:cNvPr id="3" name="内容占位符 2"/>
          <p:cNvSpPr>
            <a:spLocks noGrp="1"/>
          </p:cNvSpPr>
          <p:nvPr>
            <p:ph idx="1"/>
          </p:nvPr>
        </p:nvSpPr>
        <p:spPr>
          <a:xfrm>
            <a:off x="338455" y="690245"/>
            <a:ext cx="8434705" cy="4287520"/>
          </a:xfrm>
        </p:spPr>
        <p:txBody>
          <a:bodyPr/>
          <a:lstStyle/>
          <a:p>
            <a:pPr>
              <a:lnSpc>
                <a:spcPct val="150000"/>
              </a:lnSpc>
            </a:pPr>
            <a:r>
              <a:rPr lang="zh-CN" altLang="en-US" sz="1800">
                <a:solidFill>
                  <a:schemeClr val="tx1"/>
                </a:solidFill>
              </a:rPr>
              <a:t>在大城市盖房子还是种树取决于住房需求是否被满足。</a:t>
            </a:r>
            <a:endParaRPr lang="zh-CN" altLang="en-US" sz="1800">
              <a:solidFill>
                <a:schemeClr val="tx1"/>
              </a:solidFill>
            </a:endParaRPr>
          </a:p>
          <a:p>
            <a:pPr>
              <a:lnSpc>
                <a:spcPct val="150000"/>
              </a:lnSpc>
            </a:pPr>
            <a:r>
              <a:rPr lang="zh-CN" altLang="en-US" sz="1800">
                <a:solidFill>
                  <a:schemeClr val="tx1"/>
                </a:solidFill>
              </a:rPr>
              <a:t>Whether to build houses or plant trees in the metropolis depends on whether the housing needs have been met.</a:t>
            </a:r>
            <a:endParaRPr lang="zh-CN" altLang="en-US" sz="1800">
              <a:solidFill>
                <a:schemeClr val="tx1"/>
              </a:solidFill>
            </a:endParaRPr>
          </a:p>
          <a:p>
            <a:pPr>
              <a:lnSpc>
                <a:spcPct val="150000"/>
              </a:lnSpc>
            </a:pPr>
            <a:r>
              <a:rPr lang="zh-CN" altLang="en-US" sz="1800">
                <a:solidFill>
                  <a:schemeClr val="tx1"/>
                </a:solidFill>
              </a:rPr>
              <a:t>Building houses or planting trees in the metropolis depends on whether the housing needs have been met. </a:t>
            </a:r>
            <a:endParaRPr lang="zh-CN" altLang="en-US" sz="1600">
              <a:solidFill>
                <a:schemeClr val="tx1"/>
              </a:solidFill>
            </a:endParaRPr>
          </a:p>
          <a:p>
            <a:endParaRPr lang="zh-CN" altLang="en-US" sz="16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a:solidFill>
                  <a:schemeClr val="tx1"/>
                </a:solidFill>
              </a:rPr>
              <a:t>Whether +完整句子/to do</a:t>
            </a:r>
            <a:endParaRPr lang="zh-CN" altLang="en-US" sz="2400">
              <a:solidFill>
                <a:schemeClr val="tx1"/>
              </a:solidFill>
            </a:endParaRPr>
          </a:p>
        </p:txBody>
      </p:sp>
      <p:sp>
        <p:nvSpPr>
          <p:cNvPr id="3" name="内容占位符 2"/>
          <p:cNvSpPr>
            <a:spLocks noGrp="1"/>
          </p:cNvSpPr>
          <p:nvPr>
            <p:ph idx="1"/>
          </p:nvPr>
        </p:nvSpPr>
        <p:spPr/>
        <p:txBody>
          <a:bodyPr/>
          <a:lstStyle/>
          <a:p>
            <a:pPr>
              <a:lnSpc>
                <a:spcPct val="150000"/>
              </a:lnSpc>
            </a:pPr>
            <a:r>
              <a:rPr lang="zh-CN" altLang="en-US" sz="2000">
                <a:solidFill>
                  <a:schemeClr val="tx1"/>
                </a:solidFill>
              </a:rPr>
              <a:t>一个员工的工作质量和穿着是否都很重要取决于他在哪工作。 </a:t>
            </a:r>
            <a:endParaRPr lang="zh-CN" altLang="en-US" sz="2000">
              <a:solidFill>
                <a:schemeClr val="tx1"/>
              </a:solidFill>
            </a:endParaRPr>
          </a:p>
          <a:p>
            <a:pPr>
              <a:lnSpc>
                <a:spcPct val="150000"/>
              </a:lnSpc>
            </a:pPr>
            <a:r>
              <a:rPr lang="zh-CN" altLang="en-US" sz="2000">
                <a:solidFill>
                  <a:schemeClr val="tx1"/>
                </a:solidFill>
              </a:rPr>
              <a:t>Whether an employee</a:t>
            </a:r>
            <a:r>
              <a:rPr lang="en-US" altLang="zh-CN" sz="2000">
                <a:solidFill>
                  <a:schemeClr val="tx1"/>
                </a:solidFill>
              </a:rPr>
              <a:t>’</a:t>
            </a:r>
            <a:r>
              <a:rPr lang="zh-CN" altLang="en-US" sz="2000">
                <a:solidFill>
                  <a:schemeClr val="tx1"/>
                </a:solidFill>
              </a:rPr>
              <a:t>s work quality and dress</a:t>
            </a:r>
            <a:r>
              <a:rPr lang="en-US" altLang="zh-CN" sz="2000">
                <a:solidFill>
                  <a:schemeClr val="tx1"/>
                </a:solidFill>
              </a:rPr>
              <a:t>ing</a:t>
            </a:r>
            <a:r>
              <a:rPr lang="zh-CN" altLang="en-US" sz="2000">
                <a:solidFill>
                  <a:schemeClr val="tx1"/>
                </a:solidFill>
              </a:rPr>
              <a:t> </a:t>
            </a:r>
            <a:r>
              <a:rPr lang="en-US" altLang="zh-CN" sz="2000">
                <a:solidFill>
                  <a:schemeClr val="tx1"/>
                </a:solidFill>
              </a:rPr>
              <a:t>are both</a:t>
            </a:r>
            <a:r>
              <a:rPr lang="zh-CN" altLang="en-US" sz="2000">
                <a:solidFill>
                  <a:schemeClr val="tx1"/>
                </a:solidFill>
              </a:rPr>
              <a:t> important depends on where </a:t>
            </a:r>
            <a:r>
              <a:rPr lang="en-US" altLang="zh-CN" sz="2000">
                <a:solidFill>
                  <a:schemeClr val="tx1"/>
                </a:solidFill>
              </a:rPr>
              <a:t>they</a:t>
            </a:r>
            <a:r>
              <a:rPr lang="zh-CN" altLang="en-US" sz="2000">
                <a:solidFill>
                  <a:schemeClr val="tx1"/>
                </a:solidFill>
              </a:rPr>
              <a:t> work.</a:t>
            </a:r>
            <a:endParaRPr lang="zh-CN" altLang="en-US" sz="2000">
              <a:solidFill>
                <a:schemeClr val="tx1"/>
              </a:solidFill>
            </a:endParaRPr>
          </a:p>
          <a:p>
            <a:pPr>
              <a:lnSpc>
                <a:spcPct val="150000"/>
              </a:lnSpc>
            </a:pPr>
            <a:r>
              <a:rPr lang="zh-CN" altLang="en-US" sz="2000">
                <a:solidFill>
                  <a:schemeClr val="tx1"/>
                </a:solidFill>
              </a:rPr>
              <a:t>是否应该雇佣年轻人担任政府的重要职业吸引了我们的关注</a:t>
            </a:r>
            <a:endParaRPr lang="zh-CN" altLang="en-US" sz="2000">
              <a:solidFill>
                <a:schemeClr val="tx1"/>
              </a:solidFill>
            </a:endParaRPr>
          </a:p>
          <a:p>
            <a:pPr>
              <a:lnSpc>
                <a:spcPct val="150000"/>
              </a:lnSpc>
            </a:pPr>
            <a:r>
              <a:rPr lang="zh-CN" altLang="en-US" sz="2000">
                <a:solidFill>
                  <a:schemeClr val="tx1"/>
                </a:solidFill>
              </a:rPr>
              <a:t>Whether to employ young people to undertake important positions of the government has attracted our great attention.</a:t>
            </a:r>
            <a:endParaRPr lang="zh-CN" altLang="en-US"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6890385" cy="500380"/>
          </a:xfrm>
        </p:spPr>
        <p:txBody>
          <a:bodyPr/>
          <a:lstStyle/>
          <a:p>
            <a:r>
              <a:rPr lang="zh-CN" altLang="en-US" sz="2400">
                <a:solidFill>
                  <a:schemeClr val="tx1"/>
                </a:solidFill>
              </a:rPr>
              <a:t>What+不完整句子  指代事/物</a:t>
            </a:r>
            <a:endParaRPr lang="zh-CN" altLang="en-US" sz="2400">
              <a:solidFill>
                <a:schemeClr val="tx1"/>
              </a:solidFill>
            </a:endParaRPr>
          </a:p>
        </p:txBody>
      </p:sp>
      <p:sp>
        <p:nvSpPr>
          <p:cNvPr id="3" name="内容占位符 2"/>
          <p:cNvSpPr>
            <a:spLocks noGrp="1"/>
          </p:cNvSpPr>
          <p:nvPr>
            <p:ph idx="1"/>
          </p:nvPr>
        </p:nvSpPr>
        <p:spPr/>
        <p:txBody>
          <a:bodyPr/>
          <a:lstStyle/>
          <a:p>
            <a:pPr>
              <a:lnSpc>
                <a:spcPct val="150000"/>
              </a:lnSpc>
            </a:pPr>
            <a:r>
              <a:rPr lang="zh-CN" altLang="en-US" sz="2000">
                <a:solidFill>
                  <a:schemeClr val="tx1"/>
                </a:solidFill>
              </a:rPr>
              <a:t>What the government should do is......</a:t>
            </a:r>
            <a:endParaRPr lang="zh-CN" altLang="en-US" sz="2000">
              <a:solidFill>
                <a:schemeClr val="tx1"/>
              </a:solidFill>
            </a:endParaRPr>
          </a:p>
          <a:p>
            <a:pPr>
              <a:lnSpc>
                <a:spcPct val="150000"/>
              </a:lnSpc>
            </a:pPr>
            <a:r>
              <a:rPr lang="zh-CN" altLang="en-US" sz="2000">
                <a:solidFill>
                  <a:schemeClr val="tx1"/>
                </a:solidFill>
              </a:rPr>
              <a:t>What the government and parents should be concerned about is.....</a:t>
            </a:r>
            <a:endParaRPr lang="zh-CN" altLang="en-US" sz="2000">
              <a:solidFill>
                <a:schemeClr val="tx1"/>
              </a:solidFill>
            </a:endParaRPr>
          </a:p>
          <a:p>
            <a:pPr>
              <a:lnSpc>
                <a:spcPct val="150000"/>
              </a:lnSpc>
            </a:pPr>
            <a:r>
              <a:rPr lang="zh-CN" altLang="en-US" sz="2000">
                <a:solidFill>
                  <a:schemeClr val="tx1"/>
                </a:solidFill>
              </a:rPr>
              <a:t>What makes XX and XX especially worried is ......</a:t>
            </a:r>
            <a:endParaRPr lang="zh-CN" altLang="en-US" sz="2000">
              <a:solidFill>
                <a:schemeClr val="tx1"/>
              </a:solidFill>
            </a:endParaRPr>
          </a:p>
          <a:p>
            <a:pPr>
              <a:lnSpc>
                <a:spcPct val="150000"/>
              </a:lnSpc>
            </a:pPr>
            <a:r>
              <a:rPr lang="zh-CN" altLang="en-US" sz="1600">
                <a:solidFill>
                  <a:schemeClr val="tx1"/>
                </a:solidFill>
              </a:rPr>
              <a:t>政府和家长应该共同关心的是现在青少年把网红当偶像而不是科学家和艺术家。</a:t>
            </a:r>
            <a:endParaRPr lang="zh-CN" altLang="en-US" sz="1600">
              <a:solidFill>
                <a:schemeClr val="tx1"/>
              </a:solidFill>
            </a:endParaRPr>
          </a:p>
          <a:p>
            <a:pPr>
              <a:lnSpc>
                <a:spcPct val="150000"/>
              </a:lnSpc>
            </a:pPr>
            <a:r>
              <a:rPr lang="zh-CN" altLang="en-US" sz="2000">
                <a:solidFill>
                  <a:schemeClr val="tx1"/>
                </a:solidFill>
              </a:rPr>
              <a:t>What the government and parents should be concerned about is that nowadays teenagers regard celebrities online as role models rather than scientists and artists.</a:t>
            </a:r>
            <a:endParaRPr lang="zh-CN" altLang="en-US"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0210" y="563880"/>
            <a:ext cx="6890385" cy="500380"/>
          </a:xfrm>
        </p:spPr>
        <p:txBody>
          <a:bodyPr/>
          <a:lstStyle/>
          <a:p>
            <a:r>
              <a:rPr lang="zh-CN" altLang="en-US" sz="2400">
                <a:solidFill>
                  <a:schemeClr val="tx1"/>
                </a:solidFill>
              </a:rPr>
              <a:t>What+不完整句子  指代事/物</a:t>
            </a:r>
            <a:endParaRPr lang="zh-CN" altLang="en-US" sz="2400">
              <a:solidFill>
                <a:schemeClr val="tx1"/>
              </a:solidFill>
            </a:endParaRPr>
          </a:p>
        </p:txBody>
      </p:sp>
      <p:sp>
        <p:nvSpPr>
          <p:cNvPr id="3" name="内容占位符 2"/>
          <p:cNvSpPr>
            <a:spLocks noGrp="1"/>
          </p:cNvSpPr>
          <p:nvPr>
            <p:ph idx="1"/>
          </p:nvPr>
        </p:nvSpPr>
        <p:spPr>
          <a:xfrm>
            <a:off x="410210" y="1214755"/>
            <a:ext cx="8569960" cy="3517900"/>
          </a:xfrm>
        </p:spPr>
        <p:txBody>
          <a:bodyPr/>
          <a:lstStyle/>
          <a:p>
            <a:pPr>
              <a:lnSpc>
                <a:spcPct val="150000"/>
              </a:lnSpc>
            </a:pPr>
            <a:r>
              <a:rPr lang="zh-CN" altLang="en-US" sz="1800" dirty="0">
                <a:solidFill>
                  <a:schemeClr val="tx1"/>
                </a:solidFill>
              </a:rPr>
              <a:t>让我妈妈尤其担心的是我选择去以色列旅游。</a:t>
            </a:r>
            <a:endParaRPr lang="zh-CN" altLang="en-US" sz="1800" dirty="0">
              <a:solidFill>
                <a:schemeClr val="tx1"/>
              </a:solidFill>
            </a:endParaRPr>
          </a:p>
          <a:p>
            <a:pPr>
              <a:lnSpc>
                <a:spcPct val="150000"/>
              </a:lnSpc>
            </a:pPr>
            <a:r>
              <a:rPr lang="zh-CN" altLang="en-US" sz="2000" dirty="0">
                <a:solidFill>
                  <a:schemeClr val="tx1"/>
                </a:solidFill>
              </a:rPr>
              <a:t>What makes my mother especially worried is that I choose to travel to Israel. </a:t>
            </a:r>
            <a:endParaRPr lang="zh-CN" altLang="en-US" sz="2000" dirty="0">
              <a:solidFill>
                <a:schemeClr val="tx1"/>
              </a:solidFill>
            </a:endParaRPr>
          </a:p>
          <a:p>
            <a:pPr>
              <a:lnSpc>
                <a:spcPct val="150000"/>
              </a:lnSpc>
            </a:pPr>
            <a:r>
              <a:rPr lang="zh-CN" altLang="en-US" sz="1800" dirty="0">
                <a:solidFill>
                  <a:schemeClr val="tx1"/>
                </a:solidFill>
              </a:rPr>
              <a:t>国家和公众应该共同努力去做的是维护政府和居民之间的和平。</a:t>
            </a:r>
            <a:endParaRPr lang="zh-CN" altLang="en-US" sz="1800" dirty="0">
              <a:solidFill>
                <a:schemeClr val="tx1"/>
              </a:solidFill>
            </a:endParaRPr>
          </a:p>
          <a:p>
            <a:pPr>
              <a:lnSpc>
                <a:spcPct val="150000"/>
              </a:lnSpc>
            </a:pPr>
            <a:r>
              <a:rPr lang="zh-CN" altLang="en-US" sz="2000" dirty="0">
                <a:solidFill>
                  <a:schemeClr val="tx1"/>
                </a:solidFill>
              </a:rPr>
              <a:t>What the country and the public should make joint efforts to do is to maintain peace between the authority and citizens.</a:t>
            </a:r>
            <a:endParaRPr lang="zh-CN" altLang="en-US" sz="2000" dirty="0">
              <a:solidFill>
                <a:schemeClr val="tx1"/>
              </a:solidFill>
            </a:endParaRPr>
          </a:p>
          <a:p>
            <a:pPr>
              <a:lnSpc>
                <a:spcPct val="150000"/>
              </a:lnSpc>
            </a:pPr>
            <a:endParaRPr lang="zh-CN" altLang="en-US"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6890385" cy="500380"/>
          </a:xfrm>
        </p:spPr>
        <p:txBody>
          <a:bodyPr/>
          <a:lstStyle/>
          <a:p>
            <a:r>
              <a:rPr lang="zh-CN" altLang="en-US" sz="2400">
                <a:solidFill>
                  <a:schemeClr val="tx1"/>
                </a:solidFill>
              </a:rPr>
              <a:t>Wh</a:t>
            </a:r>
            <a:r>
              <a:rPr lang="en-US" altLang="zh-CN" sz="2400">
                <a:solidFill>
                  <a:schemeClr val="tx1"/>
                </a:solidFill>
              </a:rPr>
              <a:t>o</a:t>
            </a:r>
            <a:r>
              <a:rPr lang="zh-CN" altLang="en-US" sz="2400">
                <a:solidFill>
                  <a:schemeClr val="tx1"/>
                </a:solidFill>
              </a:rPr>
              <a:t>+不完整句子  指代</a:t>
            </a:r>
            <a:r>
              <a:rPr lang="zh-CN" altLang="en-US" sz="2400">
                <a:solidFill>
                  <a:schemeClr val="tx1"/>
                </a:solidFill>
              </a:rPr>
              <a:t>人</a:t>
            </a:r>
            <a:endParaRPr lang="zh-CN" altLang="en-US" sz="2400">
              <a:solidFill>
                <a:schemeClr val="tx1"/>
              </a:solidFill>
            </a:endParaRPr>
          </a:p>
        </p:txBody>
      </p:sp>
      <p:sp>
        <p:nvSpPr>
          <p:cNvPr id="3" name="内容占位符 2"/>
          <p:cNvSpPr>
            <a:spLocks noGrp="1"/>
          </p:cNvSpPr>
          <p:nvPr>
            <p:ph idx="1"/>
          </p:nvPr>
        </p:nvSpPr>
        <p:spPr/>
        <p:txBody>
          <a:bodyPr/>
          <a:lstStyle/>
          <a:p>
            <a:pPr>
              <a:lnSpc>
                <a:spcPct val="110000"/>
              </a:lnSpc>
            </a:pPr>
            <a:r>
              <a:rPr lang="en-US" altLang="zh-CN" sz="2000">
                <a:solidFill>
                  <a:schemeClr val="tx1"/>
                </a:solidFill>
              </a:rPr>
              <a:t>Who will hold the conference has not been decided yet.</a:t>
            </a:r>
            <a:endParaRPr lang="en-US" altLang="zh-CN" sz="2000">
              <a:solidFill>
                <a:schemeClr val="tx1"/>
              </a:solidFill>
            </a:endParaRPr>
          </a:p>
          <a:p>
            <a:pPr>
              <a:lnSpc>
                <a:spcPct val="110000"/>
              </a:lnSpc>
            </a:pPr>
            <a:r>
              <a:rPr lang="en-US" altLang="zh-CN" sz="2000">
                <a:solidFill>
                  <a:schemeClr val="tx1"/>
                </a:solidFill>
              </a:rPr>
              <a:t>Who will be invited to my party is my business.</a:t>
            </a:r>
            <a:endParaRPr lang="en-US" altLang="zh-CN" sz="2000">
              <a:solidFill>
                <a:schemeClr val="tx1"/>
              </a:solidFill>
            </a:endParaRPr>
          </a:p>
          <a:p>
            <a:pPr>
              <a:lnSpc>
                <a:spcPct val="110000"/>
              </a:lnSpc>
            </a:pPr>
            <a:r>
              <a:rPr lang="en-US" altLang="zh-CN" sz="2000">
                <a:solidFill>
                  <a:schemeClr val="tx1"/>
                </a:solidFill>
              </a:rPr>
              <a:t>Who I will invite to my party is my business, not yours.</a:t>
            </a:r>
            <a:endParaRPr lang="en-US" altLang="zh-CN" sz="2000">
              <a:solidFill>
                <a:schemeClr val="tx1"/>
              </a:solidFill>
            </a:endParaRPr>
          </a:p>
          <a:p>
            <a:pPr algn="l">
              <a:lnSpc>
                <a:spcPct val="110000"/>
              </a:lnSpc>
              <a:buClrTx/>
              <a:buSzTx/>
            </a:pPr>
            <a:r>
              <a:rPr lang="en-US" altLang="zh-CN" sz="1600">
                <a:solidFill>
                  <a:schemeClr val="tx1"/>
                </a:solidFill>
              </a:rPr>
              <a:t>谁应该为当地环境负责已经引发了我们极大的讨论。</a:t>
            </a:r>
            <a:endParaRPr lang="en-US" altLang="zh-CN" sz="1600">
              <a:solidFill>
                <a:schemeClr val="tx1"/>
              </a:solidFill>
            </a:endParaRPr>
          </a:p>
          <a:p>
            <a:pPr algn="l">
              <a:lnSpc>
                <a:spcPct val="110000"/>
              </a:lnSpc>
              <a:buClrTx/>
              <a:buSzTx/>
            </a:pPr>
            <a:r>
              <a:rPr lang="en-US" altLang="zh-CN" sz="2000">
                <a:solidFill>
                  <a:schemeClr val="tx1"/>
                </a:solidFill>
              </a:rPr>
              <a:t>Who should be responsible for the local environment has triggered a heated discussion.</a:t>
            </a:r>
            <a:endParaRPr lang="en-US" altLang="zh-CN" sz="2000">
              <a:solidFill>
                <a:schemeClr val="tx1"/>
              </a:solidFill>
            </a:endParaRPr>
          </a:p>
          <a:p>
            <a:pPr algn="l">
              <a:lnSpc>
                <a:spcPct val="110000"/>
              </a:lnSpc>
              <a:buClrTx/>
              <a:buSzTx/>
            </a:pPr>
            <a:r>
              <a:rPr lang="en-US" altLang="zh-CN" sz="1600">
                <a:solidFill>
                  <a:schemeClr val="tx1"/>
                </a:solidFill>
                <a:sym typeface="+mn-ea"/>
              </a:rPr>
              <a:t>谁更适合做政府部门的领导，老年人还是年轻人，已经引发了一个热烈的讨论。</a:t>
            </a:r>
            <a:endParaRPr lang="en-US" altLang="zh-CN" sz="1600">
              <a:solidFill>
                <a:schemeClr val="tx1"/>
              </a:solidFill>
            </a:endParaRPr>
          </a:p>
          <a:p>
            <a:pPr algn="l">
              <a:lnSpc>
                <a:spcPct val="110000"/>
              </a:lnSpc>
              <a:buClrTx/>
              <a:buSzTx/>
            </a:pPr>
            <a:r>
              <a:rPr lang="en-US" altLang="zh-CN" sz="2000">
                <a:solidFill>
                  <a:schemeClr val="tx1"/>
                </a:solidFill>
                <a:sym typeface="+mn-ea"/>
              </a:rPr>
              <a:t>Who are more suitable to be leaders of the government, the elderly or the young, has triggered a heated discussion.</a:t>
            </a:r>
            <a:endParaRPr lang="en-US" altLang="zh-CN" sz="2000">
              <a:solidFill>
                <a:schemeClr val="tx1"/>
              </a:solidFill>
            </a:endParaRPr>
          </a:p>
          <a:p>
            <a:pPr algn="l">
              <a:lnSpc>
                <a:spcPct val="80000"/>
              </a:lnSpc>
              <a:buClrTx/>
              <a:buSzTx/>
            </a:pPr>
            <a:endParaRPr lang="en-US" altLang="zh-CN" sz="2000">
              <a:solidFill>
                <a:schemeClr val="tx1"/>
              </a:solidFill>
            </a:endParaRPr>
          </a:p>
          <a:p>
            <a:pPr>
              <a:lnSpc>
                <a:spcPct val="150000"/>
              </a:lnSpc>
            </a:pPr>
            <a:endParaRPr lang="en-US" altLang="zh-CN"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6818630" cy="500380"/>
          </a:xfrm>
        </p:spPr>
        <p:txBody>
          <a:bodyPr/>
          <a:lstStyle/>
          <a:p>
            <a:pPr algn="l">
              <a:buClrTx/>
              <a:buSzTx/>
              <a:buFontTx/>
            </a:pPr>
            <a:r>
              <a:rPr lang="zh-CN" altLang="en-US" sz="2400">
                <a:solidFill>
                  <a:schemeClr val="tx1"/>
                </a:solidFill>
                <a:sym typeface="+mn-ea"/>
              </a:rPr>
              <a:t>How/when/where/why+完整句子</a:t>
            </a:r>
            <a:endParaRPr lang="zh-CN" altLang="en-US" sz="2400">
              <a:solidFill>
                <a:schemeClr val="tx1"/>
              </a:solidFill>
              <a:sym typeface="+mn-ea"/>
            </a:endParaRPr>
          </a:p>
        </p:txBody>
      </p:sp>
      <p:sp>
        <p:nvSpPr>
          <p:cNvPr id="3" name="内容占位符 2"/>
          <p:cNvSpPr>
            <a:spLocks noGrp="1"/>
          </p:cNvSpPr>
          <p:nvPr>
            <p:ph idx="1"/>
          </p:nvPr>
        </p:nvSpPr>
        <p:spPr>
          <a:xfrm>
            <a:off x="457200" y="1428750"/>
            <a:ext cx="8475345" cy="3303905"/>
          </a:xfrm>
        </p:spPr>
        <p:txBody>
          <a:bodyPr/>
          <a:lstStyle/>
          <a:p>
            <a:r>
              <a:rPr lang="zh-CN" altLang="en-US" sz="2400">
                <a:solidFill>
                  <a:schemeClr val="tx1"/>
                </a:solidFill>
              </a:rPr>
              <a:t>How/when/where/why I hold the party is my business.</a:t>
            </a:r>
            <a:endParaRPr lang="zh-CN" altLang="en-US" sz="2400">
              <a:solidFill>
                <a:schemeClr val="tx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a:xfrm>
            <a:off x="466725" y="411163"/>
            <a:ext cx="7770813" cy="1028700"/>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宾语从句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6386" name="内容占位符 2"/>
          <p:cNvSpPr>
            <a:spLocks noGrp="1"/>
          </p:cNvSpPr>
          <p:nvPr>
            <p:ph idx="1"/>
          </p:nvPr>
        </p:nvSpPr>
        <p:spPr>
          <a:xfrm>
            <a:off x="419100" y="1272540"/>
            <a:ext cx="8289925" cy="3550285"/>
          </a:xfrm>
        </p:spPr>
        <p:txBody>
          <a:bodyPr/>
          <a:lstStyle/>
          <a:p>
            <a:pPr>
              <a:buFont typeface="Wingdings" panose="05000000000000000000" pitchFamily="2" charset="2"/>
              <a:buChar char="Ø"/>
            </a:pPr>
            <a:r>
              <a:rPr smtClean="0">
                <a:solidFill>
                  <a:schemeClr val="tx1"/>
                </a:solidFill>
                <a:latin typeface="华文细黑" panose="02010600040101010101" charset="-122"/>
                <a:ea typeface="华文细黑" panose="02010600040101010101" charset="-122"/>
                <a:cs typeface="Times New Roman" panose="02020603050405020304" pitchFamily="18" charset="0"/>
              </a:rPr>
              <a:t>从句在句子中做宾语，that可以省略，引导词同上。放在谓语动词和介词之后。</a:t>
            </a:r>
            <a:endParaRPr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mtClean="0">
                <a:solidFill>
                  <a:schemeClr val="tx1"/>
                </a:solidFill>
                <a:latin typeface="华文细黑" panose="02010600040101010101" charset="-122"/>
                <a:ea typeface="华文细黑" panose="02010600040101010101" charset="-122"/>
                <a:cs typeface="Times New Roman" panose="02020603050405020304" pitchFamily="18" charset="0"/>
              </a:rPr>
              <a:t>I think he is handsome.</a:t>
            </a:r>
            <a:endParaRPr lang="en-US"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mtClean="0">
                <a:solidFill>
                  <a:schemeClr val="tx1"/>
                </a:solidFill>
                <a:latin typeface="华文细黑" panose="02010600040101010101" charset="-122"/>
                <a:ea typeface="华文细黑" panose="02010600040101010101" charset="-122"/>
                <a:cs typeface="Times New Roman" panose="02020603050405020304" pitchFamily="18" charset="0"/>
              </a:rPr>
              <a:t>I think he is not handsome.</a:t>
            </a:r>
            <a:endParaRPr lang="en-US"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mtClean="0">
                <a:solidFill>
                  <a:schemeClr val="tx1"/>
                </a:solidFill>
                <a:latin typeface="华文细黑" panose="02010600040101010101" charset="-122"/>
                <a:ea typeface="华文细黑" panose="02010600040101010101" charset="-122"/>
                <a:cs typeface="Times New Roman" panose="02020603050405020304" pitchFamily="18" charset="0"/>
              </a:rPr>
              <a:t>I do not think he is handsome.</a:t>
            </a:r>
            <a:endParaRPr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endParaRPr smtClean="0">
              <a:solidFill>
                <a:schemeClr val="tx1"/>
              </a:solidFill>
              <a:latin typeface="华文细黑" panose="02010600040101010101" charset="-122"/>
              <a:ea typeface="华文细黑" panose="02010600040101010101"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a:xfrm>
            <a:off x="466725" y="411163"/>
            <a:ext cx="7770813" cy="1028700"/>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常用宾语从句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6386" name="内容占位符 2"/>
          <p:cNvSpPr>
            <a:spLocks noGrp="1"/>
          </p:cNvSpPr>
          <p:nvPr>
            <p:ph idx="1"/>
          </p:nvPr>
        </p:nvSpPr>
        <p:spPr>
          <a:xfrm>
            <a:off x="394335" y="1236980"/>
            <a:ext cx="8385810" cy="3906520"/>
          </a:xfrm>
        </p:spPr>
        <p:txBody>
          <a:bodyPr/>
          <a:lstStyle/>
          <a:p>
            <a:pPr>
              <a:buFont typeface="Wingdings" panose="05000000000000000000" pitchFamily="2" charset="2"/>
              <a:buChar char="Ø"/>
            </a:pPr>
            <a:r>
              <a:rPr sz="1600" smtClean="0">
                <a:solidFill>
                  <a:schemeClr val="tx1"/>
                </a:solidFill>
                <a:latin typeface="华文细黑" panose="02010600040101010101" charset="-122"/>
                <a:ea typeface="华文细黑" panose="02010600040101010101" charset="-122"/>
                <a:cs typeface="Times New Roman" panose="02020603050405020304" pitchFamily="18" charset="0"/>
              </a:rPr>
              <a:t>I believe/think/hold/argue that......</a:t>
            </a:r>
            <a:endParaRPr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sz="1600" smtClean="0">
                <a:solidFill>
                  <a:schemeClr val="tx1"/>
                </a:solidFill>
                <a:latin typeface="华文细黑" panose="02010600040101010101" charset="-122"/>
                <a:ea typeface="华文细黑" panose="02010600040101010101" charset="-122"/>
                <a:cs typeface="Times New Roman" panose="02020603050405020304" pitchFamily="18" charset="0"/>
              </a:rPr>
              <a:t>一句话，which means that.......</a:t>
            </a:r>
            <a:endParaRPr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sz="1600" smtClean="0">
                <a:solidFill>
                  <a:schemeClr val="tx1"/>
                </a:solidFill>
                <a:latin typeface="华文细黑" panose="02010600040101010101" charset="-122"/>
                <a:ea typeface="华文细黑" panose="02010600040101010101" charset="-122"/>
                <a:cs typeface="Times New Roman" panose="02020603050405020304" pitchFamily="18" charset="0"/>
              </a:rPr>
              <a:t>This means that......</a:t>
            </a:r>
            <a:endParaRPr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However, t</a:t>
            </a:r>
            <a:r>
              <a:rPr sz="1600" smtClean="0">
                <a:solidFill>
                  <a:schemeClr val="tx1"/>
                </a:solidFill>
                <a:latin typeface="华文细黑" panose="02010600040101010101" charset="-122"/>
                <a:ea typeface="华文细黑" panose="02010600040101010101" charset="-122"/>
                <a:cs typeface="Times New Roman" panose="02020603050405020304" pitchFamily="18" charset="0"/>
              </a:rPr>
              <a:t>his does not necessarily mean that.....（转折段）</a:t>
            </a:r>
            <a:endParaRPr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In spite of above arguments, I still believe that.....</a:t>
            </a:r>
            <a:endParaRPr 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Some people have different views about....</a:t>
            </a:r>
            <a:endParaRPr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The line chart illustrates </a:t>
            </a:r>
            <a:r>
              <a:rPr lang="en-US" sz="1600" u="sng" smtClean="0">
                <a:solidFill>
                  <a:srgbClr val="0070C0"/>
                </a:solidFill>
                <a:latin typeface="华文细黑" panose="02010600040101010101" charset="-122"/>
                <a:ea typeface="华文细黑" panose="02010600040101010101" charset="-122"/>
                <a:cs typeface="Times New Roman" panose="02020603050405020304" pitchFamily="18" charset="0"/>
              </a:rPr>
              <a:t>how the proportion of girls changed from 1993 to 2003</a:t>
            </a: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a:t>
            </a:r>
            <a:endParaRPr 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The flow chart illustrates </a:t>
            </a:r>
            <a:r>
              <a:rPr lang="en-US" sz="1600" u="sng" smtClean="0">
                <a:solidFill>
                  <a:srgbClr val="0070C0"/>
                </a:solidFill>
                <a:latin typeface="华文细黑" panose="02010600040101010101" charset="-122"/>
                <a:ea typeface="华文细黑" panose="02010600040101010101" charset="-122"/>
                <a:cs typeface="Times New Roman" panose="02020603050405020304" pitchFamily="18" charset="0"/>
              </a:rPr>
              <a:t>how the peach cans are produced</a:t>
            </a: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a:t>
            </a:r>
            <a:endParaRPr 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lgn="l">
              <a:buFont typeface="Wingdings" panose="05000000000000000000" pitchFamily="2" charset="2"/>
              <a:buChar char="Ø"/>
            </a:pP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The two maps compare </a:t>
            </a:r>
            <a:r>
              <a:rPr lang="en-US" sz="1600" u="sng" smtClean="0">
                <a:solidFill>
                  <a:srgbClr val="0070C0"/>
                </a:solidFill>
                <a:latin typeface="华文细黑" panose="02010600040101010101" charset="-122"/>
                <a:ea typeface="华文细黑" panose="02010600040101010101" charset="-122"/>
                <a:cs typeface="Times New Roman" panose="02020603050405020304" pitchFamily="18" charset="0"/>
              </a:rPr>
              <a:t>how the village has been rebuilt in the past thirty years</a:t>
            </a:r>
            <a:r>
              <a:rPr lang="en-US" sz="1600" smtClean="0">
                <a:solidFill>
                  <a:schemeClr val="tx1"/>
                </a:solidFill>
                <a:latin typeface="华文细黑" panose="02010600040101010101" charset="-122"/>
                <a:ea typeface="华文细黑" panose="02010600040101010101" charset="-122"/>
                <a:cs typeface="Times New Roman" panose="02020603050405020304" pitchFamily="18" charset="0"/>
              </a:rPr>
              <a:t>.</a:t>
            </a:r>
            <a:endParaRPr 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 calcmode="lin" valueType="num">
                                      <p:cBhvr additive="base">
                                        <p:cTn id="7" dur="500" fill="hold"/>
                                        <p:tgtEl>
                                          <p:spTgt spid="163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386">
                                            <p:txEl>
                                              <p:pRg st="1" end="1"/>
                                            </p:txEl>
                                          </p:spTgt>
                                        </p:tgtEl>
                                        <p:attrNameLst>
                                          <p:attrName>style.visibility</p:attrName>
                                        </p:attrNameLst>
                                      </p:cBhvr>
                                      <p:to>
                                        <p:strVal val="visible"/>
                                      </p:to>
                                    </p:set>
                                    <p:anim calcmode="lin" valueType="num">
                                      <p:cBhvr additive="base">
                                        <p:cTn id="13" dur="500" fill="hold"/>
                                        <p:tgtEl>
                                          <p:spTgt spid="1638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6">
                                            <p:txEl>
                                              <p:pRg st="2" end="2"/>
                                            </p:txEl>
                                          </p:spTgt>
                                        </p:tgtEl>
                                        <p:attrNameLst>
                                          <p:attrName>style.visibility</p:attrName>
                                        </p:attrNameLst>
                                      </p:cBhvr>
                                      <p:to>
                                        <p:strVal val="visible"/>
                                      </p:to>
                                    </p:set>
                                    <p:anim calcmode="lin" valueType="num">
                                      <p:cBhvr additive="base">
                                        <p:cTn id="19" dur="500" fill="hold"/>
                                        <p:tgtEl>
                                          <p:spTgt spid="1638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386">
                                            <p:txEl>
                                              <p:pRg st="3" end="3"/>
                                            </p:txEl>
                                          </p:spTgt>
                                        </p:tgtEl>
                                        <p:attrNameLst>
                                          <p:attrName>style.visibility</p:attrName>
                                        </p:attrNameLst>
                                      </p:cBhvr>
                                      <p:to>
                                        <p:strVal val="visible"/>
                                      </p:to>
                                    </p:set>
                                    <p:anim calcmode="lin" valueType="num">
                                      <p:cBhvr additive="base">
                                        <p:cTn id="25" dur="500" fill="hold"/>
                                        <p:tgtEl>
                                          <p:spTgt spid="1638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386">
                                            <p:txEl>
                                              <p:pRg st="4" end="4"/>
                                            </p:txEl>
                                          </p:spTgt>
                                        </p:tgtEl>
                                        <p:attrNameLst>
                                          <p:attrName>style.visibility</p:attrName>
                                        </p:attrNameLst>
                                      </p:cBhvr>
                                      <p:to>
                                        <p:strVal val="visible"/>
                                      </p:to>
                                    </p:set>
                                    <p:anim calcmode="lin" valueType="num">
                                      <p:cBhvr additive="base">
                                        <p:cTn id="31" dur="500" fill="hold"/>
                                        <p:tgtEl>
                                          <p:spTgt spid="1638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386">
                                            <p:txEl>
                                              <p:pRg st="5" end="5"/>
                                            </p:txEl>
                                          </p:spTgt>
                                        </p:tgtEl>
                                        <p:attrNameLst>
                                          <p:attrName>style.visibility</p:attrName>
                                        </p:attrNameLst>
                                      </p:cBhvr>
                                      <p:to>
                                        <p:strVal val="visible"/>
                                      </p:to>
                                    </p:set>
                                    <p:anim calcmode="lin" valueType="num">
                                      <p:cBhvr additive="base">
                                        <p:cTn id="37" dur="500" fill="hold"/>
                                        <p:tgtEl>
                                          <p:spTgt spid="1638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38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386">
                                            <p:txEl>
                                              <p:pRg st="6" end="6"/>
                                            </p:txEl>
                                          </p:spTgt>
                                        </p:tgtEl>
                                        <p:attrNameLst>
                                          <p:attrName>style.visibility</p:attrName>
                                        </p:attrNameLst>
                                      </p:cBhvr>
                                      <p:to>
                                        <p:strVal val="visible"/>
                                      </p:to>
                                    </p:set>
                                    <p:anim calcmode="lin" valueType="num">
                                      <p:cBhvr additive="base">
                                        <p:cTn id="43" dur="500" fill="hold"/>
                                        <p:tgtEl>
                                          <p:spTgt spid="1638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38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386">
                                            <p:txEl>
                                              <p:pRg st="7" end="7"/>
                                            </p:txEl>
                                          </p:spTgt>
                                        </p:tgtEl>
                                        <p:attrNameLst>
                                          <p:attrName>style.visibility</p:attrName>
                                        </p:attrNameLst>
                                      </p:cBhvr>
                                      <p:to>
                                        <p:strVal val="visible"/>
                                      </p:to>
                                    </p:set>
                                    <p:anim calcmode="lin" valueType="num">
                                      <p:cBhvr additive="base">
                                        <p:cTn id="49" dur="500" fill="hold"/>
                                        <p:tgtEl>
                                          <p:spTgt spid="1638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38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386">
                                            <p:txEl>
                                              <p:pRg st="8" end="8"/>
                                            </p:txEl>
                                          </p:spTgt>
                                        </p:tgtEl>
                                        <p:attrNameLst>
                                          <p:attrName>style.visibility</p:attrName>
                                        </p:attrNameLst>
                                      </p:cBhvr>
                                      <p:to>
                                        <p:strVal val="visible"/>
                                      </p:to>
                                    </p:set>
                                    <p:anim calcmode="lin" valueType="num">
                                      <p:cBhvr additive="base">
                                        <p:cTn id="55" dur="500" fill="hold"/>
                                        <p:tgtEl>
                                          <p:spTgt spid="16386">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638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a:xfrm>
            <a:off x="466725" y="411163"/>
            <a:ext cx="7770813" cy="1028700"/>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练习</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6386" name="内容占位符 2"/>
          <p:cNvSpPr>
            <a:spLocks noGrp="1"/>
          </p:cNvSpPr>
          <p:nvPr>
            <p:ph idx="1"/>
          </p:nvPr>
        </p:nvSpPr>
        <p:spPr>
          <a:xfrm>
            <a:off x="414655" y="1275080"/>
            <a:ext cx="8717280" cy="3691890"/>
          </a:xfrm>
        </p:spPr>
        <p:txBody>
          <a:bodyPr/>
          <a:lstStyle/>
          <a:p>
            <a:pPr>
              <a:buFont typeface="Wingdings" panose="05000000000000000000" pitchFamily="2" charset="2"/>
              <a:buChar char="Ø"/>
            </a:pPr>
            <a:r>
              <a:rPr lang="zh-CN" sz="1600" smtClean="0">
                <a:solidFill>
                  <a:schemeClr val="tx1"/>
                </a:solidFill>
                <a:latin typeface="华文细黑" panose="02010600040101010101" charset="-122"/>
                <a:ea typeface="华文细黑" panose="02010600040101010101" charset="-122"/>
                <a:cs typeface="Times New Roman" panose="02020603050405020304" pitchFamily="18" charset="0"/>
              </a:rPr>
              <a:t>我们的动机塑造了我们如何看待这个世界。</a:t>
            </a:r>
            <a:endParaRPr lang="zh-CN"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Our motives shape how we see the world.</a:t>
            </a:r>
            <a:endPar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sym typeface="+mn-ea"/>
            </a:endParaRPr>
          </a:p>
          <a:p>
            <a:pPr>
              <a:buFont typeface="Wingdings" panose="05000000000000000000" pitchFamily="2" charset="2"/>
              <a:buChar char="Ø"/>
            </a:pPr>
            <a:r>
              <a:rPr lang="zh-CN" altLang="en-US"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 这个曲线图展示了牛肉的</a:t>
            </a:r>
            <a:r>
              <a:rPr lang="zh-CN" altLang="en-US"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消耗量是如何变化的从</a:t>
            </a:r>
            <a:r>
              <a:rPr lang="en-US" altLang="zh-CN"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1993</a:t>
            </a:r>
            <a:r>
              <a:rPr lang="zh-CN" altLang="en-US"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年到</a:t>
            </a:r>
            <a:r>
              <a:rPr lang="en-US" altLang="zh-CN"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1998</a:t>
            </a:r>
            <a:r>
              <a:rPr lang="zh-CN" altLang="en-US"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年。</a:t>
            </a:r>
            <a:endParaRPr lang="zh-CN" altLang="en-US" sz="1600" smtClean="0">
              <a:solidFill>
                <a:schemeClr val="tx1"/>
              </a:solidFill>
              <a:latin typeface="华文细黑" panose="02010600040101010101" charset="-122"/>
              <a:ea typeface="华文细黑" panose="02010600040101010101" charset="-122"/>
              <a:cs typeface="宋体" panose="02010600030101010101" pitchFamily="2" charset="-122"/>
              <a:sym typeface="+mn-ea"/>
            </a:endParaRPr>
          </a:p>
          <a:p>
            <a:pPr>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The line chart illustrates how the </a:t>
            </a:r>
            <a:r>
              <a:rPr lang="en-US" altLang="zh-CN" sz="1600" smtClean="0">
                <a:solidFill>
                  <a:schemeClr val="tx1"/>
                </a:solidFill>
                <a:latin typeface="华文细黑" panose="02010600040101010101" charset="-122"/>
                <a:ea typeface="华文细黑" panose="02010600040101010101" charset="-122"/>
                <a:cs typeface="宋体" panose="02010600030101010101" pitchFamily="2" charset="-122"/>
                <a:sym typeface="+mn-ea"/>
              </a:rPr>
              <a:t>consumption of beef changed from 1993 to 1998. </a:t>
            </a:r>
            <a:endParaRPr lang="en-US" altLang="zh-CN" sz="1600" smtClean="0">
              <a:solidFill>
                <a:schemeClr val="tx1"/>
              </a:solidFill>
              <a:latin typeface="华文细黑" panose="02010600040101010101" charset="-122"/>
              <a:ea typeface="华文细黑" panose="02010600040101010101" charset="-122"/>
              <a:cs typeface="宋体" panose="02010600030101010101" pitchFamily="2" charset="-122"/>
              <a:sym typeface="+mn-ea"/>
            </a:endParaRPr>
          </a:p>
          <a:p>
            <a:pPr>
              <a:buFont typeface="Wingdings" panose="05000000000000000000" pitchFamily="2" charset="2"/>
              <a:buChar char="Ø"/>
            </a:pPr>
            <a:r>
              <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这个流程图展示了桃子罐头是如何制作的主要分三步分别包括采摘、加工和售卖。</a:t>
            </a:r>
            <a:endPar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The diagram illustrates how peach cans are produced mainly divided into three steps including picking, processing and selling respectively.</a:t>
            </a:r>
            <a:endParaRPr lang="en-US" altLang="zh-CN"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这些地图对比了村庄在过去的三十年是如何改造的。</a:t>
            </a:r>
            <a:endPar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r>
              <a:rPr lang="en-US" altLang="zh-CN" sz="16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The maps compare how the village has been rebuilt in the past 30 years.</a:t>
            </a:r>
            <a:endParaRPr lang="en-US" altLang="zh-CN"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endParaRPr lang="zh-CN" altLang="en-US"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endParaRPr lang="en-US" altLang="zh-CN" sz="1600" smtClean="0">
              <a:solidFill>
                <a:schemeClr val="tx1"/>
              </a:solidFill>
              <a:latin typeface="华文细黑" panose="02010600040101010101" charset="-122"/>
              <a:ea typeface="华文细黑" panose="02010600040101010101" charset="-122"/>
              <a:cs typeface="宋体" panose="02010600030101010101" pitchFamily="2" charset="-122"/>
            </a:endParaRPr>
          </a:p>
          <a:p>
            <a:pPr marL="0" indent="0">
              <a:buFont typeface="Wingdings" panose="05000000000000000000" pitchFamily="2" charset="2"/>
            </a:pPr>
            <a:endParaRPr lang="en-US" altLang="zh-CN" sz="1600" smtClean="0">
              <a:solidFill>
                <a:schemeClr val="tx1"/>
              </a:solidFill>
              <a:latin typeface="华文细黑" panose="02010600040101010101" charset="-122"/>
              <a:ea typeface="华文细黑" panose="0201060004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 calcmode="lin" valueType="num">
                                      <p:cBhvr additive="base">
                                        <p:cTn id="7" dur="500" fill="hold"/>
                                        <p:tgtEl>
                                          <p:spTgt spid="163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386">
                                            <p:txEl>
                                              <p:pRg st="1" end="1"/>
                                            </p:txEl>
                                          </p:spTgt>
                                        </p:tgtEl>
                                        <p:attrNameLst>
                                          <p:attrName>style.visibility</p:attrName>
                                        </p:attrNameLst>
                                      </p:cBhvr>
                                      <p:to>
                                        <p:strVal val="visible"/>
                                      </p:to>
                                    </p:set>
                                    <p:anim calcmode="lin" valueType="num">
                                      <p:cBhvr additive="base">
                                        <p:cTn id="13" dur="500" fill="hold"/>
                                        <p:tgtEl>
                                          <p:spTgt spid="1638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6">
                                            <p:txEl>
                                              <p:pRg st="2" end="2"/>
                                            </p:txEl>
                                          </p:spTgt>
                                        </p:tgtEl>
                                        <p:attrNameLst>
                                          <p:attrName>style.visibility</p:attrName>
                                        </p:attrNameLst>
                                      </p:cBhvr>
                                      <p:to>
                                        <p:strVal val="visible"/>
                                      </p:to>
                                    </p:set>
                                    <p:anim calcmode="lin" valueType="num">
                                      <p:cBhvr additive="base">
                                        <p:cTn id="19" dur="500" fill="hold"/>
                                        <p:tgtEl>
                                          <p:spTgt spid="1638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386">
                                            <p:txEl>
                                              <p:pRg st="3" end="3"/>
                                            </p:txEl>
                                          </p:spTgt>
                                        </p:tgtEl>
                                        <p:attrNameLst>
                                          <p:attrName>style.visibility</p:attrName>
                                        </p:attrNameLst>
                                      </p:cBhvr>
                                      <p:to>
                                        <p:strVal val="visible"/>
                                      </p:to>
                                    </p:set>
                                    <p:anim calcmode="lin" valueType="num">
                                      <p:cBhvr additive="base">
                                        <p:cTn id="25" dur="500" fill="hold"/>
                                        <p:tgtEl>
                                          <p:spTgt spid="1638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386">
                                            <p:txEl>
                                              <p:pRg st="4" end="4"/>
                                            </p:txEl>
                                          </p:spTgt>
                                        </p:tgtEl>
                                        <p:attrNameLst>
                                          <p:attrName>style.visibility</p:attrName>
                                        </p:attrNameLst>
                                      </p:cBhvr>
                                      <p:to>
                                        <p:strVal val="visible"/>
                                      </p:to>
                                    </p:set>
                                    <p:anim calcmode="lin" valueType="num">
                                      <p:cBhvr additive="base">
                                        <p:cTn id="31" dur="500" fill="hold"/>
                                        <p:tgtEl>
                                          <p:spTgt spid="1638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386">
                                            <p:txEl>
                                              <p:pRg st="5" end="5"/>
                                            </p:txEl>
                                          </p:spTgt>
                                        </p:tgtEl>
                                        <p:attrNameLst>
                                          <p:attrName>style.visibility</p:attrName>
                                        </p:attrNameLst>
                                      </p:cBhvr>
                                      <p:to>
                                        <p:strVal val="visible"/>
                                      </p:to>
                                    </p:set>
                                    <p:anim calcmode="lin" valueType="num">
                                      <p:cBhvr additive="base">
                                        <p:cTn id="37" dur="500" fill="hold"/>
                                        <p:tgtEl>
                                          <p:spTgt spid="1638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38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386">
                                            <p:txEl>
                                              <p:pRg st="6" end="6"/>
                                            </p:txEl>
                                          </p:spTgt>
                                        </p:tgtEl>
                                        <p:attrNameLst>
                                          <p:attrName>style.visibility</p:attrName>
                                        </p:attrNameLst>
                                      </p:cBhvr>
                                      <p:to>
                                        <p:strVal val="visible"/>
                                      </p:to>
                                    </p:set>
                                    <p:anim calcmode="lin" valueType="num">
                                      <p:cBhvr additive="base">
                                        <p:cTn id="43" dur="500" fill="hold"/>
                                        <p:tgtEl>
                                          <p:spTgt spid="1638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38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386">
                                            <p:txEl>
                                              <p:pRg st="7" end="7"/>
                                            </p:txEl>
                                          </p:spTgt>
                                        </p:tgtEl>
                                        <p:attrNameLst>
                                          <p:attrName>style.visibility</p:attrName>
                                        </p:attrNameLst>
                                      </p:cBhvr>
                                      <p:to>
                                        <p:strVal val="visible"/>
                                      </p:to>
                                    </p:set>
                                    <p:anim calcmode="lin" valueType="num">
                                      <p:cBhvr additive="base">
                                        <p:cTn id="49" dur="500" fill="hold"/>
                                        <p:tgtEl>
                                          <p:spTgt spid="1638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38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8210550" cy="500380"/>
          </a:xfrm>
        </p:spPr>
        <p:txBody>
          <a:bodyPr/>
          <a:lstStyle/>
          <a:p>
            <a:r>
              <a:rPr lang="en-US" altLang="zh-CN">
                <a:solidFill>
                  <a:schemeClr val="tx1"/>
                </a:solidFill>
              </a:rPr>
              <a:t>People have different views about+</a:t>
            </a:r>
            <a:r>
              <a:rPr lang="zh-CN" altLang="en-US">
                <a:solidFill>
                  <a:schemeClr val="tx1"/>
                </a:solidFill>
              </a:rPr>
              <a:t>辩论话题</a:t>
            </a:r>
            <a:endParaRPr lang="zh-CN" altLang="en-US">
              <a:solidFill>
                <a:schemeClr val="tx1"/>
              </a:solidFill>
            </a:endParaRPr>
          </a:p>
        </p:txBody>
      </p:sp>
      <p:sp>
        <p:nvSpPr>
          <p:cNvPr id="3" name="内容占位符 2"/>
          <p:cNvSpPr>
            <a:spLocks noGrp="1"/>
          </p:cNvSpPr>
          <p:nvPr>
            <p:ph idx="1"/>
          </p:nvPr>
        </p:nvSpPr>
        <p:spPr>
          <a:xfrm>
            <a:off x="424180" y="1347470"/>
            <a:ext cx="8456930" cy="3640455"/>
          </a:xfrm>
        </p:spPr>
        <p:txBody>
          <a:bodyPr/>
          <a:lstStyle/>
          <a:p>
            <a:pPr>
              <a:lnSpc>
                <a:spcPct val="130000"/>
              </a:lnSpc>
            </a:pPr>
            <a:r>
              <a:rPr lang="zh-CN" altLang="en-US" sz="1800" dirty="0">
                <a:solidFill>
                  <a:schemeClr val="tx1"/>
                </a:solidFill>
              </a:rPr>
              <a:t>人们有不同的观点关于老年人还是年轻人更适合做政府</a:t>
            </a:r>
            <a:r>
              <a:rPr lang="zh-CN" altLang="en-US" sz="1800" dirty="0">
                <a:solidFill>
                  <a:schemeClr val="tx1"/>
                </a:solidFill>
              </a:rPr>
              <a:t>领导。</a:t>
            </a:r>
            <a:endParaRPr lang="zh-CN" altLang="en-US" sz="1800" dirty="0">
              <a:solidFill>
                <a:schemeClr val="tx1"/>
              </a:solidFill>
            </a:endParaRPr>
          </a:p>
          <a:p>
            <a:pPr>
              <a:lnSpc>
                <a:spcPct val="130000"/>
              </a:lnSpc>
            </a:pPr>
            <a:r>
              <a:rPr lang="zh-CN" altLang="en-US" sz="1800" dirty="0" smtClean="0">
                <a:solidFill>
                  <a:schemeClr val="tx1"/>
                </a:solidFill>
              </a:rPr>
              <a:t>People </a:t>
            </a:r>
            <a:r>
              <a:rPr lang="zh-CN" altLang="en-US" sz="1800" dirty="0">
                <a:solidFill>
                  <a:schemeClr val="tx1"/>
                </a:solidFill>
              </a:rPr>
              <a:t>have different views about wh</a:t>
            </a:r>
            <a:r>
              <a:rPr lang="en-US" altLang="zh-CN" sz="1800" dirty="0">
                <a:solidFill>
                  <a:schemeClr val="tx1"/>
                </a:solidFill>
              </a:rPr>
              <a:t>ether the young or the elderly</a:t>
            </a:r>
            <a:r>
              <a:rPr lang="zh-CN" altLang="en-US" sz="1800" dirty="0">
                <a:solidFill>
                  <a:schemeClr val="tx1"/>
                </a:solidFill>
              </a:rPr>
              <a:t> are more suitable for important positions </a:t>
            </a:r>
            <a:r>
              <a:rPr lang="en-US" altLang="zh-CN" sz="1800" dirty="0">
                <a:solidFill>
                  <a:schemeClr val="tx1"/>
                </a:solidFill>
              </a:rPr>
              <a:t>of </a:t>
            </a:r>
            <a:r>
              <a:rPr lang="zh-CN" altLang="en-US" sz="1800" dirty="0">
                <a:solidFill>
                  <a:schemeClr val="tx1"/>
                </a:solidFill>
              </a:rPr>
              <a:t>the government</a:t>
            </a:r>
            <a:r>
              <a:rPr lang="en-US" altLang="zh-CN" sz="1800" dirty="0">
                <a:solidFill>
                  <a:schemeClr val="tx1"/>
                </a:solidFill>
              </a:rPr>
              <a:t>.</a:t>
            </a:r>
            <a:endParaRPr lang="en-US" altLang="zh-CN" sz="1800" dirty="0">
              <a:solidFill>
                <a:schemeClr val="tx1"/>
              </a:solidFill>
            </a:endParaRPr>
          </a:p>
          <a:p>
            <a:pPr>
              <a:lnSpc>
                <a:spcPct val="130000"/>
              </a:lnSpc>
            </a:pPr>
            <a:r>
              <a:rPr sz="1800" dirty="0">
                <a:solidFill>
                  <a:schemeClr val="tx1"/>
                </a:solidFill>
              </a:rPr>
              <a:t>人们有不同的观点关于是否大学生应该有自由选择他们偏爱的专业。</a:t>
            </a:r>
            <a:endParaRPr lang="en-US" altLang="zh-CN" sz="1800" dirty="0" smtClean="0">
              <a:solidFill>
                <a:schemeClr val="tx1"/>
              </a:solidFill>
            </a:endParaRPr>
          </a:p>
          <a:p>
            <a:pPr>
              <a:lnSpc>
                <a:spcPct val="130000"/>
              </a:lnSpc>
            </a:pPr>
            <a:r>
              <a:rPr lang="en-US" altLang="zh-CN" sz="1800" dirty="0">
                <a:solidFill>
                  <a:schemeClr val="tx1"/>
                </a:solidFill>
              </a:rPr>
              <a:t>People have different views about whether college students have the freedom to choose their preferred subjects </a:t>
            </a:r>
            <a:endParaRPr lang="en-US" altLang="zh-CN"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a:xfrm>
            <a:off x="466725" y="411163"/>
            <a:ext cx="7770813" cy="1028700"/>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表语从句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6386" name="内容占位符 2"/>
          <p:cNvSpPr>
            <a:spLocks noGrp="1"/>
          </p:cNvSpPr>
          <p:nvPr>
            <p:ph idx="1"/>
          </p:nvPr>
        </p:nvSpPr>
        <p:spPr>
          <a:xfrm>
            <a:off x="387350" y="1192530"/>
            <a:ext cx="8321675" cy="3630295"/>
          </a:xfrm>
        </p:spPr>
        <p:txBody>
          <a:bodyPr/>
          <a:lstStyle/>
          <a:p>
            <a:pPr>
              <a:buFont typeface="Wingdings" panose="05000000000000000000" pitchFamily="2" charset="2"/>
              <a:buChar char="Ø"/>
            </a:pPr>
            <a:r>
              <a:rPr smtClean="0">
                <a:solidFill>
                  <a:schemeClr val="tx1"/>
                </a:solidFill>
                <a:latin typeface="华文细黑" panose="02010600040101010101" charset="-122"/>
                <a:ea typeface="华文细黑" panose="02010600040101010101" charset="-122"/>
                <a:cs typeface="Times New Roman" panose="02020603050405020304" pitchFamily="18" charset="0"/>
              </a:rPr>
              <a:t>从句在句子中做表语，引导词同上，放在系动词之后。</a:t>
            </a:r>
            <a:endParaRPr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buFont typeface="Wingdings" panose="05000000000000000000" pitchFamily="2" charset="2"/>
              <a:buChar char="Ø"/>
            </a:pPr>
            <a:endParaRPr smtClean="0">
              <a:solidFill>
                <a:schemeClr val="tx1"/>
              </a:solidFill>
              <a:latin typeface="华文细黑" panose="02010600040101010101" charset="-122"/>
              <a:ea typeface="华文细黑" panose="0201060004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 calcmode="lin" valueType="num">
                                      <p:cBhvr additive="base">
                                        <p:cTn id="7" dur="500" fill="hold"/>
                                        <p:tgtEl>
                                          <p:spTgt spid="163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a:xfrm>
            <a:off x="312420" y="404813"/>
            <a:ext cx="8067675" cy="792162"/>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常用表语</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7410" name="内容占位符 2"/>
          <p:cNvSpPr>
            <a:spLocks noGrp="1"/>
          </p:cNvSpPr>
          <p:nvPr>
            <p:ph idx="1"/>
          </p:nvPr>
        </p:nvSpPr>
        <p:spPr>
          <a:xfrm>
            <a:off x="312420" y="1120775"/>
            <a:ext cx="8396605" cy="3702050"/>
          </a:xfrm>
        </p:spPr>
        <p:txBody>
          <a:bodyPr/>
          <a:lstStyle/>
          <a:p>
            <a:pPr>
              <a:buFont typeface="Wingdings" panose="05000000000000000000" pitchFamily="2" charset="2"/>
              <a:buChar char="Ø"/>
            </a:pPr>
            <a:r>
              <a:rPr dirty="0" smtClean="0">
                <a:solidFill>
                  <a:schemeClr val="tx1"/>
                </a:solidFill>
                <a:latin typeface="Verdana" panose="020B0604030504040204" charset="0"/>
                <a:cs typeface="Verdana" panose="020B0604030504040204" charset="0"/>
              </a:rPr>
              <a:t>The argument in favour of XXX would be that......</a:t>
            </a:r>
            <a:endParaRPr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dirty="0" smtClean="0">
                <a:solidFill>
                  <a:schemeClr val="tx1"/>
                </a:solidFill>
                <a:latin typeface="Verdana" panose="020B0604030504040204" charset="0"/>
                <a:cs typeface="Verdana" panose="020B0604030504040204" charset="0"/>
                <a:sym typeface="+mn-ea"/>
              </a:rPr>
              <a:t>The argument in favor of animal experiments would be that some side effects of new medicines can be found and avoided to a large extent by examining the response of tested animals.</a:t>
            </a:r>
            <a:endParaRPr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dirty="0" smtClean="0">
                <a:solidFill>
                  <a:schemeClr val="tx1"/>
                </a:solidFill>
                <a:latin typeface="Verdana" panose="020B0604030504040204" charset="0"/>
                <a:cs typeface="Verdana" panose="020B0604030504040204" charset="0"/>
                <a:sym typeface="+mn-ea"/>
              </a:rPr>
              <a:t>The argument against XXX would be that......</a:t>
            </a:r>
            <a:endParaRPr dirty="0" smtClean="0">
              <a:solidFill>
                <a:schemeClr val="tx1"/>
              </a:solidFill>
              <a:latin typeface="Verdana" panose="020B0604030504040204" charset="0"/>
              <a:cs typeface="Verdana" panose="020B0604030504040204" charset="0"/>
              <a:sym typeface="+mn-ea"/>
            </a:endParaRPr>
          </a:p>
          <a:p>
            <a:pPr>
              <a:buFont typeface="Wingdings" panose="05000000000000000000" pitchFamily="2" charset="2"/>
              <a:buChar char="Ø"/>
            </a:pPr>
            <a:r>
              <a:rPr dirty="0" smtClean="0">
                <a:solidFill>
                  <a:schemeClr val="tx1"/>
                </a:solidFill>
                <a:latin typeface="Verdana" panose="020B0604030504040204" charset="0"/>
                <a:cs typeface="Verdana" panose="020B0604030504040204" charset="0"/>
                <a:sym typeface="+mn-ea"/>
              </a:rPr>
              <a:t>The argument against smoking would be that it is one of the preventable causes of cancer.</a:t>
            </a:r>
            <a:endParaRPr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endParaRPr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endParaRPr dirty="0" smtClean="0">
              <a:solidFill>
                <a:schemeClr val="tx1"/>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anim calcmode="lin" valueType="num">
                                      <p:cBhvr additive="base">
                                        <p:cTn id="13"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0">
                                            <p:txEl>
                                              <p:pRg st="2" end="2"/>
                                            </p:txEl>
                                          </p:spTgt>
                                        </p:tgtEl>
                                        <p:attrNameLst>
                                          <p:attrName>style.visibility</p:attrName>
                                        </p:attrNameLst>
                                      </p:cBhvr>
                                      <p:to>
                                        <p:strVal val="visible"/>
                                      </p:to>
                                    </p:set>
                                    <p:anim calcmode="lin" valueType="num">
                                      <p:cBhvr additive="base">
                                        <p:cTn id="19" dur="500" fill="hold"/>
                                        <p:tgtEl>
                                          <p:spTgt spid="174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0">
                                            <p:txEl>
                                              <p:pRg st="3" end="3"/>
                                            </p:txEl>
                                          </p:spTgt>
                                        </p:tgtEl>
                                        <p:attrNameLst>
                                          <p:attrName>style.visibility</p:attrName>
                                        </p:attrNameLst>
                                      </p:cBhvr>
                                      <p:to>
                                        <p:strVal val="visible"/>
                                      </p:to>
                                    </p:set>
                                    <p:anim calcmode="lin" valueType="num">
                                      <p:cBhvr additive="base">
                                        <p:cTn id="25" dur="500" fill="hold"/>
                                        <p:tgtEl>
                                          <p:spTgt spid="174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a:xfrm>
            <a:off x="312420" y="404813"/>
            <a:ext cx="8067675" cy="792162"/>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常用表语</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7410" name="内容占位符 2"/>
          <p:cNvSpPr>
            <a:spLocks noGrp="1"/>
          </p:cNvSpPr>
          <p:nvPr>
            <p:ph idx="1"/>
          </p:nvPr>
        </p:nvSpPr>
        <p:spPr>
          <a:xfrm>
            <a:off x="312420" y="1120775"/>
            <a:ext cx="8396605" cy="3702050"/>
          </a:xfrm>
        </p:spPr>
        <p:txBody>
          <a:bodyPr/>
          <a:lstStyle/>
          <a:p>
            <a:pPr>
              <a:buFont typeface="Wingdings" panose="05000000000000000000" pitchFamily="2" charset="2"/>
              <a:buChar char="Ø"/>
            </a:pPr>
            <a:r>
              <a:rPr lang="zh-CN" sz="2800" b="1" dirty="0" smtClean="0">
                <a:solidFill>
                  <a:schemeClr val="tx1"/>
                </a:solidFill>
                <a:latin typeface="Verdana" panose="020B0604030504040204" charset="0"/>
                <a:cs typeface="Verdana" panose="020B0604030504040204" charset="0"/>
              </a:rPr>
              <a:t>报告类</a:t>
            </a:r>
            <a:r>
              <a:rPr lang="en-US" altLang="zh-CN" sz="2800" b="1" dirty="0" smtClean="0">
                <a:solidFill>
                  <a:schemeClr val="tx1"/>
                </a:solidFill>
                <a:latin typeface="Verdana" panose="020B0604030504040204" charset="0"/>
                <a:cs typeface="Verdana" panose="020B0604030504040204" charset="0"/>
              </a:rPr>
              <a:t>--</a:t>
            </a:r>
            <a:r>
              <a:rPr lang="en-US" altLang="zh-CN" sz="2800" b="1" dirty="0" smtClean="0">
                <a:solidFill>
                  <a:schemeClr val="tx1"/>
                </a:solidFill>
                <a:latin typeface="Verdana" panose="020B0604030504040204" charset="0"/>
                <a:cs typeface="Verdana" panose="020B0604030504040204" charset="0"/>
              </a:rPr>
              <a:t>reasons&amp; solutions  </a:t>
            </a:r>
            <a:endParaRPr lang="en-US" altLang="zh-CN" sz="2800" b="1"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lang="en-US" altLang="zh-CN" sz="2800" b="1" dirty="0" smtClean="0">
                <a:solidFill>
                  <a:schemeClr val="tx1"/>
                </a:solidFill>
                <a:latin typeface="Verdana" panose="020B0604030504040204" charset="0"/>
                <a:cs typeface="Verdana" panose="020B0604030504040204" charset="0"/>
              </a:rPr>
              <a:t>           reasons &amp; effects   </a:t>
            </a:r>
            <a:endParaRPr lang="en-US" altLang="zh-CN" sz="2800" b="1"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lang="en-US" altLang="zh-CN" sz="2800" b="1" dirty="0" smtClean="0">
                <a:solidFill>
                  <a:schemeClr val="tx1"/>
                </a:solidFill>
                <a:latin typeface="Verdana" panose="020B0604030504040204" charset="0"/>
                <a:cs typeface="Verdana" panose="020B0604030504040204" charset="0"/>
              </a:rPr>
              <a:t>           problems &amp;solutions</a:t>
            </a:r>
            <a:endParaRPr lang="en-US" altLang="zh-CN" sz="2800" b="1" dirty="0" smtClean="0">
              <a:solidFill>
                <a:schemeClr val="tx1"/>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anim calcmode="lin" valueType="num">
                                      <p:cBhvr additive="base">
                                        <p:cTn id="13"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0">
                                            <p:txEl>
                                              <p:pRg st="2" end="2"/>
                                            </p:txEl>
                                          </p:spTgt>
                                        </p:tgtEl>
                                        <p:attrNameLst>
                                          <p:attrName>style.visibility</p:attrName>
                                        </p:attrNameLst>
                                      </p:cBhvr>
                                      <p:to>
                                        <p:strVal val="visible"/>
                                      </p:to>
                                    </p:set>
                                    <p:anim calcmode="lin" valueType="num">
                                      <p:cBhvr additive="base">
                                        <p:cTn id="19" dur="500" fill="hold"/>
                                        <p:tgtEl>
                                          <p:spTgt spid="174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a:xfrm>
            <a:off x="1619885" y="-317"/>
            <a:ext cx="8067675" cy="792162"/>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常用表语</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7410" name="内容占位符 2"/>
          <p:cNvSpPr>
            <a:spLocks noGrp="1"/>
          </p:cNvSpPr>
          <p:nvPr>
            <p:ph idx="1"/>
          </p:nvPr>
        </p:nvSpPr>
        <p:spPr>
          <a:xfrm>
            <a:off x="305435" y="507365"/>
            <a:ext cx="8403590" cy="4315460"/>
          </a:xfrm>
        </p:spPr>
        <p:txBody>
          <a:bodyPr/>
          <a:lstStyle/>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The main reason </a:t>
            </a:r>
            <a:r>
              <a:rPr lang="en-US" altLang="zh-CN" sz="2000" b="1" u="sng" dirty="0" smtClean="0">
                <a:solidFill>
                  <a:srgbClr val="FF0000"/>
                </a:solidFill>
                <a:latin typeface="Verdana" panose="020B0604030504040204" charset="0"/>
                <a:cs typeface="Verdana" panose="020B0604030504040204" charset="0"/>
              </a:rPr>
              <a:t>why an increasing number of people prefer to buy famous brands</a:t>
            </a:r>
            <a:r>
              <a:rPr lang="en-US" altLang="zh-CN" sz="2000" b="1" dirty="0" smtClean="0">
                <a:solidFill>
                  <a:schemeClr val="tx1"/>
                </a:solidFill>
                <a:latin typeface="Verdana" panose="020B0604030504040204" charset="0"/>
                <a:cs typeface="Verdana" panose="020B0604030504040204" charset="0"/>
              </a:rPr>
              <a:t> is </a:t>
            </a:r>
            <a:r>
              <a:rPr lang="en-US" altLang="zh-CN" sz="2000" b="1" u="sng" dirty="0" smtClean="0">
                <a:solidFill>
                  <a:srgbClr val="00B050"/>
                </a:solidFill>
                <a:latin typeface="Verdana" panose="020B0604030504040204" charset="0"/>
                <a:cs typeface="Verdana" panose="020B0604030504040204" charset="0"/>
              </a:rPr>
              <a:t>that their living standard has been improved dramatically</a:t>
            </a:r>
            <a:r>
              <a:rPr lang="en-US" altLang="zh-CN" sz="2000" b="1" dirty="0" smtClean="0">
                <a:solidFill>
                  <a:schemeClr val="tx1"/>
                </a:solidFill>
                <a:latin typeface="Verdana" panose="020B0604030504040204" charset="0"/>
                <a:cs typeface="Verdana" panose="020B0604030504040204" charset="0"/>
              </a:rPr>
              <a:t>.</a:t>
            </a:r>
            <a:endParaRPr lang="en-US" altLang="zh-CN" sz="2000" b="1"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Another reason for this problem is</a:t>
            </a:r>
            <a:r>
              <a:rPr lang="en-US" altLang="zh-CN" sz="2000" b="1" dirty="0" smtClean="0">
                <a:solidFill>
                  <a:srgbClr val="00B050"/>
                </a:solidFill>
                <a:latin typeface="Verdana" panose="020B0604030504040204" charset="0"/>
                <a:cs typeface="Verdana" panose="020B0604030504040204" charset="0"/>
              </a:rPr>
              <a:t> </a:t>
            </a:r>
            <a:r>
              <a:rPr lang="en-US" altLang="zh-CN" sz="2000" b="1" u="sng" dirty="0" smtClean="0">
                <a:solidFill>
                  <a:srgbClr val="00B050"/>
                </a:solidFill>
                <a:latin typeface="Verdana" panose="020B0604030504040204" charset="0"/>
                <a:cs typeface="Verdana" panose="020B0604030504040204" charset="0"/>
              </a:rPr>
              <a:t>that there have been more advanced marketing strategies and advertisements everywhere that can persuade customers to buy luxurious brands.</a:t>
            </a:r>
            <a:endParaRPr lang="en-US" altLang="zh-CN" sz="2000" b="1" u="sng" dirty="0" smtClean="0">
              <a:solidFill>
                <a:srgbClr val="00B050"/>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anim calcmode="lin" valueType="num">
                                      <p:cBhvr additive="base">
                                        <p:cTn id="13"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a:xfrm>
            <a:off x="1619885" y="-317"/>
            <a:ext cx="8067675" cy="792162"/>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常用表语</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7410" name="内容占位符 2"/>
          <p:cNvSpPr>
            <a:spLocks noGrp="1"/>
          </p:cNvSpPr>
          <p:nvPr>
            <p:ph idx="1"/>
          </p:nvPr>
        </p:nvSpPr>
        <p:spPr>
          <a:xfrm>
            <a:off x="305435" y="507365"/>
            <a:ext cx="8403590" cy="4315460"/>
          </a:xfrm>
        </p:spPr>
        <p:txBody>
          <a:bodyPr/>
          <a:lstStyle/>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The main reason </a:t>
            </a:r>
            <a:r>
              <a:rPr lang="en-US" altLang="zh-CN" sz="2000" b="1" u="sng" dirty="0" smtClean="0">
                <a:solidFill>
                  <a:srgbClr val="FF0000"/>
                </a:solidFill>
                <a:latin typeface="Verdana" panose="020B0604030504040204" charset="0"/>
                <a:cs typeface="Verdana" panose="020B0604030504040204" charset="0"/>
              </a:rPr>
              <a:t>why an increasing number of teenagers commit crimes</a:t>
            </a:r>
            <a:r>
              <a:rPr lang="en-US" altLang="zh-CN" sz="2000" b="1" dirty="0" smtClean="0">
                <a:solidFill>
                  <a:schemeClr val="tx1"/>
                </a:solidFill>
                <a:latin typeface="Verdana" panose="020B0604030504040204" charset="0"/>
                <a:cs typeface="Verdana" panose="020B0604030504040204" charset="0"/>
              </a:rPr>
              <a:t> is </a:t>
            </a:r>
            <a:r>
              <a:rPr lang="en-US" altLang="zh-CN" sz="2000" b="1" u="sng" dirty="0" smtClean="0">
                <a:solidFill>
                  <a:srgbClr val="00B050"/>
                </a:solidFill>
                <a:latin typeface="Verdana" panose="020B0604030504040204" charset="0"/>
                <a:cs typeface="Verdana" panose="020B0604030504040204" charset="0"/>
              </a:rPr>
              <a:t>that their parents are engaged by busy work and they have no sufficient time to discipline their children</a:t>
            </a:r>
            <a:r>
              <a:rPr lang="en-US" altLang="zh-CN" sz="2000" b="1" dirty="0" smtClean="0">
                <a:solidFill>
                  <a:schemeClr val="tx1"/>
                </a:solidFill>
                <a:latin typeface="Verdana" panose="020B0604030504040204" charset="0"/>
                <a:cs typeface="Verdana" panose="020B0604030504040204" charset="0"/>
              </a:rPr>
              <a:t>.</a:t>
            </a:r>
            <a:endParaRPr lang="en-US" altLang="zh-CN" sz="2000" b="1"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Another reason for this problem is</a:t>
            </a:r>
            <a:r>
              <a:rPr lang="en-US" altLang="zh-CN" sz="2000" b="1" dirty="0" smtClean="0">
                <a:solidFill>
                  <a:srgbClr val="00B050"/>
                </a:solidFill>
                <a:latin typeface="Verdana" panose="020B0604030504040204" charset="0"/>
                <a:cs typeface="Verdana" panose="020B0604030504040204" charset="0"/>
              </a:rPr>
              <a:t> </a:t>
            </a:r>
            <a:r>
              <a:rPr lang="en-US" altLang="zh-CN" sz="2000" b="1" u="sng" dirty="0" smtClean="0">
                <a:solidFill>
                  <a:srgbClr val="00B050"/>
                </a:solidFill>
                <a:latin typeface="Verdana" panose="020B0604030504040204" charset="0"/>
                <a:cs typeface="Verdana" panose="020B0604030504040204" charset="0"/>
              </a:rPr>
              <a:t>that there is too much inappropriate information online such as violence and pornography so that many teenagers begin to imitate.</a:t>
            </a:r>
            <a:endParaRPr lang="en-US" altLang="zh-CN" sz="2000" b="1" u="sng" dirty="0" smtClean="0">
              <a:solidFill>
                <a:srgbClr val="00B050"/>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anim calcmode="lin" valueType="num">
                                      <p:cBhvr additive="base">
                                        <p:cTn id="13"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a:xfrm>
            <a:off x="1619885" y="-317"/>
            <a:ext cx="8067675" cy="792162"/>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常用表语</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从句</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17410" name="内容占位符 2"/>
          <p:cNvSpPr>
            <a:spLocks noGrp="1"/>
          </p:cNvSpPr>
          <p:nvPr>
            <p:ph idx="1"/>
          </p:nvPr>
        </p:nvSpPr>
        <p:spPr>
          <a:xfrm>
            <a:off x="305435" y="507365"/>
            <a:ext cx="8403590" cy="4315460"/>
          </a:xfrm>
        </p:spPr>
        <p:txBody>
          <a:bodyPr/>
          <a:lstStyle/>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The main reason </a:t>
            </a:r>
            <a:r>
              <a:rPr lang="en-US" altLang="zh-CN" sz="2000" b="1" u="sng" dirty="0" smtClean="0">
                <a:solidFill>
                  <a:srgbClr val="FF0000"/>
                </a:solidFill>
                <a:latin typeface="Verdana" panose="020B0604030504040204" charset="0"/>
                <a:cs typeface="Verdana" panose="020B0604030504040204" charset="0"/>
              </a:rPr>
              <a:t>why ....</a:t>
            </a:r>
            <a:r>
              <a:rPr lang="en-US" altLang="zh-CN" sz="2000" b="1" dirty="0" smtClean="0">
                <a:solidFill>
                  <a:schemeClr val="tx1"/>
                </a:solidFill>
                <a:latin typeface="Verdana" panose="020B0604030504040204" charset="0"/>
                <a:cs typeface="Verdana" panose="020B0604030504040204" charset="0"/>
              </a:rPr>
              <a:t> is </a:t>
            </a:r>
            <a:r>
              <a:rPr lang="en-US" altLang="zh-CN" sz="2000" b="1" u="sng" dirty="0" smtClean="0">
                <a:solidFill>
                  <a:srgbClr val="00B050"/>
                </a:solidFill>
                <a:highlight>
                  <a:srgbClr val="FFFF00"/>
                </a:highlight>
                <a:latin typeface="Verdana" panose="020B0604030504040204" charset="0"/>
                <a:cs typeface="Verdana" panose="020B0604030504040204" charset="0"/>
              </a:rPr>
              <a:t>that ......</a:t>
            </a:r>
            <a:r>
              <a:rPr lang="en-US" altLang="zh-CN" sz="2000" b="1" dirty="0" smtClean="0">
                <a:solidFill>
                  <a:schemeClr val="tx1"/>
                </a:solidFill>
                <a:highlight>
                  <a:srgbClr val="FFFF00"/>
                </a:highlight>
                <a:latin typeface="Verdana" panose="020B0604030504040204" charset="0"/>
                <a:cs typeface="Verdana" panose="020B0604030504040204" charset="0"/>
              </a:rPr>
              <a:t>.</a:t>
            </a:r>
            <a:endParaRPr lang="en-US" altLang="zh-CN" sz="2000" b="1"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Another reason for this problem is</a:t>
            </a:r>
            <a:r>
              <a:rPr lang="en-US" altLang="zh-CN" sz="2000" b="1" dirty="0" smtClean="0">
                <a:solidFill>
                  <a:srgbClr val="00B050"/>
                </a:solidFill>
                <a:latin typeface="Verdana" panose="020B0604030504040204" charset="0"/>
                <a:cs typeface="Verdana" panose="020B0604030504040204" charset="0"/>
              </a:rPr>
              <a:t> </a:t>
            </a:r>
            <a:r>
              <a:rPr lang="en-US" altLang="zh-CN" sz="2000" b="1" u="sng" dirty="0" smtClean="0">
                <a:solidFill>
                  <a:srgbClr val="00B050"/>
                </a:solidFill>
                <a:highlight>
                  <a:srgbClr val="FFFF00"/>
                </a:highlight>
                <a:latin typeface="Verdana" panose="020B0604030504040204" charset="0"/>
                <a:cs typeface="Verdana" panose="020B0604030504040204" charset="0"/>
              </a:rPr>
              <a:t>that ......</a:t>
            </a:r>
            <a:endParaRPr lang="en-US" altLang="zh-CN" sz="2000" b="1" u="sng" dirty="0" smtClean="0">
              <a:solidFill>
                <a:srgbClr val="00B050"/>
              </a:solidFill>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The problem </a:t>
            </a:r>
            <a:r>
              <a:rPr lang="en-US" altLang="zh-CN" sz="2000" b="1" u="sng" dirty="0" smtClean="0">
                <a:solidFill>
                  <a:srgbClr val="00B050"/>
                </a:solidFill>
                <a:latin typeface="Verdana" panose="020B0604030504040204" charset="0"/>
                <a:cs typeface="Verdana" panose="020B0604030504040204" charset="0"/>
              </a:rPr>
              <a:t>caused by this trend</a:t>
            </a:r>
            <a:r>
              <a:rPr lang="en-US" altLang="zh-CN" sz="2000" b="1" dirty="0" smtClean="0">
                <a:solidFill>
                  <a:schemeClr val="tx1"/>
                </a:solidFill>
                <a:latin typeface="Verdana" panose="020B0604030504040204" charset="0"/>
                <a:cs typeface="Verdana" panose="020B0604030504040204" charset="0"/>
              </a:rPr>
              <a:t> is </a:t>
            </a:r>
            <a:r>
              <a:rPr lang="en-US" altLang="zh-CN" sz="2000" b="1" u="sng" dirty="0" smtClean="0">
                <a:solidFill>
                  <a:schemeClr val="tx1"/>
                </a:solidFill>
                <a:highlight>
                  <a:srgbClr val="FFFF00"/>
                </a:highlight>
                <a:latin typeface="Verdana" panose="020B0604030504040204" charset="0"/>
                <a:cs typeface="Verdana" panose="020B0604030504040204" charset="0"/>
              </a:rPr>
              <a:t>that ...</a:t>
            </a:r>
            <a:endParaRPr lang="en-US" altLang="zh-CN" sz="2000" b="1" u="sng" dirty="0" smtClean="0">
              <a:solidFill>
                <a:schemeClr val="tx1"/>
              </a:solidFill>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The effect </a:t>
            </a:r>
            <a:r>
              <a:rPr lang="en-US" altLang="zh-CN" sz="2000" b="1" u="sng" dirty="0" smtClean="0">
                <a:solidFill>
                  <a:srgbClr val="00B050"/>
                </a:solidFill>
                <a:latin typeface="Verdana" panose="020B0604030504040204" charset="0"/>
                <a:cs typeface="Verdana" panose="020B0604030504040204" charset="0"/>
              </a:rPr>
              <a:t>brought by this trend</a:t>
            </a:r>
            <a:r>
              <a:rPr lang="en-US" altLang="zh-CN" sz="2000" b="1" dirty="0" smtClean="0">
                <a:solidFill>
                  <a:schemeClr val="tx1"/>
                </a:solidFill>
                <a:latin typeface="Verdana" panose="020B0604030504040204" charset="0"/>
                <a:cs typeface="Verdana" panose="020B0604030504040204" charset="0"/>
              </a:rPr>
              <a:t> is</a:t>
            </a:r>
            <a:r>
              <a:rPr lang="en-US" altLang="zh-CN" sz="2000" b="1" dirty="0" smtClean="0">
                <a:solidFill>
                  <a:schemeClr val="tx1"/>
                </a:solidFill>
                <a:highlight>
                  <a:srgbClr val="FFFF00"/>
                </a:highlight>
                <a:latin typeface="Verdana" panose="020B0604030504040204" charset="0"/>
                <a:cs typeface="Verdana" panose="020B0604030504040204" charset="0"/>
              </a:rPr>
              <a:t> </a:t>
            </a:r>
            <a:r>
              <a:rPr lang="en-US" altLang="zh-CN" sz="2000" b="1" u="sng" dirty="0" smtClean="0">
                <a:solidFill>
                  <a:schemeClr val="tx1"/>
                </a:solidFill>
                <a:highlight>
                  <a:srgbClr val="FFFF00"/>
                </a:highlight>
                <a:latin typeface="Verdana" panose="020B0604030504040204" charset="0"/>
                <a:cs typeface="Verdana" panose="020B0604030504040204" charset="0"/>
              </a:rPr>
              <a:t>that.....</a:t>
            </a:r>
            <a:endParaRPr lang="en-US" altLang="zh-CN" sz="2000" b="1" dirty="0" smtClean="0">
              <a:solidFill>
                <a:schemeClr val="tx1"/>
              </a:solidFill>
              <a:highlight>
                <a:srgbClr val="FFFF00"/>
              </a:highlight>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This is</a:t>
            </a:r>
            <a:r>
              <a:rPr lang="en-US" altLang="zh-CN" sz="2000" b="1" dirty="0" smtClean="0">
                <a:solidFill>
                  <a:schemeClr val="tx1"/>
                </a:solidFill>
                <a:highlight>
                  <a:srgbClr val="FFFF00"/>
                </a:highlight>
                <a:latin typeface="Verdana" panose="020B0604030504040204" charset="0"/>
                <a:cs typeface="Verdana" panose="020B0604030504040204" charset="0"/>
              </a:rPr>
              <a:t> </a:t>
            </a:r>
            <a:r>
              <a:rPr lang="en-US" altLang="zh-CN" sz="2000" b="1" u="sng" dirty="0" smtClean="0">
                <a:solidFill>
                  <a:schemeClr val="tx1"/>
                </a:solidFill>
                <a:highlight>
                  <a:srgbClr val="FFFF00"/>
                </a:highlight>
                <a:latin typeface="Verdana" panose="020B0604030504040204" charset="0"/>
                <a:cs typeface="Verdana" panose="020B0604030504040204" charset="0"/>
              </a:rPr>
              <a:t>because...</a:t>
            </a:r>
            <a:r>
              <a:rPr lang="en-US" altLang="zh-CN" sz="2000" b="1" dirty="0" smtClean="0">
                <a:solidFill>
                  <a:schemeClr val="tx1"/>
                </a:solidFill>
                <a:highlight>
                  <a:srgbClr val="FFFF00"/>
                </a:highlight>
                <a:latin typeface="Verdana" panose="020B0604030504040204" charset="0"/>
                <a:cs typeface="Verdana" panose="020B0604030504040204" charset="0"/>
              </a:rPr>
              <a:t>.</a:t>
            </a:r>
            <a:endParaRPr lang="en-US" altLang="zh-CN" sz="2000" b="1" dirty="0" smtClean="0">
              <a:solidFill>
                <a:schemeClr val="tx1"/>
              </a:solidFill>
              <a:highlight>
                <a:srgbClr val="FFFF00"/>
              </a:highlight>
              <a:latin typeface="Verdana" panose="020B0604030504040204" charset="0"/>
              <a:cs typeface="Verdana" panose="020B0604030504040204" charset="0"/>
            </a:endParaRPr>
          </a:p>
          <a:p>
            <a:pPr>
              <a:buFont typeface="Wingdings" panose="05000000000000000000" pitchFamily="2" charset="2"/>
              <a:buChar char="Ø"/>
            </a:pPr>
            <a:r>
              <a:rPr lang="en-US" altLang="zh-CN" sz="2000" b="1" dirty="0" smtClean="0">
                <a:solidFill>
                  <a:schemeClr val="tx1"/>
                </a:solidFill>
                <a:latin typeface="Verdana" panose="020B0604030504040204" charset="0"/>
                <a:cs typeface="Verdana" panose="020B0604030504040204" charset="0"/>
              </a:rPr>
              <a:t>This is </a:t>
            </a:r>
            <a:r>
              <a:rPr lang="en-US" altLang="zh-CN" sz="2000" b="1" u="sng" dirty="0" smtClean="0">
                <a:solidFill>
                  <a:schemeClr val="tx1"/>
                </a:solidFill>
                <a:highlight>
                  <a:srgbClr val="FFFF00"/>
                </a:highlight>
                <a:latin typeface="Verdana" panose="020B0604030504040204" charset="0"/>
                <a:cs typeface="Verdana" panose="020B0604030504040204" charset="0"/>
              </a:rPr>
              <a:t>why..</a:t>
            </a:r>
            <a:r>
              <a:rPr lang="en-US" altLang="zh-CN" sz="2000" b="1" u="sng" dirty="0" smtClean="0">
                <a:solidFill>
                  <a:schemeClr val="tx1"/>
                </a:solidFill>
                <a:latin typeface="Verdana" panose="020B0604030504040204" charset="0"/>
                <a:cs typeface="Verdana" panose="020B0604030504040204" charset="0"/>
              </a:rPr>
              <a:t>..</a:t>
            </a:r>
            <a:endParaRPr lang="en-US" altLang="zh-CN" sz="2000" b="1" u="sng" dirty="0" smtClean="0">
              <a:solidFill>
                <a:schemeClr val="tx1"/>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anim calcmode="lin" valueType="num">
                                      <p:cBhvr additive="base">
                                        <p:cTn id="13" dur="5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0">
                                            <p:txEl>
                                              <p:pRg st="2" end="2"/>
                                            </p:txEl>
                                          </p:spTgt>
                                        </p:tgtEl>
                                        <p:attrNameLst>
                                          <p:attrName>style.visibility</p:attrName>
                                        </p:attrNameLst>
                                      </p:cBhvr>
                                      <p:to>
                                        <p:strVal val="visible"/>
                                      </p:to>
                                    </p:set>
                                    <p:anim calcmode="lin" valueType="num">
                                      <p:cBhvr additive="base">
                                        <p:cTn id="19" dur="500" fill="hold"/>
                                        <p:tgtEl>
                                          <p:spTgt spid="174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0">
                                            <p:txEl>
                                              <p:pRg st="3" end="3"/>
                                            </p:txEl>
                                          </p:spTgt>
                                        </p:tgtEl>
                                        <p:attrNameLst>
                                          <p:attrName>style.visibility</p:attrName>
                                        </p:attrNameLst>
                                      </p:cBhvr>
                                      <p:to>
                                        <p:strVal val="visible"/>
                                      </p:to>
                                    </p:set>
                                    <p:anim calcmode="lin" valueType="num">
                                      <p:cBhvr additive="base">
                                        <p:cTn id="25" dur="500" fill="hold"/>
                                        <p:tgtEl>
                                          <p:spTgt spid="174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410">
                                            <p:txEl>
                                              <p:pRg st="4" end="4"/>
                                            </p:txEl>
                                          </p:spTgt>
                                        </p:tgtEl>
                                        <p:attrNameLst>
                                          <p:attrName>style.visibility</p:attrName>
                                        </p:attrNameLst>
                                      </p:cBhvr>
                                      <p:to>
                                        <p:strVal val="visible"/>
                                      </p:to>
                                    </p:set>
                                    <p:anim calcmode="lin" valueType="num">
                                      <p:cBhvr additive="base">
                                        <p:cTn id="31" dur="500" fill="hold"/>
                                        <p:tgtEl>
                                          <p:spTgt spid="174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410">
                                            <p:txEl>
                                              <p:pRg st="5" end="5"/>
                                            </p:txEl>
                                          </p:spTgt>
                                        </p:tgtEl>
                                        <p:attrNameLst>
                                          <p:attrName>style.visibility</p:attrName>
                                        </p:attrNameLst>
                                      </p:cBhvr>
                                      <p:to>
                                        <p:strVal val="visible"/>
                                      </p:to>
                                    </p:set>
                                    <p:anim calcmode="lin" valueType="num">
                                      <p:cBhvr additive="base">
                                        <p:cTn id="37" dur="500" fill="hold"/>
                                        <p:tgtEl>
                                          <p:spTgt spid="174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a:xfrm>
            <a:off x="500063" y="714375"/>
            <a:ext cx="5357812" cy="500063"/>
          </a:xfrm>
        </p:spPr>
        <p:txBody>
          <a:bodyPr/>
          <a:lstStyle/>
          <a:p>
            <a:r>
              <a:rPr kumimoji="1" lang="zh-CN" altLang="en-US" smtClean="0">
                <a:solidFill>
                  <a:schemeClr val="tx1"/>
                </a:solidFill>
                <a:latin typeface="华文细黑" panose="02010600040101010101" charset="-122"/>
                <a:ea typeface="华文细黑" panose="02010600040101010101" charset="-122"/>
                <a:cs typeface="华文细黑" panose="02010600040101010101" charset="-122"/>
              </a:rPr>
              <a:t>同位语从句</a:t>
            </a:r>
            <a:endParaRPr kumimoji="1" lang="zh-CN" altLang="en-US"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24578" name="内容占位符 2"/>
          <p:cNvSpPr>
            <a:spLocks noGrp="1"/>
          </p:cNvSpPr>
          <p:nvPr>
            <p:ph idx="1"/>
          </p:nvPr>
        </p:nvSpPr>
        <p:spPr>
          <a:xfrm>
            <a:off x="487363" y="1425575"/>
            <a:ext cx="8177212" cy="3429000"/>
          </a:xfrm>
        </p:spPr>
        <p:txBody>
          <a:bodyPr/>
          <a:lstStyle/>
          <a:p>
            <a:pPr algn="just">
              <a:buFont typeface="Wingdings" panose="05000000000000000000" pitchFamily="2" charset="2"/>
              <a:buChar char="Ø"/>
            </a:pPr>
            <a:r>
              <a:rPr lang="zh-CN" altLang="en-US" smtClean="0">
                <a:solidFill>
                  <a:schemeClr val="tx1"/>
                </a:solidFill>
                <a:latin typeface="华文细黑" panose="02010600040101010101" charset="-122"/>
                <a:ea typeface="华文细黑" panose="02010600040101010101" charset="-122"/>
                <a:cs typeface="Times New Roman" panose="02020603050405020304" pitchFamily="18" charset="0"/>
              </a:rPr>
              <a:t>解释说明一个抽象名词：idea; news; report; fact; trend; suggestion; order; fear; hope; advice; promise; memory; the story; faith; belief; rumor; lie;</a:t>
            </a:r>
            <a:endParaRPr lang="zh-CN" altLang="en-US"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lgn="just">
              <a:buFont typeface="Wingdings" panose="05000000000000000000" pitchFamily="2" charset="2"/>
              <a:buChar char="Ø"/>
            </a:pPr>
            <a:r>
              <a:rPr lang="zh-CN" altLang="en-US" smtClean="0">
                <a:solidFill>
                  <a:schemeClr val="tx1"/>
                </a:solidFill>
                <a:latin typeface="华文细黑" panose="02010600040101010101" charset="-122"/>
                <a:ea typeface="华文细黑" panose="02010600040101010101" charset="-122"/>
                <a:cs typeface="Times New Roman" panose="02020603050405020304" pitchFamily="18" charset="0"/>
              </a:rPr>
              <a:t>引导词：that +完整句子</a:t>
            </a:r>
            <a:endParaRPr lang="zh-CN" altLang="en-US"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lgn="just">
              <a:buFont typeface="Wingdings" panose="05000000000000000000" pitchFamily="2" charset="2"/>
              <a:buChar char="Ø"/>
            </a:pPr>
            <a:endParaRPr lang="zh-CN" altLang="en-US" smtClean="0">
              <a:solidFill>
                <a:schemeClr val="tx1"/>
              </a:solidFill>
              <a:latin typeface="华文细黑" panose="02010600040101010101" charset="-122"/>
              <a:ea typeface="华文细黑" panose="0201060004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 calcmode="lin" valueType="num">
                                      <p:cBhvr additive="base">
                                        <p:cTn id="7" dur="500" fill="hold"/>
                                        <p:tgtEl>
                                          <p:spTgt spid="2457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8">
                                            <p:txEl>
                                              <p:pRg st="1" end="1"/>
                                            </p:txEl>
                                          </p:spTgt>
                                        </p:tgtEl>
                                        <p:attrNameLst>
                                          <p:attrName>style.visibility</p:attrName>
                                        </p:attrNameLst>
                                      </p:cBhvr>
                                      <p:to>
                                        <p:strVal val="visible"/>
                                      </p:to>
                                    </p:set>
                                    <p:anim calcmode="lin" valueType="num">
                                      <p:cBhvr additive="base">
                                        <p:cTn id="13" dur="500" fill="hold"/>
                                        <p:tgtEl>
                                          <p:spTgt spid="2457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辨析</a:t>
            </a:r>
            <a:r>
              <a:rPr lang="zh-CN" altLang="en-US">
                <a:solidFill>
                  <a:srgbClr val="FF0000"/>
                </a:solidFill>
              </a:rPr>
              <a:t>定语从句</a:t>
            </a:r>
            <a:r>
              <a:rPr lang="en-US" altLang="zh-CN">
                <a:solidFill>
                  <a:schemeClr val="tx1"/>
                </a:solidFill>
              </a:rPr>
              <a:t>&amp;</a:t>
            </a:r>
            <a:r>
              <a:rPr lang="zh-CN" altLang="en-US">
                <a:solidFill>
                  <a:srgbClr val="0070C0"/>
                </a:solidFill>
              </a:rPr>
              <a:t>同位语从句</a:t>
            </a:r>
            <a:endParaRPr lang="zh-CN" altLang="en-US">
              <a:solidFill>
                <a:srgbClr val="0070C0"/>
              </a:solidFill>
            </a:endParaRPr>
          </a:p>
        </p:txBody>
      </p:sp>
      <p:sp>
        <p:nvSpPr>
          <p:cNvPr id="3" name="内容占位符 2"/>
          <p:cNvSpPr>
            <a:spLocks noGrp="1"/>
          </p:cNvSpPr>
          <p:nvPr>
            <p:ph idx="1"/>
          </p:nvPr>
        </p:nvSpPr>
        <p:spPr/>
        <p:txBody>
          <a:bodyPr/>
          <a:lstStyle/>
          <a:p>
            <a:pPr algn="just">
              <a:lnSpc>
                <a:spcPct val="150000"/>
              </a:lnSpc>
              <a:buFont typeface="Wingdings" panose="05000000000000000000" pitchFamily="2" charset="2"/>
              <a:buChar char="Ø"/>
            </a:pPr>
            <a:r>
              <a:rPr sz="2000" u="sng"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从美国西部传来的</a:t>
            </a:r>
            <a:r>
              <a:rPr sz="20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消息是千真万确的。</a:t>
            </a:r>
            <a:endParaRPr lang="zh-CN" altLang="en-US" sz="2000" smtClean="0">
              <a:solidFill>
                <a:schemeClr val="tx1"/>
              </a:solidFill>
              <a:latin typeface="华文细黑" panose="02010600040101010101" charset="-122"/>
              <a:ea typeface="华文细黑" panose="02010600040101010101" charset="-122"/>
              <a:cs typeface="Times New Roman" panose="02020603050405020304" pitchFamily="18" charset="0"/>
            </a:endParaRPr>
          </a:p>
          <a:p>
            <a:pPr algn="just">
              <a:lnSpc>
                <a:spcPct val="150000"/>
              </a:lnSpc>
              <a:buFont typeface="Wingdings" panose="05000000000000000000" pitchFamily="2" charset="2"/>
              <a:buChar char="Ø"/>
            </a:pPr>
            <a:r>
              <a:rPr sz="2000" u="sng"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滴滴乘客失踪的</a:t>
            </a:r>
            <a:r>
              <a:rPr sz="2000" smtClean="0">
                <a:solidFill>
                  <a:schemeClr val="tx1"/>
                </a:solidFill>
                <a:latin typeface="华文细黑" panose="02010600040101010101" charset="-122"/>
                <a:ea typeface="华文细黑" panose="02010600040101010101" charset="-122"/>
                <a:cs typeface="Times New Roman" panose="02020603050405020304" pitchFamily="18" charset="0"/>
                <a:sym typeface="+mn-ea"/>
              </a:rPr>
              <a:t>消息令我们震惊。</a:t>
            </a:r>
            <a:endParaRPr sz="2000" smtClean="0">
              <a:solidFill>
                <a:schemeClr val="tx1"/>
              </a:solidFill>
              <a:latin typeface="华文细黑" panose="02010600040101010101" charset="-122"/>
              <a:ea typeface="华文细黑" panose="02010600040101010101" charset="-122"/>
              <a:cs typeface="Times New Roman" panose="02020603050405020304" pitchFamily="18" charset="0"/>
              <a:sym typeface="+mn-ea"/>
            </a:endParaRPr>
          </a:p>
          <a:p>
            <a:pPr algn="just">
              <a:lnSpc>
                <a:spcPct val="150000"/>
              </a:lnSpc>
              <a:buFont typeface="Wingdings" panose="05000000000000000000" pitchFamily="2" charset="2"/>
              <a:buChar char="Ø"/>
            </a:pPr>
            <a:r>
              <a:rPr sz="2000">
                <a:solidFill>
                  <a:schemeClr val="tx1"/>
                </a:solidFill>
              </a:rPr>
              <a:t>大家已经接受了</a:t>
            </a:r>
            <a:r>
              <a:rPr lang="en-US" altLang="zh-CN" sz="2000" u="sng">
                <a:solidFill>
                  <a:schemeClr val="tx1"/>
                </a:solidFill>
              </a:rPr>
              <a:t>John </a:t>
            </a:r>
            <a:r>
              <a:rPr sz="2000" u="sng">
                <a:solidFill>
                  <a:schemeClr val="tx1"/>
                </a:solidFill>
              </a:rPr>
              <a:t>和</a:t>
            </a:r>
            <a:r>
              <a:rPr lang="en-US" altLang="zh-CN" sz="2000" u="sng">
                <a:solidFill>
                  <a:schemeClr val="tx1"/>
                </a:solidFill>
              </a:rPr>
              <a:t>Lucy</a:t>
            </a:r>
            <a:r>
              <a:rPr sz="2000" u="sng">
                <a:solidFill>
                  <a:schemeClr val="tx1"/>
                </a:solidFill>
              </a:rPr>
              <a:t>谈恋爱的</a:t>
            </a:r>
            <a:r>
              <a:rPr sz="2000">
                <a:solidFill>
                  <a:schemeClr val="tx1"/>
                </a:solidFill>
              </a:rPr>
              <a:t>事实。</a:t>
            </a:r>
            <a:endParaRPr sz="2000">
              <a:solidFill>
                <a:schemeClr val="tx1"/>
              </a:solidFill>
            </a:endParaRPr>
          </a:p>
          <a:p>
            <a:pPr algn="just">
              <a:lnSpc>
                <a:spcPct val="150000"/>
              </a:lnSpc>
              <a:buFont typeface="Wingdings" panose="05000000000000000000" pitchFamily="2" charset="2"/>
              <a:buChar char="Ø"/>
            </a:pPr>
            <a:r>
              <a:rPr sz="2000" u="sng">
                <a:solidFill>
                  <a:schemeClr val="tx1"/>
                </a:solidFill>
              </a:rPr>
              <a:t>五十年前发生在杭州的</a:t>
            </a:r>
            <a:r>
              <a:rPr sz="2000">
                <a:solidFill>
                  <a:schemeClr val="tx1"/>
                </a:solidFill>
              </a:rPr>
              <a:t>故事被写成了一首歌。</a:t>
            </a:r>
            <a:endParaRPr sz="2000">
              <a:solidFill>
                <a:schemeClr val="tx1"/>
              </a:solidFill>
            </a:endParaRPr>
          </a:p>
          <a:p>
            <a:pPr algn="just">
              <a:lnSpc>
                <a:spcPct val="150000"/>
              </a:lnSpc>
              <a:buFont typeface="Wingdings" panose="05000000000000000000" pitchFamily="2" charset="2"/>
              <a:buChar char="Ø"/>
            </a:pPr>
            <a:r>
              <a:rPr sz="2000" u="sng">
                <a:solidFill>
                  <a:schemeClr val="tx1"/>
                </a:solidFill>
              </a:rPr>
              <a:t>学生应该通过反复翻译句子来提高其英语成绩的</a:t>
            </a:r>
            <a:r>
              <a:rPr sz="2000">
                <a:solidFill>
                  <a:schemeClr val="tx1"/>
                </a:solidFill>
              </a:rPr>
              <a:t>建议非常实用。</a:t>
            </a:r>
            <a:endParaRPr sz="2000">
              <a:solidFill>
                <a:schemeClr val="tx1"/>
              </a:solidFill>
            </a:endParaRPr>
          </a:p>
          <a:p>
            <a:pPr algn="just">
              <a:lnSpc>
                <a:spcPct val="150000"/>
              </a:lnSpc>
              <a:buFont typeface="Wingdings" panose="05000000000000000000" pitchFamily="2" charset="2"/>
              <a:buChar char="Ø"/>
            </a:pPr>
            <a:endParaRPr sz="2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childTnLst>
                                    <p:animClr clrSpc="rgb" dir="cw">
                                      <p:cBhvr override="childStyle">
                                        <p:cTn id="12" dur="2000" fill="hold"/>
                                        <p:tgtEl>
                                          <p:spTgt spid="3">
                                            <p:txEl>
                                              <p:pRg st="0" end="0"/>
                                            </p:txEl>
                                          </p:spTgt>
                                        </p:tgtEl>
                                        <p:attrNameLst>
                                          <p:attrName>style.color</p:attrName>
                                        </p:attrNameLst>
                                      </p:cBhvr>
                                      <p:to>
                                        <a:srgbClr val="FF3300"/>
                                      </p:to>
                                    </p:animClr>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2000" fill="hold"/>
                                        <p:tgtEl>
                                          <p:spTgt spid="3">
                                            <p:txEl>
                                              <p:pRg st="1" end="1"/>
                                            </p:txEl>
                                          </p:spTgt>
                                        </p:tgtEl>
                                        <p:attrNameLst>
                                          <p:attrName>style.color</p:attrName>
                                        </p:attrNameLst>
                                      </p:cBhvr>
                                      <p:to>
                                        <a:schemeClr val="hlink"/>
                                      </p:to>
                                    </p:animClr>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nodeType="clickEffect">
                                  <p:stCondLst>
                                    <p:cond delay="0"/>
                                  </p:stCondLst>
                                  <p:childTnLst>
                                    <p:animClr clrSpc="rgb" dir="cw">
                                      <p:cBhvr override="childStyle">
                                        <p:cTn id="32" dur="2000" fill="hold"/>
                                        <p:tgtEl>
                                          <p:spTgt spid="3">
                                            <p:txEl>
                                              <p:pRg st="2" end="2"/>
                                            </p:txEl>
                                          </p:spTgt>
                                        </p:tgtEl>
                                        <p:attrNameLst>
                                          <p:attrName>style.color</p:attrName>
                                        </p:attrNameLst>
                                      </p:cBhvr>
                                      <p:to>
                                        <a:schemeClr val="hlink"/>
                                      </p:to>
                                    </p:animClr>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nodeType="clickEffect">
                                  <p:stCondLst>
                                    <p:cond delay="0"/>
                                  </p:stCondLst>
                                  <p:childTnLst>
                                    <p:animClr clrSpc="rgb" dir="cw">
                                      <p:cBhvr override="childStyle">
                                        <p:cTn id="42" dur="2000" fill="hold"/>
                                        <p:tgtEl>
                                          <p:spTgt spid="3">
                                            <p:txEl>
                                              <p:pRg st="3" end="3"/>
                                            </p:txEl>
                                          </p:spTgt>
                                        </p:tgtEl>
                                        <p:attrNameLst>
                                          <p:attrName>style.color</p:attrName>
                                        </p:attrNameLst>
                                      </p:cBhvr>
                                      <p:to>
                                        <a:srgbClr val="FF3300"/>
                                      </p:to>
                                    </p:animClr>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additive="base">
                                        <p:cTn id="4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 presetClass="emph" presetSubtype="2" fill="hold" nodeType="clickEffect">
                                  <p:stCondLst>
                                    <p:cond delay="0"/>
                                  </p:stCondLst>
                                  <p:childTnLst>
                                    <p:animClr clrSpc="rgb" dir="cw">
                                      <p:cBhvr override="childStyle">
                                        <p:cTn id="52" dur="2000" fill="hold"/>
                                        <p:tgtEl>
                                          <p:spTgt spid="3">
                                            <p:txEl>
                                              <p:pRg st="4" end="4"/>
                                            </p:txEl>
                                          </p:spTgt>
                                        </p:tgtEl>
                                        <p:attrNameLst>
                                          <p:attrName>style.color</p:attrName>
                                        </p:attrNameLst>
                                      </p:cBhvr>
                                      <p:to>
                                        <a:schemeClr val="hlink"/>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内容占位符 3"/>
          <p:cNvGraphicFramePr>
            <a:graphicFrameLocks noGrp="1"/>
          </p:cNvGraphicFramePr>
          <p:nvPr>
            <p:ph idx="1"/>
          </p:nvPr>
        </p:nvGraphicFramePr>
        <p:xfrm>
          <a:off x="167640" y="555625"/>
          <a:ext cx="8724265" cy="4318000"/>
        </p:xfrm>
        <a:graphic>
          <a:graphicData uri="http://schemas.openxmlformats.org/drawingml/2006/table">
            <a:tbl>
              <a:tblPr firstRow="1" bandRow="1">
                <a:tableStyleId>{5C22544A-7EE6-4342-B048-85BDC9FD1C3A}</a:tableStyleId>
              </a:tblPr>
              <a:tblGrid>
                <a:gridCol w="4784090"/>
                <a:gridCol w="3940175"/>
              </a:tblGrid>
              <a:tr h="1079500">
                <a:tc>
                  <a:txBody>
                    <a:bodyPr/>
                    <a:lstStyle/>
                    <a:p>
                      <a:pPr>
                        <a:buNone/>
                      </a:pPr>
                      <a:r>
                        <a:rPr lang="zh-CN" altLang="en-US"/>
                        <a:t>同位语从句</a:t>
                      </a:r>
                      <a:endParaRPr lang="zh-CN" altLang="en-US"/>
                    </a:p>
                  </a:txBody>
                  <a:tcPr/>
                </a:tc>
                <a:tc>
                  <a:txBody>
                    <a:bodyPr/>
                    <a:lstStyle/>
                    <a:p>
                      <a:pPr>
                        <a:buNone/>
                      </a:pPr>
                      <a:r>
                        <a:rPr lang="zh-CN" altLang="en-US"/>
                        <a:t>定语从句</a:t>
                      </a:r>
                      <a:endParaRPr lang="zh-CN" altLang="en-US"/>
                    </a:p>
                  </a:txBody>
                  <a:tcPr/>
                </a:tc>
              </a:tr>
              <a:tr h="1079500">
                <a:tc>
                  <a:txBody>
                    <a:bodyPr/>
                    <a:lstStyle/>
                    <a:p>
                      <a:pPr>
                        <a:buNone/>
                      </a:pPr>
                      <a:r>
                        <a:rPr lang="zh-CN" altLang="en-US"/>
                        <a:t>解释说明一个抽象名词，从句就是这个抽象名词的内容。可以翻译成</a:t>
                      </a:r>
                      <a:r>
                        <a:rPr lang="en-US" altLang="zh-CN"/>
                        <a:t>“</a:t>
                      </a:r>
                      <a:r>
                        <a:rPr lang="zh-CN" altLang="en-US"/>
                        <a:t>这一</a:t>
                      </a:r>
                      <a:r>
                        <a:rPr lang="en-US" altLang="zh-CN"/>
                        <a:t>”</a:t>
                      </a:r>
                      <a:endParaRPr lang="en-US" altLang="zh-CN"/>
                    </a:p>
                  </a:txBody>
                  <a:tcPr/>
                </a:tc>
                <a:tc>
                  <a:txBody>
                    <a:bodyPr/>
                    <a:lstStyle/>
                    <a:p>
                      <a:pPr>
                        <a:buNone/>
                      </a:pPr>
                      <a:r>
                        <a:rPr lang="zh-CN" altLang="en-US"/>
                        <a:t>修饰一个名词，翻译成</a:t>
                      </a:r>
                      <a:r>
                        <a:rPr lang="en-US" altLang="zh-CN"/>
                        <a:t>“……</a:t>
                      </a:r>
                      <a:r>
                        <a:rPr lang="zh-CN" altLang="en-US"/>
                        <a:t>的</a:t>
                      </a:r>
                      <a:r>
                        <a:rPr lang="en-US" altLang="zh-CN"/>
                        <a:t>”</a:t>
                      </a:r>
                      <a:endParaRPr lang="en-US" altLang="zh-CN"/>
                    </a:p>
                  </a:txBody>
                  <a:tcPr/>
                </a:tc>
              </a:tr>
              <a:tr h="1079500">
                <a:tc>
                  <a:txBody>
                    <a:bodyPr/>
                    <a:lstStyle/>
                    <a:p>
                      <a:pPr>
                        <a:buNone/>
                      </a:pPr>
                      <a:r>
                        <a:rPr lang="en-US" altLang="zh-CN"/>
                        <a:t>that</a:t>
                      </a:r>
                      <a:r>
                        <a:rPr lang="zh-CN" altLang="en-US"/>
                        <a:t>引导同位语从句</a:t>
                      </a:r>
                      <a:r>
                        <a:rPr lang="en-US" altLang="zh-CN"/>
                        <a:t>+</a:t>
                      </a:r>
                      <a:r>
                        <a:rPr lang="zh-CN" altLang="en-US"/>
                        <a:t>完整句子</a:t>
                      </a:r>
                      <a:endParaRPr lang="zh-CN" altLang="en-US"/>
                    </a:p>
                  </a:txBody>
                  <a:tcPr/>
                </a:tc>
                <a:tc>
                  <a:txBody>
                    <a:bodyPr/>
                    <a:lstStyle/>
                    <a:p>
                      <a:pPr>
                        <a:buNone/>
                      </a:pPr>
                      <a:r>
                        <a:rPr lang="en-US" altLang="zh-CN"/>
                        <a:t>that+</a:t>
                      </a:r>
                      <a:r>
                        <a:rPr lang="zh-CN" altLang="en-US"/>
                        <a:t>不完整句子</a:t>
                      </a:r>
                      <a:endParaRPr lang="zh-CN" altLang="en-US"/>
                    </a:p>
                  </a:txBody>
                  <a:tcPr/>
                </a:tc>
              </a:tr>
              <a:tr h="1079500">
                <a:tc>
                  <a:txBody>
                    <a:bodyPr/>
                    <a:lstStyle/>
                    <a:p>
                      <a:pPr>
                        <a:buNone/>
                      </a:pPr>
                      <a:r>
                        <a:rPr lang="zh-CN" altLang="en-US"/>
                        <a:t>被解释的名词必须是抽象的：</a:t>
                      </a:r>
                      <a:r>
                        <a:rPr lang="en-US" altLang="zh-CN"/>
                        <a:t>idea; news; report</a:t>
                      </a:r>
                      <a:endParaRPr lang="en-US" altLang="zh-CN"/>
                    </a:p>
                  </a:txBody>
                  <a:tcPr/>
                </a:tc>
                <a:tc>
                  <a:txBody>
                    <a:bodyPr/>
                    <a:lstStyle/>
                    <a:p>
                      <a:pPr>
                        <a:buNone/>
                      </a:pPr>
                      <a:r>
                        <a:rPr lang="zh-CN" altLang="en-US"/>
                        <a:t>被修饰的名词可以是任何名词</a:t>
                      </a:r>
                      <a:endParaRPr lang="zh-CN" altLang="en-US"/>
                    </a:p>
                  </a:txBody>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a:xfrm>
            <a:off x="322263" y="627063"/>
            <a:ext cx="8821737" cy="571500"/>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常用同位语从句</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句型</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369570" y="1269365"/>
            <a:ext cx="8429625" cy="3413760"/>
          </a:xfrm>
        </p:spPr>
        <p:txBody>
          <a:bodyPr/>
          <a:lstStyle/>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Due to the fact that......, ........</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Despite the fact that......, .......</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There is a trend that........</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I agree with the view that.......</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This will lead to the result that.....</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a:p>
            <a:pPr>
              <a:buFont typeface="Wingdings" panose="05000000000000000000" pitchFamily="2" charset="2"/>
              <a:buChar char="Ø"/>
              <a:defRPr/>
            </a:pP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a:xfrm>
            <a:off x="322263" y="627063"/>
            <a:ext cx="8821737" cy="571500"/>
          </a:xfrm>
        </p:spPr>
        <p:txBody>
          <a:bodyPr/>
          <a:lstStyle/>
          <a:p>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常用同位语从句</a:t>
            </a:r>
            <a:r>
              <a:rPr lang="zh-CN" altLang="en-US" sz="2400" smtClean="0">
                <a:solidFill>
                  <a:schemeClr val="tx1"/>
                </a:solidFill>
                <a:latin typeface="华文细黑" panose="02010600040101010101" charset="-122"/>
                <a:ea typeface="华文细黑" panose="02010600040101010101" charset="-122"/>
                <a:cs typeface="华文细黑" panose="02010600040101010101" charset="-122"/>
              </a:rPr>
              <a:t>句型</a:t>
            </a:r>
            <a:endParaRPr lang="zh-CN" altLang="en-US" sz="2400" smtClean="0">
              <a:solidFill>
                <a:schemeClr val="tx1"/>
              </a:solidFill>
              <a:latin typeface="华文细黑" panose="02010600040101010101" charset="-122"/>
              <a:ea typeface="华文细黑" panose="02010600040101010101" charset="-122"/>
              <a:cs typeface="华文细黑" panose="02010600040101010101" charset="-122"/>
            </a:endParaRPr>
          </a:p>
        </p:txBody>
      </p:sp>
      <p:sp>
        <p:nvSpPr>
          <p:cNvPr id="3" name="内容占位符 2"/>
          <p:cNvSpPr>
            <a:spLocks noGrp="1"/>
          </p:cNvSpPr>
          <p:nvPr>
            <p:ph idx="1"/>
          </p:nvPr>
        </p:nvSpPr>
        <p:spPr>
          <a:xfrm>
            <a:off x="369570" y="1269365"/>
            <a:ext cx="8429625" cy="3413760"/>
          </a:xfrm>
        </p:spPr>
        <p:txBody>
          <a:bodyPr/>
          <a:lstStyle/>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一句话，which will lead to the result that.....</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a:p>
            <a:pPr>
              <a:buFont typeface="Wingdings" panose="05000000000000000000" pitchFamily="2" charset="2"/>
              <a:buChar char="Ø"/>
              <a:defRPr/>
            </a:pPr>
            <a:r>
              <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rPr>
              <a:t>An increasing number of graduates choose to settle down in the major cities of a country, which will lead to the result that housing, traffic, medical and educational resources there will face huge pressure.</a:t>
            </a:r>
            <a:endParaRPr lang="en-US" altLang="zh-CN" dirty="0">
              <a:solidFill>
                <a:schemeClr val="tx1"/>
              </a:solidFill>
              <a:latin typeface="华文细黑" panose="02010600040101010101" charset="-122"/>
              <a:ea typeface="华文细黑" panose="02010600040101010101" charset="-122"/>
              <a:cs typeface="Times New Roman" panose="02020603050405020304" pitchFamily="18" charset="0"/>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微信图片_20190826100020"/>
          <p:cNvPicPr>
            <a:picLocks noChangeAspect="1"/>
          </p:cNvPicPr>
          <p:nvPr/>
        </p:nvPicPr>
        <p:blipFill>
          <a:blip r:embed="rId1"/>
          <a:stretch>
            <a:fillRect/>
          </a:stretch>
        </p:blipFill>
        <p:spPr>
          <a:xfrm>
            <a:off x="2032000" y="602615"/>
            <a:ext cx="5080000" cy="3346450"/>
          </a:xfrm>
          <a:prstGeom prst="rect">
            <a:avLst/>
          </a:prstGeom>
        </p:spPr>
      </p:pic>
      <p:pic>
        <p:nvPicPr>
          <p:cNvPr id="3" name="图片 2" descr="c8ea15ce36d3d5391ea36d36c9668156372ab095"/>
          <p:cNvPicPr>
            <a:picLocks noChangeAspect="1"/>
          </p:cNvPicPr>
          <p:nvPr/>
        </p:nvPicPr>
        <p:blipFill>
          <a:blip r:embed="rId1"/>
          <a:stretch>
            <a:fillRect/>
          </a:stretch>
        </p:blipFill>
        <p:spPr>
          <a:xfrm>
            <a:off x="2051685" y="-20320"/>
            <a:ext cx="4983480" cy="4983480"/>
          </a:xfrm>
          <a:prstGeom prst="rect">
            <a:avLst/>
          </a:prstGeom>
        </p:spPr>
      </p:pic>
      <p:pic>
        <p:nvPicPr>
          <p:cNvPr id="2" name="图片 1" descr="c8ea15ce36d3d5391ea36d36c9668156372ab095"/>
          <p:cNvPicPr>
            <a:picLocks noChangeAspect="1"/>
          </p:cNvPicPr>
          <p:nvPr>
            <p:custDataLst>
              <p:tags r:id="rId2"/>
            </p:custDataLst>
          </p:nvPr>
        </p:nvPicPr>
        <p:blipFill>
          <a:blip r:embed="rId3"/>
          <a:stretch>
            <a:fillRect/>
          </a:stretch>
        </p:blipFill>
        <p:spPr>
          <a:xfrm>
            <a:off x="2195830" y="-92710"/>
            <a:ext cx="4983480" cy="498348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40025" y="1658620"/>
            <a:ext cx="3782060" cy="1198880"/>
          </a:xfrm>
          <a:prstGeom prst="rect">
            <a:avLst/>
          </a:prstGeom>
          <a:noFill/>
          <a:ln>
            <a:noFill/>
          </a:ln>
        </p:spPr>
        <p:txBody>
          <a:bodyPr wrap="square" rtlCol="0" anchor="t">
            <a:spAutoFit/>
          </a:bodyPr>
          <a:lstStyle/>
          <a:p>
            <a:pPr algn="ctr"/>
            <a:r>
              <a:rPr lang="zh-CN" altLang="en-US" sz="7200" b="1">
                <a:solidFill>
                  <a:schemeClr val="tx1"/>
                </a:solidFill>
                <a:effectLst>
                  <a:outerShdw blurRad="38100" dist="19050" dir="2700000" algn="tl" rotWithShape="0">
                    <a:schemeClr val="dk1">
                      <a:alpha val="40000"/>
                    </a:schemeClr>
                  </a:outerShdw>
                </a:effectLst>
              </a:rPr>
              <a:t>保</a:t>
            </a:r>
            <a:r>
              <a:rPr lang="en-US" altLang="zh-CN" sz="7200" b="1">
                <a:solidFill>
                  <a:schemeClr val="tx1"/>
                </a:solidFill>
                <a:effectLst>
                  <a:outerShdw blurRad="38100" dist="19050" dir="2700000" algn="tl" rotWithShape="0">
                    <a:schemeClr val="dk1">
                      <a:alpha val="40000"/>
                    </a:schemeClr>
                  </a:outerShdw>
                </a:effectLst>
              </a:rPr>
              <a:t>6</a:t>
            </a:r>
            <a:r>
              <a:rPr lang="zh-CN" altLang="en-US" sz="7200" b="1">
                <a:solidFill>
                  <a:schemeClr val="tx1"/>
                </a:solidFill>
                <a:effectLst>
                  <a:outerShdw blurRad="38100" dist="19050" dir="2700000" algn="tl" rotWithShape="0">
                    <a:schemeClr val="dk1">
                      <a:alpha val="40000"/>
                    </a:schemeClr>
                  </a:outerShdw>
                </a:effectLst>
              </a:rPr>
              <a:t>争</a:t>
            </a:r>
            <a:r>
              <a:rPr lang="en-US" altLang="zh-CN" sz="7200" b="1">
                <a:solidFill>
                  <a:schemeClr val="tx1"/>
                </a:solidFill>
                <a:effectLst>
                  <a:outerShdw blurRad="38100" dist="19050" dir="2700000" algn="tl" rotWithShape="0">
                    <a:schemeClr val="dk1">
                      <a:alpha val="40000"/>
                    </a:schemeClr>
                  </a:outerShdw>
                </a:effectLst>
              </a:rPr>
              <a:t>7</a:t>
            </a:r>
            <a:endParaRPr lang="en-US" altLang="zh-CN" sz="7200" b="1">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chemeClr val="tx1"/>
                </a:solidFill>
                <a:latin typeface="Times New Roman" panose="02020603050405020304" pitchFamily="18" charset="0"/>
                <a:cs typeface="Times New Roman" panose="02020603050405020304" pitchFamily="18" charset="0"/>
              </a:rPr>
              <a:t>2015-8-8/2018-7-28</a:t>
            </a: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a:lnSpc>
                <a:spcPct val="150000"/>
              </a:lnSpc>
            </a:pPr>
            <a:r>
              <a:rPr lang="zh-CN" altLang="en-US" sz="2400">
                <a:solidFill>
                  <a:schemeClr val="tx1"/>
                </a:solidFill>
              </a:rPr>
              <a:t>Some people who have been in prison become good citizens later, and it is often argued that </a:t>
            </a:r>
            <a:r>
              <a:rPr lang="zh-CN" altLang="en-US" sz="2400" u="sng">
                <a:solidFill>
                  <a:schemeClr val="tx1"/>
                </a:solidFill>
              </a:rPr>
              <a:t>these are the best people to talk to teenagers about the dangers of committing a crime.</a:t>
            </a:r>
            <a:endParaRPr lang="zh-CN" altLang="en-US" sz="2400" u="sng">
              <a:solidFill>
                <a:schemeClr val="tx1"/>
              </a:solidFill>
            </a:endParaRPr>
          </a:p>
          <a:p>
            <a:pPr>
              <a:lnSpc>
                <a:spcPct val="150000"/>
              </a:lnSpc>
            </a:pPr>
            <a:r>
              <a:rPr lang="zh-CN" altLang="en-US" sz="2400">
                <a:solidFill>
                  <a:schemeClr val="tx1"/>
                </a:solidFill>
              </a:rPr>
              <a:t>To what extent do you agree or disagree?</a:t>
            </a:r>
            <a:endParaRPr lang="zh-CN" altLang="en-US" sz="2400">
              <a:solidFill>
                <a:schemeClr val="tx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第二段</a:t>
            </a:r>
            <a:endParaRPr lang="zh-CN" altLang="en-US">
              <a:solidFill>
                <a:schemeClr val="tx1"/>
              </a:solidFill>
            </a:endParaRPr>
          </a:p>
        </p:txBody>
      </p:sp>
      <p:sp>
        <p:nvSpPr>
          <p:cNvPr id="3" name="内容占位符 2"/>
          <p:cNvSpPr>
            <a:spLocks noGrp="1"/>
          </p:cNvSpPr>
          <p:nvPr>
            <p:ph idx="1"/>
          </p:nvPr>
        </p:nvSpPr>
        <p:spPr>
          <a:xfrm>
            <a:off x="499110" y="1323340"/>
            <a:ext cx="8187690" cy="3409315"/>
          </a:xfrm>
        </p:spPr>
        <p:txBody>
          <a:bodyPr/>
          <a:lstStyle/>
          <a:p>
            <a:pPr>
              <a:lnSpc>
                <a:spcPct val="150000"/>
              </a:lnSpc>
            </a:pPr>
            <a:r>
              <a:rPr lang="zh-CN" altLang="en-US" sz="2000" dirty="0">
                <a:solidFill>
                  <a:schemeClr val="tx1"/>
                </a:solidFill>
              </a:rPr>
              <a:t>On the one hand, 改造好的前科犯的演讲确实更有说服力。</a:t>
            </a:r>
            <a:endParaRPr lang="zh-CN" altLang="en-US" sz="2000" dirty="0">
              <a:solidFill>
                <a:schemeClr val="tx1"/>
              </a:solidFill>
            </a:endParaRPr>
          </a:p>
          <a:p>
            <a:pPr>
              <a:lnSpc>
                <a:spcPct val="150000"/>
              </a:lnSpc>
            </a:pPr>
            <a:r>
              <a:rPr lang="zh-CN" altLang="en-US" sz="2000" dirty="0">
                <a:solidFill>
                  <a:schemeClr val="tx1"/>
                </a:solidFill>
              </a:rPr>
              <a:t>This is because 这些人真实经历过他们如何卷入一场犯罪活动中、监狱的悲惨生活和出狱之后找工作的困难。</a:t>
            </a:r>
            <a:endParaRPr lang="zh-CN" altLang="en-US" sz="2000" dirty="0">
              <a:solidFill>
                <a:schemeClr val="tx1"/>
              </a:solidFill>
            </a:endParaRPr>
          </a:p>
          <a:p>
            <a:pPr>
              <a:lnSpc>
                <a:spcPct val="150000"/>
              </a:lnSpc>
            </a:pPr>
            <a:r>
              <a:rPr lang="zh-CN" altLang="en-US" sz="2000" dirty="0">
                <a:solidFill>
                  <a:schemeClr val="tx1"/>
                </a:solidFill>
              </a:rPr>
              <a:t>Therefore</a:t>
            </a:r>
            <a:r>
              <a:rPr lang="en-US" altLang="zh-CN" sz="2000" dirty="0">
                <a:solidFill>
                  <a:schemeClr val="tx1"/>
                </a:solidFill>
              </a:rPr>
              <a:t>/So</a:t>
            </a:r>
            <a:r>
              <a:rPr lang="zh-CN" altLang="en-US" sz="2000" dirty="0">
                <a:solidFill>
                  <a:schemeClr val="tx1"/>
                </a:solidFill>
              </a:rPr>
              <a:t>, 相比于老师家长或者警官的说教，罪犯基于事实的演讲更加生动并可以消除青少年心中关于罪犯都在过光鲜生活的错误观点。</a:t>
            </a:r>
            <a:endParaRPr lang="zh-CN" altLang="en-US" sz="2000" dirty="0">
              <a:solidFill>
                <a:schemeClr val="tx1"/>
              </a:solidFill>
            </a:endParaRPr>
          </a:p>
          <a:p>
            <a:pPr>
              <a:lnSpc>
                <a:spcPct val="150000"/>
              </a:lnSpc>
            </a:pPr>
            <a:r>
              <a:rPr lang="zh-CN" altLang="en-US" sz="2000" dirty="0">
                <a:solidFill>
                  <a:schemeClr val="tx1"/>
                </a:solidFill>
              </a:rPr>
              <a:t>As a result, 学生更倾向于听从那些按照经验讲话的人。</a:t>
            </a:r>
            <a:endParaRPr lang="zh-CN" altLang="en-US"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9725" y="502285"/>
            <a:ext cx="4258310" cy="4424045"/>
          </a:xfrm>
        </p:spPr>
        <p:txBody>
          <a:bodyPr/>
          <a:lstStyle/>
          <a:p>
            <a:r>
              <a:rPr lang="en-US" altLang="zh-CN" sz="1800">
                <a:solidFill>
                  <a:schemeClr val="tx1"/>
                </a:solidFill>
              </a:rPr>
              <a:t>deliver a speech</a:t>
            </a:r>
            <a:endParaRPr lang="zh-CN" altLang="en-US" sz="1800">
              <a:solidFill>
                <a:schemeClr val="tx1"/>
              </a:solidFill>
            </a:endParaRPr>
          </a:p>
          <a:p>
            <a:r>
              <a:rPr lang="zh-CN" altLang="en-US" sz="1800">
                <a:solidFill>
                  <a:schemeClr val="tx1"/>
                </a:solidFill>
              </a:rPr>
              <a:t>Reformed ex-offender 改造好的前科犯</a:t>
            </a:r>
            <a:endParaRPr lang="zh-CN" altLang="en-US" sz="1800">
              <a:solidFill>
                <a:schemeClr val="tx1"/>
              </a:solidFill>
            </a:endParaRPr>
          </a:p>
          <a:p>
            <a:r>
              <a:rPr sz="1800">
                <a:solidFill>
                  <a:schemeClr val="tx1"/>
                </a:solidFill>
                <a:sym typeface="+mn-ea"/>
              </a:rPr>
              <a:t>convincing &amp; persuasive 令人信服的</a:t>
            </a:r>
            <a:endParaRPr lang="zh-CN" altLang="en-US" sz="1800">
              <a:solidFill>
                <a:schemeClr val="tx1"/>
              </a:solidFill>
            </a:endParaRPr>
          </a:p>
          <a:p>
            <a:r>
              <a:rPr lang="en-US" altLang="zh-CN" sz="1800">
                <a:solidFill>
                  <a:schemeClr val="tx1"/>
                </a:solidFill>
              </a:rPr>
              <a:t>go through </a:t>
            </a:r>
            <a:r>
              <a:rPr sz="1800">
                <a:solidFill>
                  <a:schemeClr val="tx1"/>
                </a:solidFill>
              </a:rPr>
              <a:t>经历</a:t>
            </a:r>
            <a:endParaRPr sz="1800">
              <a:solidFill>
                <a:schemeClr val="tx1"/>
              </a:solidFill>
            </a:endParaRPr>
          </a:p>
          <a:p>
            <a:r>
              <a:rPr sz="1800">
                <a:solidFill>
                  <a:schemeClr val="tx1"/>
                </a:solidFill>
                <a:sym typeface="+mn-ea"/>
              </a:rPr>
              <a:t>Be involved in 卷入、涉嫌</a:t>
            </a:r>
            <a:endParaRPr sz="1800">
              <a:solidFill>
                <a:schemeClr val="tx1"/>
              </a:solidFill>
              <a:sym typeface="+mn-ea"/>
            </a:endParaRPr>
          </a:p>
          <a:p>
            <a:r>
              <a:rPr lang="en-US" altLang="zh-CN" sz="1800">
                <a:solidFill>
                  <a:schemeClr val="tx1"/>
                </a:solidFill>
                <a:sym typeface="+mn-ea"/>
              </a:rPr>
              <a:t>miserable life </a:t>
            </a:r>
            <a:r>
              <a:rPr sz="1800">
                <a:solidFill>
                  <a:schemeClr val="tx1"/>
                </a:solidFill>
                <a:sym typeface="+mn-ea"/>
              </a:rPr>
              <a:t>悲惨的生活</a:t>
            </a:r>
            <a:endParaRPr sz="1800">
              <a:solidFill>
                <a:schemeClr val="tx1"/>
              </a:solidFill>
              <a:sym typeface="+mn-ea"/>
            </a:endParaRPr>
          </a:p>
          <a:p>
            <a:r>
              <a:rPr sz="1800">
                <a:solidFill>
                  <a:schemeClr val="tx1"/>
                </a:solidFill>
                <a:sym typeface="+mn-ea"/>
              </a:rPr>
              <a:t>Serve the sentence 服刑</a:t>
            </a:r>
            <a:endParaRPr sz="1800">
              <a:solidFill>
                <a:schemeClr val="tx1"/>
              </a:solidFill>
              <a:sym typeface="+mn-ea"/>
            </a:endParaRPr>
          </a:p>
          <a:p>
            <a:r>
              <a:rPr lang="en-US" altLang="zh-CN" sz="1800">
                <a:solidFill>
                  <a:schemeClr val="tx1"/>
                </a:solidFill>
                <a:sym typeface="+mn-ea"/>
              </a:rPr>
              <a:t>secure a job </a:t>
            </a:r>
            <a:r>
              <a:rPr sz="1800">
                <a:solidFill>
                  <a:schemeClr val="tx1"/>
                </a:solidFill>
                <a:sym typeface="+mn-ea"/>
              </a:rPr>
              <a:t>找工作</a:t>
            </a:r>
            <a:endParaRPr lang="en-US" altLang="zh-CN" sz="1800">
              <a:solidFill>
                <a:schemeClr val="tx1"/>
              </a:solidFill>
              <a:sym typeface="+mn-ea"/>
            </a:endParaRPr>
          </a:p>
          <a:p>
            <a:r>
              <a:rPr sz="1800">
                <a:solidFill>
                  <a:schemeClr val="tx1"/>
                </a:solidFill>
                <a:sym typeface="+mn-ea"/>
              </a:rPr>
              <a:t>Release a prisoner 释放一个囚犯</a:t>
            </a:r>
            <a:endParaRPr sz="1800">
              <a:solidFill>
                <a:schemeClr val="tx1"/>
              </a:solidFill>
              <a:sym typeface="+mn-ea"/>
            </a:endParaRPr>
          </a:p>
          <a:p>
            <a:r>
              <a:rPr sz="1800">
                <a:solidFill>
                  <a:schemeClr val="tx1"/>
                </a:solidFill>
                <a:sym typeface="+mn-ea"/>
              </a:rPr>
              <a:t>Compared to...... 与……相比</a:t>
            </a:r>
            <a:endParaRPr lang="zh-CN" altLang="en-US" sz="1800">
              <a:latin typeface="+mn-lt"/>
              <a:ea typeface="+mn-ea"/>
            </a:endParaRPr>
          </a:p>
          <a:p>
            <a:endParaRPr lang="zh-CN" altLang="en-US" sz="1800">
              <a:solidFill>
                <a:schemeClr val="tx1"/>
              </a:solidFill>
            </a:endParaRPr>
          </a:p>
        </p:txBody>
      </p:sp>
      <p:sp>
        <p:nvSpPr>
          <p:cNvPr id="8" name="文本框 7"/>
          <p:cNvSpPr txBox="1"/>
          <p:nvPr/>
        </p:nvSpPr>
        <p:spPr>
          <a:xfrm>
            <a:off x="4598035" y="502285"/>
            <a:ext cx="4401185" cy="3357245"/>
          </a:xfrm>
          <a:prstGeom prst="rect">
            <a:avLst/>
          </a:prstGeom>
          <a:noFill/>
        </p:spPr>
        <p:txBody>
          <a:bodyPr wrap="square" rtlCol="0">
            <a:spAutoFit/>
          </a:bodyPr>
          <a:lstStyle/>
          <a:p>
            <a:pPr marL="342900" indent="-342900" algn="l" eaLnBrk="0" hangingPunct="0">
              <a:spcBef>
                <a:spcPct val="20000"/>
              </a:spcBef>
              <a:buNone/>
            </a:pPr>
            <a:r>
              <a:rPr lang="en-US" altLang="zh-CN" sz="1800">
                <a:sym typeface="+mn-ea"/>
              </a:rPr>
              <a:t>monotonous talk </a:t>
            </a:r>
            <a:r>
              <a:rPr sz="1800">
                <a:sym typeface="+mn-ea"/>
              </a:rPr>
              <a:t>乏味的讲话</a:t>
            </a:r>
            <a:endParaRPr sz="1800">
              <a:solidFill>
                <a:schemeClr val="tx1"/>
              </a:solidFill>
              <a:sym typeface="+mn-ea"/>
            </a:endParaRPr>
          </a:p>
          <a:p>
            <a:pPr marL="342900" indent="-342900" algn="l" eaLnBrk="0" hangingPunct="0">
              <a:spcBef>
                <a:spcPct val="20000"/>
              </a:spcBef>
              <a:buNone/>
            </a:pPr>
            <a:r>
              <a:rPr lang="en-US" altLang="zh-CN" sz="1800">
                <a:sym typeface="+mn-ea"/>
              </a:rPr>
              <a:t>be based on </a:t>
            </a:r>
            <a:r>
              <a:rPr sz="1800">
                <a:sym typeface="+mn-ea"/>
              </a:rPr>
              <a:t>基于</a:t>
            </a:r>
            <a:endParaRPr sz="1800">
              <a:solidFill>
                <a:schemeClr val="tx1"/>
              </a:solidFill>
            </a:endParaRPr>
          </a:p>
          <a:p>
            <a:pPr marL="342900" indent="-342900" algn="l" eaLnBrk="0" hangingPunct="0">
              <a:spcBef>
                <a:spcPct val="20000"/>
              </a:spcBef>
              <a:buNone/>
            </a:pPr>
            <a:r>
              <a:rPr lang="en-US" altLang="zh-CN" sz="1800">
                <a:sym typeface="+mn-ea"/>
              </a:rPr>
              <a:t>vivid </a:t>
            </a:r>
            <a:r>
              <a:rPr sz="1800">
                <a:sym typeface="+mn-ea"/>
              </a:rPr>
              <a:t>生动的</a:t>
            </a:r>
            <a:endParaRPr lang="zh-CN" altLang="en-US" sz="1800">
              <a:solidFill>
                <a:schemeClr val="tx1"/>
              </a:solidFill>
            </a:endParaRPr>
          </a:p>
          <a:p>
            <a:pPr marL="342900" indent="-342900" algn="l" eaLnBrk="0" hangingPunct="0">
              <a:spcBef>
                <a:spcPct val="20000"/>
              </a:spcBef>
              <a:buNone/>
            </a:pPr>
            <a:r>
              <a:rPr lang="zh-CN" altLang="en-US" sz="1800">
                <a:latin typeface="+mn-lt"/>
                <a:ea typeface="+mn-ea"/>
                <a:sym typeface="+mn-ea"/>
              </a:rPr>
              <a:t>Dispel 消除</a:t>
            </a:r>
            <a:endParaRPr lang="zh-CN" altLang="en-US" sz="1800">
              <a:latin typeface="+mn-lt"/>
              <a:ea typeface="+mn-ea"/>
              <a:sym typeface="+mn-ea"/>
            </a:endParaRPr>
          </a:p>
          <a:p>
            <a:pPr marL="342900" indent="-342900" algn="l" eaLnBrk="0" hangingPunct="0">
              <a:spcBef>
                <a:spcPct val="20000"/>
              </a:spcBef>
              <a:buNone/>
            </a:pPr>
            <a:r>
              <a:rPr lang="zh-CN" altLang="en-US" sz="1800">
                <a:latin typeface="+mn-lt"/>
                <a:ea typeface="+mn-ea"/>
                <a:sym typeface="+mn-ea"/>
              </a:rPr>
              <a:t>Lead a glamorous life 过一个光鲜的生活</a:t>
            </a:r>
            <a:endParaRPr lang="zh-CN" altLang="en-US" sz="1800">
              <a:latin typeface="+mn-lt"/>
              <a:ea typeface="+mn-ea"/>
            </a:endParaRPr>
          </a:p>
          <a:p>
            <a:pPr marL="342900" indent="-342900" algn="l" eaLnBrk="0" hangingPunct="0">
              <a:spcBef>
                <a:spcPct val="20000"/>
              </a:spcBef>
              <a:buNone/>
            </a:pPr>
            <a:r>
              <a:rPr lang="zh-CN" altLang="en-US" sz="1800">
                <a:latin typeface="+mn-lt"/>
                <a:ea typeface="+mn-ea"/>
              </a:rPr>
              <a:t>Be likely to/be inclined to/tend to 倾向于</a:t>
            </a:r>
            <a:endParaRPr lang="zh-CN" altLang="en-US" sz="1800">
              <a:latin typeface="+mn-lt"/>
              <a:ea typeface="+mn-ea"/>
            </a:endParaRPr>
          </a:p>
          <a:p>
            <a:pPr marL="342900" indent="-342900" algn="l" eaLnBrk="0" hangingPunct="0">
              <a:spcBef>
                <a:spcPct val="20000"/>
              </a:spcBef>
              <a:buNone/>
            </a:pPr>
            <a:r>
              <a:rPr lang="zh-CN" altLang="en-US" sz="1800">
                <a:latin typeface="+mn-lt"/>
                <a:ea typeface="+mn-ea"/>
                <a:sym typeface="+mn-ea"/>
              </a:rPr>
              <a:t>take advice 听从意见</a:t>
            </a:r>
            <a:endParaRPr lang="zh-CN" altLang="en-US" sz="1800">
              <a:latin typeface="+mn-lt"/>
              <a:ea typeface="+mn-ea"/>
              <a:sym typeface="+mn-ea"/>
            </a:endParaRPr>
          </a:p>
          <a:p>
            <a:pPr marL="342900" indent="-342900" algn="l" eaLnBrk="0" hangingPunct="0">
              <a:spcBef>
                <a:spcPct val="20000"/>
              </a:spcBef>
              <a:buNone/>
            </a:pPr>
            <a:r>
              <a:rPr lang="en-US" altLang="zh-CN" sz="1800">
                <a:latin typeface="+mn-lt"/>
                <a:ea typeface="+mn-ea"/>
                <a:sym typeface="+mn-ea"/>
              </a:rPr>
              <a:t>those who</a:t>
            </a:r>
            <a:endParaRPr lang="en-US" altLang="zh-CN" sz="1800">
              <a:latin typeface="+mn-lt"/>
              <a:ea typeface="+mn-ea"/>
              <a:sym typeface="+mn-ea"/>
            </a:endParaRPr>
          </a:p>
          <a:p>
            <a:pPr marL="342900" indent="-342900" algn="l" eaLnBrk="0" hangingPunct="0">
              <a:spcBef>
                <a:spcPct val="20000"/>
              </a:spcBef>
              <a:buNone/>
            </a:pPr>
            <a:r>
              <a:rPr lang="en-US" altLang="zh-CN" sz="1800">
                <a:latin typeface="+mn-lt"/>
                <a:ea typeface="+mn-ea"/>
                <a:sym typeface="+mn-ea"/>
              </a:rPr>
              <a:t>speak from their experience </a:t>
            </a:r>
            <a:r>
              <a:rPr lang="zh-CN" altLang="en-US" sz="1800">
                <a:latin typeface="+mn-lt"/>
                <a:ea typeface="+mn-ea"/>
                <a:sym typeface="+mn-ea"/>
              </a:rPr>
              <a:t>从经验讲话</a:t>
            </a:r>
            <a:endParaRPr lang="zh-CN" altLang="en-US" sz="1800">
              <a:latin typeface="+mn-lt"/>
              <a:ea typeface="+mn-ea"/>
            </a:endParaRPr>
          </a:p>
          <a:p>
            <a:pPr marL="342900" indent="-342900" algn="l" eaLnBrk="0" hangingPunct="0">
              <a:spcBef>
                <a:spcPct val="20000"/>
              </a:spcBef>
              <a:buNone/>
            </a:pPr>
            <a:endParaRPr lang="zh-CN" altLang="en-US" sz="1800">
              <a:latin typeface="+mn-lt"/>
              <a:ea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5455" y="612140"/>
            <a:ext cx="8221345" cy="4120515"/>
          </a:xfrm>
        </p:spPr>
        <p:txBody>
          <a:bodyPr/>
          <a:lstStyle/>
          <a:p>
            <a:pPr algn="just">
              <a:lnSpc>
                <a:spcPct val="150000"/>
              </a:lnSpc>
            </a:pPr>
            <a:r>
              <a:rPr lang="zh-CN" altLang="en-US" sz="2000">
                <a:solidFill>
                  <a:srgbClr val="FF0000"/>
                </a:solidFill>
              </a:rPr>
              <a:t>On the one hand</a:t>
            </a:r>
            <a:r>
              <a:rPr lang="zh-CN" altLang="en-US" sz="2000">
                <a:solidFill>
                  <a:schemeClr val="tx1"/>
                </a:solidFill>
              </a:rPr>
              <a:t>, </a:t>
            </a:r>
            <a:r>
              <a:rPr lang="en-US" altLang="zh-CN" sz="2000">
                <a:solidFill>
                  <a:schemeClr val="tx1"/>
                </a:solidFill>
              </a:rPr>
              <a:t>it is true that</a:t>
            </a:r>
            <a:r>
              <a:rPr lang="zh-CN" altLang="en-US" sz="2000">
                <a:solidFill>
                  <a:schemeClr val="tx1"/>
                </a:solidFill>
              </a:rPr>
              <a:t> </a:t>
            </a:r>
            <a:r>
              <a:rPr lang="en-US" altLang="zh-CN" sz="2000">
                <a:solidFill>
                  <a:schemeClr val="tx1"/>
                </a:solidFill>
              </a:rPr>
              <a:t>lectures delivered by </a:t>
            </a:r>
            <a:r>
              <a:rPr sz="2000">
                <a:solidFill>
                  <a:schemeClr val="tx1"/>
                </a:solidFill>
                <a:sym typeface="+mn-ea"/>
              </a:rPr>
              <a:t> reformed criminals </a:t>
            </a:r>
            <a:r>
              <a:rPr lang="en-US" altLang="zh-CN" sz="2000">
                <a:solidFill>
                  <a:schemeClr val="tx1"/>
                </a:solidFill>
                <a:sym typeface="+mn-ea"/>
              </a:rPr>
              <a:t>are more convincing.</a:t>
            </a:r>
            <a:r>
              <a:rPr lang="zh-CN" altLang="en-US" sz="2000">
                <a:solidFill>
                  <a:schemeClr val="tx1"/>
                </a:solidFill>
              </a:rPr>
              <a:t> </a:t>
            </a:r>
            <a:r>
              <a:rPr lang="zh-CN" altLang="en-US" sz="2000">
                <a:solidFill>
                  <a:srgbClr val="FF0000"/>
                </a:solidFill>
              </a:rPr>
              <a:t>This is because </a:t>
            </a:r>
            <a:r>
              <a:rPr lang="zh-CN" altLang="en-US" sz="2000">
                <a:solidFill>
                  <a:schemeClr val="tx1"/>
                </a:solidFill>
              </a:rPr>
              <a:t>they have truly gone through how to be involved in a crime, miserable life when serving the sentence and the difficulties of securing a job after being released. </a:t>
            </a:r>
            <a:r>
              <a:rPr lang="en-US" altLang="zh-CN" sz="2000">
                <a:solidFill>
                  <a:srgbClr val="FF0000"/>
                </a:solidFill>
              </a:rPr>
              <a:t>So</a:t>
            </a:r>
            <a:r>
              <a:rPr lang="zh-CN" altLang="en-US" sz="2000">
                <a:solidFill>
                  <a:srgbClr val="FF0000"/>
                </a:solidFill>
              </a:rPr>
              <a:t> </a:t>
            </a:r>
            <a:r>
              <a:rPr lang="en-US" altLang="zh-CN" sz="2000">
                <a:solidFill>
                  <a:schemeClr val="tx1"/>
                </a:solidFill>
              </a:rPr>
              <a:t>compared with monotonous talk of parents and teachers, </a:t>
            </a:r>
            <a:r>
              <a:rPr lang="zh-CN" altLang="en-US" sz="2000">
                <a:solidFill>
                  <a:schemeClr val="tx1"/>
                </a:solidFill>
              </a:rPr>
              <a:t>their </a:t>
            </a:r>
            <a:r>
              <a:rPr lang="en-US" altLang="zh-CN" sz="2000">
                <a:solidFill>
                  <a:schemeClr val="tx1"/>
                </a:solidFill>
              </a:rPr>
              <a:t>stories</a:t>
            </a:r>
            <a:r>
              <a:rPr lang="zh-CN" altLang="en-US" sz="2000">
                <a:solidFill>
                  <a:schemeClr val="tx1"/>
                </a:solidFill>
              </a:rPr>
              <a:t> based on the fact can be </a:t>
            </a:r>
            <a:r>
              <a:rPr lang="en-US" altLang="zh-CN" sz="2000">
                <a:solidFill>
                  <a:schemeClr val="tx1"/>
                </a:solidFill>
              </a:rPr>
              <a:t>more</a:t>
            </a:r>
            <a:r>
              <a:rPr lang="zh-CN" altLang="en-US" sz="2000">
                <a:solidFill>
                  <a:schemeClr val="tx1"/>
                </a:solidFill>
              </a:rPr>
              <a:t> vivid and dispel teenagers’ wrong idea </a:t>
            </a:r>
            <a:r>
              <a:rPr lang="en-US" altLang="zh-CN" sz="2000">
                <a:solidFill>
                  <a:schemeClr val="tx1"/>
                </a:solidFill>
              </a:rPr>
              <a:t>that</a:t>
            </a:r>
            <a:r>
              <a:rPr lang="zh-CN" altLang="en-US" sz="2000">
                <a:solidFill>
                  <a:schemeClr val="tx1"/>
                </a:solidFill>
              </a:rPr>
              <a:t> criminals </a:t>
            </a:r>
            <a:r>
              <a:rPr lang="en-US" altLang="zh-CN" sz="2000">
                <a:solidFill>
                  <a:schemeClr val="tx1"/>
                </a:solidFill>
              </a:rPr>
              <a:t>are </a:t>
            </a:r>
            <a:r>
              <a:rPr lang="zh-CN" altLang="en-US" sz="2000">
                <a:solidFill>
                  <a:schemeClr val="tx1"/>
                </a:solidFill>
              </a:rPr>
              <a:t>leading a glamorous life.</a:t>
            </a:r>
            <a:r>
              <a:rPr lang="zh-CN" altLang="en-US" sz="2000">
                <a:solidFill>
                  <a:srgbClr val="FF0000"/>
                </a:solidFill>
              </a:rPr>
              <a:t> </a:t>
            </a:r>
            <a:r>
              <a:rPr lang="en-US" altLang="zh-CN" sz="2000">
                <a:solidFill>
                  <a:srgbClr val="FF0000"/>
                </a:solidFill>
              </a:rPr>
              <a:t>As a result</a:t>
            </a:r>
            <a:r>
              <a:rPr lang="zh-CN" altLang="en-US" sz="2000">
                <a:solidFill>
                  <a:schemeClr val="tx1"/>
                </a:solidFill>
              </a:rPr>
              <a:t>,</a:t>
            </a:r>
            <a:r>
              <a:rPr lang="en-US" altLang="zh-CN" sz="2000">
                <a:solidFill>
                  <a:schemeClr val="tx1"/>
                </a:solidFill>
                <a:sym typeface="+mn-ea"/>
              </a:rPr>
              <a:t> </a:t>
            </a:r>
            <a:r>
              <a:rPr sz="2000">
                <a:solidFill>
                  <a:schemeClr val="tx1"/>
                </a:solidFill>
                <a:sym typeface="+mn-ea"/>
              </a:rPr>
              <a:t>teenagers are more </a:t>
            </a:r>
            <a:r>
              <a:rPr lang="en-US" altLang="zh-CN" sz="2000">
                <a:solidFill>
                  <a:schemeClr val="tx1"/>
                </a:solidFill>
                <a:sym typeface="+mn-ea"/>
              </a:rPr>
              <a:t>likely</a:t>
            </a:r>
            <a:r>
              <a:rPr sz="2000">
                <a:solidFill>
                  <a:schemeClr val="tx1"/>
                </a:solidFill>
                <a:sym typeface="+mn-ea"/>
              </a:rPr>
              <a:t> to take advice from those reformed ex-prisoners who speak from their experience.</a:t>
            </a:r>
            <a:endParaRPr lang="zh-CN" altLang="en-US" sz="2000">
              <a:solidFill>
                <a:schemeClr val="tx1"/>
              </a:solidFill>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OTNjNjI1OTcwN2JlZDgyNTQ3OGVlZWVmNDhhYWRmOTAifQ=="/>
  <p:tag name="commondata" val="eyJoZGlkIjoiOWZlZGQ4MWUwMzQ2ZTVhNTMwZTE1ZGM4ZWVkODVlODM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8774</Words>
  <Application>WPS 演示</Application>
  <PresentationFormat>全屏显示(16:9)</PresentationFormat>
  <Paragraphs>276</Paragraphs>
  <Slides>40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40</vt:i4>
      </vt:variant>
    </vt:vector>
  </HeadingPairs>
  <TitlesOfParts>
    <vt:vector size="51" baseType="lpstr">
      <vt:lpstr>Arial</vt:lpstr>
      <vt:lpstr>宋体</vt:lpstr>
      <vt:lpstr>Wingdings</vt:lpstr>
      <vt:lpstr>Calibri</vt:lpstr>
      <vt:lpstr>Comic Sans MS</vt:lpstr>
      <vt:lpstr>微软雅黑</vt:lpstr>
      <vt:lpstr>华文细黑</vt:lpstr>
      <vt:lpstr>Times New Roman</vt:lpstr>
      <vt:lpstr>Arial Unicode MS</vt:lpstr>
      <vt:lpstr>Verdana</vt:lpstr>
      <vt:lpstr>Office 主题​​</vt:lpstr>
      <vt:lpstr> Lecture Five 名词性从句 微博：赵颖伦-学为贵   </vt:lpstr>
      <vt:lpstr>判断句子成分</vt:lpstr>
      <vt:lpstr>名词性从句</vt:lpstr>
      <vt:lpstr>主语从句</vt:lpstr>
      <vt:lpstr>主语从句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Whether +完整句子/to do</vt:lpstr>
      <vt:lpstr>Whether +完整句子/to do</vt:lpstr>
      <vt:lpstr>Whether +完整句子/to do</vt:lpstr>
      <vt:lpstr>What+不完整句子  指代事/物</vt:lpstr>
      <vt:lpstr>What+不完整句子  指代事/物</vt:lpstr>
      <vt:lpstr>Who+不完整句子  指代人</vt:lpstr>
      <vt:lpstr>How/when/where/why+完整句子</vt:lpstr>
      <vt:lpstr>宾语从句</vt:lpstr>
      <vt:lpstr>常用宾语从句</vt:lpstr>
      <vt:lpstr>练习</vt:lpstr>
      <vt:lpstr>People have different views about+辩论话题</vt:lpstr>
      <vt:lpstr>表语从句</vt:lpstr>
      <vt:lpstr>常用表语从句</vt:lpstr>
      <vt:lpstr>常用表语从句</vt:lpstr>
      <vt:lpstr>常用表语从句</vt:lpstr>
      <vt:lpstr>常用表语从句</vt:lpstr>
      <vt:lpstr>常用表语从句</vt:lpstr>
      <vt:lpstr>同位语从句</vt:lpstr>
      <vt:lpstr>辨析定语从句&amp;同位语从句</vt:lpstr>
      <vt:lpstr>PowerPoint 演示文稿</vt:lpstr>
      <vt:lpstr>常用同位语从句句型</vt:lpstr>
      <vt:lpstr>常用同位语从句句型</vt:lpstr>
      <vt:lpstr>PowerPoint 演示文稿</vt:lpstr>
      <vt:lpstr>PowerPoint 演示文稿</vt:lpstr>
      <vt:lpstr>2015-8-8/2018-7-28</vt:lpstr>
      <vt:lpstr>第二段</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LBDZ</dc:creator>
  <cp:lastModifiedBy>DLHT</cp:lastModifiedBy>
  <cp:revision>395</cp:revision>
  <dcterms:created xsi:type="dcterms:W3CDTF">2013-04-24T21:56:00Z</dcterms:created>
  <dcterms:modified xsi:type="dcterms:W3CDTF">2024-02-02T02:51:34Z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96109DE60BD7494ABFE223A8BFFD7CB5_12</vt:lpwstr>
  </property>
</Properties>
</file>