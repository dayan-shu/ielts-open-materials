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1158" r:id="rId3"/>
    <p:sldId id="1520" r:id="rId4"/>
    <p:sldId id="1521" r:id="rId5"/>
    <p:sldId id="1983" r:id="rId6"/>
    <p:sldId id="1522" r:id="rId7"/>
    <p:sldId id="1523" r:id="rId8"/>
    <p:sldId id="1524" r:id="rId9"/>
    <p:sldId id="1525" r:id="rId10"/>
    <p:sldId id="1526" r:id="rId11"/>
    <p:sldId id="1907" r:id="rId12"/>
    <p:sldId id="1908" r:id="rId13"/>
    <p:sldId id="1909" r:id="rId14"/>
    <p:sldId id="1910" r:id="rId15"/>
    <p:sldId id="1984" r:id="rId16"/>
    <p:sldId id="1985" r:id="rId17"/>
    <p:sldId id="1986" r:id="rId18"/>
    <p:sldId id="1831" r:id="rId19"/>
    <p:sldId id="1832" r:id="rId20"/>
    <p:sldId id="1527" r:id="rId21"/>
    <p:sldId id="1528" r:id="rId22"/>
    <p:sldId id="1529" r:id="rId23"/>
    <p:sldId id="1530" r:id="rId24"/>
    <p:sldId id="1531" r:id="rId25"/>
    <p:sldId id="1532" r:id="rId26"/>
    <p:sldId id="1533" r:id="rId27"/>
    <p:sldId id="1534" r:id="rId28"/>
    <p:sldId id="1535" r:id="rId29"/>
    <p:sldId id="1536" r:id="rId30"/>
    <p:sldId id="1537" r:id="rId31"/>
    <p:sldId id="1628" r:id="rId33"/>
    <p:sldId id="1582" r:id="rId34"/>
    <p:sldId id="1583" r:id="rId35"/>
    <p:sldId id="1584" r:id="rId36"/>
    <p:sldId id="1629" r:id="rId37"/>
    <p:sldId id="1746" r:id="rId38"/>
    <p:sldId id="1676" r:id="rId39"/>
    <p:sldId id="1677" r:id="rId40"/>
    <p:sldId id="1678" r:id="rId41"/>
    <p:sldId id="1687" r:id="rId42"/>
    <p:sldId id="1693" r:id="rId43"/>
    <p:sldId id="1696" r:id="rId44"/>
    <p:sldId id="1699" r:id="rId45"/>
    <p:sldId id="1697" r:id="rId46"/>
    <p:sldId id="1698" r:id="rId47"/>
    <p:sldId id="1702" r:id="rId48"/>
    <p:sldId id="1790" r:id="rId49"/>
    <p:sldId id="1794" r:id="rId50"/>
    <p:sldId id="1791" r:id="rId51"/>
    <p:sldId id="1792" r:id="rId52"/>
    <p:sldId id="1793" r:id="rId53"/>
    <p:sldId id="1703" r:id="rId54"/>
    <p:sldId id="1704" r:id="rId55"/>
    <p:sldId id="1705" r:id="rId56"/>
    <p:sldId id="1706" r:id="rId57"/>
    <p:sldId id="1707" r:id="rId58"/>
    <p:sldId id="1708" r:id="rId59"/>
    <p:sldId id="1709" r:id="rId60"/>
    <p:sldId id="1710" r:id="rId61"/>
    <p:sldId id="1711" r:id="rId62"/>
    <p:sldId id="1712" r:id="rId63"/>
    <p:sldId id="1226" r:id="rId64"/>
    <p:sldId id="1262" r:id="rId65"/>
    <p:sldId id="1227" r:id="rId66"/>
    <p:sldId id="1228" r:id="rId67"/>
    <p:sldId id="1229" r:id="rId68"/>
    <p:sldId id="1230" r:id="rId69"/>
    <p:sldId id="1483" r:id="rId70"/>
    <p:sldId id="1447" r:id="rId71"/>
    <p:sldId id="1318" r:id="rId72"/>
    <p:sldId id="1163" r:id="rId73"/>
    <p:sldId id="1233" r:id="rId74"/>
    <p:sldId id="1264" r:id="rId75"/>
    <p:sldId id="1265" r:id="rId76"/>
    <p:sldId id="1266" r:id="rId77"/>
    <p:sldId id="1267" r:id="rId78"/>
    <p:sldId id="1268" r:id="rId79"/>
    <p:sldId id="1269" r:id="rId80"/>
    <p:sldId id="1270" r:id="rId81"/>
    <p:sldId id="1898" r:id="rId82"/>
    <p:sldId id="1271" r:id="rId83"/>
    <p:sldId id="1272" r:id="rId84"/>
    <p:sldId id="1273" r:id="rId85"/>
    <p:sldId id="1234" r:id="rId86"/>
    <p:sldId id="1899" r:id="rId87"/>
    <p:sldId id="1900" r:id="rId88"/>
    <p:sldId id="1235" r:id="rId89"/>
    <p:sldId id="1901" r:id="rId90"/>
  </p:sldIdLst>
  <p:sldSz cx="9144000" cy="5143500" type="screen16x9"/>
  <p:notesSz cx="6858000" cy="9144000"/>
  <p:custDataLst>
    <p:tags r:id="rId9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69" userDrawn="1">
          <p15:clr>
            <a:srgbClr val="A4A3A4"/>
          </p15:clr>
        </p15:guide>
        <p15:guide id="2" pos="29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5BA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5" d="100"/>
          <a:sy n="85" d="100"/>
        </p:scale>
        <p:origin x="96" y="210"/>
      </p:cViewPr>
      <p:guideLst>
        <p:guide orient="horz" pos="1669"/>
        <p:guide pos="2939"/>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4" Type="http://schemas.openxmlformats.org/officeDocument/2006/relationships/tags" Target="tags/tag9.xml"/><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notesMaster" Target="notesMasters/notes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7-31T15:27:18"/>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1430 807,'2'0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7-31T15:27:18"/>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599 565,'1'-3,"4"1,-2 0,0 0,0 0,2 1,0 1,2 1,2 2,1 0,1-1,-6 0,4 1,-5-1,2-1,-2 0,-1-1,1 1,1 0,-1 0,-1 0,1 0,0 1,0-1,-1-1,3 1,-3-1,1 1,0 0,-1-1,0 0,1 0,0-1,-1 0,0 1,0 0,0 0,0-1,0-4,1-4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fld id="{5BA6F8A3-B5FC-451A-9623-C99C46B107CB}"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fld id="{3012FE3A-822F-44C2-B269-A09723078AB9}"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a:defRPr lang="zh-CN" altLang="en-US" sz="2800" kern="1200" baseline="0" dirty="0">
                <a:solidFill>
                  <a:schemeClr val="bg1"/>
                </a:solidFill>
                <a:latin typeface="+mn-lt"/>
                <a:ea typeface="+mn-ea"/>
                <a:cs typeface="+mn-cs"/>
                <a:sym typeface="Calibri" panose="020F0502020204030204" pitchFamily="34" charset="0"/>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eaLnBrk="1" hangingPunct="1">
              <a:lnSpc>
                <a:spcPct val="150000"/>
              </a:lnSpc>
              <a:buFont typeface="Arial" panose="020B0604020202020204" pitchFamily="34" charset="0"/>
              <a:buNone/>
              <a:defRPr sz="1800"/>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4762375"/>
            <a:ext cx="2025000" cy="237600"/>
          </a:xfrm>
        </p:spPr>
        <p:txBody>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4762375"/>
            <a:ext cx="2970000" cy="237600"/>
          </a:xfrm>
        </p:spPr>
        <p:txBody>
          <a:bodyPr/>
          <a:lstStyle>
            <a:lvl1pPr>
              <a:defRPr>
                <a:latin typeface="微软雅黑" panose="020B0503020204020204" charset="-122"/>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6457950" y="4762375"/>
            <a:ext cx="2025000" cy="237600"/>
          </a:xfrm>
        </p:spPr>
        <p:txBody>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642938"/>
            <a:ext cx="8229600" cy="420687"/>
          </a:xfrm>
          <a:prstGeom prst="rect">
            <a:avLst/>
          </a:prstGeom>
          <a:noFill/>
          <a:ln w="9525">
            <a:noFill/>
            <a:miter lim="800000"/>
          </a:ln>
        </p:spPr>
        <p:txBody>
          <a:bodyPr vert="horz" wrap="square" lIns="91440" tIns="45720" rIns="91440" bIns="45720" numCol="1" anchor="ctr" anchorCtr="0" compatLnSpc="1"/>
          <a:lstStyle/>
          <a:p>
            <a:pPr lvl="0"/>
            <a:r>
              <a:rPr lang="zh-CN" altLang="en-US" smtClean="0">
                <a:sym typeface="Calibri" panose="020F0502020204030204" pitchFamily="34" charset="0"/>
              </a:rPr>
              <a:t>贵学</a:t>
            </a:r>
            <a:r>
              <a:rPr lang="en-US" altLang="zh-CN" smtClean="0">
                <a:sym typeface="Calibri" panose="020F0502020204030204" pitchFamily="34" charset="0"/>
              </a:rPr>
              <a:t>PPT</a:t>
            </a:r>
            <a:r>
              <a:rPr lang="zh-CN" altLang="en-US" smtClean="0">
                <a:sym typeface="Calibri" panose="020F0502020204030204" pitchFamily="34" charset="0"/>
              </a:rPr>
              <a:t>制作要求</a:t>
            </a:r>
            <a:endParaRPr lang="zh-CN" smtClean="0">
              <a:sym typeface="Calibri" panose="020F0502020204030204" pitchFamily="34" charset="0"/>
            </a:endParaRPr>
          </a:p>
        </p:txBody>
      </p:sp>
      <p:sp>
        <p:nvSpPr>
          <p:cNvPr id="1027" name="文本占位符 2"/>
          <p:cNvSpPr>
            <a:spLocks noGrp="1" noChangeArrowheads="1"/>
          </p:cNvSpPr>
          <p:nvPr>
            <p:ph type="body" idx="1"/>
          </p:nvPr>
        </p:nvSpPr>
        <p:spPr bwMode="auto">
          <a:xfrm>
            <a:off x="428625" y="1357313"/>
            <a:ext cx="8229600" cy="3394075"/>
          </a:xfrm>
          <a:prstGeom prst="rect">
            <a:avLst/>
          </a:prstGeom>
          <a:noFill/>
          <a:ln w="9525">
            <a:noFill/>
            <a:miter lim="800000"/>
          </a:ln>
        </p:spPr>
        <p:txBody>
          <a:bodyPr vert="horz" wrap="square" lIns="91440" tIns="45720" rIns="91440" bIns="45720" numCol="1" anchor="t" anchorCtr="0" compatLnSpc="1"/>
          <a:lstStyle/>
          <a:p>
            <a:pPr lvl="0"/>
            <a:endParaRPr lang="en-US" altLang="zh-CN" smtClean="0">
              <a:sym typeface="Calibri" panose="020F0502020204030204" pitchFamily="34" charset="0"/>
            </a:endParaRPr>
          </a:p>
          <a:p>
            <a:pPr lvl="0"/>
            <a:r>
              <a:rPr lang="zh-CN" altLang="en-US" smtClean="0">
                <a:sym typeface="Calibri" panose="020F0502020204030204" pitchFamily="34" charset="0"/>
              </a:rPr>
              <a:t>雅思阅读真经  </a:t>
            </a:r>
            <a:r>
              <a:rPr lang="en-US" altLang="zh-CN" smtClean="0">
                <a:sym typeface="Calibri" panose="020F0502020204030204" pitchFamily="34" charset="0"/>
              </a:rPr>
              <a:t>1</a:t>
            </a:r>
            <a:endParaRPr lang="en-US" altLang="zh-CN" smtClean="0">
              <a:sym typeface="Calibri" panose="020F0502020204030204" pitchFamily="34" charset="0"/>
            </a:endParaRPr>
          </a:p>
          <a:p>
            <a:pPr lvl="0"/>
            <a:r>
              <a:rPr lang="zh-CN" altLang="en-US" smtClean="0">
                <a:sym typeface="Calibri" panose="020F0502020204030204" pitchFamily="34" charset="0"/>
              </a:rPr>
              <a:t>刘洪波</a:t>
            </a:r>
            <a:endParaRPr lang="zh-CN" smtClean="0">
              <a:sym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p:titleStyle>
    <p:bodyStyle>
      <a:lvl1pPr marL="342900" indent="-342900" algn="ctr" rtl="0" eaLnBrk="0" fontAlgn="base" hangingPunct="0">
        <a:spcBef>
          <a:spcPct val="20000"/>
        </a:spcBef>
        <a:spcAft>
          <a:spcPct val="0"/>
        </a:spcAft>
        <a:buFont typeface="Arial" panose="020B0604020202020204" pitchFamily="34" charset="0"/>
        <a:buChar char="•"/>
        <a:defRPr sz="3200" kern="1200">
          <a:solidFill>
            <a:schemeClr val="bg1"/>
          </a:solidFill>
          <a:latin typeface="+mn-lt"/>
          <a:ea typeface="+mn-ea"/>
          <a:cs typeface="微软雅黑" panose="020B0503020204020204" charset="-122"/>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customXml" Target="../ink/ink1.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customXml" Target="../ink/ink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15745" y="1733550"/>
            <a:ext cx="5408930" cy="912495"/>
          </a:xfrm>
        </p:spPr>
        <p:txBody>
          <a:bodyPr/>
          <a:lstStyle/>
          <a:p>
            <a:pPr algn="ctr"/>
            <a:r>
              <a:rPr lang="zh-CN" altLang="en-US" sz="3600">
                <a:solidFill>
                  <a:schemeClr val="tx1"/>
                </a:solidFill>
              </a:rPr>
              <a:t>五种时态</a:t>
            </a:r>
            <a:r>
              <a:rPr lang="en-US" altLang="zh-CN" sz="3600">
                <a:solidFill>
                  <a:schemeClr val="tx1"/>
                </a:solidFill>
              </a:rPr>
              <a:t>&amp;</a:t>
            </a:r>
            <a:r>
              <a:rPr lang="zh-CN" altLang="en-US" sz="3600">
                <a:solidFill>
                  <a:schemeClr val="tx1"/>
                </a:solidFill>
              </a:rPr>
              <a:t>语态</a:t>
            </a:r>
            <a:endParaRPr lang="zh-CN" altLang="en-US" sz="360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6657340" cy="715010"/>
          </a:xfrm>
        </p:spPr>
        <p:txBody>
          <a:bodyPr/>
          <a:lstStyle/>
          <a:p>
            <a:pPr algn="l"/>
            <a:r>
              <a:rPr lang="zh-CN" altLang="en-US" sz="3200">
                <a:solidFill>
                  <a:schemeClr val="tx1"/>
                </a:solidFill>
              </a:rPr>
              <a:t>补充语法点①辨析</a:t>
            </a:r>
            <a:r>
              <a:rPr lang="en-US" altLang="zh-CN" sz="3200">
                <a:solidFill>
                  <a:schemeClr val="tx1"/>
                </a:solidFill>
              </a:rPr>
              <a:t> to do&amp; to doing </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179070" y="706120"/>
            <a:ext cx="5368290" cy="3731260"/>
          </a:xfrm>
          <a:prstGeom prst="rect">
            <a:avLst/>
          </a:prstGeom>
          <a:noFill/>
        </p:spPr>
        <p:txBody>
          <a:bodyPr wrap="square" rtlCol="0">
            <a:noAutofit/>
          </a:bodyPr>
          <a:p>
            <a:pPr marL="285750" indent="-285750">
              <a:buFont typeface="Wingdings" panose="05000000000000000000" charset="0"/>
              <a:buChar char="l"/>
            </a:pPr>
            <a:r>
              <a:rPr lang="en-US" altLang="zh-CN" sz="2400"/>
              <a:t>make efforts to do sth</a:t>
            </a:r>
            <a:endParaRPr lang="en-US" altLang="zh-CN" sz="2400"/>
          </a:p>
          <a:p>
            <a:pPr marL="285750" indent="-285750">
              <a:buFont typeface="Wingdings" panose="05000000000000000000" charset="0"/>
              <a:buChar char="l"/>
            </a:pPr>
            <a:r>
              <a:rPr lang="en-US" altLang="zh-CN" sz="2400"/>
              <a:t>allow/enable sb to do sth </a:t>
            </a:r>
            <a:endParaRPr lang="en-US" altLang="zh-CN" sz="2400"/>
          </a:p>
          <a:p>
            <a:pPr marL="285750" indent="-285750">
              <a:buFont typeface="Wingdings" panose="05000000000000000000" charset="0"/>
              <a:buChar char="l"/>
            </a:pPr>
            <a:r>
              <a:rPr lang="en-US" altLang="zh-CN" sz="2400"/>
              <a:t>cause sb to do sth </a:t>
            </a:r>
            <a:endParaRPr lang="en-US" altLang="zh-CN" sz="2400"/>
          </a:p>
          <a:p>
            <a:pPr marL="285750" indent="-285750">
              <a:buFont typeface="Wingdings" panose="05000000000000000000" charset="0"/>
              <a:buChar char="l"/>
            </a:pPr>
            <a:r>
              <a:rPr lang="en-US" altLang="zh-CN" sz="2400"/>
              <a:t>encourage sb to do sth </a:t>
            </a:r>
            <a:endParaRPr lang="en-US" altLang="zh-CN" sz="2400"/>
          </a:p>
          <a:p>
            <a:pPr marL="285750" indent="-285750">
              <a:buFont typeface="Wingdings" panose="05000000000000000000" charset="0"/>
              <a:buChar char="l"/>
            </a:pPr>
            <a:r>
              <a:rPr lang="en-US" altLang="zh-CN" sz="2400"/>
              <a:t>require sb to do sth </a:t>
            </a:r>
            <a:endParaRPr lang="en-US" altLang="zh-CN" sz="2400"/>
          </a:p>
          <a:p>
            <a:pPr marL="285750" indent="-285750">
              <a:buFont typeface="Wingdings" panose="05000000000000000000" charset="0"/>
              <a:buChar char="l"/>
            </a:pPr>
            <a:r>
              <a:rPr lang="en-US" altLang="zh-CN" sz="2400"/>
              <a:t>choose to do sth/prefer to do sth </a:t>
            </a:r>
            <a:endParaRPr lang="en-US" altLang="zh-CN" sz="2400"/>
          </a:p>
          <a:p>
            <a:pPr marL="285750" indent="-285750">
              <a:buFont typeface="Wingdings" panose="05000000000000000000" charset="0"/>
              <a:buChar char="l"/>
            </a:pPr>
            <a:r>
              <a:rPr lang="en-US" altLang="zh-CN" sz="2400"/>
              <a:t>plan to do/tend to do/fail to do </a:t>
            </a:r>
            <a:endParaRPr lang="en-US" altLang="zh-CN" sz="2400"/>
          </a:p>
          <a:p>
            <a:pPr marL="285750" indent="-285750">
              <a:buFont typeface="Wingdings" panose="05000000000000000000" charset="0"/>
              <a:buChar char="l"/>
            </a:pPr>
            <a:r>
              <a:rPr lang="en-US" altLang="zh-CN" sz="2400"/>
              <a:t>have a right to do sth</a:t>
            </a:r>
            <a:endParaRPr lang="en-US" altLang="zh-CN" sz="2400"/>
          </a:p>
          <a:p>
            <a:pPr marL="285750" indent="-285750">
              <a:buFont typeface="Wingdings" panose="05000000000000000000" charset="0"/>
              <a:buChar char="l"/>
            </a:pPr>
            <a:r>
              <a:rPr lang="en-US" altLang="zh-CN" sz="2400"/>
              <a:t>have an obligation to do sth </a:t>
            </a:r>
            <a:endParaRPr lang="en-US" altLang="zh-CN" sz="2400"/>
          </a:p>
          <a:p>
            <a:pPr marL="285750" indent="-285750">
              <a:buFont typeface="Wingdings" panose="05000000000000000000" charset="0"/>
              <a:buChar char="l"/>
            </a:pPr>
            <a:r>
              <a:rPr lang="en-US" altLang="zh-CN" sz="2400"/>
              <a:t>be willing to do sth</a:t>
            </a:r>
            <a:endParaRPr lang="en-US" altLang="zh-CN" sz="2400"/>
          </a:p>
          <a:p>
            <a:pPr marL="285750" indent="-285750">
              <a:buFont typeface="Wingdings" panose="05000000000000000000" charset="0"/>
              <a:buChar char="l"/>
            </a:pPr>
            <a:r>
              <a:rPr lang="en-US" altLang="zh-CN" sz="2400"/>
              <a:t>be likely to do sth  </a:t>
            </a:r>
            <a:endParaRPr lang="en-US" altLang="zh-CN" sz="2400"/>
          </a:p>
          <a:p>
            <a:pPr marL="285750" indent="-285750">
              <a:buFont typeface="Wingdings" panose="05000000000000000000" charset="0"/>
              <a:buChar char="l"/>
            </a:pPr>
            <a:r>
              <a:rPr lang="en-US" altLang="zh-CN" b="1"/>
              <a:t> </a:t>
            </a:r>
            <a:r>
              <a:rPr lang="zh-CN" altLang="en-US" b="1"/>
              <a:t>不定式；无实际含义；避免双谓语</a:t>
            </a:r>
            <a:endParaRPr lang="en-US" altLang="zh-CN" b="1"/>
          </a:p>
          <a:p>
            <a:pPr marL="285750" indent="-285750">
              <a:buFont typeface="Wingdings" panose="05000000000000000000" charset="0"/>
              <a:buChar char="l"/>
            </a:pPr>
            <a:endParaRPr lang="en-US" altLang="zh-CN" b="1"/>
          </a:p>
        </p:txBody>
      </p:sp>
      <p:sp>
        <p:nvSpPr>
          <p:cNvPr id="6" name="文本框 5"/>
          <p:cNvSpPr txBox="1"/>
          <p:nvPr/>
        </p:nvSpPr>
        <p:spPr>
          <a:xfrm>
            <a:off x="4932045" y="915670"/>
            <a:ext cx="4432935" cy="4432300"/>
          </a:xfrm>
          <a:prstGeom prst="rect">
            <a:avLst/>
          </a:prstGeom>
          <a:noFill/>
        </p:spPr>
        <p:txBody>
          <a:bodyPr wrap="square" rtlCol="0">
            <a:noAutofit/>
          </a:bodyPr>
          <a:p>
            <a:pPr marL="285750" indent="-285750">
              <a:buFont typeface="Wingdings" panose="05000000000000000000" charset="0"/>
              <a:buChar char="l"/>
            </a:pPr>
            <a:r>
              <a:rPr lang="en-US" altLang="zh-CN" sz="2400"/>
              <a:t>Be beneficial </a:t>
            </a:r>
            <a:r>
              <a:rPr lang="en-US" altLang="zh-CN" sz="2400">
                <a:highlight>
                  <a:srgbClr val="FFFF00"/>
                </a:highlight>
              </a:rPr>
              <a:t>to</a:t>
            </a:r>
            <a:r>
              <a:rPr lang="en-US" altLang="zh-CN" sz="2400"/>
              <a:t> doing sth</a:t>
            </a:r>
            <a:endParaRPr lang="en-US" altLang="zh-CN" sz="2400"/>
          </a:p>
          <a:p>
            <a:pPr marL="285750" indent="-285750">
              <a:buFont typeface="Wingdings" panose="05000000000000000000" charset="0"/>
              <a:buChar char="l"/>
            </a:pPr>
            <a:r>
              <a:rPr lang="en-US" altLang="zh-CN" sz="2400"/>
              <a:t>be detrimental</a:t>
            </a:r>
            <a:r>
              <a:rPr lang="en-US" altLang="zh-CN" sz="2400">
                <a:highlight>
                  <a:srgbClr val="FFFF00"/>
                </a:highlight>
              </a:rPr>
              <a:t> to</a:t>
            </a:r>
            <a:r>
              <a:rPr lang="en-US" altLang="zh-CN" sz="2400"/>
              <a:t> doing sth </a:t>
            </a:r>
            <a:endParaRPr lang="en-US" altLang="zh-CN" sz="2400"/>
          </a:p>
          <a:p>
            <a:pPr marL="285750" indent="-285750">
              <a:buFont typeface="Wingdings" panose="05000000000000000000" charset="0"/>
              <a:buChar char="l"/>
            </a:pPr>
            <a:r>
              <a:rPr lang="en-US" altLang="zh-CN" sz="2400"/>
              <a:t>be addicted</a:t>
            </a:r>
            <a:r>
              <a:rPr lang="en-US" altLang="zh-CN" sz="2400">
                <a:highlight>
                  <a:srgbClr val="FFFF00"/>
                </a:highlight>
              </a:rPr>
              <a:t> to </a:t>
            </a:r>
            <a:r>
              <a:rPr lang="en-US" altLang="zh-CN" sz="2400"/>
              <a:t>doing sth </a:t>
            </a:r>
            <a:endParaRPr lang="en-US" altLang="zh-CN" sz="2400"/>
          </a:p>
          <a:p>
            <a:pPr marL="285750" indent="-285750">
              <a:buFont typeface="Wingdings" panose="05000000000000000000" charset="0"/>
              <a:buChar char="l"/>
            </a:pPr>
            <a:r>
              <a:rPr lang="en-US" altLang="zh-CN" sz="2400"/>
              <a:t>be indifferent</a:t>
            </a:r>
            <a:r>
              <a:rPr lang="en-US" altLang="zh-CN" sz="2400">
                <a:highlight>
                  <a:srgbClr val="FFFF00"/>
                </a:highlight>
              </a:rPr>
              <a:t> to</a:t>
            </a:r>
            <a:r>
              <a:rPr lang="en-US" altLang="zh-CN" sz="2400"/>
              <a:t>+n/doing</a:t>
            </a:r>
            <a:endParaRPr lang="en-US" altLang="zh-CN" sz="2400"/>
          </a:p>
          <a:p>
            <a:pPr marL="285750" indent="-285750">
              <a:buFont typeface="Wingdings" panose="05000000000000000000" charset="0"/>
              <a:buChar char="l"/>
            </a:pPr>
            <a:r>
              <a:rPr lang="en-US" altLang="zh-CN" sz="2400"/>
              <a:t>look forward</a:t>
            </a:r>
            <a:r>
              <a:rPr lang="en-US" altLang="zh-CN" sz="2400">
                <a:highlight>
                  <a:srgbClr val="FFFF00"/>
                </a:highlight>
              </a:rPr>
              <a:t> to </a:t>
            </a:r>
            <a:r>
              <a:rPr lang="en-US" altLang="zh-CN" sz="2400"/>
              <a:t>doing</a:t>
            </a:r>
            <a:endParaRPr lang="en-US" altLang="zh-CN" sz="2400"/>
          </a:p>
          <a:p>
            <a:pPr marL="285750" indent="-285750" algn="l">
              <a:buClrTx/>
              <a:buSzTx/>
              <a:buFont typeface="Wingdings" panose="05000000000000000000" charset="0"/>
              <a:buChar char="l"/>
            </a:pPr>
            <a:r>
              <a:rPr lang="en-US" altLang="zh-CN" sz="2400"/>
              <a:t>be accustomed</a:t>
            </a:r>
            <a:r>
              <a:rPr lang="en-US" altLang="zh-CN" sz="2400">
                <a:highlight>
                  <a:srgbClr val="FFFF00"/>
                </a:highlight>
              </a:rPr>
              <a:t> to</a:t>
            </a:r>
            <a:r>
              <a:rPr lang="en-US" altLang="zh-CN" sz="2400"/>
              <a:t> doing</a:t>
            </a:r>
            <a:endParaRPr lang="en-US" altLang="zh-CN" sz="2400"/>
          </a:p>
          <a:p>
            <a:pPr marL="285750" indent="-285750" algn="l">
              <a:buClrTx/>
              <a:buSzTx/>
              <a:buFont typeface="Wingdings" panose="05000000000000000000" charset="0"/>
              <a:buChar char="l"/>
            </a:pPr>
            <a:r>
              <a:rPr lang="en-US" altLang="zh-CN" sz="2400"/>
              <a:t>adap</a:t>
            </a:r>
            <a:r>
              <a:rPr lang="en-US" altLang="zh-CN" sz="2400">
                <a:highlight>
                  <a:srgbClr val="00FF00"/>
                </a:highlight>
              </a:rPr>
              <a:t>t to</a:t>
            </a:r>
            <a:r>
              <a:rPr lang="en-US" altLang="zh-CN" sz="2400"/>
              <a:t> doing sth  </a:t>
            </a:r>
            <a:endParaRPr lang="en-US" altLang="zh-CN" sz="2400"/>
          </a:p>
          <a:p>
            <a:pPr marL="285750" indent="-285750" algn="l">
              <a:buClrTx/>
              <a:buSzTx/>
              <a:buFont typeface="Wingdings" panose="05000000000000000000" charset="0"/>
              <a:buChar char="l"/>
            </a:pPr>
            <a:r>
              <a:rPr lang="en-US" altLang="zh-CN" sz="2400"/>
              <a:t>be devoted/dedicated</a:t>
            </a:r>
            <a:r>
              <a:rPr lang="en-US" altLang="zh-CN" sz="2400">
                <a:highlight>
                  <a:srgbClr val="00FF00"/>
                </a:highlight>
              </a:rPr>
              <a:t> to</a:t>
            </a:r>
            <a:r>
              <a:rPr lang="en-US" altLang="zh-CN" sz="2400"/>
              <a:t> </a:t>
            </a:r>
            <a:endParaRPr lang="en-US" altLang="zh-CN" sz="2400"/>
          </a:p>
          <a:p>
            <a:pPr marL="285750" indent="-285750" algn="l">
              <a:buClrTx/>
              <a:buSzTx/>
              <a:buFont typeface="Wingdings" panose="05000000000000000000" charset="0"/>
              <a:buChar char="l"/>
            </a:pPr>
            <a:r>
              <a:rPr lang="en-US" altLang="zh-CN" sz="2400"/>
              <a:t>make significant contributions </a:t>
            </a:r>
            <a:r>
              <a:rPr lang="en-US" altLang="zh-CN" sz="2400">
                <a:highlight>
                  <a:srgbClr val="00FF00"/>
                </a:highlight>
              </a:rPr>
              <a:t>to</a:t>
            </a:r>
            <a:r>
              <a:rPr lang="en-US" altLang="zh-CN" sz="2400"/>
              <a:t> doing sth </a:t>
            </a:r>
            <a:endParaRPr lang="en-US" altLang="zh-CN" sz="2400"/>
          </a:p>
          <a:p>
            <a:pPr marL="285750" indent="-285750" algn="l">
              <a:buClrTx/>
              <a:buSzTx/>
              <a:buFont typeface="Wingdings" panose="05000000000000000000" charset="0"/>
              <a:buChar char="l"/>
            </a:pPr>
            <a:r>
              <a:rPr lang="zh-CN" altLang="en-US" sz="2400"/>
              <a:t>翻译成</a:t>
            </a:r>
            <a:r>
              <a:rPr lang="en-US" altLang="zh-CN" sz="2400"/>
              <a:t>“</a:t>
            </a:r>
            <a:r>
              <a:rPr lang="zh-CN" altLang="en-US" sz="2400"/>
              <a:t>对</a:t>
            </a:r>
            <a:r>
              <a:rPr lang="en-US" altLang="zh-CN" sz="2400"/>
              <a:t>”</a:t>
            </a:r>
            <a:r>
              <a:rPr lang="zh-CN" altLang="en-US" sz="2400"/>
              <a:t>、</a:t>
            </a:r>
            <a:r>
              <a:rPr lang="en-US" altLang="zh-CN" sz="2400"/>
              <a:t>“</a:t>
            </a:r>
            <a:r>
              <a:rPr lang="zh-CN" altLang="en-US" sz="2400"/>
              <a:t>于</a:t>
            </a:r>
            <a:r>
              <a:rPr lang="en-US" altLang="zh-CN" sz="2400"/>
              <a:t>”</a:t>
            </a:r>
            <a:r>
              <a:rPr lang="zh-CN" altLang="en-US" sz="2400"/>
              <a:t>介词</a:t>
            </a:r>
            <a:r>
              <a:rPr lang="en-US" altLang="zh-CN" sz="2400"/>
              <a:t>+doing</a:t>
            </a:r>
            <a:endParaRPr lang="en-US" altLang="zh-CN" sz="2400"/>
          </a:p>
          <a:p>
            <a:pPr marL="285750" indent="-285750" algn="l">
              <a:buClrTx/>
              <a:buSzTx/>
              <a:buFont typeface="Wingdings" panose="05000000000000000000" charset="0"/>
              <a:buChar char="l"/>
            </a:pPr>
            <a:r>
              <a:rPr lang="zh-CN" altLang="en-US" sz="2400"/>
              <a:t>方位；</a:t>
            </a:r>
            <a:r>
              <a:rPr lang="zh-CN" altLang="en-US" sz="2400" b="1">
                <a:solidFill>
                  <a:srgbClr val="FF0000"/>
                </a:solidFill>
              </a:rPr>
              <a:t>抽象方位</a:t>
            </a:r>
            <a:endParaRPr lang="en-US" altLang="zh-CN" sz="2400" b="1"/>
          </a:p>
          <a:p>
            <a:pPr marL="285750" indent="-285750" algn="l">
              <a:buClrTx/>
              <a:buSzTx/>
              <a:buFont typeface="Wingdings" panose="05000000000000000000" charset="0"/>
              <a:buChar char="l"/>
            </a:pP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1" end="11"/>
                                            </p:txEl>
                                          </p:spTgt>
                                        </p:tgtEl>
                                        <p:attrNameLst>
                                          <p:attrName>style.visibility</p:attrName>
                                        </p:attrNameLst>
                                      </p:cBhvr>
                                      <p:to>
                                        <p:strVal val="visible"/>
                                      </p:to>
                                    </p:set>
                                    <p:anim calcmode="lin" valueType="num">
                                      <p:cBhvr additive="base">
                                        <p:cTn id="7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6">
                                            <p:txEl>
                                              <p:pRg st="0" end="0"/>
                                            </p:txEl>
                                          </p:spTgt>
                                        </p:tgtEl>
                                        <p:attrNameLst>
                                          <p:attrName>style.visibility</p:attrName>
                                        </p:attrNameLst>
                                      </p:cBhvr>
                                      <p:to>
                                        <p:strVal val="visible"/>
                                      </p:to>
                                    </p:set>
                                    <p:anim calcmode="lin" valueType="num">
                                      <p:cBhvr additive="base">
                                        <p:cTn id="7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6">
                                            <p:txEl>
                                              <p:pRg st="1" end="1"/>
                                            </p:txEl>
                                          </p:spTgt>
                                        </p:tgtEl>
                                        <p:attrNameLst>
                                          <p:attrName>style.visibility</p:attrName>
                                        </p:attrNameLst>
                                      </p:cBhvr>
                                      <p:to>
                                        <p:strVal val="visible"/>
                                      </p:to>
                                    </p:set>
                                    <p:anim calcmode="lin" valueType="num">
                                      <p:cBhvr additive="base">
                                        <p:cTn id="8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6">
                                            <p:txEl>
                                              <p:pRg st="2" end="2"/>
                                            </p:txEl>
                                          </p:spTgt>
                                        </p:tgtEl>
                                        <p:attrNameLst>
                                          <p:attrName>style.visibility</p:attrName>
                                        </p:attrNameLst>
                                      </p:cBhvr>
                                      <p:to>
                                        <p:strVal val="visible"/>
                                      </p:to>
                                    </p:set>
                                    <p:anim calcmode="lin" valueType="num">
                                      <p:cBhvr additive="base">
                                        <p:cTn id="9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6">
                                            <p:txEl>
                                              <p:pRg st="3" end="3"/>
                                            </p:txEl>
                                          </p:spTgt>
                                        </p:tgtEl>
                                        <p:attrNameLst>
                                          <p:attrName>style.visibility</p:attrName>
                                        </p:attrNameLst>
                                      </p:cBhvr>
                                      <p:to>
                                        <p:strVal val="visible"/>
                                      </p:to>
                                    </p:set>
                                    <p:anim calcmode="lin" valueType="num">
                                      <p:cBhvr additive="base">
                                        <p:cTn id="9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6">
                                            <p:txEl>
                                              <p:pRg st="4" end="4"/>
                                            </p:txEl>
                                          </p:spTgt>
                                        </p:tgtEl>
                                        <p:attrNameLst>
                                          <p:attrName>style.visibility</p:attrName>
                                        </p:attrNameLst>
                                      </p:cBhvr>
                                      <p:to>
                                        <p:strVal val="visible"/>
                                      </p:to>
                                    </p:set>
                                    <p:anim calcmode="lin" valueType="num">
                                      <p:cBhvr additive="base">
                                        <p:cTn id="103"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6">
                                            <p:txEl>
                                              <p:pRg st="5" end="5"/>
                                            </p:txEl>
                                          </p:spTgt>
                                        </p:tgtEl>
                                        <p:attrNameLst>
                                          <p:attrName>style.visibility</p:attrName>
                                        </p:attrNameLst>
                                      </p:cBhvr>
                                      <p:to>
                                        <p:strVal val="visible"/>
                                      </p:to>
                                    </p:set>
                                    <p:anim calcmode="lin" valueType="num">
                                      <p:cBhvr additive="base">
                                        <p:cTn id="10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6">
                                            <p:txEl>
                                              <p:pRg st="6" end="6"/>
                                            </p:txEl>
                                          </p:spTgt>
                                        </p:tgtEl>
                                        <p:attrNameLst>
                                          <p:attrName>style.visibility</p:attrName>
                                        </p:attrNameLst>
                                      </p:cBhvr>
                                      <p:to>
                                        <p:strVal val="visible"/>
                                      </p:to>
                                    </p:set>
                                    <p:anim calcmode="lin" valueType="num">
                                      <p:cBhvr additive="base">
                                        <p:cTn id="11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6">
                                            <p:txEl>
                                              <p:pRg st="7" end="7"/>
                                            </p:txEl>
                                          </p:spTgt>
                                        </p:tgtEl>
                                        <p:attrNameLst>
                                          <p:attrName>style.visibility</p:attrName>
                                        </p:attrNameLst>
                                      </p:cBhvr>
                                      <p:to>
                                        <p:strVal val="visible"/>
                                      </p:to>
                                    </p:set>
                                    <p:anim calcmode="lin" valueType="num">
                                      <p:cBhvr additive="base">
                                        <p:cTn id="121"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6">
                                            <p:txEl>
                                              <p:pRg st="8" end="8"/>
                                            </p:txEl>
                                          </p:spTgt>
                                        </p:tgtEl>
                                        <p:attrNameLst>
                                          <p:attrName>style.visibility</p:attrName>
                                        </p:attrNameLst>
                                      </p:cBhvr>
                                      <p:to>
                                        <p:strVal val="visible"/>
                                      </p:to>
                                    </p:set>
                                    <p:anim calcmode="lin" valueType="num">
                                      <p:cBhvr additive="base">
                                        <p:cTn id="127"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6">
                                            <p:txEl>
                                              <p:pRg st="9" end="9"/>
                                            </p:txEl>
                                          </p:spTgt>
                                        </p:tgtEl>
                                        <p:attrNameLst>
                                          <p:attrName>style.visibility</p:attrName>
                                        </p:attrNameLst>
                                      </p:cBhvr>
                                      <p:to>
                                        <p:strVal val="visible"/>
                                      </p:to>
                                    </p:set>
                                    <p:anim calcmode="lin" valueType="num">
                                      <p:cBhvr additive="base">
                                        <p:cTn id="133"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6">
                                            <p:txEl>
                                              <p:pRg st="10" end="10"/>
                                            </p:txEl>
                                          </p:spTgt>
                                        </p:tgtEl>
                                        <p:attrNameLst>
                                          <p:attrName>style.visibility</p:attrName>
                                        </p:attrNameLst>
                                      </p:cBhvr>
                                      <p:to>
                                        <p:strVal val="visible"/>
                                      </p:to>
                                    </p:set>
                                    <p:anim calcmode="lin" valueType="num">
                                      <p:cBhvr additive="base">
                                        <p:cTn id="139"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6">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en-US" altLang="zh-CN" sz="3200">
                <a:solidFill>
                  <a:schemeClr val="tx1"/>
                </a:solidFill>
              </a:rPr>
              <a:t> </a:t>
            </a:r>
            <a:r>
              <a:rPr lang="zh-CN" altLang="en-US" sz="3200">
                <a:solidFill>
                  <a:schemeClr val="tx1"/>
                </a:solidFill>
              </a:rPr>
              <a:t>②不定式</a:t>
            </a:r>
            <a:r>
              <a:rPr lang="en-US" altLang="zh-CN" sz="3200">
                <a:solidFill>
                  <a:schemeClr val="tx1"/>
                </a:solidFill>
              </a:rPr>
              <a:t>--</a:t>
            </a:r>
            <a:r>
              <a:rPr lang="zh-CN" altLang="en-US" sz="3200">
                <a:solidFill>
                  <a:schemeClr val="tx1"/>
                </a:solidFill>
              </a:rPr>
              <a:t>非谓语</a:t>
            </a:r>
            <a:r>
              <a:rPr lang="en-US" altLang="zh-CN" sz="3200">
                <a:solidFill>
                  <a:schemeClr val="tx1"/>
                </a:solidFill>
              </a:rPr>
              <a:t>--</a:t>
            </a:r>
            <a:r>
              <a:rPr lang="zh-CN" altLang="en-US" sz="3200">
                <a:solidFill>
                  <a:schemeClr val="tx1"/>
                </a:solidFill>
              </a:rPr>
              <a:t>不是谓语</a:t>
            </a:r>
            <a:r>
              <a:rPr lang="en-US" altLang="zh-CN" sz="3200">
                <a:solidFill>
                  <a:schemeClr val="tx1"/>
                </a:solidFill>
              </a:rPr>
              <a:t>--</a:t>
            </a:r>
            <a:r>
              <a:rPr lang="zh-CN" altLang="en-US" sz="3200">
                <a:solidFill>
                  <a:schemeClr val="tx1"/>
                </a:solidFill>
              </a:rPr>
              <a:t>避免双谓语</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95605" y="1059815"/>
            <a:ext cx="7595235" cy="3229610"/>
          </a:xfrm>
          <a:prstGeom prst="rect">
            <a:avLst/>
          </a:prstGeom>
          <a:noFill/>
        </p:spPr>
        <p:txBody>
          <a:bodyPr wrap="square" rtlCol="0">
            <a:noAutofit/>
          </a:bodyPr>
          <a:p>
            <a:pPr marL="285750" indent="-285750">
              <a:buFont typeface="Wingdings" panose="05000000000000000000" charset="0"/>
              <a:buChar char="l"/>
            </a:pPr>
            <a:r>
              <a:rPr lang="zh-CN" altLang="en-US" sz="2400" b="1"/>
              <a:t>不定式做主语</a:t>
            </a:r>
            <a:r>
              <a:rPr lang="en-US" altLang="zh-CN" sz="2400" b="1"/>
              <a:t>--It </a:t>
            </a:r>
            <a:r>
              <a:rPr lang="zh-CN" altLang="en-US" sz="2400" b="1"/>
              <a:t>做形式主语</a:t>
            </a:r>
            <a:endParaRPr lang="zh-CN" altLang="en-US" sz="2400" b="1"/>
          </a:p>
          <a:p>
            <a:pPr marL="342900" indent="-342900">
              <a:buFont typeface="Arial" panose="020B0604020202020204" pitchFamily="34" charset="0"/>
              <a:buChar char="•"/>
            </a:pPr>
            <a:r>
              <a:rPr lang="en-US" altLang="zh-CN" sz="2400" b="1" u="sng"/>
              <a:t>To learn English</a:t>
            </a:r>
            <a:r>
              <a:rPr lang="en-US" altLang="zh-CN" sz="2400" b="1"/>
              <a:t> is difficult.=It is difficult to learn English.</a:t>
            </a:r>
            <a:endParaRPr lang="en-US" altLang="zh-CN" sz="2400" b="1"/>
          </a:p>
          <a:p>
            <a:pPr marL="342900" indent="-342900">
              <a:buFont typeface="Arial" panose="020B0604020202020204" pitchFamily="34" charset="0"/>
              <a:buChar char="•"/>
            </a:pPr>
            <a:r>
              <a:rPr lang="zh-CN" altLang="en-US" sz="2400" b="1"/>
              <a:t>通过节食来减肥对于女孩来说是无效的。</a:t>
            </a:r>
            <a:endParaRPr lang="zh-CN" altLang="en-US" sz="2400" b="1"/>
          </a:p>
          <a:p>
            <a:pPr marL="342900" indent="-342900">
              <a:buFont typeface="Arial" panose="020B0604020202020204" pitchFamily="34" charset="0"/>
              <a:buChar char="•"/>
            </a:pPr>
            <a:r>
              <a:rPr lang="en-US" altLang="zh-CN" sz="2400" b="1"/>
              <a:t>It is ineffective for girls</a:t>
            </a:r>
            <a:r>
              <a:rPr lang="en-US" altLang="zh-CN" sz="2400" b="1" u="sng">
                <a:solidFill>
                  <a:srgbClr val="FF0000"/>
                </a:solidFill>
              </a:rPr>
              <a:t> to lose weight by dieting</a:t>
            </a:r>
            <a:r>
              <a:rPr lang="en-US" altLang="zh-CN" sz="2400" b="1"/>
              <a:t>.</a:t>
            </a:r>
            <a:endParaRPr lang="en-US" altLang="zh-CN" sz="2400" b="1"/>
          </a:p>
          <a:p>
            <a:pPr marL="342900" indent="-342900">
              <a:buFont typeface="Arial" panose="020B0604020202020204" pitchFamily="34" charset="0"/>
              <a:buChar char="•"/>
            </a:pPr>
            <a:r>
              <a:rPr lang="en-US" altLang="zh-CN" sz="2400" b="1"/>
              <a:t>It is possible for us </a:t>
            </a:r>
            <a:r>
              <a:rPr lang="en-US" altLang="zh-CN" sz="2400" b="1" u="sng">
                <a:solidFill>
                  <a:srgbClr val="FF0000"/>
                </a:solidFill>
              </a:rPr>
              <a:t>to achieve Band 7 by working hard</a:t>
            </a:r>
            <a:r>
              <a:rPr lang="en-US" altLang="zh-CN" sz="2400" b="1"/>
              <a:t>.</a:t>
            </a:r>
            <a:endParaRPr lang="en-US" altLang="zh-CN" sz="2400" b="1"/>
          </a:p>
          <a:p>
            <a:pPr marL="342900" indent="-342900">
              <a:buFont typeface="Arial" panose="020B0604020202020204" pitchFamily="34" charset="0"/>
              <a:buChar char="•"/>
            </a:pPr>
            <a:r>
              <a:rPr lang="en-US" altLang="zh-CN" sz="2400" b="1"/>
              <a:t>It is ineffective for parents </a:t>
            </a:r>
            <a:r>
              <a:rPr lang="en-US" altLang="zh-CN" sz="2400" b="1" u="sng">
                <a:solidFill>
                  <a:srgbClr val="FF0000"/>
                </a:solidFill>
              </a:rPr>
              <a:t>to improve children’s academic performance by harsh punishment</a:t>
            </a:r>
            <a:r>
              <a:rPr lang="en-US" altLang="zh-CN" sz="2400" b="1"/>
              <a:t>. </a:t>
            </a:r>
            <a:endParaRPr lang="en-US" altLang="zh-CN" sz="2400" b="1"/>
          </a:p>
          <a:p>
            <a:pPr marL="342900" indent="-342900">
              <a:buFont typeface="Arial" panose="020B0604020202020204" pitchFamily="34" charset="0"/>
              <a:buChar char="•"/>
            </a:pPr>
            <a:r>
              <a:rPr lang="en-US" altLang="zh-CN" sz="2400" b="1"/>
              <a:t>It is unrealistic for everyone </a:t>
            </a:r>
            <a:r>
              <a:rPr lang="en-US" altLang="zh-CN" sz="2400" b="1" u="sng">
                <a:solidFill>
                  <a:srgbClr val="FF0000"/>
                </a:solidFill>
              </a:rPr>
              <a:t>to be satisfied with their jobs</a:t>
            </a:r>
            <a:r>
              <a:rPr lang="en-US" altLang="zh-CN" sz="2400" b="1"/>
              <a:t>.</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非谓语</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443230" y="1417320"/>
            <a:ext cx="7595235" cy="3229610"/>
          </a:xfrm>
          <a:prstGeom prst="rect">
            <a:avLst/>
          </a:prstGeom>
          <a:noFill/>
        </p:spPr>
        <p:txBody>
          <a:bodyPr wrap="square" rtlCol="0">
            <a:noAutofit/>
          </a:bodyPr>
          <a:p>
            <a:pPr marL="342900" indent="-342900">
              <a:buFont typeface="Arial" panose="020B0604020202020204" pitchFamily="34" charset="0"/>
              <a:buChar char="•"/>
            </a:pPr>
            <a:r>
              <a:rPr lang="zh-CN" altLang="en-US" sz="2400" b="1" u="sng">
                <a:solidFill>
                  <a:srgbClr val="FF0000"/>
                </a:solidFill>
              </a:rPr>
              <a:t>不定式（</a:t>
            </a:r>
            <a:r>
              <a:rPr lang="en-US" altLang="zh-CN" sz="2400" b="1" u="sng">
                <a:solidFill>
                  <a:srgbClr val="FF0000"/>
                </a:solidFill>
              </a:rPr>
              <a:t>to do/ to be done</a:t>
            </a:r>
            <a:r>
              <a:rPr lang="zh-CN" altLang="en-US" sz="2400" b="1" u="sng">
                <a:solidFill>
                  <a:srgbClr val="FF0000"/>
                </a:solidFill>
              </a:rPr>
              <a:t>）</a:t>
            </a:r>
            <a:endParaRPr lang="zh-CN" altLang="en-US" sz="2400" b="1" u="sng">
              <a:solidFill>
                <a:srgbClr val="FF0000"/>
              </a:solidFill>
            </a:endParaRPr>
          </a:p>
          <a:p>
            <a:pPr marL="0" indent="0">
              <a:buFont typeface="Arial" panose="020B0604020202020204" pitchFamily="34" charset="0"/>
              <a:buNone/>
            </a:pPr>
            <a:r>
              <a:rPr lang="zh-CN" altLang="en-US" sz="2400" b="1" u="sng">
                <a:solidFill>
                  <a:schemeClr val="tx1"/>
                </a:solidFill>
              </a:rPr>
              <a:t>（主语</a:t>
            </a:r>
            <a:r>
              <a:rPr lang="en-US" altLang="zh-CN" sz="2400" b="1" u="sng">
                <a:solidFill>
                  <a:schemeClr val="tx1"/>
                </a:solidFill>
              </a:rPr>
              <a:t>/</a:t>
            </a:r>
            <a:r>
              <a:rPr lang="zh-CN" altLang="en-US" sz="2400" b="1" u="sng">
                <a:solidFill>
                  <a:schemeClr val="tx1"/>
                </a:solidFill>
              </a:rPr>
              <a:t>宾语</a:t>
            </a:r>
            <a:r>
              <a:rPr lang="en-US" altLang="zh-CN" sz="2400" b="1" u="sng">
                <a:solidFill>
                  <a:schemeClr val="tx1"/>
                </a:solidFill>
              </a:rPr>
              <a:t>/</a:t>
            </a:r>
            <a:r>
              <a:rPr lang="zh-CN" altLang="en-US" sz="2400" b="1" u="sng">
                <a:solidFill>
                  <a:schemeClr val="tx1"/>
                </a:solidFill>
              </a:rPr>
              <a:t>表语</a:t>
            </a:r>
            <a:r>
              <a:rPr lang="en-US" altLang="zh-CN" sz="2400" b="1" u="sng">
                <a:solidFill>
                  <a:schemeClr val="tx1"/>
                </a:solidFill>
              </a:rPr>
              <a:t>/</a:t>
            </a:r>
            <a:r>
              <a:rPr lang="zh-CN" altLang="en-US" sz="2400" b="1" u="sng">
                <a:solidFill>
                  <a:schemeClr val="tx1"/>
                </a:solidFill>
              </a:rPr>
              <a:t>目的状语</a:t>
            </a:r>
            <a:r>
              <a:rPr lang="en-US" altLang="zh-CN" sz="2400" b="1" u="sng">
                <a:solidFill>
                  <a:schemeClr val="tx1"/>
                </a:solidFill>
              </a:rPr>
              <a:t>/</a:t>
            </a:r>
            <a:r>
              <a:rPr lang="zh-CN" altLang="en-US" sz="2400" b="1" u="sng">
                <a:solidFill>
                  <a:schemeClr val="tx1"/>
                </a:solidFill>
              </a:rPr>
              <a:t>后置定语）</a:t>
            </a:r>
            <a:endParaRPr lang="zh-CN" altLang="en-US" sz="2400" b="1" u="sng">
              <a:solidFill>
                <a:schemeClr val="tx1"/>
              </a:solidFill>
            </a:endParaRPr>
          </a:p>
          <a:p>
            <a:pPr marL="0" indent="0">
              <a:buFont typeface="Arial" panose="020B0604020202020204" pitchFamily="34" charset="0"/>
              <a:buNone/>
            </a:pPr>
            <a:endParaRPr lang="zh-CN" altLang="en-US" sz="2400" b="1" u="sng">
              <a:solidFill>
                <a:schemeClr val="tx1"/>
              </a:solidFill>
            </a:endParaRPr>
          </a:p>
          <a:p>
            <a:pPr marL="342900" indent="-342900">
              <a:buFont typeface="Arial" panose="020B0604020202020204" pitchFamily="34" charset="0"/>
              <a:buChar char="•"/>
            </a:pPr>
            <a:r>
              <a:rPr lang="zh-CN" altLang="en-US" sz="2400" b="1" u="sng">
                <a:solidFill>
                  <a:srgbClr val="FF0000"/>
                </a:solidFill>
              </a:rPr>
              <a:t>动名词</a:t>
            </a:r>
            <a:r>
              <a:rPr lang="en-US" altLang="zh-CN" sz="2400" b="1" u="sng">
                <a:solidFill>
                  <a:srgbClr val="FF0000"/>
                </a:solidFill>
              </a:rPr>
              <a:t> </a:t>
            </a:r>
            <a:r>
              <a:rPr lang="zh-CN" altLang="en-US" sz="2400" b="1" u="sng">
                <a:solidFill>
                  <a:srgbClr val="FF0000"/>
                </a:solidFill>
              </a:rPr>
              <a:t>（</a:t>
            </a:r>
            <a:r>
              <a:rPr lang="en-US" altLang="zh-CN" sz="2400" b="1" u="sng">
                <a:solidFill>
                  <a:srgbClr val="FF0000"/>
                </a:solidFill>
              </a:rPr>
              <a:t>doing/being done</a:t>
            </a:r>
            <a:r>
              <a:rPr lang="zh-CN" altLang="en-US" sz="2400" b="1" u="sng">
                <a:solidFill>
                  <a:srgbClr val="FF0000"/>
                </a:solidFill>
              </a:rPr>
              <a:t>）</a:t>
            </a:r>
            <a:endParaRPr lang="zh-CN" altLang="en-US" sz="2400" b="1" u="sng">
              <a:solidFill>
                <a:srgbClr val="FF0000"/>
              </a:solidFill>
            </a:endParaRPr>
          </a:p>
          <a:p>
            <a:pPr marL="342900" indent="-342900">
              <a:buFont typeface="Arial" panose="020B0604020202020204" pitchFamily="34" charset="0"/>
              <a:buChar char="•"/>
            </a:pPr>
            <a:r>
              <a:rPr lang="zh-CN" altLang="en-US" sz="2400" b="1" u="sng">
                <a:solidFill>
                  <a:srgbClr val="FF0000"/>
                </a:solidFill>
              </a:rPr>
              <a:t>分词（</a:t>
            </a:r>
            <a:r>
              <a:rPr lang="en-US" altLang="zh-CN" sz="2400" b="1" u="sng">
                <a:solidFill>
                  <a:srgbClr val="FF0000"/>
                </a:solidFill>
              </a:rPr>
              <a:t>doing/done</a:t>
            </a:r>
            <a:r>
              <a:rPr lang="zh-CN" altLang="en-US" sz="2400" b="1" u="sng">
                <a:solidFill>
                  <a:srgbClr val="FF0000"/>
                </a:solidFill>
              </a:rPr>
              <a:t>）</a:t>
            </a:r>
            <a:endParaRPr lang="en-US" altLang="zh-CN" sz="2400" b="1" u="sng">
              <a:solidFill>
                <a:srgbClr val="FF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补充语法点</a:t>
            </a:r>
            <a:r>
              <a:rPr lang="en-US" altLang="zh-CN" sz="3200">
                <a:solidFill>
                  <a:schemeClr val="tx1"/>
                </a:solidFill>
              </a:rPr>
              <a:t>  to do/to be done</a:t>
            </a:r>
            <a:br>
              <a:rPr lang="zh-CN" altLang="en-US" sz="3200">
                <a:solidFill>
                  <a:schemeClr val="tx1"/>
                </a:solidFill>
              </a:rPr>
            </a:br>
            <a:r>
              <a:rPr lang="zh-CN" altLang="en-US" sz="3200">
                <a:solidFill>
                  <a:schemeClr val="tx1"/>
                </a:solidFill>
              </a:rPr>
              <a:t>②不定式</a:t>
            </a:r>
            <a:r>
              <a:rPr lang="en-US" altLang="zh-CN" sz="3200">
                <a:solidFill>
                  <a:schemeClr val="tx1"/>
                </a:solidFill>
              </a:rPr>
              <a:t>--</a:t>
            </a:r>
            <a:r>
              <a:rPr lang="zh-CN" altLang="en-US" sz="3200">
                <a:solidFill>
                  <a:schemeClr val="tx1"/>
                </a:solidFill>
              </a:rPr>
              <a:t>非谓语</a:t>
            </a:r>
            <a:r>
              <a:rPr lang="en-US" altLang="zh-CN" sz="3200">
                <a:solidFill>
                  <a:schemeClr val="tx1"/>
                </a:solidFill>
              </a:rPr>
              <a:t>--</a:t>
            </a:r>
            <a:r>
              <a:rPr lang="zh-CN" altLang="en-US" sz="3200">
                <a:solidFill>
                  <a:schemeClr val="tx1"/>
                </a:solidFill>
              </a:rPr>
              <a:t>不是谓语</a:t>
            </a:r>
            <a:r>
              <a:rPr lang="en-US" altLang="zh-CN" sz="3200">
                <a:solidFill>
                  <a:schemeClr val="tx1"/>
                </a:solidFill>
              </a:rPr>
              <a:t>--</a:t>
            </a:r>
            <a:r>
              <a:rPr lang="zh-CN" altLang="en-US" sz="3200">
                <a:solidFill>
                  <a:schemeClr val="tx1"/>
                </a:solidFill>
              </a:rPr>
              <a:t>避免双谓语</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443230" y="1417320"/>
            <a:ext cx="7595235" cy="3229610"/>
          </a:xfrm>
          <a:prstGeom prst="rect">
            <a:avLst/>
          </a:prstGeom>
          <a:noFill/>
        </p:spPr>
        <p:txBody>
          <a:bodyPr wrap="square" rtlCol="0">
            <a:noAutofit/>
          </a:bodyPr>
          <a:p>
            <a:pPr marL="285750" indent="-285750">
              <a:buFont typeface="Wingdings" panose="05000000000000000000" charset="0"/>
              <a:buChar char="l"/>
            </a:pPr>
            <a:r>
              <a:rPr lang="zh-CN" altLang="en-US" sz="2400" b="1"/>
              <a:t>不定式做主语</a:t>
            </a:r>
            <a:r>
              <a:rPr lang="en-US" altLang="zh-CN" sz="2400" b="1"/>
              <a:t>--It </a:t>
            </a:r>
            <a:r>
              <a:rPr lang="zh-CN" altLang="en-US" sz="2400" b="1"/>
              <a:t>做形式主语</a:t>
            </a:r>
            <a:endParaRPr lang="zh-CN" altLang="en-US" sz="2400" b="1"/>
          </a:p>
          <a:p>
            <a:pPr marL="342900" indent="-342900">
              <a:buFont typeface="Arial" panose="020B0604020202020204" pitchFamily="34" charset="0"/>
              <a:buChar char="•"/>
            </a:pPr>
            <a:r>
              <a:rPr lang="en-US" altLang="zh-CN" sz="2400" b="1"/>
              <a:t>It is effective </a:t>
            </a:r>
            <a:r>
              <a:rPr lang="en-US" altLang="zh-CN" sz="2400" b="1" u="sng">
                <a:solidFill>
                  <a:srgbClr val="FF0000"/>
                </a:solidFill>
              </a:rPr>
              <a:t>to improve air quality by decreasing car emissions</a:t>
            </a:r>
            <a:r>
              <a:rPr lang="en-US" altLang="zh-CN" sz="2400" b="1"/>
              <a:t>.</a:t>
            </a:r>
            <a:endParaRPr lang="en-US" altLang="zh-CN" sz="2400" b="1"/>
          </a:p>
          <a:p>
            <a:pPr marL="342900" indent="-342900">
              <a:buFont typeface="Arial" panose="020B0604020202020204" pitchFamily="34" charset="0"/>
              <a:buChar char="•"/>
            </a:pPr>
            <a:r>
              <a:rPr lang="en-US" altLang="zh-CN" sz="2400" b="1" u="sng">
                <a:solidFill>
                  <a:srgbClr val="FF0000"/>
                </a:solidFill>
              </a:rPr>
              <a:t>That dogs are loyal friends of human beings</a:t>
            </a:r>
            <a:r>
              <a:rPr lang="en-US" altLang="zh-CN" sz="2400" b="1"/>
              <a:t> is a fact.</a:t>
            </a:r>
            <a:endParaRPr lang="en-US" altLang="zh-CN" sz="2400" b="1"/>
          </a:p>
          <a:p>
            <a:pPr marL="342900" indent="-342900">
              <a:buFont typeface="Arial" panose="020B0604020202020204" pitchFamily="34" charset="0"/>
              <a:buChar char="•"/>
            </a:pPr>
            <a:r>
              <a:rPr lang="en-US" altLang="zh-CN" sz="2400" b="1"/>
              <a:t>It is a fact </a:t>
            </a:r>
            <a:r>
              <a:rPr lang="en-US" altLang="zh-CN" sz="2400" b="1" u="sng">
                <a:solidFill>
                  <a:srgbClr val="FF0000"/>
                </a:solidFill>
              </a:rPr>
              <a:t>that dogs are loyal friends of human beings</a:t>
            </a:r>
            <a:r>
              <a:rPr lang="en-US" altLang="zh-CN" sz="2400" b="1"/>
              <a:t>. that+</a:t>
            </a:r>
            <a:r>
              <a:rPr lang="zh-CN" altLang="en-US" sz="2400" b="1"/>
              <a:t>完整句子</a:t>
            </a:r>
            <a:endParaRPr lang="zh-CN" altLang="en-US" sz="2400" b="1"/>
          </a:p>
          <a:p>
            <a:pPr marL="342900" indent="-342900">
              <a:buFont typeface="Arial" panose="020B0604020202020204" pitchFamily="34" charset="0"/>
              <a:buChar char="•"/>
            </a:pPr>
            <a:r>
              <a:rPr lang="en-US" altLang="zh-CN" sz="2400" b="1"/>
              <a:t>It is a common phenomenon </a:t>
            </a:r>
            <a:r>
              <a:rPr lang="en-US" altLang="zh-CN" sz="2400" b="1" u="sng">
                <a:solidFill>
                  <a:srgbClr val="FF0000"/>
                </a:solidFill>
              </a:rPr>
              <a:t>that many students choose to travel abroad for fun during summer holidays.</a:t>
            </a:r>
            <a:endParaRPr lang="zh-CN" altLang="en-US" sz="2400" b="1" u="sng">
              <a:solidFill>
                <a:srgbClr val="FF0000"/>
              </a:solidFill>
            </a:endParaRPr>
          </a:p>
          <a:p>
            <a:pPr marL="342900" indent="-342900">
              <a:buFont typeface="Arial" panose="020B0604020202020204" pitchFamily="34" charset="0"/>
              <a:buChar char="•"/>
            </a:pPr>
            <a:endParaRPr lang="zh-CN" altLang="en-US" sz="2400" b="1" u="sng">
              <a:solidFill>
                <a:srgbClr val="FF0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补充语法点</a:t>
            </a:r>
            <a:r>
              <a:rPr lang="en-US" altLang="zh-CN" sz="3200">
                <a:solidFill>
                  <a:schemeClr val="tx1"/>
                </a:solidFill>
              </a:rPr>
              <a:t>  to do/to be done</a:t>
            </a:r>
            <a:br>
              <a:rPr lang="zh-CN" altLang="en-US" sz="3200">
                <a:solidFill>
                  <a:schemeClr val="tx1"/>
                </a:solidFill>
              </a:rPr>
            </a:br>
            <a:r>
              <a:rPr lang="zh-CN" altLang="en-US" sz="3200">
                <a:solidFill>
                  <a:schemeClr val="tx1"/>
                </a:solidFill>
              </a:rPr>
              <a:t>②不定式</a:t>
            </a:r>
            <a:r>
              <a:rPr lang="en-US" altLang="zh-CN" sz="3200">
                <a:solidFill>
                  <a:schemeClr val="tx1"/>
                </a:solidFill>
              </a:rPr>
              <a:t>--</a:t>
            </a:r>
            <a:r>
              <a:rPr lang="zh-CN" altLang="en-US" sz="3200">
                <a:solidFill>
                  <a:schemeClr val="tx1"/>
                </a:solidFill>
              </a:rPr>
              <a:t>非谓语</a:t>
            </a:r>
            <a:r>
              <a:rPr lang="en-US" altLang="zh-CN" sz="3200">
                <a:solidFill>
                  <a:schemeClr val="tx1"/>
                </a:solidFill>
              </a:rPr>
              <a:t>--</a:t>
            </a:r>
            <a:r>
              <a:rPr lang="zh-CN" altLang="en-US" sz="3200">
                <a:solidFill>
                  <a:schemeClr val="tx1"/>
                </a:solidFill>
              </a:rPr>
              <a:t>不是谓语</a:t>
            </a:r>
            <a:r>
              <a:rPr lang="en-US" altLang="zh-CN" sz="3200">
                <a:solidFill>
                  <a:schemeClr val="tx1"/>
                </a:solidFill>
              </a:rPr>
              <a:t>--</a:t>
            </a:r>
            <a:r>
              <a:rPr lang="zh-CN" altLang="en-US" sz="3200">
                <a:solidFill>
                  <a:schemeClr val="tx1"/>
                </a:solidFill>
              </a:rPr>
              <a:t>避免双谓语</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443230" y="1417320"/>
            <a:ext cx="7595235" cy="3229610"/>
          </a:xfrm>
          <a:prstGeom prst="rect">
            <a:avLst/>
          </a:prstGeom>
          <a:noFill/>
        </p:spPr>
        <p:txBody>
          <a:bodyPr wrap="square" rtlCol="0">
            <a:noAutofit/>
          </a:bodyPr>
          <a:p>
            <a:pPr marL="285750" indent="-285750">
              <a:buFont typeface="Wingdings" panose="05000000000000000000" charset="0"/>
              <a:buChar char="l"/>
            </a:pPr>
            <a:r>
              <a:rPr lang="zh-CN" altLang="en-US" sz="2400" b="1"/>
              <a:t>不定式做宾语</a:t>
            </a:r>
            <a:endParaRPr lang="zh-CN" altLang="en-US" sz="2400" b="1"/>
          </a:p>
          <a:p>
            <a:pPr marL="285750" indent="-285750">
              <a:buFont typeface="Wingdings" panose="05000000000000000000" charset="0"/>
              <a:buChar char="l"/>
            </a:pPr>
            <a:r>
              <a:rPr lang="en-US" altLang="zh-CN" sz="2400" b="1"/>
              <a:t>I choose </a:t>
            </a:r>
            <a:r>
              <a:rPr lang="en-US" altLang="zh-CN" sz="2400" b="1" u="sng">
                <a:solidFill>
                  <a:srgbClr val="FF0000"/>
                </a:solidFill>
              </a:rPr>
              <a:t>to swim</a:t>
            </a:r>
            <a:r>
              <a:rPr lang="en-US" altLang="zh-CN" sz="2400" b="1"/>
              <a:t> during the weekends.</a:t>
            </a:r>
            <a:endParaRPr lang="en-US" altLang="zh-CN" sz="2400" b="1"/>
          </a:p>
          <a:p>
            <a:pPr marL="285750" indent="-285750">
              <a:buFont typeface="Wingdings" panose="05000000000000000000" charset="0"/>
              <a:buChar char="l"/>
            </a:pPr>
            <a:r>
              <a:rPr lang="en-US" altLang="zh-CN" sz="2400" b="1"/>
              <a:t>I choose </a:t>
            </a:r>
            <a:r>
              <a:rPr lang="en-US" altLang="zh-CN" sz="2400" b="1" u="sng">
                <a:solidFill>
                  <a:srgbClr val="FF0000"/>
                </a:solidFill>
              </a:rPr>
              <a:t>to be educated</a:t>
            </a:r>
            <a:r>
              <a:rPr lang="en-US" altLang="zh-CN" sz="2400" b="1"/>
              <a:t> in America.</a:t>
            </a:r>
            <a:endParaRPr lang="en-US" altLang="zh-CN" sz="2400" b="1"/>
          </a:p>
          <a:p>
            <a:pPr marL="285750" indent="-285750">
              <a:buFont typeface="Wingdings" panose="05000000000000000000" charset="0"/>
              <a:buChar char="l"/>
            </a:pPr>
            <a:r>
              <a:rPr lang="en-US" altLang="zh-CN" sz="2400" b="1"/>
              <a:t>Many graduates find</a:t>
            </a:r>
            <a:r>
              <a:rPr lang="en-US" altLang="zh-CN" sz="2400" b="1" u="sng">
                <a:solidFill>
                  <a:srgbClr val="FF0000"/>
                </a:solidFill>
              </a:rPr>
              <a:t> it </a:t>
            </a:r>
            <a:r>
              <a:rPr lang="en-US" altLang="zh-CN" sz="2400" b="1"/>
              <a:t>difficult</a:t>
            </a:r>
            <a:r>
              <a:rPr lang="en-US" altLang="zh-CN" sz="2400" b="1" u="sng">
                <a:solidFill>
                  <a:srgbClr val="FF0000"/>
                </a:solidFill>
              </a:rPr>
              <a:t> to make a living in the metropolis</a:t>
            </a:r>
            <a:r>
              <a:rPr lang="en-US" altLang="zh-CN" sz="2400" b="1"/>
              <a:t>.</a:t>
            </a:r>
            <a:endParaRPr lang="en-US" altLang="zh-CN" sz="2400" b="1"/>
          </a:p>
          <a:p>
            <a:pPr marL="285750" indent="-285750">
              <a:buFont typeface="Wingdings" panose="05000000000000000000" charset="0"/>
              <a:buChar char="l"/>
            </a:pPr>
            <a:r>
              <a:rPr lang="en-US" altLang="zh-CN" sz="2400" b="1"/>
              <a:t>Online shopping makes </a:t>
            </a:r>
            <a:r>
              <a:rPr lang="en-US" altLang="zh-CN" sz="2400" b="1" u="sng">
                <a:solidFill>
                  <a:srgbClr val="FF0000"/>
                </a:solidFill>
              </a:rPr>
              <a:t>it</a:t>
            </a:r>
            <a:r>
              <a:rPr lang="en-US" altLang="zh-CN" sz="2400" b="1"/>
              <a:t> possible for modern people</a:t>
            </a:r>
            <a:r>
              <a:rPr lang="en-US" altLang="zh-CN" sz="2400" b="1" u="sng">
                <a:solidFill>
                  <a:srgbClr val="FF0000"/>
                </a:solidFill>
              </a:rPr>
              <a:t> to buy ideal products without going out</a:t>
            </a:r>
            <a:r>
              <a:rPr lang="en-US" altLang="zh-CN" sz="2400" b="1"/>
              <a:t>.</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补充语法点</a:t>
            </a:r>
            <a:r>
              <a:rPr lang="en-US" altLang="zh-CN" sz="3200">
                <a:solidFill>
                  <a:schemeClr val="tx1"/>
                </a:solidFill>
              </a:rPr>
              <a:t>  to do/to be done</a:t>
            </a:r>
            <a:br>
              <a:rPr lang="zh-CN" altLang="en-US" sz="3200">
                <a:solidFill>
                  <a:schemeClr val="tx1"/>
                </a:solidFill>
              </a:rPr>
            </a:br>
            <a:r>
              <a:rPr lang="zh-CN" altLang="en-US" sz="3200">
                <a:solidFill>
                  <a:schemeClr val="tx1"/>
                </a:solidFill>
              </a:rPr>
              <a:t>②不定式</a:t>
            </a:r>
            <a:r>
              <a:rPr lang="en-US" altLang="zh-CN" sz="3200">
                <a:solidFill>
                  <a:schemeClr val="tx1"/>
                </a:solidFill>
              </a:rPr>
              <a:t>--</a:t>
            </a:r>
            <a:r>
              <a:rPr lang="zh-CN" altLang="en-US" sz="3200">
                <a:solidFill>
                  <a:schemeClr val="tx1"/>
                </a:solidFill>
              </a:rPr>
              <a:t>非谓语</a:t>
            </a:r>
            <a:r>
              <a:rPr lang="en-US" altLang="zh-CN" sz="3200">
                <a:solidFill>
                  <a:schemeClr val="tx1"/>
                </a:solidFill>
              </a:rPr>
              <a:t>--</a:t>
            </a:r>
            <a:r>
              <a:rPr lang="zh-CN" altLang="en-US" sz="3200">
                <a:solidFill>
                  <a:schemeClr val="tx1"/>
                </a:solidFill>
              </a:rPr>
              <a:t>不是谓语</a:t>
            </a:r>
            <a:r>
              <a:rPr lang="en-US" altLang="zh-CN" sz="3200">
                <a:solidFill>
                  <a:schemeClr val="tx1"/>
                </a:solidFill>
              </a:rPr>
              <a:t>--</a:t>
            </a:r>
            <a:r>
              <a:rPr lang="zh-CN" altLang="en-US" sz="3200">
                <a:solidFill>
                  <a:schemeClr val="tx1"/>
                </a:solidFill>
              </a:rPr>
              <a:t>避免双谓语</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443230" y="1417320"/>
            <a:ext cx="7595235" cy="3229610"/>
          </a:xfrm>
          <a:prstGeom prst="rect">
            <a:avLst/>
          </a:prstGeom>
          <a:noFill/>
        </p:spPr>
        <p:txBody>
          <a:bodyPr wrap="square" rtlCol="0">
            <a:noAutofit/>
          </a:bodyPr>
          <a:p>
            <a:pPr marL="285750" indent="-285750">
              <a:buFont typeface="Wingdings" panose="05000000000000000000" charset="0"/>
              <a:buChar char="l"/>
            </a:pPr>
            <a:r>
              <a:rPr lang="zh-CN" altLang="en-US" sz="2400" b="1"/>
              <a:t>不定式做表语</a:t>
            </a:r>
            <a:endParaRPr lang="zh-CN" altLang="en-US" sz="2400" b="1"/>
          </a:p>
          <a:p>
            <a:pPr marL="285750" indent="-285750">
              <a:buFont typeface="Wingdings" panose="05000000000000000000" charset="0"/>
              <a:buChar char="l"/>
            </a:pPr>
            <a:r>
              <a:rPr lang="en-US" altLang="zh-CN" sz="2400" b="1"/>
              <a:t>The first step is </a:t>
            </a:r>
            <a:r>
              <a:rPr lang="en-US" altLang="zh-CN" sz="2400" b="1" u="sng">
                <a:solidFill>
                  <a:srgbClr val="FF0000"/>
                </a:solidFill>
              </a:rPr>
              <a:t>to pick peaches from trees</a:t>
            </a:r>
            <a:r>
              <a:rPr lang="en-US" altLang="zh-CN" sz="2400" b="1"/>
              <a:t>.</a:t>
            </a:r>
            <a:endParaRPr lang="en-US" altLang="zh-CN" sz="2400" b="1"/>
          </a:p>
          <a:p>
            <a:pPr marL="285750" indent="-285750">
              <a:buFont typeface="Wingdings" panose="05000000000000000000" charset="0"/>
              <a:buChar char="l"/>
            </a:pPr>
            <a:r>
              <a:rPr lang="en-US" altLang="zh-CN" sz="2400" b="1"/>
              <a:t>The main responsibility of teachers is </a:t>
            </a:r>
            <a:r>
              <a:rPr lang="en-US" altLang="zh-CN" sz="2400" b="1" u="sng">
                <a:solidFill>
                  <a:srgbClr val="FF0000"/>
                </a:solidFill>
              </a:rPr>
              <a:t>to impart knowledge</a:t>
            </a:r>
            <a:r>
              <a:rPr lang="en-US" altLang="zh-CN" sz="2400" b="1"/>
              <a:t>, while that of students is to acquire knowledge and job-related skills.</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补充语法点</a:t>
            </a:r>
            <a:r>
              <a:rPr lang="en-US" altLang="zh-CN" sz="3200">
                <a:solidFill>
                  <a:schemeClr val="tx1"/>
                </a:solidFill>
              </a:rPr>
              <a:t>  to do/to be done</a:t>
            </a:r>
            <a:br>
              <a:rPr lang="zh-CN" altLang="en-US" sz="3200">
                <a:solidFill>
                  <a:schemeClr val="tx1"/>
                </a:solidFill>
              </a:rPr>
            </a:br>
            <a:r>
              <a:rPr lang="zh-CN" altLang="en-US" sz="3200">
                <a:solidFill>
                  <a:schemeClr val="tx1"/>
                </a:solidFill>
              </a:rPr>
              <a:t>②不定式</a:t>
            </a:r>
            <a:r>
              <a:rPr lang="en-US" altLang="zh-CN" sz="3200">
                <a:solidFill>
                  <a:schemeClr val="tx1"/>
                </a:solidFill>
              </a:rPr>
              <a:t>--</a:t>
            </a:r>
            <a:r>
              <a:rPr lang="zh-CN" altLang="en-US" sz="3200">
                <a:solidFill>
                  <a:schemeClr val="tx1"/>
                </a:solidFill>
              </a:rPr>
              <a:t>非谓语</a:t>
            </a:r>
            <a:r>
              <a:rPr lang="en-US" altLang="zh-CN" sz="3200">
                <a:solidFill>
                  <a:schemeClr val="tx1"/>
                </a:solidFill>
              </a:rPr>
              <a:t>--</a:t>
            </a:r>
            <a:r>
              <a:rPr lang="zh-CN" altLang="en-US" sz="3200">
                <a:solidFill>
                  <a:schemeClr val="tx1"/>
                </a:solidFill>
              </a:rPr>
              <a:t>不是谓语</a:t>
            </a:r>
            <a:r>
              <a:rPr lang="en-US" altLang="zh-CN" sz="3200">
                <a:solidFill>
                  <a:schemeClr val="tx1"/>
                </a:solidFill>
              </a:rPr>
              <a:t>--</a:t>
            </a:r>
            <a:r>
              <a:rPr lang="zh-CN" altLang="en-US" sz="3200">
                <a:solidFill>
                  <a:schemeClr val="tx1"/>
                </a:solidFill>
              </a:rPr>
              <a:t>避免双谓语</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443230" y="1417320"/>
            <a:ext cx="7595235" cy="3229610"/>
          </a:xfrm>
          <a:prstGeom prst="rect">
            <a:avLst/>
          </a:prstGeom>
          <a:noFill/>
        </p:spPr>
        <p:txBody>
          <a:bodyPr wrap="square" rtlCol="0">
            <a:noAutofit/>
          </a:bodyPr>
          <a:p>
            <a:pPr marL="285750" indent="-285750">
              <a:buFont typeface="Wingdings" panose="05000000000000000000" charset="0"/>
              <a:buChar char="l"/>
            </a:pPr>
            <a:r>
              <a:rPr lang="zh-CN" altLang="en-US" sz="2400" b="1"/>
              <a:t>不定式做目的状语</a:t>
            </a:r>
            <a:endParaRPr lang="zh-CN" altLang="en-US" sz="2400" b="1"/>
          </a:p>
          <a:p>
            <a:pPr marL="285750" indent="-285750">
              <a:buFont typeface="Wingdings" panose="05000000000000000000" charset="0"/>
              <a:buChar char="l"/>
            </a:pPr>
            <a:r>
              <a:rPr lang="en-US" altLang="zh-CN" sz="2400" b="1" u="sng">
                <a:solidFill>
                  <a:srgbClr val="FF0000"/>
                </a:solidFill>
              </a:rPr>
              <a:t>To achieve a good score</a:t>
            </a:r>
            <a:r>
              <a:rPr lang="en-US" altLang="zh-CN" sz="2400" b="1"/>
              <a:t>, I study day and night.</a:t>
            </a:r>
            <a:endParaRPr lang="en-US" altLang="zh-CN" sz="2400" b="1"/>
          </a:p>
          <a:p>
            <a:pPr marL="285750" indent="-285750">
              <a:buFont typeface="Wingdings" panose="05000000000000000000" charset="0"/>
              <a:buChar char="l"/>
            </a:pPr>
            <a:r>
              <a:rPr lang="en-US" altLang="zh-CN" sz="2400" b="1"/>
              <a:t>Many entrepreneurs tend to employ some celebrities to endorse their brands </a:t>
            </a:r>
            <a:r>
              <a:rPr lang="en-US" altLang="zh-CN" sz="2400" b="1" u="sng">
                <a:solidFill>
                  <a:srgbClr val="FF0000"/>
                </a:solidFill>
              </a:rPr>
              <a:t>in order to promote the sales</a:t>
            </a:r>
            <a:r>
              <a:rPr lang="en-US" altLang="zh-CN" sz="2400" b="1"/>
              <a:t>.</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补充语法点</a:t>
            </a:r>
            <a:r>
              <a:rPr lang="en-US" altLang="zh-CN" sz="3200">
                <a:solidFill>
                  <a:schemeClr val="tx1"/>
                </a:solidFill>
              </a:rPr>
              <a:t>  to do/to be done</a:t>
            </a:r>
            <a:br>
              <a:rPr lang="zh-CN" altLang="en-US" sz="3200">
                <a:solidFill>
                  <a:schemeClr val="tx1"/>
                </a:solidFill>
              </a:rPr>
            </a:br>
            <a:r>
              <a:rPr lang="zh-CN" altLang="en-US" sz="3200">
                <a:solidFill>
                  <a:schemeClr val="tx1"/>
                </a:solidFill>
              </a:rPr>
              <a:t>②不定式</a:t>
            </a:r>
            <a:r>
              <a:rPr lang="en-US" altLang="zh-CN" sz="3200">
                <a:solidFill>
                  <a:schemeClr val="tx1"/>
                </a:solidFill>
              </a:rPr>
              <a:t>--</a:t>
            </a:r>
            <a:r>
              <a:rPr lang="zh-CN" altLang="en-US" sz="3200">
                <a:solidFill>
                  <a:schemeClr val="tx1"/>
                </a:solidFill>
              </a:rPr>
              <a:t>非谓语</a:t>
            </a:r>
            <a:r>
              <a:rPr lang="en-US" altLang="zh-CN" sz="3200">
                <a:solidFill>
                  <a:schemeClr val="tx1"/>
                </a:solidFill>
              </a:rPr>
              <a:t>--</a:t>
            </a:r>
            <a:r>
              <a:rPr lang="zh-CN" altLang="en-US" sz="3200">
                <a:solidFill>
                  <a:schemeClr val="tx1"/>
                </a:solidFill>
              </a:rPr>
              <a:t>不是谓语</a:t>
            </a:r>
            <a:r>
              <a:rPr lang="en-US" altLang="zh-CN" sz="3200">
                <a:solidFill>
                  <a:schemeClr val="tx1"/>
                </a:solidFill>
              </a:rPr>
              <a:t>--</a:t>
            </a:r>
            <a:r>
              <a:rPr lang="zh-CN" altLang="en-US" sz="3200">
                <a:solidFill>
                  <a:schemeClr val="tx1"/>
                </a:solidFill>
              </a:rPr>
              <a:t>避免双谓语</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443230" y="1417320"/>
            <a:ext cx="7595235" cy="3229610"/>
          </a:xfrm>
          <a:prstGeom prst="rect">
            <a:avLst/>
          </a:prstGeom>
          <a:noFill/>
        </p:spPr>
        <p:txBody>
          <a:bodyPr wrap="square" rtlCol="0">
            <a:noAutofit/>
          </a:bodyPr>
          <a:p>
            <a:pPr marL="285750" indent="-285750">
              <a:buFont typeface="Wingdings" panose="05000000000000000000" charset="0"/>
              <a:buChar char="l"/>
            </a:pPr>
            <a:r>
              <a:rPr lang="zh-CN" altLang="en-US" sz="2400" b="1"/>
              <a:t>不定式做后置定语</a:t>
            </a:r>
            <a:endParaRPr lang="zh-CN" altLang="en-US" sz="2400" b="1"/>
          </a:p>
          <a:p>
            <a:pPr marL="285750" indent="-285750">
              <a:buFont typeface="Wingdings" panose="05000000000000000000" charset="0"/>
              <a:buChar char="l"/>
            </a:pPr>
            <a:r>
              <a:rPr lang="en-US" altLang="zh-CN" sz="2400" b="1"/>
              <a:t>I have obtained an opportunity</a:t>
            </a:r>
            <a:r>
              <a:rPr lang="en-US" altLang="zh-CN" sz="2400" b="1" u="sng">
                <a:solidFill>
                  <a:srgbClr val="FF0000"/>
                </a:solidFill>
              </a:rPr>
              <a:t> to study abroad</a:t>
            </a:r>
            <a:r>
              <a:rPr lang="en-US" altLang="zh-CN" sz="2400" b="1"/>
              <a:t>.</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②动名词</a:t>
            </a:r>
            <a:r>
              <a:rPr lang="en-US" altLang="zh-CN" sz="3200">
                <a:solidFill>
                  <a:schemeClr val="tx1"/>
                </a:solidFill>
              </a:rPr>
              <a:t>--</a:t>
            </a:r>
            <a:r>
              <a:rPr lang="zh-CN" altLang="en-US" sz="3200">
                <a:solidFill>
                  <a:schemeClr val="tx1"/>
                </a:solidFill>
              </a:rPr>
              <a:t>名词</a:t>
            </a:r>
            <a:r>
              <a:rPr lang="en-US" altLang="zh-CN" sz="3200">
                <a:solidFill>
                  <a:schemeClr val="tx1"/>
                </a:solidFill>
              </a:rPr>
              <a:t>--doing/being done</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443230" y="1417320"/>
            <a:ext cx="7595235" cy="3229610"/>
          </a:xfrm>
          <a:prstGeom prst="rect">
            <a:avLst/>
          </a:prstGeom>
          <a:noFill/>
        </p:spPr>
        <p:txBody>
          <a:bodyPr wrap="square" rtlCol="0">
            <a:noAutofit/>
          </a:bodyPr>
          <a:p>
            <a:pPr marL="285750" indent="-285750">
              <a:buFont typeface="Wingdings" panose="05000000000000000000" charset="0"/>
              <a:buChar char="l"/>
            </a:pPr>
            <a:r>
              <a:rPr lang="zh-CN" altLang="en-US" sz="2400" b="1"/>
              <a:t>动名词做主语</a:t>
            </a:r>
            <a:endParaRPr lang="zh-CN" altLang="en-US" sz="2400" b="1"/>
          </a:p>
          <a:p>
            <a:pPr marL="285750" indent="-285750">
              <a:buFont typeface="Wingdings" panose="05000000000000000000" charset="0"/>
              <a:buChar char="l"/>
            </a:pPr>
            <a:r>
              <a:rPr lang="en-US" altLang="zh-CN" sz="2400" b="1" u="sng">
                <a:solidFill>
                  <a:srgbClr val="FF0000"/>
                </a:solidFill>
              </a:rPr>
              <a:t>Learning English</a:t>
            </a:r>
            <a:r>
              <a:rPr lang="en-US" altLang="zh-CN" sz="2400" b="1"/>
              <a:t> enables me to deepen my understanding of Western cultures.</a:t>
            </a:r>
            <a:endParaRPr lang="en-US" altLang="zh-CN" sz="2400" b="1"/>
          </a:p>
          <a:p>
            <a:pPr marL="285750" indent="-285750">
              <a:buFont typeface="Wingdings" panose="05000000000000000000" charset="0"/>
              <a:buChar char="l"/>
            </a:pPr>
            <a:r>
              <a:rPr lang="en-US" altLang="zh-CN" sz="2400" b="1" u="sng">
                <a:solidFill>
                  <a:srgbClr val="FF0000"/>
                </a:solidFill>
              </a:rPr>
              <a:t>Being sent abroad </a:t>
            </a:r>
            <a:r>
              <a:rPr lang="en-US" altLang="zh-CN" sz="2400" b="1"/>
              <a:t>is a good experience for me to learn about a different lifestyle.</a:t>
            </a:r>
            <a:endParaRPr lang="en-US" altLang="zh-CN" sz="2400" b="1"/>
          </a:p>
          <a:p>
            <a:pPr marL="285750" indent="-285750">
              <a:buFont typeface="Wingdings" panose="05000000000000000000" charset="0"/>
              <a:buChar char="l"/>
            </a:pP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②动名词</a:t>
            </a:r>
            <a:r>
              <a:rPr lang="en-US" altLang="zh-CN" sz="3200">
                <a:solidFill>
                  <a:schemeClr val="tx1"/>
                </a:solidFill>
              </a:rPr>
              <a:t>--</a:t>
            </a:r>
            <a:r>
              <a:rPr lang="zh-CN" altLang="en-US" sz="3200">
                <a:solidFill>
                  <a:schemeClr val="tx1"/>
                </a:solidFill>
              </a:rPr>
              <a:t>名词</a:t>
            </a:r>
            <a:r>
              <a:rPr lang="en-US" altLang="zh-CN" sz="3200">
                <a:solidFill>
                  <a:schemeClr val="tx1"/>
                </a:solidFill>
              </a:rPr>
              <a:t>--doing/being done</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68935" y="1115695"/>
            <a:ext cx="8467725" cy="3531235"/>
          </a:xfrm>
          <a:prstGeom prst="rect">
            <a:avLst/>
          </a:prstGeom>
          <a:noFill/>
        </p:spPr>
        <p:txBody>
          <a:bodyPr wrap="square" rtlCol="0">
            <a:noAutofit/>
          </a:bodyPr>
          <a:p>
            <a:pPr marL="285750" indent="-285750">
              <a:buFont typeface="Wingdings" panose="05000000000000000000" charset="0"/>
              <a:buChar char="l"/>
            </a:pPr>
            <a:r>
              <a:rPr lang="zh-CN" altLang="en-US" sz="2400" b="1"/>
              <a:t>动名词做宾语</a:t>
            </a:r>
            <a:r>
              <a:rPr lang="en-US" altLang="zh-CN" sz="2400" b="1"/>
              <a:t>  </a:t>
            </a:r>
            <a:r>
              <a:rPr lang="zh-CN" altLang="en-US" sz="2400" b="1"/>
              <a:t>动宾</a:t>
            </a:r>
            <a:r>
              <a:rPr lang="en-US" altLang="zh-CN" sz="2400" b="1"/>
              <a:t>/</a:t>
            </a:r>
            <a:r>
              <a:rPr lang="zh-CN" altLang="en-US" sz="2400" b="1"/>
              <a:t>介宾</a:t>
            </a:r>
            <a:endParaRPr lang="zh-CN" altLang="en-US" sz="2400" b="1"/>
          </a:p>
          <a:p>
            <a:pPr marL="285750" indent="-285750">
              <a:buFont typeface="Wingdings" panose="05000000000000000000" charset="0"/>
              <a:buChar char="l"/>
            </a:pPr>
            <a:r>
              <a:rPr lang="en-US" altLang="zh-CN" sz="2400" b="1"/>
              <a:t>I enjoy swimming.</a:t>
            </a:r>
            <a:endParaRPr lang="en-US" altLang="zh-CN" sz="2400" b="1"/>
          </a:p>
          <a:p>
            <a:pPr marL="285750" indent="-285750">
              <a:buFont typeface="Wingdings" panose="05000000000000000000" charset="0"/>
              <a:buChar char="l"/>
            </a:pPr>
            <a:r>
              <a:rPr lang="en-US" altLang="zh-CN" sz="2400" b="1"/>
              <a:t>I enjoy being encouraged.</a:t>
            </a:r>
            <a:endParaRPr lang="en-US" altLang="zh-CN" sz="2400" b="1"/>
          </a:p>
          <a:p>
            <a:pPr marL="285750" indent="-285750">
              <a:buFont typeface="Wingdings" panose="05000000000000000000" charset="0"/>
              <a:buChar char="l"/>
            </a:pPr>
            <a:r>
              <a:rPr lang="en-US" altLang="zh-CN" sz="2400" b="1" u="sng">
                <a:solidFill>
                  <a:srgbClr val="FF0000"/>
                </a:solidFill>
              </a:rPr>
              <a:t>After arriving at the destination</a:t>
            </a:r>
            <a:r>
              <a:rPr lang="en-US" altLang="zh-CN" sz="2400" b="1"/>
              <a:t>, the fish will be frozen.</a:t>
            </a:r>
            <a:endParaRPr lang="en-US" altLang="zh-CN" sz="2400" b="1"/>
          </a:p>
          <a:p>
            <a:pPr marL="285750" indent="-285750">
              <a:buFont typeface="Wingdings" panose="05000000000000000000" charset="0"/>
              <a:buChar char="l"/>
            </a:pPr>
            <a:r>
              <a:rPr lang="en-US" altLang="zh-CN" sz="2400" b="1" u="sng">
                <a:solidFill>
                  <a:srgbClr val="FF0000"/>
                </a:solidFill>
              </a:rPr>
              <a:t>After being sent to private schools</a:t>
            </a:r>
            <a:r>
              <a:rPr lang="en-US" altLang="zh-CN" sz="2400" b="1"/>
              <a:t>, I begin to learn English well.</a:t>
            </a:r>
            <a:endParaRPr lang="en-US" altLang="zh-CN" sz="2400" b="1"/>
          </a:p>
          <a:p>
            <a:pPr marL="285750" indent="-285750">
              <a:buFont typeface="Wingdings" panose="05000000000000000000" charset="0"/>
              <a:buChar char="l"/>
            </a:pPr>
            <a:r>
              <a:rPr lang="en-US" altLang="zh-CN" sz="2400" b="1"/>
              <a:t>Most dolpines object</a:t>
            </a:r>
            <a:r>
              <a:rPr lang="en-US" altLang="zh-CN" sz="2400" b="1">
                <a:highlight>
                  <a:srgbClr val="FFFF00"/>
                </a:highlight>
              </a:rPr>
              <a:t> to</a:t>
            </a:r>
            <a:r>
              <a:rPr lang="en-US" altLang="zh-CN" sz="2400" b="1"/>
              <a:t> </a:t>
            </a:r>
            <a:r>
              <a:rPr lang="en-US" altLang="zh-CN" sz="2400" b="1" u="sng">
                <a:solidFill>
                  <a:srgbClr val="FF0000"/>
                </a:solidFill>
              </a:rPr>
              <a:t>being touched </a:t>
            </a:r>
            <a:r>
              <a:rPr lang="en-US" altLang="zh-CN" sz="2400" b="1"/>
              <a:t>on the head.</a:t>
            </a:r>
            <a:endParaRPr lang="en-US" altLang="zh-CN" sz="2400" b="1"/>
          </a:p>
          <a:p>
            <a:pPr marL="285750" indent="-285750">
              <a:buFont typeface="Wingdings" panose="05000000000000000000" charset="0"/>
              <a:buChar char="l"/>
            </a:pPr>
            <a:r>
              <a:rPr lang="en-US" altLang="zh-CN" sz="2400" b="1"/>
              <a:t>Many migrants in America are against</a:t>
            </a:r>
            <a:r>
              <a:rPr lang="en-US" altLang="zh-CN" sz="2400" b="1" u="sng">
                <a:solidFill>
                  <a:srgbClr val="FF0000"/>
                </a:solidFill>
              </a:rPr>
              <a:t> being sent back home</a:t>
            </a:r>
            <a:r>
              <a:rPr lang="en-US" altLang="zh-CN" sz="2400" b="1"/>
              <a:t>.</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②动名词</a:t>
            </a:r>
            <a:r>
              <a:rPr lang="en-US" altLang="zh-CN" sz="3200">
                <a:solidFill>
                  <a:schemeClr val="tx1"/>
                </a:solidFill>
              </a:rPr>
              <a:t>--</a:t>
            </a:r>
            <a:r>
              <a:rPr lang="zh-CN" altLang="en-US" sz="3200">
                <a:solidFill>
                  <a:schemeClr val="tx1"/>
                </a:solidFill>
              </a:rPr>
              <a:t>名词</a:t>
            </a:r>
            <a:r>
              <a:rPr lang="en-US" altLang="zh-CN" sz="3200">
                <a:solidFill>
                  <a:schemeClr val="tx1"/>
                </a:solidFill>
              </a:rPr>
              <a:t>--doing/being done</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68935" y="1115695"/>
            <a:ext cx="8467725" cy="3531235"/>
          </a:xfrm>
          <a:prstGeom prst="rect">
            <a:avLst/>
          </a:prstGeom>
          <a:noFill/>
        </p:spPr>
        <p:txBody>
          <a:bodyPr wrap="square" rtlCol="0">
            <a:noAutofit/>
          </a:bodyPr>
          <a:p>
            <a:pPr marL="285750" indent="-285750">
              <a:buFont typeface="Wingdings" panose="05000000000000000000" charset="0"/>
              <a:buChar char="l"/>
            </a:pPr>
            <a:r>
              <a:rPr lang="zh-CN" altLang="en-US" sz="2400" b="1"/>
              <a:t>动名词做表语</a:t>
            </a:r>
            <a:r>
              <a:rPr lang="en-US" altLang="zh-CN" sz="2400" b="1"/>
              <a:t> </a:t>
            </a:r>
            <a:endParaRPr lang="zh-CN" altLang="en-US" sz="2400" b="1"/>
          </a:p>
          <a:p>
            <a:pPr marL="285750" indent="-285750">
              <a:buFont typeface="Wingdings" panose="05000000000000000000" charset="0"/>
              <a:buChar char="l"/>
            </a:pPr>
            <a:r>
              <a:rPr lang="en-US" altLang="zh-CN" sz="2400" b="1"/>
              <a:t>My hobby is </a:t>
            </a:r>
            <a:r>
              <a:rPr lang="en-US" altLang="zh-CN" sz="2400" b="1" u="sng">
                <a:solidFill>
                  <a:srgbClr val="FF0000"/>
                </a:solidFill>
              </a:rPr>
              <a:t>swimming</a:t>
            </a:r>
            <a:r>
              <a:rPr lang="en-US" altLang="zh-CN" sz="2400" b="1"/>
              <a:t>.</a:t>
            </a:r>
            <a:endParaRPr lang="en-US" altLang="zh-CN" sz="2400" b="1"/>
          </a:p>
          <a:p>
            <a:pPr marL="0" indent="0">
              <a:buFont typeface="Wingdings" panose="05000000000000000000" charset="0"/>
              <a:buNone/>
            </a:pP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③分词</a:t>
            </a:r>
            <a:r>
              <a:rPr lang="en-US" altLang="zh-CN" sz="3200">
                <a:solidFill>
                  <a:schemeClr val="tx1"/>
                </a:solidFill>
              </a:rPr>
              <a:t>--doing/done</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68935" y="1084580"/>
            <a:ext cx="8467725" cy="3531235"/>
          </a:xfrm>
          <a:prstGeom prst="rect">
            <a:avLst/>
          </a:prstGeom>
          <a:noFill/>
        </p:spPr>
        <p:txBody>
          <a:bodyPr wrap="square" rtlCol="0">
            <a:noAutofit/>
          </a:bodyPr>
          <a:p>
            <a:pPr marL="342900" indent="-342900">
              <a:buFont typeface="Wingdings" panose="05000000000000000000" charset="0"/>
              <a:buChar char="l"/>
            </a:pPr>
            <a:r>
              <a:rPr lang="zh-CN" sz="2400" b="1"/>
              <a:t>分词做后置定语</a:t>
            </a:r>
            <a:endParaRPr lang="zh-CN" sz="2400" b="1"/>
          </a:p>
          <a:p>
            <a:pPr marL="342900" indent="-342900">
              <a:buFont typeface="Wingdings" panose="05000000000000000000" charset="0"/>
              <a:buChar char="l"/>
            </a:pPr>
            <a:r>
              <a:rPr lang="en-US" altLang="zh-CN" sz="2400" b="1"/>
              <a:t>I like the girl </a:t>
            </a:r>
            <a:r>
              <a:rPr lang="en-US" altLang="zh-CN" sz="2400" b="1" u="sng">
                <a:solidFill>
                  <a:srgbClr val="FF0000"/>
                </a:solidFill>
              </a:rPr>
              <a:t>who works in the factory</a:t>
            </a:r>
            <a:r>
              <a:rPr lang="en-US" altLang="zh-CN" sz="2400" b="1"/>
              <a:t>.</a:t>
            </a:r>
            <a:endParaRPr lang="en-US" altLang="zh-CN" sz="2400" b="1"/>
          </a:p>
          <a:p>
            <a:pPr marL="342900" indent="-342900">
              <a:buFont typeface="Wingdings" panose="05000000000000000000" charset="0"/>
              <a:buChar char="l"/>
            </a:pPr>
            <a:r>
              <a:rPr lang="en-US" altLang="zh-CN" sz="2400" b="1">
                <a:sym typeface="+mn-ea"/>
              </a:rPr>
              <a:t>I like the girl </a:t>
            </a:r>
            <a:r>
              <a:rPr lang="en-US" altLang="zh-CN" sz="2400" b="1" u="sng">
                <a:solidFill>
                  <a:srgbClr val="FF0000"/>
                </a:solidFill>
                <a:sym typeface="+mn-ea"/>
              </a:rPr>
              <a:t>working in the factory</a:t>
            </a:r>
            <a:r>
              <a:rPr lang="en-US" altLang="zh-CN" sz="2400" b="1">
                <a:sym typeface="+mn-ea"/>
              </a:rPr>
              <a:t>.</a:t>
            </a:r>
            <a:endParaRPr lang="en-US" altLang="zh-CN" sz="2400" b="1">
              <a:sym typeface="+mn-ea"/>
            </a:endParaRPr>
          </a:p>
          <a:p>
            <a:pPr marL="342900" indent="-342900">
              <a:buFont typeface="Wingdings" panose="05000000000000000000" charset="0"/>
              <a:buChar char="l"/>
            </a:pPr>
            <a:r>
              <a:rPr lang="en-US" altLang="zh-CN" sz="2400" b="1"/>
              <a:t>The people </a:t>
            </a:r>
            <a:r>
              <a:rPr lang="en-US" altLang="zh-CN" sz="2400" b="1" u="sng">
                <a:solidFill>
                  <a:srgbClr val="FF0000"/>
                </a:solidFill>
              </a:rPr>
              <a:t> living in the metropolis</a:t>
            </a:r>
            <a:r>
              <a:rPr lang="en-US" altLang="zh-CN" sz="2400" b="1"/>
              <a:t> are often busy.</a:t>
            </a:r>
            <a:endParaRPr lang="en-US" altLang="zh-CN" sz="2400" b="1"/>
          </a:p>
          <a:p>
            <a:pPr marL="342900" indent="-342900">
              <a:buFont typeface="Wingdings" panose="05000000000000000000" charset="0"/>
              <a:buChar char="l"/>
            </a:pPr>
            <a:r>
              <a:rPr lang="en-US" altLang="zh-CN" sz="2400" b="1"/>
              <a:t>The students </a:t>
            </a:r>
            <a:r>
              <a:rPr lang="en-US" altLang="zh-CN" sz="2400" b="1" u="sng">
                <a:solidFill>
                  <a:srgbClr val="FF0000"/>
                </a:solidFill>
              </a:rPr>
              <a:t>choosing to study abroad </a:t>
            </a:r>
            <a:r>
              <a:rPr lang="en-US" altLang="zh-CN" sz="2400" b="1"/>
              <a:t>need to learn English.</a:t>
            </a:r>
            <a:endParaRPr lang="en-US" altLang="zh-CN" sz="2400" b="1"/>
          </a:p>
          <a:p>
            <a:pPr marL="342900" indent="-342900">
              <a:buFont typeface="Wingdings" panose="05000000000000000000" charset="0"/>
              <a:buChar char="l"/>
            </a:pP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③分词</a:t>
            </a:r>
            <a:r>
              <a:rPr lang="en-US" altLang="zh-CN" sz="3200">
                <a:solidFill>
                  <a:schemeClr val="tx1"/>
                </a:solidFill>
              </a:rPr>
              <a:t>--doing/done</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232410" y="994410"/>
            <a:ext cx="8415020" cy="3596640"/>
          </a:xfrm>
          <a:prstGeom prst="rect">
            <a:avLst/>
          </a:prstGeom>
          <a:noFill/>
        </p:spPr>
        <p:txBody>
          <a:bodyPr wrap="square" rtlCol="0">
            <a:noAutofit/>
          </a:bodyPr>
          <a:p>
            <a:pPr marL="342900" indent="-342900">
              <a:buFont typeface="Wingdings" panose="05000000000000000000" charset="0"/>
              <a:buChar char="l"/>
            </a:pPr>
            <a:r>
              <a:rPr lang="zh-CN" sz="2400" b="1"/>
              <a:t>分词做后置定语</a:t>
            </a:r>
            <a:endParaRPr lang="zh-CN" sz="2400" b="1"/>
          </a:p>
          <a:p>
            <a:pPr marL="342900" indent="-342900">
              <a:buFont typeface="Wingdings" panose="05000000000000000000" charset="0"/>
              <a:buChar char="l"/>
            </a:pPr>
            <a:r>
              <a:rPr lang="en-US" altLang="zh-CN" sz="2400" b="1"/>
              <a:t>The time</a:t>
            </a:r>
            <a:r>
              <a:rPr lang="en-US" altLang="zh-CN" sz="2400" b="1" u="sng">
                <a:solidFill>
                  <a:srgbClr val="FF0000"/>
                </a:solidFill>
              </a:rPr>
              <a:t> which is spent on homework</a:t>
            </a:r>
            <a:r>
              <a:rPr lang="en-US" altLang="zh-CN" sz="2400" b="1"/>
              <a:t> is sufficient.</a:t>
            </a:r>
            <a:endParaRPr lang="en-US" altLang="zh-CN" sz="2400" b="1"/>
          </a:p>
          <a:p>
            <a:pPr marL="342900" indent="-342900">
              <a:buFont typeface="Wingdings" panose="05000000000000000000" charset="0"/>
              <a:buChar char="l"/>
            </a:pPr>
            <a:r>
              <a:rPr lang="en-US" altLang="zh-CN" sz="2400" b="1">
                <a:sym typeface="+mn-ea"/>
              </a:rPr>
              <a:t>The time</a:t>
            </a:r>
            <a:r>
              <a:rPr lang="en-US" altLang="zh-CN" sz="2400" b="1" u="sng">
                <a:solidFill>
                  <a:srgbClr val="FF0000"/>
                </a:solidFill>
                <a:sym typeface="+mn-ea"/>
              </a:rPr>
              <a:t>  spent on homework</a:t>
            </a:r>
            <a:r>
              <a:rPr lang="en-US" altLang="zh-CN" sz="2400" b="1">
                <a:sym typeface="+mn-ea"/>
              </a:rPr>
              <a:t> is sufficient.</a:t>
            </a:r>
            <a:endParaRPr lang="en-US" altLang="zh-CN" sz="2400" b="1">
              <a:sym typeface="+mn-ea"/>
            </a:endParaRPr>
          </a:p>
          <a:p>
            <a:pPr marL="342900" indent="-342900">
              <a:buFont typeface="Wingdings" panose="05000000000000000000" charset="0"/>
              <a:buChar char="l"/>
            </a:pPr>
            <a:r>
              <a:rPr lang="en-US" altLang="zh-CN" sz="2400" b="1"/>
              <a:t>The customers</a:t>
            </a:r>
            <a:r>
              <a:rPr lang="en-US" altLang="zh-CN" sz="2400" b="1" u="sng">
                <a:solidFill>
                  <a:srgbClr val="FF0000"/>
                </a:solidFill>
              </a:rPr>
              <a:t> influenced by advertisements</a:t>
            </a:r>
            <a:r>
              <a:rPr lang="en-US" altLang="zh-CN" sz="2400" b="1"/>
              <a:t> often make purchase in advance.</a:t>
            </a:r>
            <a:endParaRPr lang="en-US" altLang="zh-CN" sz="2400" b="1"/>
          </a:p>
          <a:p>
            <a:pPr marL="342900" indent="-342900">
              <a:buFont typeface="Wingdings" panose="05000000000000000000" charset="0"/>
              <a:buChar char="l"/>
            </a:pPr>
            <a:r>
              <a:rPr lang="en-US" altLang="zh-CN" sz="2400" b="1"/>
              <a:t>The children </a:t>
            </a:r>
            <a:r>
              <a:rPr lang="en-US" altLang="zh-CN" sz="2400" b="1" u="sng">
                <a:solidFill>
                  <a:srgbClr val="FF0000"/>
                </a:solidFill>
              </a:rPr>
              <a:t>spoiled by parents </a:t>
            </a:r>
            <a:r>
              <a:rPr lang="en-US" altLang="zh-CN" sz="2400" b="1"/>
              <a:t>may find it difficult to live independently.</a:t>
            </a:r>
            <a:endParaRPr lang="en-US" altLang="zh-CN" sz="2400" b="1"/>
          </a:p>
          <a:p>
            <a:pPr marL="342900" indent="-342900">
              <a:buFont typeface="Wingdings" panose="05000000000000000000" charset="0"/>
              <a:buChar char="l"/>
            </a:pPr>
            <a:r>
              <a:rPr lang="en-US" altLang="zh-CN" sz="2400" b="1"/>
              <a:t>The car park </a:t>
            </a:r>
            <a:r>
              <a:rPr lang="en-US" altLang="zh-CN" sz="2400" b="1" u="sng">
                <a:solidFill>
                  <a:srgbClr val="FF0000"/>
                </a:solidFill>
              </a:rPr>
              <a:t>located in the south of the city</a:t>
            </a:r>
            <a:r>
              <a:rPr lang="en-US" altLang="zh-CN" sz="2400" b="1"/>
              <a:t> has been demolished.</a:t>
            </a:r>
            <a:endParaRPr lang="en-US" altLang="zh-CN" sz="2400" b="1"/>
          </a:p>
          <a:p>
            <a:pPr marL="342900" indent="-342900">
              <a:buFont typeface="Wingdings" panose="05000000000000000000" charset="0"/>
              <a:buChar char="l"/>
            </a:pPr>
            <a:r>
              <a:rPr lang="en-US" altLang="zh-CN" sz="2400" b="1"/>
              <a:t>The library </a:t>
            </a:r>
            <a:r>
              <a:rPr lang="en-US" altLang="zh-CN" sz="2400" b="1" u="sng">
                <a:solidFill>
                  <a:srgbClr val="FF0000"/>
                </a:solidFill>
              </a:rPr>
              <a:t>situated in the centre of the school</a:t>
            </a:r>
            <a:r>
              <a:rPr lang="en-US" altLang="zh-CN" sz="2400" b="1"/>
              <a:t> has been rebuilt.</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③分词</a:t>
            </a:r>
            <a:r>
              <a:rPr lang="en-US" altLang="zh-CN" sz="3200">
                <a:solidFill>
                  <a:schemeClr val="tx1"/>
                </a:solidFill>
              </a:rPr>
              <a:t>--doing/done</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85445" y="935355"/>
            <a:ext cx="8163560" cy="4380230"/>
          </a:xfrm>
          <a:prstGeom prst="rect">
            <a:avLst/>
          </a:prstGeom>
          <a:noFill/>
        </p:spPr>
        <p:txBody>
          <a:bodyPr wrap="square" rtlCol="0">
            <a:noAutofit/>
          </a:bodyPr>
          <a:p>
            <a:pPr marL="342900" indent="-342900">
              <a:buFont typeface="Wingdings" panose="05000000000000000000" charset="0"/>
              <a:buChar char="l"/>
            </a:pPr>
            <a:r>
              <a:rPr lang="zh-CN" sz="2400" b="1"/>
              <a:t>分词做状语</a:t>
            </a:r>
            <a:endParaRPr lang="zh-CN" sz="2400" b="1"/>
          </a:p>
          <a:p>
            <a:pPr marL="342900" indent="-342900">
              <a:buFont typeface="Wingdings" panose="05000000000000000000" charset="0"/>
              <a:buChar char="l"/>
            </a:pPr>
            <a:r>
              <a:rPr lang="en-US" altLang="zh-CN" sz="2000" b="1" u="sng">
                <a:solidFill>
                  <a:srgbClr val="FF0000"/>
                </a:solidFill>
              </a:rPr>
              <a:t>When I compare those apples</a:t>
            </a:r>
            <a:r>
              <a:rPr lang="en-US" altLang="zh-CN" sz="2000" b="1"/>
              <a:t>, I choose three.</a:t>
            </a:r>
            <a:endParaRPr lang="en-US" altLang="zh-CN" sz="2000" b="1"/>
          </a:p>
          <a:p>
            <a:pPr marL="342900" indent="-342900">
              <a:buFont typeface="Wingdings" panose="05000000000000000000" charset="0"/>
              <a:buChar char="l"/>
            </a:pPr>
            <a:r>
              <a:rPr lang="en-US" altLang="zh-CN" sz="2000" b="1" u="sng">
                <a:solidFill>
                  <a:srgbClr val="FF0000"/>
                </a:solidFill>
                <a:sym typeface="+mn-ea"/>
              </a:rPr>
              <a:t>Comparing those apples</a:t>
            </a:r>
            <a:r>
              <a:rPr lang="en-US" altLang="zh-CN" sz="2000" b="1">
                <a:sym typeface="+mn-ea"/>
              </a:rPr>
              <a:t>, I choose three.</a:t>
            </a:r>
            <a:endParaRPr lang="en-US" altLang="zh-CN" sz="2000" b="1">
              <a:sym typeface="+mn-ea"/>
            </a:endParaRPr>
          </a:p>
          <a:p>
            <a:pPr marL="342900" indent="-342900">
              <a:buFont typeface="Wingdings" panose="05000000000000000000" charset="0"/>
              <a:buChar char="l"/>
            </a:pPr>
            <a:r>
              <a:rPr lang="en-US" altLang="zh-CN" sz="2000" b="1" u="sng">
                <a:solidFill>
                  <a:srgbClr val="FF0000"/>
                </a:solidFill>
                <a:sym typeface="+mn-ea"/>
              </a:rPr>
              <a:t>Feeling sleepy</a:t>
            </a:r>
            <a:r>
              <a:rPr lang="en-US" altLang="zh-CN" sz="2000" b="1">
                <a:sym typeface="+mn-ea"/>
              </a:rPr>
              <a:t>, I want to order a cup of coffee during the break.</a:t>
            </a:r>
            <a:endParaRPr lang="en-US" altLang="zh-CN" sz="2000" b="1"/>
          </a:p>
          <a:p>
            <a:pPr marL="342900" indent="-342900">
              <a:buFont typeface="Wingdings" panose="05000000000000000000" charset="0"/>
              <a:buChar char="l"/>
            </a:pPr>
            <a:r>
              <a:rPr lang="en-US" altLang="zh-CN" sz="2000" b="1" u="sng">
                <a:solidFill>
                  <a:srgbClr val="FF0000"/>
                </a:solidFill>
              </a:rPr>
              <a:t>although feeling sleepy</a:t>
            </a:r>
            <a:r>
              <a:rPr lang="en-US" altLang="zh-CN" sz="2000" b="1"/>
              <a:t>, I still try to focus.</a:t>
            </a:r>
            <a:endParaRPr lang="en-US" altLang="zh-CN" sz="2000" b="1"/>
          </a:p>
          <a:p>
            <a:pPr marL="342900" indent="-342900">
              <a:buFont typeface="Wingdings" panose="05000000000000000000" charset="0"/>
              <a:buChar char="l"/>
            </a:pPr>
            <a:r>
              <a:rPr lang="en-US" altLang="zh-CN" sz="2000" b="1">
                <a:sym typeface="+mn-ea"/>
              </a:rPr>
              <a:t>Many students are addicted to scrolling short videos, </a:t>
            </a:r>
            <a:r>
              <a:rPr lang="en-US" altLang="zh-CN" sz="2000" b="1" u="sng">
                <a:solidFill>
                  <a:srgbClr val="FF0000"/>
                </a:solidFill>
                <a:sym typeface="+mn-ea"/>
              </a:rPr>
              <a:t>which causes them to lose patience towards everthing</a:t>
            </a:r>
            <a:r>
              <a:rPr lang="en-US" altLang="zh-CN" sz="2000" b="1">
                <a:sym typeface="+mn-ea"/>
              </a:rPr>
              <a:t>.</a:t>
            </a:r>
            <a:endParaRPr lang="en-US" altLang="zh-CN" sz="2000" b="1"/>
          </a:p>
          <a:p>
            <a:pPr marL="342900" indent="-342900">
              <a:buFont typeface="Wingdings" panose="05000000000000000000" charset="0"/>
              <a:buChar char="l"/>
            </a:pPr>
            <a:r>
              <a:rPr lang="en-US" altLang="zh-CN" sz="2000" b="1"/>
              <a:t>Many students are addicted to scrolling short videos, </a:t>
            </a:r>
            <a:r>
              <a:rPr lang="en-US" altLang="zh-CN" sz="2000" b="1" u="sng">
                <a:solidFill>
                  <a:srgbClr val="FF0000"/>
                </a:solidFill>
              </a:rPr>
              <a:t>causing them to lose patience towards everthing</a:t>
            </a:r>
            <a:r>
              <a:rPr lang="en-US" altLang="zh-CN" sz="2000" b="1"/>
              <a:t>.</a:t>
            </a:r>
            <a:endParaRPr lang="en-US" altLang="zh-CN" sz="2000" b="1"/>
          </a:p>
          <a:p>
            <a:pPr marL="342900" indent="-342900">
              <a:buFont typeface="Wingdings" panose="05000000000000000000" charset="0"/>
              <a:buChar char="l"/>
            </a:pPr>
            <a:r>
              <a:rPr lang="en-US" altLang="zh-CN" sz="2000" b="1">
                <a:sym typeface="+mn-ea"/>
              </a:rPr>
              <a:t>Many teenagers are keen to visit museums, </a:t>
            </a:r>
            <a:r>
              <a:rPr lang="en-US" altLang="zh-CN" sz="2000" b="1" u="sng">
                <a:solidFill>
                  <a:srgbClr val="FF0000"/>
                </a:solidFill>
                <a:sym typeface="+mn-ea"/>
              </a:rPr>
              <a:t>allowing them to better know about the history</a:t>
            </a:r>
            <a:r>
              <a:rPr lang="en-US" altLang="zh-CN" sz="2000" b="1">
                <a:sym typeface="+mn-ea"/>
              </a:rPr>
              <a:t>.</a:t>
            </a:r>
            <a:endParaRPr lang="en-US" altLang="zh-CN" sz="2000" b="1"/>
          </a:p>
          <a:p>
            <a:pPr marL="342900" indent="-342900">
              <a:buFont typeface="Wingdings" panose="05000000000000000000" charset="0"/>
              <a:buChar char="l"/>
            </a:pPr>
            <a:endParaRPr lang="en-US" altLang="zh-CN"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③分词</a:t>
            </a:r>
            <a:r>
              <a:rPr lang="en-US" altLang="zh-CN" sz="3200">
                <a:solidFill>
                  <a:schemeClr val="tx1"/>
                </a:solidFill>
              </a:rPr>
              <a:t>--doing/done</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85445" y="935355"/>
            <a:ext cx="8562340" cy="4169410"/>
          </a:xfrm>
          <a:prstGeom prst="rect">
            <a:avLst/>
          </a:prstGeom>
          <a:noFill/>
        </p:spPr>
        <p:txBody>
          <a:bodyPr wrap="square" rtlCol="0">
            <a:noAutofit/>
          </a:bodyPr>
          <a:p>
            <a:pPr marL="342900" indent="-342900">
              <a:buFont typeface="Wingdings" panose="05000000000000000000" charset="0"/>
              <a:buChar char="l"/>
            </a:pPr>
            <a:r>
              <a:rPr lang="zh-CN" sz="2400" b="1"/>
              <a:t>分词做状语</a:t>
            </a:r>
            <a:endParaRPr lang="zh-CN" sz="2400" b="1"/>
          </a:p>
          <a:p>
            <a:pPr marL="342900" indent="-342900">
              <a:buFont typeface="Wingdings" panose="05000000000000000000" charset="0"/>
              <a:buChar char="l"/>
            </a:pPr>
            <a:r>
              <a:rPr lang="en-US" altLang="zh-CN" sz="2400" b="1"/>
              <a:t>When apples are compared with pears, apples are sweeter.</a:t>
            </a:r>
            <a:endParaRPr lang="en-US" altLang="zh-CN" sz="2400" b="1"/>
          </a:p>
          <a:p>
            <a:pPr marL="342900" indent="-342900">
              <a:buFont typeface="Wingdings" panose="05000000000000000000" charset="0"/>
              <a:buChar char="l"/>
            </a:pPr>
            <a:r>
              <a:rPr lang="en-US" altLang="zh-CN" sz="2400" b="1" u="sng">
                <a:solidFill>
                  <a:srgbClr val="FF0000"/>
                </a:solidFill>
                <a:sym typeface="+mn-ea"/>
              </a:rPr>
              <a:t>Compared with pears</a:t>
            </a:r>
            <a:r>
              <a:rPr lang="en-US" altLang="zh-CN" sz="2400" b="1">
                <a:sym typeface="+mn-ea"/>
              </a:rPr>
              <a:t>, apples are sweeter.</a:t>
            </a:r>
            <a:endParaRPr lang="en-US" altLang="zh-CN" sz="2400" b="1">
              <a:sym typeface="+mn-ea"/>
            </a:endParaRPr>
          </a:p>
          <a:p>
            <a:pPr marL="342900" indent="-342900">
              <a:buFont typeface="Wingdings" panose="05000000000000000000" charset="0"/>
              <a:buChar char="l"/>
            </a:pPr>
            <a:r>
              <a:rPr lang="en-US" altLang="zh-CN" sz="2400" b="1" u="sng">
                <a:solidFill>
                  <a:srgbClr val="FF0000"/>
                </a:solidFill>
                <a:sym typeface="+mn-ea"/>
              </a:rPr>
              <a:t> Influenced by adverstisements</a:t>
            </a:r>
            <a:r>
              <a:rPr lang="en-US" altLang="zh-CN" sz="2400" b="1">
                <a:sym typeface="+mn-ea"/>
              </a:rPr>
              <a:t>, I have bought many things that I do not need.</a:t>
            </a:r>
            <a:endParaRPr lang="en-US" altLang="zh-CN" sz="2400" b="1">
              <a:sym typeface="+mn-ea"/>
            </a:endParaRPr>
          </a:p>
          <a:p>
            <a:pPr marL="342900" indent="-342900">
              <a:buFont typeface="Wingdings" panose="05000000000000000000" charset="0"/>
              <a:buChar char="l"/>
            </a:pPr>
            <a:r>
              <a:rPr lang="en-US" altLang="zh-CN" sz="2400" b="1" u="sng">
                <a:solidFill>
                  <a:srgbClr val="FF0000"/>
                </a:solidFill>
                <a:sym typeface="+mn-ea"/>
              </a:rPr>
              <a:t>Encouraged by my parents</a:t>
            </a:r>
            <a:r>
              <a:rPr lang="en-US" altLang="zh-CN" sz="2400" b="1">
                <a:sym typeface="+mn-ea"/>
              </a:rPr>
              <a:t>, I decide to work hard.</a:t>
            </a:r>
            <a:endParaRPr lang="en-US" altLang="zh-CN" sz="2400" b="1"/>
          </a:p>
          <a:p>
            <a:pPr marL="342900" indent="-342900">
              <a:buFont typeface="Wingdings" panose="05000000000000000000" charset="0"/>
              <a:buChar char="l"/>
            </a:pPr>
            <a:endParaRPr lang="en-US" altLang="zh-CN" sz="2400" b="1"/>
          </a:p>
          <a:p>
            <a:pPr marL="342900" indent="-342900">
              <a:buFont typeface="Wingdings" panose="05000000000000000000" charset="0"/>
              <a:buChar char="l"/>
            </a:pP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en-US" altLang="zh-CN" sz="3200">
                <a:solidFill>
                  <a:schemeClr val="tx1"/>
                </a:solidFill>
              </a:rPr>
              <a:t>Tree(</a:t>
            </a:r>
            <a:r>
              <a:rPr lang="zh-CN" altLang="en-US" sz="3200">
                <a:solidFill>
                  <a:schemeClr val="tx1"/>
                </a:solidFill>
              </a:rPr>
              <a:t>主干</a:t>
            </a:r>
            <a:r>
              <a:rPr lang="en-US" altLang="zh-CN" sz="3200">
                <a:solidFill>
                  <a:schemeClr val="tx1"/>
                </a:solidFill>
              </a:rPr>
              <a:t>)+Bird</a:t>
            </a:r>
            <a:r>
              <a:rPr lang="zh-CN" altLang="en-US" sz="3200">
                <a:solidFill>
                  <a:schemeClr val="tx1"/>
                </a:solidFill>
              </a:rPr>
              <a:t>（修饰）</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pic>
        <p:nvPicPr>
          <p:cNvPr id="4" name="图片 3" descr="无标题"/>
          <p:cNvPicPr>
            <a:picLocks noChangeAspect="1"/>
          </p:cNvPicPr>
          <p:nvPr/>
        </p:nvPicPr>
        <p:blipFill>
          <a:blip r:embed="rId1"/>
          <a:srcRect l="920" t="3493" r="4925"/>
          <a:stretch>
            <a:fillRect/>
          </a:stretch>
        </p:blipFill>
        <p:spPr>
          <a:xfrm>
            <a:off x="972185" y="1084580"/>
            <a:ext cx="5994400" cy="345122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en-US" altLang="zh-CN" sz="3200">
                <a:solidFill>
                  <a:schemeClr val="tx1"/>
                </a:solidFill>
              </a:rPr>
              <a:t>Tree(</a:t>
            </a:r>
            <a:r>
              <a:rPr lang="zh-CN" altLang="en-US" sz="3200">
                <a:solidFill>
                  <a:schemeClr val="tx1"/>
                </a:solidFill>
              </a:rPr>
              <a:t>主干</a:t>
            </a:r>
            <a:r>
              <a:rPr lang="en-US" altLang="zh-CN" sz="3200">
                <a:solidFill>
                  <a:schemeClr val="tx1"/>
                </a:solidFill>
              </a:rPr>
              <a:t>)+Bird</a:t>
            </a:r>
            <a:r>
              <a:rPr lang="zh-CN" altLang="en-US" sz="3200">
                <a:solidFill>
                  <a:schemeClr val="tx1"/>
                </a:solidFill>
              </a:rPr>
              <a:t>（修饰）</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78105" y="769620"/>
            <a:ext cx="9214485" cy="4357370"/>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highlight>
                  <a:srgbClr val="FFFF00"/>
                </a:highlight>
              </a:rPr>
              <a:t>With the widespread use of electronic devices</a:t>
            </a:r>
            <a:r>
              <a:rPr lang="en-US" altLang="zh-CN" sz="2400" b="1"/>
              <a:t>, </a:t>
            </a:r>
            <a:r>
              <a:rPr lang="en-US" altLang="zh-CN" sz="2400" b="1" u="sng">
                <a:solidFill>
                  <a:srgbClr val="00B050"/>
                </a:solidFill>
              </a:rPr>
              <a:t>the number of people</a:t>
            </a:r>
            <a:r>
              <a:rPr lang="en-US" altLang="zh-CN" sz="2400" b="1" u="sng">
                <a:solidFill>
                  <a:srgbClr val="00B050"/>
                </a:solidFill>
                <a:highlight>
                  <a:srgbClr val="FFFF00"/>
                </a:highlight>
              </a:rPr>
              <a:t> </a:t>
            </a:r>
            <a:r>
              <a:rPr lang="en-US" altLang="zh-CN" sz="2400" b="1" u="sng">
                <a:highlight>
                  <a:srgbClr val="FFFF00"/>
                </a:highlight>
              </a:rPr>
              <a:t>writing letters</a:t>
            </a:r>
            <a:r>
              <a:rPr lang="en-US" altLang="zh-CN" sz="2400" b="1" u="sng">
                <a:solidFill>
                  <a:srgbClr val="00B050"/>
                </a:solidFill>
              </a:rPr>
              <a:t> has seen</a:t>
            </a:r>
            <a:r>
              <a:rPr lang="en-US" altLang="zh-CN" sz="2400" b="1"/>
              <a:t> </a:t>
            </a:r>
            <a:r>
              <a:rPr lang="en-US" altLang="zh-CN" sz="2400" b="1" u="sng">
                <a:solidFill>
                  <a:srgbClr val="00B050"/>
                </a:solidFill>
              </a:rPr>
              <a:t>a dramatic decrease</a:t>
            </a:r>
            <a:r>
              <a:rPr lang="en-US" altLang="zh-CN" sz="2400" b="1"/>
              <a:t>,</a:t>
            </a:r>
            <a:r>
              <a:rPr lang="en-US" altLang="zh-CN" sz="2400" b="1" u="sng">
                <a:highlight>
                  <a:srgbClr val="FFFF00"/>
                </a:highlight>
              </a:rPr>
              <a:t> which reduces the use of paper and promotes a green lifestyle</a:t>
            </a:r>
            <a:r>
              <a:rPr lang="en-US" altLang="zh-CN" sz="2400" b="1"/>
              <a:t>.</a:t>
            </a:r>
            <a:endParaRPr lang="en-US" altLang="zh-CN" sz="2400" b="1"/>
          </a:p>
          <a:p>
            <a:pPr marL="285750" indent="-285750">
              <a:lnSpc>
                <a:spcPct val="120000"/>
              </a:lnSpc>
              <a:buFont typeface="Wingdings" panose="05000000000000000000" charset="0"/>
              <a:buChar char="l"/>
            </a:pPr>
            <a:r>
              <a:rPr lang="en-US" altLang="zh-CN" sz="2400" b="1" u="sng">
                <a:highlight>
                  <a:srgbClr val="FFFF00"/>
                </a:highlight>
              </a:rPr>
              <a:t>Socially active</a:t>
            </a:r>
            <a:r>
              <a:rPr lang="en-US" altLang="zh-CN" sz="2400" b="1"/>
              <a:t> </a:t>
            </a:r>
            <a:r>
              <a:rPr lang="en-US" altLang="zh-CN" sz="2400" b="1" u="sng">
                <a:solidFill>
                  <a:srgbClr val="00B050"/>
                </a:solidFill>
              </a:rPr>
              <a:t>students are often good-looking</a:t>
            </a:r>
            <a:r>
              <a:rPr lang="en-US" altLang="zh-CN" sz="2400" b="1"/>
              <a:t>, </a:t>
            </a:r>
            <a:r>
              <a:rPr lang="en-US" altLang="zh-CN" sz="2400" b="1" u="sng">
                <a:highlight>
                  <a:srgbClr val="FFFF00"/>
                </a:highlight>
              </a:rPr>
              <a:t>which indicates that appearance plays an important role in shaping characters.</a:t>
            </a:r>
            <a:endParaRPr lang="en-US" altLang="zh-CN" sz="2400" b="1" u="sng">
              <a:highlight>
                <a:srgbClr val="FFFF00"/>
              </a:highlight>
            </a:endParaRPr>
          </a:p>
          <a:p>
            <a:pPr marL="285750" indent="-285750">
              <a:lnSpc>
                <a:spcPct val="120000"/>
              </a:lnSpc>
              <a:buFont typeface="Wingdings" panose="05000000000000000000" charset="0"/>
              <a:buChar char="l"/>
            </a:pPr>
            <a:r>
              <a:rPr lang="en-US" altLang="zh-CN" sz="2400" b="1" u="sng">
                <a:highlight>
                  <a:srgbClr val="FFFF00"/>
                </a:highlight>
              </a:rPr>
              <a:t>With females playing a more important role in the workplace</a:t>
            </a:r>
            <a:r>
              <a:rPr lang="en-US" altLang="zh-CN" sz="2400" b="1" u="sng"/>
              <a:t>,</a:t>
            </a:r>
            <a:r>
              <a:rPr lang="en-US" altLang="zh-CN" sz="2400" b="1" u="sng">
                <a:solidFill>
                  <a:srgbClr val="00B050"/>
                </a:solidFill>
              </a:rPr>
              <a:t> those</a:t>
            </a:r>
            <a:r>
              <a:rPr lang="en-US" altLang="zh-CN" sz="2400" b="1" u="sng"/>
              <a:t> </a:t>
            </a:r>
            <a:r>
              <a:rPr lang="en-US" altLang="zh-CN" sz="2400" b="1" u="sng">
                <a:highlight>
                  <a:srgbClr val="FFFF00"/>
                </a:highlight>
              </a:rPr>
              <a:t>who choose to take maternity leave</a:t>
            </a:r>
            <a:r>
              <a:rPr lang="en-US" altLang="zh-CN" sz="2400" b="1" u="sng"/>
              <a:t> </a:t>
            </a:r>
            <a:r>
              <a:rPr lang="en-US" altLang="zh-CN" sz="2400" b="1" u="sng">
                <a:solidFill>
                  <a:srgbClr val="00B050"/>
                </a:solidFill>
              </a:rPr>
              <a:t>have to face some losses</a:t>
            </a:r>
            <a:r>
              <a:rPr lang="en-US" altLang="zh-CN" sz="2400" b="1" u="sng"/>
              <a:t>.</a:t>
            </a:r>
            <a:endParaRPr lang="en-US" altLang="zh-CN" sz="2400"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③</a:t>
            </a:r>
            <a:r>
              <a:rPr lang="en-US" altLang="zh-CN" sz="3200">
                <a:solidFill>
                  <a:schemeClr val="tx1"/>
                </a:solidFill>
              </a:rPr>
              <a:t>which</a:t>
            </a:r>
            <a:r>
              <a:rPr lang="zh-CN" altLang="en-US" sz="3200">
                <a:solidFill>
                  <a:schemeClr val="tx1"/>
                </a:solidFill>
              </a:rPr>
              <a:t>引导定语从句</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56235" y="95440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a:t>A. </a:t>
            </a:r>
            <a:r>
              <a:rPr lang="zh-CN" altLang="en-US" sz="2400" b="1"/>
              <a:t>我喜欢</a:t>
            </a:r>
            <a:r>
              <a:rPr lang="zh-CN" altLang="en-US" sz="2400" b="1" u="sng">
                <a:solidFill>
                  <a:srgbClr val="FF0000"/>
                </a:solidFill>
              </a:rPr>
              <a:t>那本被放在课桌上的</a:t>
            </a:r>
            <a:r>
              <a:rPr lang="zh-CN" altLang="en-US" sz="2400" b="1"/>
              <a:t>故事书。</a:t>
            </a:r>
            <a:endParaRPr lang="zh-CN" altLang="en-US" sz="2400" b="1"/>
          </a:p>
          <a:p>
            <a:pPr marL="285750" indent="-285750">
              <a:lnSpc>
                <a:spcPct val="120000"/>
              </a:lnSpc>
              <a:buFont typeface="Wingdings" panose="05000000000000000000" charset="0"/>
              <a:buChar char="l"/>
            </a:pPr>
            <a:r>
              <a:rPr lang="en-US" altLang="zh-CN" sz="2400" b="1"/>
              <a:t>I like the story book </a:t>
            </a:r>
            <a:r>
              <a:rPr lang="en-US" altLang="zh-CN" sz="2400" b="1" u="sng">
                <a:solidFill>
                  <a:srgbClr val="FF0000"/>
                </a:solidFill>
              </a:rPr>
              <a:t>which is placed on the desk</a:t>
            </a:r>
            <a:r>
              <a:rPr lang="en-US" altLang="zh-CN" sz="2400" b="1"/>
              <a:t>.</a:t>
            </a:r>
            <a:endParaRPr lang="en-US" altLang="zh-CN" sz="2400" b="1"/>
          </a:p>
          <a:p>
            <a:pPr marL="285750" indent="-285750">
              <a:lnSpc>
                <a:spcPct val="120000"/>
              </a:lnSpc>
              <a:buFont typeface="Wingdings" panose="05000000000000000000" charset="0"/>
              <a:buChar char="l"/>
            </a:pPr>
            <a:r>
              <a:rPr lang="zh-CN" altLang="en-US" sz="2400" b="1"/>
              <a:t>关系代词；指代</a:t>
            </a:r>
            <a:r>
              <a:rPr lang="en-US" altLang="zh-CN" sz="2400" b="1"/>
              <a:t>book; </a:t>
            </a:r>
            <a:r>
              <a:rPr lang="zh-CN" altLang="en-US" sz="2400" b="1"/>
              <a:t>翻译成</a:t>
            </a:r>
            <a:r>
              <a:rPr lang="en-US" altLang="zh-CN" sz="2400" b="1"/>
              <a:t>“……</a:t>
            </a:r>
            <a:r>
              <a:rPr lang="zh-CN" altLang="en-US" sz="2400" b="1"/>
              <a:t>的</a:t>
            </a:r>
            <a:r>
              <a:rPr lang="en-US" altLang="zh-CN" sz="2400" b="1"/>
              <a:t>”</a:t>
            </a:r>
            <a:r>
              <a:rPr lang="zh-CN" altLang="en-US" sz="2400" b="1"/>
              <a:t>；修饰一个名词</a:t>
            </a:r>
            <a:endParaRPr lang="zh-CN" altLang="en-US" sz="2400" b="1"/>
          </a:p>
          <a:p>
            <a:pPr marL="285750" indent="-285750">
              <a:lnSpc>
                <a:spcPct val="120000"/>
              </a:lnSpc>
              <a:buFont typeface="Wingdings" panose="05000000000000000000" charset="0"/>
              <a:buChar char="l"/>
            </a:pPr>
            <a:r>
              <a:rPr lang="en-US" altLang="zh-CN" sz="2400" b="1"/>
              <a:t>B. </a:t>
            </a:r>
            <a:r>
              <a:rPr lang="zh-CN" altLang="en-US" sz="2400" b="1"/>
              <a:t>我有一个苹果，它很甜。</a:t>
            </a:r>
            <a:endParaRPr lang="zh-CN" altLang="en-US" sz="2400" b="1"/>
          </a:p>
          <a:p>
            <a:pPr marL="285750" indent="-285750">
              <a:lnSpc>
                <a:spcPct val="120000"/>
              </a:lnSpc>
              <a:buFont typeface="Wingdings" panose="05000000000000000000" charset="0"/>
              <a:buChar char="l"/>
            </a:pPr>
            <a:r>
              <a:rPr lang="en-US" altLang="zh-CN" sz="2400" b="1"/>
              <a:t>I have an apple, </a:t>
            </a:r>
            <a:r>
              <a:rPr lang="en-US" altLang="zh-CN" sz="2400" b="1" u="sng">
                <a:solidFill>
                  <a:srgbClr val="FF0000"/>
                </a:solidFill>
              </a:rPr>
              <a:t>which is sweet</a:t>
            </a:r>
            <a:r>
              <a:rPr lang="en-US" altLang="zh-CN" sz="2400" b="1"/>
              <a:t>.</a:t>
            </a:r>
            <a:endParaRPr lang="en-US" altLang="zh-CN" sz="2400" b="1"/>
          </a:p>
          <a:p>
            <a:pPr marL="285750" indent="-285750">
              <a:lnSpc>
                <a:spcPct val="120000"/>
              </a:lnSpc>
              <a:buFont typeface="Wingdings" panose="05000000000000000000" charset="0"/>
              <a:buChar char="l"/>
            </a:pPr>
            <a:r>
              <a:rPr lang="zh-CN" altLang="en-US" sz="2400" b="1"/>
              <a:t>关系代词；指代</a:t>
            </a:r>
            <a:r>
              <a:rPr lang="en-US" altLang="zh-CN" sz="2400" b="1"/>
              <a:t>apple; </a:t>
            </a:r>
            <a:r>
              <a:rPr lang="zh-CN" altLang="en-US" sz="2400" b="1"/>
              <a:t>翻译成</a:t>
            </a:r>
            <a:r>
              <a:rPr lang="en-US" altLang="zh-CN" sz="2400" b="1"/>
              <a:t>“</a:t>
            </a:r>
            <a:r>
              <a:rPr lang="zh-CN" altLang="en-US" sz="2400" b="1"/>
              <a:t>它</a:t>
            </a:r>
            <a:r>
              <a:rPr lang="en-US" altLang="zh-CN" sz="2400" b="1"/>
              <a:t>”</a:t>
            </a:r>
            <a:r>
              <a:rPr lang="zh-CN" altLang="en-US" sz="2400" b="1"/>
              <a:t>；指代一个名词</a:t>
            </a:r>
            <a:endParaRPr lang="zh-CN" altLang="en-US" sz="2400" b="1"/>
          </a:p>
          <a:p>
            <a:pPr marL="285750" indent="-285750">
              <a:lnSpc>
                <a:spcPct val="120000"/>
              </a:lnSpc>
              <a:buFont typeface="Wingdings" panose="05000000000000000000" charset="0"/>
              <a:buChar char="l"/>
            </a:pPr>
            <a:r>
              <a:rPr lang="en-US" altLang="zh-CN" sz="2400" b="1"/>
              <a:t>C. </a:t>
            </a:r>
            <a:r>
              <a:rPr lang="zh-CN" altLang="en-US" sz="2400" b="1"/>
              <a:t>我已经通过了考试，这让我的妈妈很骄傲。</a:t>
            </a:r>
            <a:endParaRPr lang="zh-CN" altLang="en-US" sz="2400" b="1"/>
          </a:p>
          <a:p>
            <a:pPr marL="285750" indent="-285750">
              <a:lnSpc>
                <a:spcPct val="120000"/>
              </a:lnSpc>
              <a:buFont typeface="Wingdings" panose="05000000000000000000" charset="0"/>
              <a:buChar char="l"/>
            </a:pPr>
            <a:r>
              <a:rPr lang="en-US" altLang="zh-CN" sz="2400" b="1"/>
              <a:t>I have passed the exam, </a:t>
            </a:r>
            <a:r>
              <a:rPr lang="en-US" altLang="zh-CN" sz="2400" b="1" u="sng">
                <a:solidFill>
                  <a:srgbClr val="FF0000"/>
                </a:solidFill>
              </a:rPr>
              <a:t>which makes my mother proud</a:t>
            </a:r>
            <a:r>
              <a:rPr lang="en-US" altLang="zh-CN" sz="2400" b="1"/>
              <a:t>.</a:t>
            </a:r>
            <a:endParaRPr lang="en-US" altLang="zh-CN" sz="2400" b="1"/>
          </a:p>
          <a:p>
            <a:pPr marL="285750" indent="-285750">
              <a:lnSpc>
                <a:spcPct val="120000"/>
              </a:lnSpc>
              <a:buFont typeface="Wingdings" panose="05000000000000000000" charset="0"/>
              <a:buChar char="l"/>
            </a:pPr>
            <a:r>
              <a:rPr lang="zh-CN" altLang="en-US" sz="2400" b="1"/>
              <a:t>关系代词；指代前面一件事；翻译成</a:t>
            </a:r>
            <a:r>
              <a:rPr lang="en-US" altLang="zh-CN" sz="2400" b="1"/>
              <a:t>“</a:t>
            </a:r>
            <a:r>
              <a:rPr lang="zh-CN" altLang="en-US" sz="2400" b="1"/>
              <a:t>这</a:t>
            </a:r>
            <a:r>
              <a:rPr lang="en-US" altLang="zh-CN" sz="2400" b="1"/>
              <a:t>”</a:t>
            </a:r>
            <a:r>
              <a:rPr lang="zh-CN" altLang="en-US" sz="2400" b="1"/>
              <a:t>；</a:t>
            </a: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主</a:t>
            </a:r>
            <a:r>
              <a:rPr lang="en-US" altLang="zh-CN" sz="3200">
                <a:solidFill>
                  <a:schemeClr val="tx1"/>
                </a:solidFill>
              </a:rPr>
              <a:t> </a:t>
            </a:r>
            <a:r>
              <a:rPr lang="zh-CN" altLang="en-US" sz="3200">
                <a:solidFill>
                  <a:schemeClr val="tx1"/>
                </a:solidFill>
              </a:rPr>
              <a:t>系</a:t>
            </a:r>
            <a:r>
              <a:rPr lang="en-US" altLang="zh-CN" sz="3200">
                <a:solidFill>
                  <a:schemeClr val="tx1"/>
                </a:solidFill>
              </a:rPr>
              <a:t> </a:t>
            </a:r>
            <a:r>
              <a:rPr lang="zh-CN" altLang="en-US" sz="3200">
                <a:solidFill>
                  <a:schemeClr val="tx1"/>
                </a:solidFill>
              </a:rPr>
              <a:t>表（</a:t>
            </a:r>
            <a:r>
              <a:rPr lang="en-US" altLang="zh-CN" sz="2400" b="1" u="sng">
                <a:solidFill>
                  <a:srgbClr val="FF0000"/>
                </a:solidFill>
                <a:latin typeface="Arial" panose="020B0604020202020204" pitchFamily="34" charset="0"/>
                <a:ea typeface="宋体" panose="02010600030101010101" pitchFamily="2" charset="-122"/>
                <a:cs typeface="+mn-cs"/>
              </a:rPr>
              <a:t>n</a:t>
            </a:r>
            <a:r>
              <a:rPr lang="en-US" altLang="zh-CN" sz="3200">
                <a:solidFill>
                  <a:schemeClr val="tx1"/>
                </a:solidFill>
              </a:rPr>
              <a:t>/</a:t>
            </a:r>
            <a:r>
              <a:rPr lang="en-US" altLang="zh-CN" sz="2400" b="1" u="sng">
                <a:solidFill>
                  <a:srgbClr val="0070C0"/>
                </a:solidFill>
                <a:latin typeface="Arial" panose="020B0604020202020204" pitchFamily="34" charset="0"/>
                <a:ea typeface="宋体" panose="02010600030101010101" pitchFamily="2" charset="-122"/>
                <a:cs typeface="+mn-cs"/>
              </a:rPr>
              <a:t>adj</a:t>
            </a:r>
            <a:r>
              <a:rPr lang="en-US" altLang="zh-CN" sz="3200">
                <a:solidFill>
                  <a:schemeClr val="tx1"/>
                </a:solidFill>
              </a:rPr>
              <a:t>/</a:t>
            </a:r>
            <a:r>
              <a:rPr lang="en-US" altLang="zh-CN" sz="2400" b="1" u="sng">
                <a:solidFill>
                  <a:srgbClr val="00B050"/>
                </a:solidFill>
                <a:latin typeface="Arial" panose="020B0604020202020204" pitchFamily="34" charset="0"/>
                <a:ea typeface="宋体" panose="02010600030101010101" pitchFamily="2" charset="-122"/>
                <a:cs typeface="+mn-cs"/>
              </a:rPr>
              <a:t>prep</a:t>
            </a:r>
            <a:r>
              <a:rPr lang="en-US" altLang="zh-CN" sz="3200">
                <a:solidFill>
                  <a:schemeClr val="tx1"/>
                </a:solidFill>
              </a:rPr>
              <a:t>/to do</a:t>
            </a:r>
            <a:r>
              <a:rPr lang="zh-CN" altLang="en-US" sz="3200">
                <a:solidFill>
                  <a:schemeClr val="tx1"/>
                </a:solidFill>
              </a:rPr>
              <a:t>）</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107315" y="771525"/>
            <a:ext cx="9130030" cy="4076065"/>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000" b="1"/>
              <a:t>I</a:t>
            </a:r>
            <a:r>
              <a:rPr lang="en-US" altLang="zh-CN" sz="2000" b="1">
                <a:highlight>
                  <a:srgbClr val="FFFF00"/>
                </a:highlight>
              </a:rPr>
              <a:t> am </a:t>
            </a:r>
            <a:r>
              <a:rPr lang="en-US" altLang="zh-CN" sz="2000" b="1"/>
              <a:t>a student.</a:t>
            </a:r>
            <a:endParaRPr lang="en-US" altLang="zh-CN" sz="2000" b="1"/>
          </a:p>
          <a:p>
            <a:pPr marL="285750" indent="-285750">
              <a:lnSpc>
                <a:spcPct val="120000"/>
              </a:lnSpc>
              <a:buFont typeface="Wingdings" panose="05000000000000000000" charset="0"/>
              <a:buChar char="l"/>
            </a:pPr>
            <a:r>
              <a:rPr lang="en-US" altLang="zh-CN" sz="2000" b="1"/>
              <a:t>Socially active students</a:t>
            </a:r>
            <a:r>
              <a:rPr lang="en-US" altLang="zh-CN" sz="2000" b="1">
                <a:highlight>
                  <a:srgbClr val="FFFF00"/>
                </a:highlight>
              </a:rPr>
              <a:t> are</a:t>
            </a:r>
            <a:r>
              <a:rPr lang="en-US" altLang="zh-CN" sz="2000" b="1"/>
              <a:t> </a:t>
            </a:r>
            <a:r>
              <a:rPr lang="en-US" altLang="zh-CN" sz="2000" b="1" u="sng">
                <a:solidFill>
                  <a:srgbClr val="0070C0"/>
                </a:solidFill>
              </a:rPr>
              <a:t>often incredibly good-looking, </a:t>
            </a:r>
            <a:r>
              <a:rPr lang="en-US" altLang="zh-CN" sz="2000" b="1"/>
              <a:t>which indicates that appearance plays an important role in shaping characters.</a:t>
            </a:r>
            <a:endParaRPr lang="en-US" altLang="zh-CN" sz="2000" b="1"/>
          </a:p>
          <a:p>
            <a:pPr marL="285750" indent="-285750">
              <a:lnSpc>
                <a:spcPct val="120000"/>
              </a:lnSpc>
              <a:buFont typeface="Wingdings" panose="05000000000000000000" charset="0"/>
              <a:buChar char="l"/>
            </a:pPr>
            <a:r>
              <a:rPr lang="en-US" altLang="zh-CN" sz="2000" b="1"/>
              <a:t>Learning English</a:t>
            </a:r>
            <a:r>
              <a:rPr lang="en-US" altLang="zh-CN" sz="2000" b="1">
                <a:highlight>
                  <a:srgbClr val="FFFF00"/>
                </a:highlight>
              </a:rPr>
              <a:t> is </a:t>
            </a:r>
            <a:r>
              <a:rPr lang="en-US" altLang="zh-CN" sz="2000" b="1" u="sng">
                <a:solidFill>
                  <a:srgbClr val="00B050"/>
                </a:solidFill>
              </a:rPr>
              <a:t>of great importance</a:t>
            </a:r>
            <a:r>
              <a:rPr lang="en-US" altLang="zh-CN" sz="2000" b="1"/>
              <a:t>.</a:t>
            </a:r>
            <a:endParaRPr lang="en-US" altLang="zh-CN" sz="2000" b="1"/>
          </a:p>
          <a:p>
            <a:pPr marL="285750" indent="-285750">
              <a:lnSpc>
                <a:spcPct val="120000"/>
              </a:lnSpc>
              <a:buFont typeface="Wingdings" panose="05000000000000000000" charset="0"/>
              <a:buChar char="l"/>
            </a:pPr>
            <a:r>
              <a:rPr lang="en-US" altLang="zh-CN" sz="2000" b="1"/>
              <a:t>Many people</a:t>
            </a:r>
            <a:r>
              <a:rPr lang="en-US" altLang="zh-CN" sz="2000" b="1">
                <a:highlight>
                  <a:srgbClr val="FFFF00"/>
                </a:highlight>
              </a:rPr>
              <a:t> are </a:t>
            </a:r>
            <a:r>
              <a:rPr lang="en-US" altLang="zh-CN" sz="2000" b="1" u="sng">
                <a:solidFill>
                  <a:srgbClr val="00B050"/>
                </a:solidFill>
              </a:rPr>
              <a:t>in favor of moving large companies from the metropolis to the suburbs</a:t>
            </a:r>
            <a:r>
              <a:rPr lang="en-US" altLang="zh-CN" sz="2000" b="1" u="sng"/>
              <a:t>, because it can release traffic and housing pressure of the city centre.</a:t>
            </a:r>
            <a:endParaRPr lang="en-US" altLang="zh-CN" sz="2000" b="1" u="sng"/>
          </a:p>
          <a:p>
            <a:pPr marL="285750" indent="-285750">
              <a:lnSpc>
                <a:spcPct val="120000"/>
              </a:lnSpc>
              <a:buFont typeface="Wingdings" panose="05000000000000000000" charset="0"/>
              <a:buChar char="l"/>
            </a:pPr>
            <a:r>
              <a:rPr lang="en-US" altLang="zh-CN" sz="2000" b="1"/>
              <a:t>Many people</a:t>
            </a:r>
            <a:r>
              <a:rPr lang="en-US" altLang="zh-CN" sz="2000" b="1">
                <a:highlight>
                  <a:srgbClr val="FFFF00"/>
                </a:highlight>
              </a:rPr>
              <a:t> are</a:t>
            </a:r>
            <a:r>
              <a:rPr lang="en-US" altLang="zh-CN" sz="2000" b="1"/>
              <a:t> </a:t>
            </a:r>
            <a:r>
              <a:rPr lang="en-US" altLang="zh-CN" sz="2000" b="1" u="sng">
                <a:solidFill>
                  <a:srgbClr val="00B050"/>
                </a:solidFill>
              </a:rPr>
              <a:t>against animal testing</a:t>
            </a:r>
            <a:r>
              <a:rPr lang="en-US" altLang="zh-CN" sz="2000" b="1" u="sng"/>
              <a:t> because it is morally wrong.</a:t>
            </a:r>
            <a:endParaRPr lang="en-US" altLang="zh-CN" sz="2000" b="1" u="sng"/>
          </a:p>
          <a:p>
            <a:pPr marL="285750" indent="-285750">
              <a:lnSpc>
                <a:spcPct val="120000"/>
              </a:lnSpc>
              <a:buFont typeface="Wingdings" panose="05000000000000000000" charset="0"/>
              <a:buChar char="l"/>
            </a:pPr>
            <a:r>
              <a:rPr lang="en-US" altLang="zh-CN" sz="2000" b="1" u="sng"/>
              <a:t>Many people </a:t>
            </a:r>
            <a:r>
              <a:rPr lang="en-US" altLang="zh-CN" sz="2000" b="1">
                <a:highlight>
                  <a:srgbClr val="FFFF00"/>
                </a:highlight>
              </a:rPr>
              <a:t>are </a:t>
            </a:r>
            <a:r>
              <a:rPr lang="en-US" altLang="zh-CN" sz="2000" b="1" u="sng"/>
              <a:t>in favor of space tourism because it is a highly profitable industry.</a:t>
            </a:r>
            <a:endParaRPr lang="en-US" altLang="zh-CN" sz="2000"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主</a:t>
            </a:r>
            <a:r>
              <a:rPr lang="en-US" altLang="zh-CN" sz="3200">
                <a:solidFill>
                  <a:schemeClr val="tx1"/>
                </a:solidFill>
              </a:rPr>
              <a:t> </a:t>
            </a:r>
            <a:r>
              <a:rPr lang="zh-CN" altLang="en-US" sz="3200">
                <a:solidFill>
                  <a:schemeClr val="tx1"/>
                </a:solidFill>
              </a:rPr>
              <a:t>谓</a:t>
            </a:r>
            <a:r>
              <a:rPr lang="en-US" altLang="zh-CN" sz="3200">
                <a:solidFill>
                  <a:schemeClr val="tx1"/>
                </a:solidFill>
              </a:rPr>
              <a:t> </a:t>
            </a:r>
            <a:r>
              <a:rPr lang="zh-CN" altLang="en-US" sz="3200">
                <a:solidFill>
                  <a:schemeClr val="tx1"/>
                </a:solidFill>
              </a:rPr>
              <a:t>宾</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zh-CN" altLang="en-US" sz="2400" b="1" u="sng"/>
              <a:t>写信的人的数量已经看见了一个大幅度的下降。</a:t>
            </a:r>
            <a:endParaRPr lang="zh-CN" altLang="en-US" sz="2400" b="1" u="sng"/>
          </a:p>
          <a:p>
            <a:pPr marL="285750" indent="-285750">
              <a:lnSpc>
                <a:spcPct val="120000"/>
              </a:lnSpc>
              <a:buFont typeface="Wingdings" panose="05000000000000000000" charset="0"/>
              <a:buChar char="l"/>
            </a:pPr>
            <a:r>
              <a:rPr lang="en-US" altLang="zh-CN" sz="2400" b="1" u="sng">
                <a:highlight>
                  <a:srgbClr val="C0C0C0"/>
                </a:highlight>
              </a:rPr>
              <a:t>The number of people writing letters</a:t>
            </a:r>
            <a:r>
              <a:rPr lang="en-US" altLang="zh-CN" sz="2400" b="1" u="sng"/>
              <a:t> </a:t>
            </a:r>
            <a:r>
              <a:rPr lang="en-US" altLang="zh-CN" sz="2400" b="1" u="sng">
                <a:highlight>
                  <a:srgbClr val="FFFF00"/>
                </a:highlight>
              </a:rPr>
              <a:t>has seen</a:t>
            </a:r>
            <a:r>
              <a:rPr lang="en-US" altLang="zh-CN" sz="2400" b="1" u="sng">
                <a:highlight>
                  <a:srgbClr val="00FF00"/>
                </a:highlight>
              </a:rPr>
              <a:t> a dramatic decrease</a:t>
            </a:r>
            <a:r>
              <a:rPr lang="en-US" altLang="zh-CN" sz="2400" b="1" u="sng"/>
              <a:t>, which reduces the use of paper and promotes a green lifestyle.</a:t>
            </a:r>
            <a:endParaRPr lang="en-US" altLang="zh-CN" sz="2400" b="1" u="sng"/>
          </a:p>
          <a:p>
            <a:pPr marL="285750" indent="-285750">
              <a:lnSpc>
                <a:spcPct val="120000"/>
              </a:lnSpc>
              <a:buFont typeface="Wingdings" panose="05000000000000000000" charset="0"/>
              <a:buChar char="l"/>
            </a:pPr>
            <a:r>
              <a:rPr lang="en-US" altLang="zh-CN" sz="2400" b="1" u="sng">
                <a:highlight>
                  <a:srgbClr val="C0C0C0"/>
                </a:highlight>
              </a:rPr>
              <a:t>Many common diseases </a:t>
            </a:r>
            <a:r>
              <a:rPr lang="en-US" altLang="zh-CN" sz="2400" b="1" u="sng">
                <a:highlight>
                  <a:srgbClr val="FFFF00"/>
                </a:highlight>
              </a:rPr>
              <a:t>have got</a:t>
            </a:r>
            <a:r>
              <a:rPr lang="en-US" altLang="zh-CN" sz="2400" b="1" u="sng"/>
              <a:t> </a:t>
            </a:r>
            <a:r>
              <a:rPr lang="en-US" altLang="zh-CN" sz="2400" b="1" u="sng">
                <a:highlight>
                  <a:srgbClr val="00FF00"/>
                </a:highlight>
              </a:rPr>
              <a:t>effective treatments</a:t>
            </a:r>
            <a:r>
              <a:rPr lang="en-US" altLang="zh-CN" sz="2400" b="1" u="sng"/>
              <a:t>, which makes it possible for modern people to live longer than their grandparents.</a:t>
            </a:r>
            <a:endParaRPr lang="en-US" altLang="zh-CN" sz="2400" b="1" u="sng"/>
          </a:p>
          <a:p>
            <a:pPr marL="285750" indent="-285750">
              <a:lnSpc>
                <a:spcPct val="120000"/>
              </a:lnSpc>
              <a:buFont typeface="Wingdings" panose="05000000000000000000" charset="0"/>
              <a:buChar char="l"/>
            </a:pPr>
            <a:r>
              <a:rPr lang="en-US" altLang="zh-CN" sz="2400" b="1" u="sng">
                <a:highlight>
                  <a:srgbClr val="C0C0C0"/>
                </a:highlight>
              </a:rPr>
              <a:t>Wechat </a:t>
            </a:r>
            <a:r>
              <a:rPr lang="en-US" altLang="zh-CN" sz="2400" b="1" u="sng">
                <a:highlight>
                  <a:srgbClr val="FFFF00"/>
                </a:highlight>
              </a:rPr>
              <a:t>has gradually become</a:t>
            </a:r>
            <a:r>
              <a:rPr lang="en-US" altLang="zh-CN" sz="2400" b="1" u="sng"/>
              <a:t> </a:t>
            </a:r>
            <a:r>
              <a:rPr lang="en-US" altLang="zh-CN" sz="2400" b="1" u="sng">
                <a:highlight>
                  <a:srgbClr val="00FF00"/>
                </a:highlight>
              </a:rPr>
              <a:t>one of the most popular applications</a:t>
            </a:r>
            <a:r>
              <a:rPr lang="en-US" altLang="zh-CN" sz="2400" b="1" u="sng"/>
              <a:t> for teenagers in China.</a:t>
            </a:r>
            <a:endParaRPr lang="en-US" altLang="zh-CN" sz="2400"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主</a:t>
            </a:r>
            <a:r>
              <a:rPr lang="en-US" altLang="zh-CN" sz="3200">
                <a:solidFill>
                  <a:schemeClr val="tx1"/>
                </a:solidFill>
              </a:rPr>
              <a:t> </a:t>
            </a:r>
            <a:r>
              <a:rPr lang="zh-CN" altLang="en-US" sz="3200">
                <a:solidFill>
                  <a:schemeClr val="tx1"/>
                </a:solidFill>
              </a:rPr>
              <a:t>谓</a:t>
            </a:r>
            <a:r>
              <a:rPr lang="en-US" altLang="zh-CN" sz="3200">
                <a:solidFill>
                  <a:schemeClr val="tx1"/>
                </a:solidFill>
              </a:rPr>
              <a:t> </a:t>
            </a:r>
            <a:r>
              <a:rPr lang="zh-CN" altLang="en-US" sz="3200">
                <a:solidFill>
                  <a:schemeClr val="tx1"/>
                </a:solidFill>
              </a:rPr>
              <a:t>宾</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highlight>
                  <a:srgbClr val="C0C0C0"/>
                </a:highlight>
              </a:rPr>
              <a:t>Video games</a:t>
            </a:r>
            <a:r>
              <a:rPr lang="en-US" altLang="zh-CN" sz="2400" b="1" u="sng"/>
              <a:t> </a:t>
            </a:r>
            <a:r>
              <a:rPr lang="en-US" altLang="zh-CN" sz="2400" b="1" u="sng">
                <a:highlight>
                  <a:srgbClr val="FFFF00"/>
                </a:highlight>
              </a:rPr>
              <a:t>have gradually become</a:t>
            </a:r>
            <a:r>
              <a:rPr lang="en-US" altLang="zh-CN" sz="2400" b="1" u="sng"/>
              <a:t> </a:t>
            </a:r>
            <a:r>
              <a:rPr lang="en-US" altLang="zh-CN" sz="2400" b="1" u="sng">
                <a:highlight>
                  <a:srgbClr val="00FF00"/>
                </a:highlight>
              </a:rPr>
              <a:t>one of the most commonly used entertainments</a:t>
            </a:r>
            <a:r>
              <a:rPr lang="en-US" altLang="zh-CN" sz="2400" b="1" u="sng"/>
              <a:t> for teenagers in China.</a:t>
            </a:r>
            <a:endParaRPr lang="en-US" altLang="zh-CN" sz="2400" b="1" u="sng"/>
          </a:p>
          <a:p>
            <a:pPr marL="285750" indent="-285750">
              <a:lnSpc>
                <a:spcPct val="120000"/>
              </a:lnSpc>
              <a:buFont typeface="Wingdings" panose="05000000000000000000" charset="0"/>
              <a:buChar char="l"/>
            </a:pPr>
            <a:r>
              <a:rPr lang="en-US" altLang="zh-CN" sz="2400" b="1" u="sng">
                <a:highlight>
                  <a:srgbClr val="C0C0C0"/>
                </a:highlight>
              </a:rPr>
              <a:t>The overuse of mobile phones</a:t>
            </a:r>
            <a:r>
              <a:rPr lang="en-US" altLang="zh-CN" sz="2400" b="1" u="sng"/>
              <a:t> </a:t>
            </a:r>
            <a:r>
              <a:rPr lang="en-US" altLang="zh-CN" sz="2400" b="1" u="sng">
                <a:highlight>
                  <a:srgbClr val="FFFF00"/>
                </a:highlight>
              </a:rPr>
              <a:t>has seriously affected</a:t>
            </a:r>
            <a:r>
              <a:rPr lang="en-US" altLang="zh-CN" sz="2400" b="1" u="sng"/>
              <a:t> </a:t>
            </a:r>
            <a:r>
              <a:rPr lang="en-US" altLang="zh-CN" sz="2400" b="1" u="sng">
                <a:highlight>
                  <a:srgbClr val="00FF00"/>
                </a:highlight>
              </a:rPr>
              <a:t>our public life</a:t>
            </a:r>
            <a:r>
              <a:rPr lang="en-US" altLang="zh-CN" sz="2400" b="1" u="sng"/>
              <a:t> so that some people begin to compare it with smoking.</a:t>
            </a:r>
            <a:endParaRPr lang="en-US" altLang="zh-CN" sz="2400" b="1" u="sng"/>
          </a:p>
          <a:p>
            <a:pPr marL="285750" indent="-285750">
              <a:lnSpc>
                <a:spcPct val="120000"/>
              </a:lnSpc>
              <a:buFont typeface="Wingdings" panose="05000000000000000000" charset="0"/>
              <a:buChar char="l"/>
            </a:pPr>
            <a:r>
              <a:rPr lang="en-US" altLang="zh-CN" sz="2400" b="1" u="sng">
                <a:highlight>
                  <a:srgbClr val="C0C0C0"/>
                </a:highlight>
                <a:sym typeface="+mn-ea"/>
              </a:rPr>
              <a:t>The increasing violence </a:t>
            </a:r>
            <a:r>
              <a:rPr lang="en-US" altLang="zh-CN" sz="2400" b="1" u="sng">
                <a:sym typeface="+mn-ea"/>
              </a:rPr>
              <a:t>in movies </a:t>
            </a:r>
            <a:r>
              <a:rPr lang="en-US" altLang="zh-CN" sz="2400" b="1" u="sng">
                <a:highlight>
                  <a:srgbClr val="FFFF00"/>
                </a:highlight>
                <a:sym typeface="+mn-ea"/>
              </a:rPr>
              <a:t>has seriously affected</a:t>
            </a:r>
            <a:r>
              <a:rPr lang="en-US" altLang="zh-CN" sz="2400" b="1" u="sng">
                <a:sym typeface="+mn-ea"/>
              </a:rPr>
              <a:t> </a:t>
            </a:r>
            <a:r>
              <a:rPr lang="en-US" altLang="zh-CN" sz="2400" b="1" u="sng">
                <a:highlight>
                  <a:srgbClr val="00FF00"/>
                </a:highlight>
                <a:sym typeface="+mn-ea"/>
              </a:rPr>
              <a:t>teenagers’ mental health</a:t>
            </a:r>
            <a:r>
              <a:rPr lang="en-US" altLang="zh-CN" sz="2400" b="1" u="sng">
                <a:sym typeface="+mn-ea"/>
              </a:rPr>
              <a:t> so that some people suggest that rating system should be adopted to solve this problem.</a:t>
            </a:r>
            <a:endParaRPr lang="en-US" altLang="zh-CN" sz="2400" b="1" u="sng"/>
          </a:p>
          <a:p>
            <a:pPr marL="285750" indent="-285750">
              <a:lnSpc>
                <a:spcPct val="120000"/>
              </a:lnSpc>
              <a:buFont typeface="Wingdings" panose="05000000000000000000" charset="0"/>
              <a:buChar char="l"/>
            </a:pPr>
            <a:endParaRPr lang="en-US" altLang="zh-CN" sz="2400"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主</a:t>
            </a:r>
            <a:r>
              <a:rPr lang="en-US" altLang="zh-CN" sz="3200">
                <a:solidFill>
                  <a:schemeClr val="tx1"/>
                </a:solidFill>
              </a:rPr>
              <a:t> </a:t>
            </a:r>
            <a:r>
              <a:rPr lang="zh-CN" altLang="en-US" sz="3200">
                <a:solidFill>
                  <a:schemeClr val="tx1"/>
                </a:solidFill>
              </a:rPr>
              <a:t>谓</a:t>
            </a:r>
            <a:r>
              <a:rPr lang="en-US" altLang="zh-CN" sz="3200">
                <a:solidFill>
                  <a:schemeClr val="tx1"/>
                </a:solidFill>
              </a:rPr>
              <a:t> </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highlight>
                  <a:srgbClr val="C0C0C0"/>
                </a:highlight>
              </a:rPr>
              <a:t>The number of girls writing letters</a:t>
            </a:r>
            <a:r>
              <a:rPr lang="en-US" altLang="zh-CN" sz="2400" b="1" u="sng"/>
              <a:t> </a:t>
            </a:r>
            <a:r>
              <a:rPr lang="en-US" altLang="zh-CN" sz="2400" b="1" u="sng">
                <a:highlight>
                  <a:srgbClr val="FFFF00"/>
                </a:highlight>
              </a:rPr>
              <a:t>has decreased dramatically</a:t>
            </a:r>
            <a:r>
              <a:rPr lang="en-US" altLang="zh-CN" sz="2400" b="1" u="sng"/>
              <a:t>.</a:t>
            </a:r>
            <a:endParaRPr lang="en-US" altLang="zh-CN" sz="2400" b="1" u="sng"/>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并列句</a:t>
            </a:r>
            <a:r>
              <a:rPr lang="en-US" altLang="zh-CN" sz="3200">
                <a:solidFill>
                  <a:schemeClr val="tx1"/>
                </a:solidFill>
              </a:rPr>
              <a:t> </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t>and; as well as; or; but; while; whereas; so; and therefore; and then</a:t>
            </a:r>
            <a:endParaRPr lang="en-US" altLang="zh-CN" sz="2400" b="1" u="sng"/>
          </a:p>
          <a:p>
            <a:pPr marL="285750" indent="-285750">
              <a:lnSpc>
                <a:spcPct val="120000"/>
              </a:lnSpc>
              <a:buFont typeface="Wingdings" panose="05000000000000000000" charset="0"/>
              <a:buChar char="l"/>
            </a:pPr>
            <a:r>
              <a:rPr lang="en-US" altLang="zh-CN" sz="2400" b="1" u="sng"/>
              <a:t>Physically strong athletes tend to put in a good performance in the sports like weight-lifting and sprint, </a:t>
            </a:r>
            <a:r>
              <a:rPr lang="en-US" altLang="zh-CN" sz="2400" b="1" u="sng">
                <a:highlight>
                  <a:srgbClr val="FFFF00"/>
                </a:highlight>
              </a:rPr>
              <a:t>while</a:t>
            </a:r>
            <a:r>
              <a:rPr lang="en-US" altLang="zh-CN" sz="2400" b="1" u="sng"/>
              <a:t> mental attitude is a much less important factor.</a:t>
            </a:r>
            <a:endParaRPr lang="en-US" altLang="zh-CN" sz="2400"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en-US" altLang="zh-CN" sz="3200">
                <a:solidFill>
                  <a:schemeClr val="tx1"/>
                </a:solidFill>
              </a:rPr>
              <a:t>adv+adj </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solidFill>
                  <a:srgbClr val="00B050"/>
                </a:solidFill>
              </a:rPr>
              <a:t>Socially active</a:t>
            </a:r>
            <a:r>
              <a:rPr lang="en-US" altLang="zh-CN" sz="2400" b="1" u="sng"/>
              <a:t> </a:t>
            </a:r>
            <a:r>
              <a:rPr lang="en-US" altLang="zh-CN" sz="2400" b="1" u="sng">
                <a:highlight>
                  <a:srgbClr val="FFFF00"/>
                </a:highlight>
              </a:rPr>
              <a:t>students</a:t>
            </a:r>
            <a:r>
              <a:rPr lang="en-US" altLang="zh-CN" sz="2400" b="1" u="sng"/>
              <a:t> are often </a:t>
            </a:r>
            <a:r>
              <a:rPr lang="en-US" altLang="zh-CN" sz="2400" b="1" u="sng">
                <a:solidFill>
                  <a:srgbClr val="00B050"/>
                </a:solidFill>
              </a:rPr>
              <a:t>incredibly good-looking.</a:t>
            </a:r>
            <a:endParaRPr lang="en-US" altLang="zh-CN" sz="2400" b="1" u="sng">
              <a:solidFill>
                <a:srgbClr val="00B050"/>
              </a:solidFill>
            </a:endParaRPr>
          </a:p>
          <a:p>
            <a:pPr marL="285750" indent="-285750">
              <a:lnSpc>
                <a:spcPct val="120000"/>
              </a:lnSpc>
              <a:buFont typeface="Wingdings" panose="05000000000000000000" charset="0"/>
              <a:buChar char="l"/>
            </a:pPr>
            <a:r>
              <a:rPr lang="en-US" altLang="zh-CN" sz="2400" b="1" u="sng">
                <a:solidFill>
                  <a:srgbClr val="00B050"/>
                </a:solidFill>
              </a:rPr>
              <a:t>Physically strong </a:t>
            </a:r>
            <a:r>
              <a:rPr lang="en-US" altLang="zh-CN" sz="2400" b="1" u="sng">
                <a:highlight>
                  <a:srgbClr val="FFFF00"/>
                </a:highlight>
              </a:rPr>
              <a:t>athletes</a:t>
            </a:r>
            <a:r>
              <a:rPr lang="en-US" altLang="zh-CN" sz="2400" b="1" u="sng"/>
              <a:t> tend to put in a good performance.</a:t>
            </a:r>
            <a:endParaRPr lang="en-US" altLang="zh-CN" sz="2400" b="1" u="sng"/>
          </a:p>
          <a:p>
            <a:pPr marL="285750" indent="-285750">
              <a:lnSpc>
                <a:spcPct val="120000"/>
              </a:lnSpc>
              <a:buFont typeface="Wingdings" panose="05000000000000000000" charset="0"/>
              <a:buChar char="l"/>
            </a:pPr>
            <a:r>
              <a:rPr lang="en-US" altLang="zh-CN" sz="2400" b="1" u="sng"/>
              <a:t>Many students choose to receive education in </a:t>
            </a:r>
            <a:r>
              <a:rPr lang="en-US" altLang="zh-CN" sz="2400" b="1" u="sng">
                <a:solidFill>
                  <a:srgbClr val="00B050"/>
                </a:solidFill>
              </a:rPr>
              <a:t>academically outstanding</a:t>
            </a:r>
            <a:r>
              <a:rPr lang="en-US" altLang="zh-CN" sz="2400" b="1" u="sng">
                <a:highlight>
                  <a:srgbClr val="FFFF00"/>
                </a:highlight>
              </a:rPr>
              <a:t> universities, </a:t>
            </a:r>
            <a:r>
              <a:rPr lang="en-US" altLang="zh-CN" sz="2400" b="1" u="sng"/>
              <a:t>which is beneficial to deepening their understanding of other cultures.</a:t>
            </a:r>
            <a:endParaRPr lang="en-US" altLang="zh-CN" sz="2400"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en-US" altLang="zh-CN" sz="3200">
                <a:solidFill>
                  <a:schemeClr val="tx1"/>
                </a:solidFill>
              </a:rPr>
              <a:t>adv+adj </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solidFill>
                  <a:srgbClr val="00B050"/>
                </a:solidFill>
              </a:rPr>
              <a:t>Economically successful</a:t>
            </a:r>
            <a:r>
              <a:rPr lang="en-US" altLang="zh-CN" sz="2400" b="1" u="sng">
                <a:solidFill>
                  <a:srgbClr val="00B050"/>
                </a:solidFill>
                <a:highlight>
                  <a:srgbClr val="FFFF00"/>
                </a:highlight>
              </a:rPr>
              <a:t> </a:t>
            </a:r>
            <a:r>
              <a:rPr lang="en-US" altLang="zh-CN" sz="2400" b="1" u="sng">
                <a:highlight>
                  <a:srgbClr val="FFFF00"/>
                </a:highlight>
              </a:rPr>
              <a:t>countries </a:t>
            </a:r>
            <a:r>
              <a:rPr lang="en-US" altLang="zh-CN" sz="2400" b="1" u="sng"/>
              <a:t>should provide some aid for the needy countries because they cannot solve their own problems.</a:t>
            </a:r>
            <a:endParaRPr lang="en-US" altLang="zh-CN" sz="2400" b="1" u="sng"/>
          </a:p>
          <a:p>
            <a:pPr marL="285750" indent="-285750">
              <a:lnSpc>
                <a:spcPct val="120000"/>
              </a:lnSpc>
              <a:buFont typeface="Wingdings" panose="05000000000000000000" charset="0"/>
              <a:buChar char="l"/>
            </a:pPr>
            <a:r>
              <a:rPr lang="en-US" altLang="zh-CN" sz="2400" b="1" u="sng"/>
              <a:t>The government should promote the use of </a:t>
            </a:r>
            <a:r>
              <a:rPr lang="en-US" altLang="zh-CN" sz="2400" b="1" u="sng">
                <a:solidFill>
                  <a:srgbClr val="00B050"/>
                </a:solidFill>
              </a:rPr>
              <a:t>environmentally friendly</a:t>
            </a:r>
            <a:r>
              <a:rPr lang="en-US" altLang="zh-CN" sz="2400" b="1" u="sng">
                <a:solidFill>
                  <a:srgbClr val="00B050"/>
                </a:solidFill>
                <a:highlight>
                  <a:srgbClr val="FFFF00"/>
                </a:highlight>
              </a:rPr>
              <a:t> </a:t>
            </a:r>
            <a:r>
              <a:rPr lang="en-US" altLang="zh-CN" sz="2400" b="1" u="sng">
                <a:highlight>
                  <a:srgbClr val="FFFF00"/>
                </a:highlight>
              </a:rPr>
              <a:t>products</a:t>
            </a:r>
            <a:r>
              <a:rPr lang="en-US" altLang="zh-CN" sz="2400" b="1" u="sng"/>
              <a:t> and packaging, which is beneficial to reducing garbage and pollution.</a:t>
            </a:r>
            <a:endParaRPr lang="en-US" altLang="zh-CN" sz="2400" b="1" u="sng"/>
          </a:p>
          <a:p>
            <a:pPr marL="285750" indent="-285750">
              <a:lnSpc>
                <a:spcPct val="120000"/>
              </a:lnSpc>
              <a:buFont typeface="Wingdings" panose="05000000000000000000" charset="0"/>
              <a:buChar char="l"/>
            </a:pPr>
            <a:r>
              <a:rPr lang="en-US" altLang="zh-CN" sz="2400" b="1" u="sng"/>
              <a:t>Many people are against animal testing because it is </a:t>
            </a:r>
            <a:r>
              <a:rPr lang="en-US" altLang="zh-CN" sz="2400" b="1" u="sng">
                <a:solidFill>
                  <a:srgbClr val="00B050"/>
                </a:solidFill>
              </a:rPr>
              <a:t>morally wrong</a:t>
            </a:r>
            <a:r>
              <a:rPr lang="en-US" altLang="zh-CN" sz="2400" b="1" u="sng"/>
              <a:t>.</a:t>
            </a:r>
            <a:endParaRPr lang="en-US" altLang="zh-CN" sz="2400"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状语从句</a:t>
            </a:r>
            <a:r>
              <a:rPr lang="en-US" altLang="zh-CN" sz="3200">
                <a:solidFill>
                  <a:schemeClr val="tx1"/>
                </a:solidFill>
              </a:rPr>
              <a:t>--</a:t>
            </a:r>
            <a:r>
              <a:rPr lang="zh-CN" altLang="en-US" sz="3200">
                <a:solidFill>
                  <a:schemeClr val="tx1"/>
                </a:solidFill>
              </a:rPr>
              <a:t>状语从句的连词</a:t>
            </a:r>
            <a:r>
              <a:rPr lang="en-US" altLang="zh-CN" sz="3200">
                <a:solidFill>
                  <a:schemeClr val="tx1"/>
                </a:solidFill>
              </a:rPr>
              <a:t> +</a:t>
            </a:r>
            <a:r>
              <a:rPr lang="zh-CN" altLang="en-US" sz="3200">
                <a:solidFill>
                  <a:schemeClr val="tx1"/>
                </a:solidFill>
              </a:rPr>
              <a:t>句子</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zh-CN" altLang="en-US" sz="2400" b="1" u="sng"/>
              <a:t>原因：</a:t>
            </a:r>
            <a:r>
              <a:rPr lang="en-US" altLang="zh-CN" sz="2400" b="1" u="sng"/>
              <a:t>because; </a:t>
            </a:r>
            <a:r>
              <a:rPr lang="zh-CN" altLang="en-US" sz="2400" b="1" u="sng"/>
              <a:t>结果：</a:t>
            </a:r>
            <a:r>
              <a:rPr lang="en-US" altLang="zh-CN" sz="2400" b="1" u="sng"/>
              <a:t>so that </a:t>
            </a:r>
            <a:endParaRPr lang="en-US" altLang="zh-CN" sz="2400" b="1" u="sng"/>
          </a:p>
          <a:p>
            <a:pPr marL="285750" indent="-285750">
              <a:lnSpc>
                <a:spcPct val="120000"/>
              </a:lnSpc>
              <a:buFont typeface="Wingdings" panose="05000000000000000000" charset="0"/>
              <a:buChar char="l"/>
            </a:pPr>
            <a:r>
              <a:rPr lang="en-US" altLang="zh-CN" sz="2400" b="1" u="sng"/>
              <a:t>Many people are against animal testing </a:t>
            </a:r>
            <a:r>
              <a:rPr lang="en-US" altLang="zh-CN" sz="2400" b="1" u="sng">
                <a:solidFill>
                  <a:srgbClr val="FF0000"/>
                </a:solidFill>
              </a:rPr>
              <a:t>because it is morally wrong</a:t>
            </a:r>
            <a:r>
              <a:rPr lang="en-US" altLang="zh-CN" sz="2400" b="1" u="sng"/>
              <a:t>.</a:t>
            </a:r>
            <a:endParaRPr lang="en-US" altLang="zh-CN" sz="2400" b="1" u="sng"/>
          </a:p>
          <a:p>
            <a:pPr marL="285750" indent="-285750">
              <a:lnSpc>
                <a:spcPct val="120000"/>
              </a:lnSpc>
              <a:buFont typeface="Wingdings" panose="05000000000000000000" charset="0"/>
              <a:buChar char="l"/>
            </a:pPr>
            <a:r>
              <a:rPr lang="en-US" altLang="zh-CN" sz="2400" b="1">
                <a:sym typeface="+mn-ea"/>
              </a:rPr>
              <a:t>Many people ar</a:t>
            </a:r>
            <a:r>
              <a:rPr lang="en-US" altLang="zh-CN" sz="2400" b="1" u="sng">
                <a:sym typeface="+mn-ea"/>
              </a:rPr>
              <a:t>e in favor of space tourism</a:t>
            </a:r>
            <a:r>
              <a:rPr lang="en-US" altLang="zh-CN" sz="2400" b="1">
                <a:sym typeface="+mn-ea"/>
              </a:rPr>
              <a:t> </a:t>
            </a:r>
            <a:r>
              <a:rPr lang="en-US" altLang="zh-CN" sz="2400" b="1" u="sng">
                <a:solidFill>
                  <a:srgbClr val="FF0000"/>
                </a:solidFill>
                <a:sym typeface="+mn-ea"/>
              </a:rPr>
              <a:t>because they believe it is a highly profitable industry</a:t>
            </a:r>
            <a:r>
              <a:rPr lang="en-US" altLang="zh-CN" sz="2400" b="1">
                <a:sym typeface="+mn-ea"/>
              </a:rPr>
              <a:t>.</a:t>
            </a:r>
            <a:endParaRPr lang="en-US" altLang="zh-CN" sz="2400" b="1">
              <a:sym typeface="+mn-ea"/>
            </a:endParaRPr>
          </a:p>
          <a:p>
            <a:pPr marL="285750" indent="-285750">
              <a:lnSpc>
                <a:spcPct val="120000"/>
              </a:lnSpc>
              <a:buFont typeface="Wingdings" panose="05000000000000000000" charset="0"/>
              <a:buChar char="l"/>
            </a:pPr>
            <a:endParaRPr lang="en-US" altLang="zh-CN" sz="2400" b="1" u="sng">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状语从句</a:t>
            </a:r>
            <a:r>
              <a:rPr lang="en-US" altLang="zh-CN" sz="3200">
                <a:solidFill>
                  <a:schemeClr val="tx1"/>
                </a:solidFill>
              </a:rPr>
              <a:t>--</a:t>
            </a:r>
            <a:r>
              <a:rPr lang="zh-CN" altLang="en-US" sz="3200">
                <a:solidFill>
                  <a:schemeClr val="tx1"/>
                </a:solidFill>
              </a:rPr>
              <a:t>状语从句的连词</a:t>
            </a:r>
            <a:r>
              <a:rPr lang="en-US" altLang="zh-CN" sz="3200">
                <a:solidFill>
                  <a:schemeClr val="tx1"/>
                </a:solidFill>
              </a:rPr>
              <a:t> +</a:t>
            </a:r>
            <a:r>
              <a:rPr lang="zh-CN" altLang="en-US" sz="3200">
                <a:solidFill>
                  <a:schemeClr val="tx1"/>
                </a:solidFill>
              </a:rPr>
              <a:t>句子</a:t>
            </a:r>
            <a:endParaRPr lang="zh-CN" altLang="en-US"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zh-CN" altLang="en-US" sz="2400" b="1" u="sng"/>
              <a:t>原因：</a:t>
            </a:r>
            <a:r>
              <a:rPr lang="en-US" altLang="zh-CN" sz="2400" b="1" u="sng"/>
              <a:t>because; </a:t>
            </a:r>
            <a:r>
              <a:rPr lang="zh-CN" altLang="en-US" sz="2400" b="1" u="sng"/>
              <a:t>结果：</a:t>
            </a:r>
            <a:r>
              <a:rPr lang="en-US" altLang="zh-CN" sz="2400" b="1" u="sng"/>
              <a:t>so that </a:t>
            </a:r>
            <a:endParaRPr lang="en-US" altLang="zh-CN" sz="2400" b="1" u="sng"/>
          </a:p>
          <a:p>
            <a:pPr marL="285750" indent="-285750">
              <a:lnSpc>
                <a:spcPct val="120000"/>
              </a:lnSpc>
              <a:buFont typeface="Wingdings" panose="05000000000000000000" charset="0"/>
              <a:buChar char="l"/>
            </a:pPr>
            <a:r>
              <a:rPr lang="en-US" altLang="zh-CN" sz="2400" b="1">
                <a:sym typeface="+mn-ea"/>
              </a:rPr>
              <a:t>The overuse of mobile phones has seriously affected our public life </a:t>
            </a:r>
            <a:r>
              <a:rPr lang="en-US" altLang="zh-CN" sz="2400" b="1" u="sng">
                <a:solidFill>
                  <a:srgbClr val="FF0000"/>
                </a:solidFill>
                <a:sym typeface="+mn-ea"/>
              </a:rPr>
              <a:t>so that some people begin to compare it with smoking</a:t>
            </a:r>
            <a:r>
              <a:rPr lang="en-US" altLang="zh-CN" sz="2400" b="1">
                <a:sym typeface="+mn-ea"/>
              </a:rPr>
              <a:t>.</a:t>
            </a:r>
            <a:endParaRPr lang="en-US" altLang="zh-CN" sz="2400" b="1"/>
          </a:p>
          <a:p>
            <a:pPr marL="285750" indent="-285750">
              <a:lnSpc>
                <a:spcPct val="120000"/>
              </a:lnSpc>
              <a:buFont typeface="Wingdings" panose="05000000000000000000" charset="0"/>
              <a:buChar char="l"/>
            </a:pPr>
            <a:r>
              <a:rPr lang="en-US" altLang="zh-CN" sz="2400" b="1">
                <a:sym typeface="+mn-ea"/>
              </a:rPr>
              <a:t>The increasing violence in movies has seriously affected teenagers’ mental health </a:t>
            </a:r>
            <a:r>
              <a:rPr lang="en-US" altLang="zh-CN" sz="2400" b="1" u="sng">
                <a:solidFill>
                  <a:srgbClr val="FF0000"/>
                </a:solidFill>
                <a:sym typeface="+mn-ea"/>
              </a:rPr>
              <a:t>so that some people suggest that rating system should be adopted to solve this problem.</a:t>
            </a:r>
            <a:endParaRPr lang="en-US" altLang="zh-CN" sz="2400" b="1" u="sng">
              <a:solidFill>
                <a:srgbClr val="FF0000"/>
              </a:solidFill>
            </a:endParaRPr>
          </a:p>
          <a:p>
            <a:pPr marL="285750" indent="-285750">
              <a:lnSpc>
                <a:spcPct val="120000"/>
              </a:lnSpc>
              <a:buFont typeface="Wingdings" panose="05000000000000000000" charset="0"/>
              <a:buChar char="l"/>
            </a:pPr>
            <a:endParaRPr lang="en-US" altLang="zh-CN" sz="2400" b="1" u="sng">
              <a:solidFill>
                <a:srgbClr val="FF0000"/>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245" y="267335"/>
            <a:ext cx="8638540" cy="715010"/>
          </a:xfrm>
        </p:spPr>
        <p:txBody>
          <a:bodyPr/>
          <a:lstStyle/>
          <a:p>
            <a:pPr algn="l"/>
            <a:r>
              <a:rPr lang="zh-CN" altLang="en-US" sz="3200">
                <a:solidFill>
                  <a:schemeClr val="tx1"/>
                </a:solidFill>
              </a:rPr>
              <a:t>介词</a:t>
            </a:r>
            <a:r>
              <a:rPr lang="en-US" altLang="zh-CN" sz="3200">
                <a:solidFill>
                  <a:schemeClr val="tx1"/>
                </a:solidFill>
              </a:rPr>
              <a:t>+n/doing/being done</a:t>
            </a:r>
            <a:endParaRPr lang="en-US" altLang="zh-CN" sz="3200">
              <a:solidFill>
                <a:schemeClr val="tx1"/>
              </a:solidFill>
            </a:endParaRPr>
          </a:p>
        </p:txBody>
      </p:sp>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309245" y="970915"/>
            <a:ext cx="8788400" cy="4172585"/>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solidFill>
                  <a:srgbClr val="FF0000"/>
                </a:solidFill>
              </a:rPr>
              <a:t>with+n</a:t>
            </a:r>
            <a:endParaRPr lang="en-US" altLang="zh-CN" sz="2400" b="1" u="sng">
              <a:solidFill>
                <a:srgbClr val="FF0000"/>
              </a:solidFill>
            </a:endParaRPr>
          </a:p>
          <a:p>
            <a:pPr marL="285750" indent="-285750">
              <a:lnSpc>
                <a:spcPct val="120000"/>
              </a:lnSpc>
              <a:buFont typeface="Wingdings" panose="05000000000000000000" charset="0"/>
              <a:buChar char="l"/>
            </a:pPr>
            <a:r>
              <a:rPr lang="zh-CN" altLang="en-US" sz="2400" b="1" u="sng">
                <a:solidFill>
                  <a:srgbClr val="FF0000"/>
                </a:solidFill>
              </a:rPr>
              <a:t>随着电子设备的广泛使用</a:t>
            </a:r>
            <a:endParaRPr lang="zh-CN" altLang="en-US" sz="2400" b="1" u="sng">
              <a:solidFill>
                <a:srgbClr val="FF0000"/>
              </a:solidFill>
            </a:endParaRPr>
          </a:p>
          <a:p>
            <a:pPr marL="285750" indent="-285750">
              <a:lnSpc>
                <a:spcPct val="120000"/>
              </a:lnSpc>
              <a:buFont typeface="Wingdings" panose="05000000000000000000" charset="0"/>
              <a:buChar char="l"/>
            </a:pPr>
            <a:r>
              <a:rPr lang="en-US" altLang="zh-CN" sz="2400" b="1" u="sng">
                <a:solidFill>
                  <a:srgbClr val="FF0000"/>
                </a:solidFill>
              </a:rPr>
              <a:t>With the wide use of electronic devices,....</a:t>
            </a:r>
            <a:endParaRPr lang="en-US" altLang="zh-CN" sz="2400" b="1" u="sng">
              <a:solidFill>
                <a:srgbClr val="FF0000"/>
              </a:solidFill>
            </a:endParaRPr>
          </a:p>
          <a:p>
            <a:pPr marL="285750" indent="-285750">
              <a:lnSpc>
                <a:spcPct val="120000"/>
              </a:lnSpc>
              <a:buFont typeface="Wingdings" panose="05000000000000000000" charset="0"/>
              <a:buChar char="l"/>
            </a:pPr>
            <a:r>
              <a:rPr lang="zh-CN" altLang="en-US" sz="2400" b="1" u="sng">
                <a:solidFill>
                  <a:srgbClr val="FF0000"/>
                </a:solidFill>
              </a:rPr>
              <a:t>随着医疗技术的进步</a:t>
            </a:r>
            <a:endParaRPr lang="zh-CN" altLang="en-US" sz="2400" b="1" u="sng">
              <a:solidFill>
                <a:srgbClr val="FF0000"/>
              </a:solidFill>
            </a:endParaRPr>
          </a:p>
          <a:p>
            <a:pPr marL="285750" indent="-285750">
              <a:lnSpc>
                <a:spcPct val="120000"/>
              </a:lnSpc>
              <a:buFont typeface="Wingdings" panose="05000000000000000000" charset="0"/>
              <a:buChar char="l"/>
            </a:pPr>
            <a:r>
              <a:rPr lang="en-US" altLang="zh-CN" sz="2400" b="1" u="sng">
                <a:solidFill>
                  <a:srgbClr val="FF0000"/>
                </a:solidFill>
              </a:rPr>
              <a:t>With the advances of medical technology,....</a:t>
            </a:r>
            <a:endParaRPr lang="en-US" altLang="zh-CN" sz="2400" b="1" u="sng">
              <a:solidFill>
                <a:srgbClr val="FF0000"/>
              </a:solidFill>
            </a:endParaRPr>
          </a:p>
          <a:p>
            <a:pPr marL="285750" indent="-285750">
              <a:lnSpc>
                <a:spcPct val="120000"/>
              </a:lnSpc>
              <a:buFont typeface="Wingdings" panose="05000000000000000000" charset="0"/>
              <a:buChar char="l"/>
            </a:pPr>
            <a:r>
              <a:rPr lang="zh-CN" altLang="en-US" sz="2400" b="1" u="sng">
                <a:solidFill>
                  <a:srgbClr val="FF0000"/>
                </a:solidFill>
              </a:rPr>
              <a:t>随着泰勒斯威夫特的流行</a:t>
            </a:r>
            <a:endParaRPr lang="zh-CN" altLang="en-US" sz="2400" b="1" u="sng">
              <a:solidFill>
                <a:srgbClr val="FF0000"/>
              </a:solidFill>
            </a:endParaRPr>
          </a:p>
          <a:p>
            <a:pPr marL="285750" indent="-285750">
              <a:lnSpc>
                <a:spcPct val="120000"/>
              </a:lnSpc>
              <a:buFont typeface="Wingdings" panose="05000000000000000000" charset="0"/>
              <a:buChar char="l"/>
            </a:pPr>
            <a:r>
              <a:rPr lang="en-US" altLang="zh-CN" sz="2400" b="1" u="sng">
                <a:solidFill>
                  <a:srgbClr val="FF0000"/>
                </a:solidFill>
              </a:rPr>
              <a:t>With the popularity of Taylor Swift,...</a:t>
            </a:r>
            <a:endParaRPr lang="en-US" altLang="zh-CN" sz="2400" b="1" u="sng">
              <a:solidFill>
                <a:srgbClr val="FF0000"/>
              </a:solidFill>
            </a:endParaRPr>
          </a:p>
          <a:p>
            <a:pPr marL="285750" indent="-285750">
              <a:lnSpc>
                <a:spcPct val="120000"/>
              </a:lnSpc>
              <a:buFont typeface="Wingdings" panose="05000000000000000000" charset="0"/>
              <a:buChar char="l"/>
            </a:pPr>
            <a:r>
              <a:rPr lang="zh-CN" altLang="en-US" sz="2400" b="1" u="sng">
                <a:solidFill>
                  <a:srgbClr val="FF0000"/>
                </a:solidFill>
              </a:rPr>
              <a:t>随着油价的上升</a:t>
            </a:r>
            <a:endParaRPr lang="zh-CN" altLang="en-US" sz="2400" b="1" u="sng">
              <a:solidFill>
                <a:srgbClr val="FF0000"/>
              </a:solidFill>
            </a:endParaRPr>
          </a:p>
          <a:p>
            <a:pPr marL="285750" indent="-285750">
              <a:lnSpc>
                <a:spcPct val="120000"/>
              </a:lnSpc>
              <a:buFont typeface="Wingdings" panose="05000000000000000000" charset="0"/>
              <a:buChar char="l"/>
            </a:pPr>
            <a:r>
              <a:rPr lang="en-US" altLang="zh-CN" sz="2400" b="1" u="sng">
                <a:solidFill>
                  <a:srgbClr val="FF0000"/>
                </a:solidFill>
              </a:rPr>
              <a:t>With the increase of oil price</a:t>
            </a:r>
            <a:endParaRPr lang="en-US" altLang="zh-CN" sz="2400" b="1" u="sng">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283210" y="581660"/>
            <a:ext cx="8814435" cy="4561840"/>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solidFill>
                  <a:srgbClr val="FF0000"/>
                </a:solidFill>
              </a:rPr>
              <a:t>with+n+</a:t>
            </a:r>
            <a:r>
              <a:rPr lang="en-US" altLang="zh-CN" sz="2400" b="1" u="sng">
                <a:solidFill>
                  <a:srgbClr val="FF0000"/>
                </a:solidFill>
                <a:highlight>
                  <a:srgbClr val="FFFF00"/>
                </a:highlight>
              </a:rPr>
              <a:t>doing/done  </a:t>
            </a:r>
            <a:r>
              <a:rPr lang="zh-CN" altLang="en-US" sz="2400" b="1" u="sng">
                <a:solidFill>
                  <a:srgbClr val="FF0000"/>
                </a:solidFill>
                <a:highlight>
                  <a:srgbClr val="FFFF00"/>
                </a:highlight>
              </a:rPr>
              <a:t>随着</a:t>
            </a:r>
            <a:r>
              <a:rPr lang="en-US" altLang="zh-CN" sz="2400" b="1" u="sng">
                <a:solidFill>
                  <a:srgbClr val="FF0000"/>
                </a:solidFill>
                <a:highlight>
                  <a:srgbClr val="FFFF00"/>
                </a:highlight>
              </a:rPr>
              <a:t>/</a:t>
            </a:r>
            <a:r>
              <a:rPr lang="zh-CN" altLang="en-US" sz="2400" b="1" u="sng">
                <a:solidFill>
                  <a:srgbClr val="FF0000"/>
                </a:solidFill>
                <a:highlight>
                  <a:srgbClr val="FFFF00"/>
                </a:highlight>
              </a:rPr>
              <a:t>有</a:t>
            </a:r>
            <a:endParaRPr lang="zh-CN" altLang="en-US" sz="2400" b="1" u="sng">
              <a:solidFill>
                <a:srgbClr val="FF0000"/>
              </a:solidFill>
              <a:highlight>
                <a:srgbClr val="FFFF00"/>
              </a:highlight>
            </a:endParaRPr>
          </a:p>
          <a:p>
            <a:pPr marL="285750" indent="-285750">
              <a:lnSpc>
                <a:spcPct val="120000"/>
              </a:lnSpc>
              <a:buFont typeface="Wingdings" panose="05000000000000000000" charset="0"/>
              <a:buChar char="l"/>
            </a:pPr>
            <a:r>
              <a:rPr lang="en-US" altLang="zh-CN" sz="2400" b="1"/>
              <a:t>随着</a:t>
            </a:r>
            <a:r>
              <a:rPr lang="zh-CN" altLang="en-US" sz="2400" b="1"/>
              <a:t>时间的流逝，他已经成为了一个合格的医生。</a:t>
            </a:r>
            <a:endParaRPr lang="en-US" altLang="zh-CN" sz="2400" b="1"/>
          </a:p>
          <a:p>
            <a:pPr marL="285750" indent="-285750">
              <a:lnSpc>
                <a:spcPct val="120000"/>
              </a:lnSpc>
              <a:buFont typeface="Wingdings" panose="05000000000000000000" charset="0"/>
              <a:buChar char="l"/>
            </a:pPr>
            <a:r>
              <a:rPr lang="en-US" altLang="zh-CN" sz="2400" b="1" u="sng">
                <a:solidFill>
                  <a:srgbClr val="FF0000"/>
                </a:solidFill>
              </a:rPr>
              <a:t>With time </a:t>
            </a:r>
            <a:r>
              <a:rPr lang="en-US" altLang="zh-CN" sz="2400" b="1" u="sng">
                <a:solidFill>
                  <a:srgbClr val="FF0000"/>
                </a:solidFill>
                <a:highlight>
                  <a:srgbClr val="FFFF00"/>
                </a:highlight>
              </a:rPr>
              <a:t>going</a:t>
            </a:r>
            <a:r>
              <a:rPr lang="en-US" altLang="zh-CN" sz="2400" b="1" u="sng">
                <a:solidFill>
                  <a:srgbClr val="FF0000"/>
                </a:solidFill>
              </a:rPr>
              <a:t> by</a:t>
            </a:r>
            <a:r>
              <a:rPr lang="en-US" altLang="zh-CN" sz="2400" b="1">
                <a:solidFill>
                  <a:schemeClr val="tx1"/>
                </a:solidFill>
              </a:rPr>
              <a:t>, he has become a qualified doctor.</a:t>
            </a:r>
            <a:endParaRPr lang="en-US" altLang="zh-CN" sz="2400" b="1">
              <a:solidFill>
                <a:schemeClr val="tx1"/>
              </a:solidFill>
            </a:endParaRPr>
          </a:p>
          <a:p>
            <a:pPr marL="285750" indent="-285750">
              <a:lnSpc>
                <a:spcPct val="120000"/>
              </a:lnSpc>
              <a:buFont typeface="Wingdings" panose="05000000000000000000" charset="0"/>
              <a:buChar char="l"/>
            </a:pPr>
            <a:r>
              <a:rPr lang="zh-CN" altLang="en-US" sz="2400" b="1">
                <a:solidFill>
                  <a:schemeClr val="tx1"/>
                </a:solidFill>
              </a:rPr>
              <a:t>随着很多时间被花在作业上，这里的学生们已经成为了有能力的英语学习者。</a:t>
            </a:r>
            <a:endParaRPr lang="en-US" altLang="zh-CN" sz="2400" b="1">
              <a:solidFill>
                <a:schemeClr val="tx1"/>
              </a:solidFill>
            </a:endParaRPr>
          </a:p>
          <a:p>
            <a:pPr marL="285750" indent="-285750">
              <a:lnSpc>
                <a:spcPct val="120000"/>
              </a:lnSpc>
              <a:buFont typeface="Wingdings" panose="05000000000000000000" charset="0"/>
              <a:buChar char="l"/>
            </a:pPr>
            <a:r>
              <a:rPr lang="en-US" altLang="zh-CN" sz="2400" b="1" u="sng">
                <a:solidFill>
                  <a:srgbClr val="FF0000"/>
                </a:solidFill>
              </a:rPr>
              <a:t>With much time </a:t>
            </a:r>
            <a:r>
              <a:rPr lang="en-US" altLang="zh-CN" sz="2400" b="1" u="sng">
                <a:solidFill>
                  <a:srgbClr val="FF0000"/>
                </a:solidFill>
                <a:highlight>
                  <a:srgbClr val="FFFF00"/>
                </a:highlight>
              </a:rPr>
              <a:t>spent</a:t>
            </a:r>
            <a:r>
              <a:rPr lang="en-US" altLang="zh-CN" sz="2400" b="1" u="sng">
                <a:solidFill>
                  <a:srgbClr val="FF0000"/>
                </a:solidFill>
              </a:rPr>
              <a:t> on homework</a:t>
            </a:r>
            <a:r>
              <a:rPr lang="en-US" altLang="zh-CN" sz="2400" b="1">
                <a:solidFill>
                  <a:schemeClr val="tx1"/>
                </a:solidFill>
              </a:rPr>
              <a:t>, students here have become competent English Learners.</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283210" y="581660"/>
            <a:ext cx="8814435" cy="4561840"/>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solidFill>
                  <a:srgbClr val="FF0000"/>
                </a:solidFill>
              </a:rPr>
              <a:t>with+n+</a:t>
            </a:r>
            <a:r>
              <a:rPr lang="en-US" altLang="zh-CN" sz="2400" b="1" u="sng">
                <a:solidFill>
                  <a:srgbClr val="FF0000"/>
                </a:solidFill>
                <a:highlight>
                  <a:srgbClr val="FFFF00"/>
                </a:highlight>
              </a:rPr>
              <a:t>doing/done  </a:t>
            </a:r>
            <a:r>
              <a:rPr lang="zh-CN" altLang="en-US" sz="2400" b="1" u="sng">
                <a:solidFill>
                  <a:srgbClr val="FF0000"/>
                </a:solidFill>
                <a:highlight>
                  <a:srgbClr val="FFFF00"/>
                </a:highlight>
              </a:rPr>
              <a:t>随着</a:t>
            </a:r>
            <a:r>
              <a:rPr lang="en-US" altLang="zh-CN" sz="2400" b="1" u="sng">
                <a:solidFill>
                  <a:srgbClr val="FF0000"/>
                </a:solidFill>
                <a:highlight>
                  <a:srgbClr val="FFFF00"/>
                </a:highlight>
              </a:rPr>
              <a:t>/</a:t>
            </a:r>
            <a:r>
              <a:rPr lang="zh-CN" altLang="en-US" sz="2400" b="1" u="sng">
                <a:solidFill>
                  <a:srgbClr val="FF0000"/>
                </a:solidFill>
                <a:highlight>
                  <a:srgbClr val="FFFF00"/>
                </a:highlight>
              </a:rPr>
              <a:t>有</a:t>
            </a:r>
            <a:endParaRPr lang="zh-CN" altLang="en-US" sz="2400" b="1" u="sng">
              <a:solidFill>
                <a:srgbClr val="FF0000"/>
              </a:solidFill>
              <a:highlight>
                <a:srgbClr val="FFFF00"/>
              </a:highlight>
            </a:endParaRPr>
          </a:p>
          <a:p>
            <a:pPr marL="285750" indent="-285750">
              <a:lnSpc>
                <a:spcPct val="120000"/>
              </a:lnSpc>
              <a:buFont typeface="Wingdings" panose="05000000000000000000" charset="0"/>
              <a:buChar char="l"/>
            </a:pPr>
            <a:r>
              <a:rPr lang="zh-CN" altLang="en-US" sz="2400" b="1">
                <a:solidFill>
                  <a:schemeClr val="tx1"/>
                </a:solidFill>
              </a:rPr>
              <a:t>随着三亚计划发展旅游业，很多酒店已经被建在那里。</a:t>
            </a:r>
            <a:r>
              <a:rPr lang="en-US" altLang="zh-CN" sz="2400" b="1">
                <a:solidFill>
                  <a:schemeClr val="tx1"/>
                </a:solidFill>
              </a:rPr>
              <a:t>tourism industry</a:t>
            </a:r>
            <a:endParaRPr lang="en-US" altLang="zh-CN" sz="2400" b="1">
              <a:solidFill>
                <a:schemeClr val="tx1"/>
              </a:solidFill>
            </a:endParaRPr>
          </a:p>
          <a:p>
            <a:pPr marL="285750" indent="-285750">
              <a:lnSpc>
                <a:spcPct val="120000"/>
              </a:lnSpc>
              <a:buFont typeface="Wingdings" panose="05000000000000000000" charset="0"/>
              <a:buChar char="l"/>
            </a:pPr>
            <a:r>
              <a:rPr lang="en-US" altLang="zh-CN" sz="2400" b="1" u="sng">
                <a:solidFill>
                  <a:srgbClr val="FF0000"/>
                </a:solidFill>
              </a:rPr>
              <a:t>With Sanya </a:t>
            </a:r>
            <a:r>
              <a:rPr lang="en-US" altLang="zh-CN" sz="2400" b="1" u="sng">
                <a:solidFill>
                  <a:srgbClr val="FF0000"/>
                </a:solidFill>
                <a:highlight>
                  <a:srgbClr val="FFFF00"/>
                </a:highlight>
              </a:rPr>
              <a:t>planning</a:t>
            </a:r>
            <a:r>
              <a:rPr lang="en-US" altLang="zh-CN" sz="2400" b="1" u="sng">
                <a:solidFill>
                  <a:srgbClr val="FF0000"/>
                </a:solidFill>
              </a:rPr>
              <a:t> to develop tourism industry</a:t>
            </a:r>
            <a:r>
              <a:rPr lang="en-US" altLang="zh-CN" sz="2400" b="1">
                <a:solidFill>
                  <a:schemeClr val="tx1"/>
                </a:solidFill>
              </a:rPr>
              <a:t>, many hotels have  already been established there.</a:t>
            </a:r>
            <a:endParaRPr lang="en-US" altLang="zh-CN" sz="2400" b="1">
              <a:solidFill>
                <a:schemeClr val="tx1"/>
              </a:solidFill>
            </a:endParaRPr>
          </a:p>
          <a:p>
            <a:pPr marL="285750" indent="-285750">
              <a:lnSpc>
                <a:spcPct val="120000"/>
              </a:lnSpc>
              <a:buFont typeface="Wingdings" panose="05000000000000000000" charset="0"/>
              <a:buChar char="l"/>
            </a:pPr>
            <a:r>
              <a:rPr lang="zh-CN" altLang="en-US" sz="2400" b="1">
                <a:solidFill>
                  <a:schemeClr val="tx1"/>
                </a:solidFill>
              </a:rPr>
              <a:t>随着很多消费者被广告影响，他们倾向于去买他们不需要的一些奢侈品。</a:t>
            </a:r>
            <a:r>
              <a:rPr lang="en-US" altLang="zh-CN" sz="2400" b="1">
                <a:solidFill>
                  <a:schemeClr val="tx1"/>
                </a:solidFill>
              </a:rPr>
              <a:t> luxuries</a:t>
            </a:r>
            <a:endParaRPr lang="en-US" altLang="zh-CN" sz="2400" b="1">
              <a:solidFill>
                <a:schemeClr val="tx1"/>
              </a:solidFill>
            </a:endParaRPr>
          </a:p>
          <a:p>
            <a:pPr marL="285750" indent="-285750">
              <a:lnSpc>
                <a:spcPct val="120000"/>
              </a:lnSpc>
              <a:buFont typeface="Wingdings" panose="05000000000000000000" charset="0"/>
              <a:buChar char="l"/>
            </a:pPr>
            <a:r>
              <a:rPr lang="en-US" altLang="zh-CN" sz="2400" b="1" u="sng">
                <a:solidFill>
                  <a:srgbClr val="FF0000"/>
                </a:solidFill>
              </a:rPr>
              <a:t>With many consumers</a:t>
            </a:r>
            <a:r>
              <a:rPr lang="en-US" altLang="zh-CN" sz="2400" b="1" u="sng">
                <a:solidFill>
                  <a:srgbClr val="FF0000"/>
                </a:solidFill>
                <a:highlight>
                  <a:srgbClr val="FFFF00"/>
                </a:highlight>
              </a:rPr>
              <a:t> affected </a:t>
            </a:r>
            <a:r>
              <a:rPr lang="en-US" altLang="zh-CN" sz="2400" b="1" u="sng">
                <a:solidFill>
                  <a:srgbClr val="FF0000"/>
                </a:solidFill>
              </a:rPr>
              <a:t>by advertisements</a:t>
            </a:r>
            <a:r>
              <a:rPr lang="en-US" altLang="zh-CN" sz="2400" b="1">
                <a:solidFill>
                  <a:schemeClr val="tx1"/>
                </a:solidFill>
              </a:rPr>
              <a:t>, they tend to buy luxuries which they do not need.</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283210" y="581660"/>
            <a:ext cx="8814435" cy="4561840"/>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solidFill>
                  <a:srgbClr val="FF0000"/>
                </a:solidFill>
              </a:rPr>
              <a:t>with+n+</a:t>
            </a:r>
            <a:r>
              <a:rPr lang="en-US" altLang="zh-CN" sz="2400" b="1" u="sng">
                <a:solidFill>
                  <a:srgbClr val="FF0000"/>
                </a:solidFill>
                <a:highlight>
                  <a:srgbClr val="FFFF00"/>
                </a:highlight>
              </a:rPr>
              <a:t>doing/done  </a:t>
            </a:r>
            <a:r>
              <a:rPr lang="zh-CN" altLang="en-US" sz="2400" b="1" u="sng">
                <a:solidFill>
                  <a:srgbClr val="FF0000"/>
                </a:solidFill>
                <a:highlight>
                  <a:srgbClr val="FFFF00"/>
                </a:highlight>
              </a:rPr>
              <a:t>随着</a:t>
            </a:r>
            <a:r>
              <a:rPr lang="en-US" altLang="zh-CN" sz="2400" b="1" u="sng">
                <a:solidFill>
                  <a:srgbClr val="FF0000"/>
                </a:solidFill>
                <a:highlight>
                  <a:srgbClr val="FFFF00"/>
                </a:highlight>
              </a:rPr>
              <a:t>/</a:t>
            </a:r>
            <a:r>
              <a:rPr lang="zh-CN" altLang="en-US" sz="2400" b="1" u="sng">
                <a:solidFill>
                  <a:srgbClr val="FF0000"/>
                </a:solidFill>
                <a:highlight>
                  <a:srgbClr val="FFFF00"/>
                </a:highlight>
              </a:rPr>
              <a:t>有</a:t>
            </a:r>
            <a:endParaRPr lang="zh-CN" altLang="en-US" sz="2400" b="1" u="sng">
              <a:solidFill>
                <a:srgbClr val="FF0000"/>
              </a:solidFill>
              <a:highlight>
                <a:srgbClr val="FFFF00"/>
              </a:highlight>
            </a:endParaRPr>
          </a:p>
          <a:p>
            <a:pPr marL="285750" indent="-285750">
              <a:lnSpc>
                <a:spcPct val="120000"/>
              </a:lnSpc>
              <a:buFont typeface="Wingdings" panose="05000000000000000000" charset="0"/>
              <a:buChar char="l"/>
            </a:pPr>
            <a:r>
              <a:rPr lang="zh-CN" altLang="en-US" sz="2000" b="1">
                <a:solidFill>
                  <a:schemeClr val="tx1"/>
                </a:solidFill>
              </a:rPr>
              <a:t>随着女性在职场扮演了一个重要的角色，那些选择休产假的女人不得不面对一些损失。</a:t>
            </a:r>
            <a:r>
              <a:rPr lang="en-US" altLang="zh-CN" sz="2000" b="1">
                <a:solidFill>
                  <a:schemeClr val="tx1"/>
                </a:solidFill>
              </a:rPr>
              <a:t>losses; take maternity leave; in the workplace</a:t>
            </a:r>
            <a:endParaRPr lang="en-US" altLang="zh-CN" sz="2000" b="1">
              <a:solidFill>
                <a:schemeClr val="tx1"/>
              </a:solidFill>
            </a:endParaRPr>
          </a:p>
          <a:p>
            <a:pPr marL="285750" indent="-285750">
              <a:lnSpc>
                <a:spcPct val="120000"/>
              </a:lnSpc>
              <a:buFont typeface="Wingdings" panose="05000000000000000000" charset="0"/>
              <a:buChar char="l"/>
            </a:pPr>
            <a:r>
              <a:rPr lang="en-US" altLang="zh-CN" sz="2000" b="1" u="sng">
                <a:solidFill>
                  <a:srgbClr val="FF0000"/>
                </a:solidFill>
              </a:rPr>
              <a:t>With women </a:t>
            </a:r>
            <a:r>
              <a:rPr lang="en-US" altLang="zh-CN" sz="2000" b="1" u="sng">
                <a:solidFill>
                  <a:srgbClr val="FF0000"/>
                </a:solidFill>
                <a:highlight>
                  <a:srgbClr val="FFFF00"/>
                </a:highlight>
              </a:rPr>
              <a:t>playing</a:t>
            </a:r>
            <a:r>
              <a:rPr lang="en-US" altLang="zh-CN" sz="2000" b="1" u="sng">
                <a:solidFill>
                  <a:srgbClr val="FF0000"/>
                </a:solidFill>
              </a:rPr>
              <a:t> an important role in the workplace</a:t>
            </a:r>
            <a:r>
              <a:rPr lang="en-US" altLang="zh-CN" sz="2000" b="1">
                <a:solidFill>
                  <a:schemeClr val="tx1"/>
                </a:solidFill>
              </a:rPr>
              <a:t>, those who choose to take maternity leave have to face some losses.</a:t>
            </a:r>
            <a:endParaRPr lang="zh-CN" altLang="en-US" sz="2000" b="1">
              <a:solidFill>
                <a:schemeClr val="tx1"/>
              </a:solidFill>
            </a:endParaRPr>
          </a:p>
          <a:p>
            <a:pPr marL="285750" indent="-285750">
              <a:lnSpc>
                <a:spcPct val="120000"/>
              </a:lnSpc>
              <a:buFont typeface="Wingdings" panose="05000000000000000000" charset="0"/>
              <a:buChar char="l"/>
            </a:pPr>
            <a:r>
              <a:rPr lang="zh-CN" altLang="en-US" sz="2000" b="1">
                <a:solidFill>
                  <a:schemeClr val="tx1"/>
                </a:solidFill>
              </a:rPr>
              <a:t>随着很多青少年被媒体所操控，他们倾向于掉入商人和政客的圈套。</a:t>
            </a:r>
            <a:r>
              <a:rPr lang="en-US" altLang="zh-CN" sz="2000" b="1">
                <a:solidFill>
                  <a:schemeClr val="tx1"/>
                </a:solidFill>
              </a:rPr>
              <a:t>manipulate; medi</a:t>
            </a:r>
            <a:r>
              <a:rPr lang="en-US" altLang="zh-CN" sz="2000" b="1">
                <a:solidFill>
                  <a:srgbClr val="FF0000"/>
                </a:solidFill>
              </a:rPr>
              <a:t>a/</a:t>
            </a:r>
            <a:r>
              <a:rPr lang="en-US" altLang="zh-CN" sz="2000" b="1">
                <a:solidFill>
                  <a:schemeClr val="tx1"/>
                </a:solidFill>
              </a:rPr>
              <a:t>bacteri</a:t>
            </a:r>
            <a:r>
              <a:rPr lang="en-US" altLang="zh-CN" sz="2000" b="1">
                <a:solidFill>
                  <a:srgbClr val="FF0000"/>
                </a:solidFill>
              </a:rPr>
              <a:t>a</a:t>
            </a:r>
            <a:r>
              <a:rPr lang="en-US" altLang="zh-CN" sz="2000" b="1">
                <a:solidFill>
                  <a:schemeClr val="tx1"/>
                </a:solidFill>
              </a:rPr>
              <a:t>/dat</a:t>
            </a:r>
            <a:r>
              <a:rPr lang="en-US" altLang="zh-CN" sz="2000" b="1">
                <a:solidFill>
                  <a:srgbClr val="FF0000"/>
                </a:solidFill>
              </a:rPr>
              <a:t>a</a:t>
            </a:r>
            <a:r>
              <a:rPr lang="en-US" altLang="zh-CN" sz="2000" b="1">
                <a:solidFill>
                  <a:schemeClr val="tx1"/>
                </a:solidFill>
              </a:rPr>
              <a:t> are...</a:t>
            </a:r>
            <a:r>
              <a:rPr lang="zh-CN" altLang="en-US" sz="2000" b="1">
                <a:solidFill>
                  <a:schemeClr val="tx1"/>
                </a:solidFill>
              </a:rPr>
              <a:t>；</a:t>
            </a:r>
            <a:r>
              <a:rPr lang="en-US" altLang="zh-CN" sz="2000" b="1">
                <a:solidFill>
                  <a:schemeClr val="tx1"/>
                </a:solidFill>
              </a:rPr>
              <a:t> fall into the trap of</a:t>
            </a:r>
            <a:endParaRPr lang="en-US" altLang="zh-CN" sz="2000" b="1">
              <a:solidFill>
                <a:schemeClr val="tx1"/>
              </a:solidFill>
            </a:endParaRPr>
          </a:p>
          <a:p>
            <a:pPr marL="285750" indent="-285750">
              <a:lnSpc>
                <a:spcPct val="120000"/>
              </a:lnSpc>
              <a:buFont typeface="Wingdings" panose="05000000000000000000" charset="0"/>
              <a:buChar char="l"/>
            </a:pPr>
            <a:r>
              <a:rPr lang="en-US" altLang="zh-CN" sz="2000" b="1" u="sng">
                <a:solidFill>
                  <a:srgbClr val="FF0000"/>
                </a:solidFill>
              </a:rPr>
              <a:t>With many teenagers</a:t>
            </a:r>
            <a:r>
              <a:rPr lang="en-US" altLang="zh-CN" sz="2000" b="1" u="sng">
                <a:solidFill>
                  <a:srgbClr val="FF0000"/>
                </a:solidFill>
                <a:highlight>
                  <a:srgbClr val="FFFF00"/>
                </a:highlight>
              </a:rPr>
              <a:t> mainpulated</a:t>
            </a:r>
            <a:r>
              <a:rPr lang="en-US" altLang="zh-CN" sz="2000" b="1" u="sng">
                <a:solidFill>
                  <a:srgbClr val="FF0000"/>
                </a:solidFill>
              </a:rPr>
              <a:t> by the media</a:t>
            </a:r>
            <a:r>
              <a:rPr lang="en-US" altLang="zh-CN" sz="2000" b="1">
                <a:solidFill>
                  <a:schemeClr val="tx1"/>
                </a:solidFill>
              </a:rPr>
              <a:t>, they tend to fall into the trap of businessmen and politicians.</a:t>
            </a:r>
            <a:endParaRPr lang="zh-CN" altLang="en-US" sz="2000" b="1">
              <a:solidFill>
                <a:schemeClr val="tx1"/>
              </a:solidFill>
            </a:endParaRPr>
          </a:p>
          <a:p>
            <a:pPr marL="285750" indent="-285750">
              <a:lnSpc>
                <a:spcPct val="120000"/>
              </a:lnSpc>
              <a:buFont typeface="Wingdings" panose="05000000000000000000" charset="0"/>
              <a:buChar char="l"/>
            </a:pPr>
            <a:endParaRPr lang="zh-CN" altLang="en-US" sz="20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324485" y="1084580"/>
            <a:ext cx="5295265" cy="1122045"/>
          </a:xfrm>
          <a:prstGeom prst="rect">
            <a:avLst/>
          </a:prstGeom>
          <a:noFill/>
          <a:ln w="9525">
            <a:noFill/>
            <a:miter lim="800000"/>
          </a:ln>
        </p:spPr>
        <p:txBody>
          <a:bodyPr vert="horz" wrap="square" lIns="91440" tIns="45720" rIns="91440" bIns="45720" numCol="1" anchor="ctr" anchorCtr="0" compatLnSpc="1"/>
          <a:lst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a:lstStyle>
          <a:p>
            <a:pPr algn="l"/>
            <a:endParaRPr lang="zh-CN" altLang="en-US" sz="3200">
              <a:solidFill>
                <a:schemeClr val="tx1"/>
              </a:solidFill>
            </a:endParaRPr>
          </a:p>
        </p:txBody>
      </p:sp>
      <p:sp>
        <p:nvSpPr>
          <p:cNvPr id="5" name="文本框 4"/>
          <p:cNvSpPr txBox="1"/>
          <p:nvPr/>
        </p:nvSpPr>
        <p:spPr>
          <a:xfrm>
            <a:off x="283210" y="581660"/>
            <a:ext cx="8814435" cy="4561840"/>
          </a:xfrm>
          <a:prstGeom prst="rect">
            <a:avLst/>
          </a:prstGeom>
          <a:noFill/>
        </p:spPr>
        <p:txBody>
          <a:bodyPr wrap="square" rtlCol="0">
            <a:noAutofit/>
          </a:bodyPr>
          <a:p>
            <a:pPr marL="285750" indent="-285750">
              <a:lnSpc>
                <a:spcPct val="120000"/>
              </a:lnSpc>
              <a:buFont typeface="Wingdings" panose="05000000000000000000" charset="0"/>
              <a:buChar char="l"/>
            </a:pPr>
            <a:r>
              <a:rPr lang="en-US" altLang="zh-CN" sz="2400" b="1" u="sng">
                <a:solidFill>
                  <a:srgbClr val="FF0000"/>
                </a:solidFill>
              </a:rPr>
              <a:t>with+n+</a:t>
            </a:r>
            <a:r>
              <a:rPr lang="en-US" altLang="zh-CN" sz="2400" b="1" u="sng">
                <a:solidFill>
                  <a:srgbClr val="FF0000"/>
                </a:solidFill>
                <a:highlight>
                  <a:srgbClr val="FFFF00"/>
                </a:highlight>
              </a:rPr>
              <a:t>doing/done  </a:t>
            </a:r>
            <a:r>
              <a:rPr lang="zh-CN" altLang="en-US" sz="2400" b="1" u="sng">
                <a:solidFill>
                  <a:srgbClr val="FF0000"/>
                </a:solidFill>
                <a:highlight>
                  <a:srgbClr val="FFFF00"/>
                </a:highlight>
              </a:rPr>
              <a:t>有</a:t>
            </a:r>
            <a:endParaRPr lang="zh-CN" altLang="en-US" sz="2400" b="1" u="sng">
              <a:solidFill>
                <a:srgbClr val="FF0000"/>
              </a:solidFill>
              <a:highlight>
                <a:srgbClr val="FFFF00"/>
              </a:highlight>
            </a:endParaRPr>
          </a:p>
          <a:p>
            <a:pPr marL="285750" indent="-285750">
              <a:lnSpc>
                <a:spcPct val="120000"/>
              </a:lnSpc>
              <a:buFont typeface="Wingdings" panose="05000000000000000000" charset="0"/>
              <a:buChar char="l"/>
            </a:pPr>
            <a:r>
              <a:rPr lang="zh-CN" altLang="en-US" sz="2400" b="1">
                <a:solidFill>
                  <a:schemeClr val="tx1"/>
                </a:solidFill>
              </a:rPr>
              <a:t>很多毕业生发现在大城市找工作很困难，有很多申请者为同一个工作竞争。</a:t>
            </a:r>
            <a:endParaRPr lang="en-US" altLang="zh-CN" sz="2400" b="1">
              <a:solidFill>
                <a:schemeClr val="tx1"/>
              </a:solidFill>
            </a:endParaRPr>
          </a:p>
          <a:p>
            <a:pPr marL="285750" indent="-285750">
              <a:lnSpc>
                <a:spcPct val="120000"/>
              </a:lnSpc>
              <a:buFont typeface="Wingdings" panose="05000000000000000000" charset="0"/>
              <a:buChar char="l"/>
            </a:pPr>
            <a:r>
              <a:rPr lang="en-US" altLang="zh-CN" sz="2400" b="1">
                <a:solidFill>
                  <a:schemeClr val="tx1"/>
                </a:solidFill>
              </a:rPr>
              <a:t>Many graduates may find it difficult to secure a job in the metropolis, </a:t>
            </a:r>
            <a:r>
              <a:rPr lang="en-US" altLang="zh-CN" sz="2400" b="1" u="sng">
                <a:solidFill>
                  <a:srgbClr val="FF0000"/>
                </a:solidFill>
              </a:rPr>
              <a:t>with so many applicants</a:t>
            </a:r>
            <a:r>
              <a:rPr lang="en-US" altLang="zh-CN" sz="2400" b="1" u="sng">
                <a:solidFill>
                  <a:srgbClr val="FF0000"/>
                </a:solidFill>
                <a:highlight>
                  <a:srgbClr val="FFFF00"/>
                </a:highlight>
              </a:rPr>
              <a:t> competing</a:t>
            </a:r>
            <a:r>
              <a:rPr lang="en-US" altLang="zh-CN" sz="2400" b="1" u="sng">
                <a:solidFill>
                  <a:srgbClr val="FF0000"/>
                </a:solidFill>
              </a:rPr>
              <a:t> for one position</a:t>
            </a:r>
            <a:r>
              <a:rPr lang="en-US" altLang="zh-CN" sz="2400" b="1">
                <a:solidFill>
                  <a:schemeClr val="tx1"/>
                </a:solidFill>
              </a:rPr>
              <a:t>. </a:t>
            </a:r>
            <a:endParaRPr lang="en-US" altLang="zh-CN" sz="2400" b="1">
              <a:solidFill>
                <a:schemeClr val="tx1"/>
              </a:solidFill>
            </a:endParaRPr>
          </a:p>
          <a:p>
            <a:pPr marL="285750" indent="-285750">
              <a:lnSpc>
                <a:spcPct val="120000"/>
              </a:lnSpc>
              <a:buFont typeface="Wingdings" panose="05000000000000000000" charset="0"/>
              <a:buChar char="l"/>
            </a:pPr>
            <a:r>
              <a:rPr lang="zh-CN" altLang="en-US" sz="2400" b="1">
                <a:solidFill>
                  <a:schemeClr val="tx1"/>
                </a:solidFill>
              </a:rPr>
              <a:t>这个村庄已经被发展地很好，有很多路被添加在那里。</a:t>
            </a:r>
            <a:endParaRPr lang="en-US" altLang="zh-CN" sz="2400" b="1">
              <a:solidFill>
                <a:schemeClr val="tx1"/>
              </a:solidFill>
            </a:endParaRPr>
          </a:p>
          <a:p>
            <a:pPr marL="285750" indent="-285750">
              <a:lnSpc>
                <a:spcPct val="120000"/>
              </a:lnSpc>
              <a:buFont typeface="Wingdings" panose="05000000000000000000" charset="0"/>
              <a:buChar char="l"/>
            </a:pPr>
            <a:r>
              <a:rPr lang="en-US" altLang="zh-CN" sz="2400" b="1">
                <a:solidFill>
                  <a:schemeClr val="tx1"/>
                </a:solidFill>
              </a:rPr>
              <a:t>The village has been developed well, </a:t>
            </a:r>
            <a:r>
              <a:rPr lang="en-US" altLang="zh-CN" sz="2400" b="1" u="sng">
                <a:solidFill>
                  <a:srgbClr val="FF0000"/>
                </a:solidFill>
              </a:rPr>
              <a:t>with many roads </a:t>
            </a:r>
            <a:r>
              <a:rPr lang="en-US" altLang="zh-CN" sz="2400" b="1" u="sng">
                <a:solidFill>
                  <a:srgbClr val="FF0000"/>
                </a:solidFill>
                <a:highlight>
                  <a:srgbClr val="FFFF00"/>
                </a:highlight>
              </a:rPr>
              <a:t>added </a:t>
            </a:r>
            <a:r>
              <a:rPr lang="en-US" altLang="zh-CN" sz="2400" b="1" u="sng">
                <a:solidFill>
                  <a:srgbClr val="FF0000"/>
                </a:solidFill>
              </a:rPr>
              <a:t>there</a:t>
            </a:r>
            <a:r>
              <a:rPr lang="en-US" altLang="zh-CN" sz="2400" b="1">
                <a:solidFill>
                  <a:schemeClr val="tx1"/>
                </a:solidFill>
              </a:rPr>
              <a:t>.</a:t>
            </a:r>
            <a:endParaRPr lang="en-US" altLang="zh-CN" sz="2400" b="1">
              <a:solidFill>
                <a:schemeClr val="tx1"/>
              </a:solidFill>
            </a:endParaRPr>
          </a:p>
          <a:p>
            <a:pPr marL="285750" indent="-285750">
              <a:lnSpc>
                <a:spcPct val="120000"/>
              </a:lnSpc>
              <a:buFont typeface="Wingdings" panose="05000000000000000000" charset="0"/>
              <a:buChar char="l"/>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500"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500"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500"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102139" y="2067547"/>
            <a:ext cx="5357850" cy="500066"/>
          </a:xfrm>
        </p:spPr>
        <p:txBody>
          <a:bodyPr/>
          <a:p>
            <a:pPr algn="ctr"/>
            <a:r>
              <a:rPr lang="zh-CN" altLang="en-US">
                <a:solidFill>
                  <a:schemeClr val="tx1"/>
                </a:solidFill>
              </a:rPr>
              <a:t>五种时态</a:t>
            </a:r>
            <a:endParaRPr lang="zh-CN" altLang="en-US">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8139430" cy="500380"/>
          </a:xfrm>
        </p:spPr>
        <p:txBody>
          <a:bodyPr/>
          <a:p>
            <a:r>
              <a:rPr lang="zh-CN" altLang="en-US" sz="2400">
                <a:solidFill>
                  <a:schemeClr val="tx1"/>
                </a:solidFill>
              </a:rPr>
              <a:t>一般过去时（动态图</a:t>
            </a:r>
            <a:r>
              <a:rPr lang="en-US" altLang="zh-CN" sz="2400">
                <a:solidFill>
                  <a:schemeClr val="tx1"/>
                </a:solidFill>
              </a:rPr>
              <a:t>&amp;</a:t>
            </a:r>
            <a:r>
              <a:rPr lang="zh-CN" altLang="en-US" sz="2400">
                <a:solidFill>
                  <a:schemeClr val="tx1"/>
                </a:solidFill>
              </a:rPr>
              <a:t>静态图）</a:t>
            </a:r>
            <a:endParaRPr lang="zh-CN" altLang="en-US" sz="2400">
              <a:solidFill>
                <a:schemeClr val="tx1"/>
              </a:solidFill>
            </a:endParaRPr>
          </a:p>
        </p:txBody>
      </p:sp>
      <p:graphicFrame>
        <p:nvGraphicFramePr>
          <p:cNvPr id="4" name="内容占位符 3"/>
          <p:cNvGraphicFramePr/>
          <p:nvPr>
            <p:ph idx="1"/>
            <p:custDataLst>
              <p:tags r:id="rId1"/>
            </p:custDataLst>
          </p:nvPr>
        </p:nvGraphicFramePr>
        <p:xfrm>
          <a:off x="265430" y="1347470"/>
          <a:ext cx="8695055" cy="2379980"/>
        </p:xfrm>
        <a:graphic>
          <a:graphicData uri="http://schemas.openxmlformats.org/drawingml/2006/table">
            <a:tbl>
              <a:tblPr firstRow="1" bandRow="1">
                <a:tableStyleId>{5C22544A-7EE6-4342-B048-85BDC9FD1C3A}</a:tableStyleId>
              </a:tblPr>
              <a:tblGrid>
                <a:gridCol w="4022090"/>
                <a:gridCol w="4672965"/>
              </a:tblGrid>
              <a:tr h="530225">
                <a:tc>
                  <a:txBody>
                    <a:bodyPr/>
                    <a:p>
                      <a:pPr>
                        <a:buNone/>
                      </a:pPr>
                      <a:r>
                        <a:rPr lang="zh-CN" altLang="en-US" sz="2000"/>
                        <a:t>主动</a:t>
                      </a:r>
                      <a:r>
                        <a:rPr lang="en-US" altLang="zh-CN" sz="2000"/>
                        <a:t>  </a:t>
                      </a:r>
                      <a:r>
                        <a:rPr lang="en-US" altLang="zh-CN" sz="2000"/>
                        <a:t>did</a:t>
                      </a:r>
                      <a:endParaRPr lang="en-US" altLang="zh-CN" sz="2000"/>
                    </a:p>
                  </a:txBody>
                  <a:tcPr/>
                </a:tc>
                <a:tc>
                  <a:txBody>
                    <a:bodyPr/>
                    <a:p>
                      <a:pPr>
                        <a:buNone/>
                      </a:pPr>
                      <a:r>
                        <a:rPr lang="zh-CN" altLang="en-US" sz="2000"/>
                        <a:t>被动</a:t>
                      </a:r>
                      <a:r>
                        <a:rPr lang="en-US" altLang="zh-CN" sz="2000"/>
                        <a:t>  was/were done</a:t>
                      </a:r>
                      <a:endParaRPr lang="en-US" altLang="zh-CN" sz="2000"/>
                    </a:p>
                  </a:txBody>
                  <a:tcPr/>
                </a:tc>
              </a:tr>
              <a:tr h="789305">
                <a:tc>
                  <a:txBody>
                    <a:bodyPr/>
                    <a:p>
                      <a:pPr>
                        <a:buNone/>
                      </a:pPr>
                      <a:r>
                        <a:rPr lang="en-US" altLang="zh-CN" sz="2400" b="1"/>
                        <a:t>The proportion </a:t>
                      </a:r>
                      <a:r>
                        <a:rPr lang="en-US" altLang="zh-CN" sz="2400" b="1"/>
                        <a:t>of girls saw a dramatic increase.</a:t>
                      </a:r>
                      <a:endParaRPr lang="en-US" altLang="zh-CN" sz="2400" b="1"/>
                    </a:p>
                  </a:txBody>
                  <a:tcPr/>
                </a:tc>
                <a:tc>
                  <a:txBody>
                    <a:bodyPr/>
                    <a:p>
                      <a:pPr>
                        <a:buNone/>
                      </a:pPr>
                      <a:r>
                        <a:rPr lang="en-US" altLang="zh-CN" sz="2400" b="1"/>
                        <a:t>A dramatic increase was seen in the proportion of girls.</a:t>
                      </a:r>
                      <a:endParaRPr lang="en-US" altLang="zh-CN" sz="2400" b="1"/>
                    </a:p>
                  </a:txBody>
                  <a:tcPr/>
                </a:tc>
              </a:tr>
              <a:tr h="530225">
                <a:tc>
                  <a:txBody>
                    <a:bodyPr/>
                    <a:p>
                      <a:pPr>
                        <a:buNone/>
                      </a:pPr>
                      <a:r>
                        <a:rPr lang="en-US" altLang="zh-CN" sz="2400" b="1"/>
                        <a:t>The girls wearing white T-shirts </a:t>
                      </a:r>
                      <a:r>
                        <a:rPr lang="en-US" altLang="zh-CN" sz="2400" b="1" u="sng">
                          <a:solidFill>
                            <a:srgbClr val="FF0000"/>
                          </a:solidFill>
                        </a:rPr>
                        <a:t>accounted for</a:t>
                      </a:r>
                      <a:r>
                        <a:rPr lang="en-US" altLang="zh-CN" sz="2400" b="1"/>
                        <a:t> 50% of all girls in 1998.</a:t>
                      </a:r>
                      <a:endParaRPr lang="en-US" altLang="zh-CN" sz="2400" b="1"/>
                    </a:p>
                  </a:txBody>
                  <a:tcPr/>
                </a:tc>
                <a:tc>
                  <a:txBody>
                    <a:bodyPr/>
                    <a:p>
                      <a:pPr>
                        <a:buNone/>
                      </a:pPr>
                      <a:endParaRPr lang="zh-CN" altLang="en-US" b="1"/>
                    </a:p>
                  </a:txBody>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843280"/>
            <a:ext cx="8547735" cy="3814445"/>
          </a:xfrm>
        </p:spPr>
        <p:txBody>
          <a:bodyPr/>
          <a:p>
            <a:pPr marL="0" indent="0">
              <a:buNone/>
            </a:pPr>
            <a:r>
              <a:rPr lang="en-US" altLang="zh-CN" sz="2400" b="1">
                <a:solidFill>
                  <a:schemeClr val="tx1"/>
                </a:solidFill>
              </a:rPr>
              <a:t>①介绍句</a:t>
            </a:r>
            <a:endParaRPr lang="en-US" altLang="zh-CN" sz="2400" b="1">
              <a:solidFill>
                <a:schemeClr val="tx1"/>
              </a:solidFill>
            </a:endParaRPr>
          </a:p>
          <a:p>
            <a:pPr marL="0" indent="0">
              <a:buNone/>
            </a:pPr>
            <a:r>
              <a:rPr lang="en-US" altLang="zh-CN" sz="2400" b="1" u="sng">
                <a:solidFill>
                  <a:srgbClr val="FF0000"/>
                </a:solidFill>
              </a:rPr>
              <a:t>The line chart illustrates the changes in .....</a:t>
            </a:r>
            <a:endParaRPr lang="en-US" altLang="zh-CN" sz="2400" b="1" u="sng">
              <a:solidFill>
                <a:srgbClr val="FF0000"/>
              </a:solidFill>
            </a:endParaRPr>
          </a:p>
          <a:p>
            <a:pPr marL="0" indent="0">
              <a:buNone/>
            </a:pPr>
            <a:r>
              <a:rPr lang="en-US" altLang="zh-CN" sz="2400" b="1">
                <a:solidFill>
                  <a:schemeClr val="tx1"/>
                </a:solidFill>
              </a:rPr>
              <a:t>这个折线图展示了女生和男生的比例的变化在1993</a:t>
            </a:r>
            <a:r>
              <a:rPr lang="en-US" altLang="zh-CN" sz="2400" b="1">
                <a:solidFill>
                  <a:schemeClr val="tx1"/>
                </a:solidFill>
              </a:rPr>
              <a:t>到2003年。</a:t>
            </a:r>
            <a:endParaRPr lang="en-US" altLang="zh-CN" sz="2400" b="1">
              <a:solidFill>
                <a:schemeClr val="tx1"/>
              </a:solidFill>
            </a:endParaRPr>
          </a:p>
          <a:p>
            <a:pPr marL="0" indent="0">
              <a:buNone/>
            </a:pPr>
            <a:r>
              <a:rPr lang="en-US" altLang="zh-CN" sz="2400" b="1" u="sng">
                <a:solidFill>
                  <a:srgbClr val="FF0000"/>
                </a:solidFill>
              </a:rPr>
              <a:t>The line chart illustrates the changes in</a:t>
            </a:r>
            <a:r>
              <a:rPr lang="en-US" altLang="zh-CN" sz="2400" b="1">
                <a:solidFill>
                  <a:schemeClr val="tx1"/>
                </a:solidFill>
              </a:rPr>
              <a:t> the proportion of girls and boys from 1993 to 2002.</a:t>
            </a:r>
            <a:endParaRPr lang="en-US" altLang="zh-CN" sz="2400" b="1">
              <a:solidFill>
                <a:schemeClr val="tx1"/>
              </a:solidFill>
            </a:endParaRPr>
          </a:p>
          <a:p>
            <a:pPr marL="0" indent="0">
              <a:buNone/>
            </a:pPr>
            <a:r>
              <a:rPr lang="en-US" altLang="zh-CN" sz="2400" b="1">
                <a:solidFill>
                  <a:schemeClr val="tx1"/>
                </a:solidFill>
              </a:rPr>
              <a:t>这个折线图展示了四种交通方式所运输的货物的量的变化从1992到1998。</a:t>
            </a:r>
            <a:endParaRPr lang="en-US" altLang="zh-CN" sz="2400" b="1">
              <a:solidFill>
                <a:schemeClr val="tx1"/>
              </a:solidFill>
            </a:endParaRPr>
          </a:p>
          <a:p>
            <a:pPr marL="0" indent="0">
              <a:buNone/>
            </a:pPr>
            <a:r>
              <a:rPr lang="en-US" altLang="zh-CN" sz="2400" b="1" u="sng">
                <a:solidFill>
                  <a:srgbClr val="FF0000"/>
                </a:solidFill>
              </a:rPr>
              <a:t>The line chart illustrates the changes in</a:t>
            </a:r>
            <a:r>
              <a:rPr lang="en-US" altLang="zh-CN" sz="2400" b="1">
                <a:solidFill>
                  <a:schemeClr val="tx1"/>
                </a:solidFill>
              </a:rPr>
              <a:t> the amount of goods transported by four different types of modes between 1992 and 1998.</a:t>
            </a:r>
            <a:endParaRPr lang="en-US" altLang="zh-CN" sz="2400" b="1">
              <a:solidFill>
                <a:schemeClr val="tx1"/>
              </a:solidFill>
            </a:endParaRPr>
          </a:p>
        </p:txBody>
      </p:sp>
      <p:sp>
        <p:nvSpPr>
          <p:cNvPr id="4" name="标题 3"/>
          <p:cNvSpPr/>
          <p:nvPr>
            <p:ph type="title"/>
          </p:nvPr>
        </p:nvSpPr>
        <p:spPr>
          <a:xfrm>
            <a:off x="252095" y="194945"/>
            <a:ext cx="8486775" cy="500380"/>
          </a:xfrm>
        </p:spPr>
        <p:txBody>
          <a:bodyPr/>
          <a:p>
            <a:r>
              <a:rPr lang="zh-CN" altLang="en-US" sz="3600" b="1">
                <a:solidFill>
                  <a:schemeClr val="tx1"/>
                </a:solidFill>
                <a:latin typeface="+mn-lt"/>
                <a:ea typeface="+mn-ea"/>
                <a:cs typeface="+mn-cs"/>
                <a:sym typeface="+mn-ea"/>
              </a:rPr>
              <a:t>动态图的常用句型</a:t>
            </a:r>
            <a:endParaRPr lang="zh-CN" altLang="en-US" sz="3600" b="1">
              <a:solidFill>
                <a:schemeClr val="tx1"/>
              </a:solidFill>
              <a:latin typeface="+mn-lt"/>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843280"/>
            <a:ext cx="8547735" cy="3814445"/>
          </a:xfrm>
        </p:spPr>
        <p:txBody>
          <a:bodyPr/>
          <a:p>
            <a:pPr marL="0" indent="0">
              <a:buNone/>
            </a:pPr>
            <a:r>
              <a:rPr b="1">
                <a:solidFill>
                  <a:schemeClr val="tx1"/>
                </a:solidFill>
              </a:rPr>
              <a:t>②句型多样性</a:t>
            </a:r>
            <a:endParaRPr lang="en-US" altLang="zh-CN" b="1">
              <a:solidFill>
                <a:schemeClr val="tx1"/>
              </a:solidFill>
            </a:endParaRPr>
          </a:p>
          <a:p>
            <a:pPr marL="0" indent="0">
              <a:buNone/>
            </a:pPr>
            <a:r>
              <a:rPr lang="en-US" altLang="zh-CN" b="1">
                <a:solidFill>
                  <a:schemeClr val="tx1"/>
                </a:solidFill>
              </a:rPr>
              <a:t>The proportion of girls </a:t>
            </a:r>
            <a:r>
              <a:rPr lang="en-US" altLang="zh-CN" b="1" u="sng">
                <a:solidFill>
                  <a:schemeClr val="tx1"/>
                </a:solidFill>
              </a:rPr>
              <a:t>increased dramatically</a:t>
            </a:r>
            <a:r>
              <a:rPr lang="en-US" altLang="zh-CN" b="1">
                <a:solidFill>
                  <a:schemeClr val="tx1"/>
                </a:solidFill>
              </a:rPr>
              <a:t>.</a:t>
            </a:r>
            <a:endParaRPr lang="en-US" altLang="zh-CN" b="1">
              <a:solidFill>
                <a:schemeClr val="tx1"/>
              </a:solidFill>
            </a:endParaRPr>
          </a:p>
          <a:p>
            <a:pPr marL="0" indent="0">
              <a:buNone/>
            </a:pPr>
            <a:r>
              <a:rPr lang="en-US" altLang="zh-CN" b="1">
                <a:solidFill>
                  <a:schemeClr val="tx1"/>
                </a:solidFill>
              </a:rPr>
              <a:t>The proportion of girls </a:t>
            </a:r>
            <a:r>
              <a:rPr lang="en-US" altLang="zh-CN" b="1" u="sng">
                <a:solidFill>
                  <a:schemeClr val="tx1"/>
                </a:solidFill>
              </a:rPr>
              <a:t>saw a dramatic increase</a:t>
            </a:r>
            <a:r>
              <a:rPr lang="en-US" altLang="zh-CN" b="1">
                <a:solidFill>
                  <a:schemeClr val="tx1"/>
                </a:solidFill>
              </a:rPr>
              <a:t>.</a:t>
            </a:r>
            <a:endParaRPr lang="en-US" altLang="zh-CN" b="1">
              <a:solidFill>
                <a:schemeClr val="tx1"/>
              </a:solidFill>
            </a:endParaRPr>
          </a:p>
          <a:p>
            <a:pPr marL="0" indent="0">
              <a:buNone/>
            </a:pPr>
            <a:r>
              <a:rPr lang="en-US" altLang="zh-CN" b="1" u="sng">
                <a:solidFill>
                  <a:schemeClr val="tx1"/>
                </a:solidFill>
              </a:rPr>
              <a:t>There was a dramatic increase</a:t>
            </a:r>
            <a:r>
              <a:rPr lang="en-US" altLang="zh-CN" b="1">
                <a:solidFill>
                  <a:schemeClr val="tx1"/>
                </a:solidFill>
              </a:rPr>
              <a:t> in the proportion of girls.</a:t>
            </a:r>
            <a:endParaRPr lang="en-US" altLang="zh-CN" b="1">
              <a:solidFill>
                <a:schemeClr val="tx1"/>
              </a:solidFill>
            </a:endParaRPr>
          </a:p>
          <a:p>
            <a:pPr marL="0" indent="0">
              <a:buNone/>
            </a:pPr>
            <a:r>
              <a:rPr lang="en-US" altLang="zh-CN" b="1">
                <a:solidFill>
                  <a:schemeClr val="tx1"/>
                </a:solidFill>
              </a:rPr>
              <a:t>A dramatic increase </a:t>
            </a:r>
            <a:r>
              <a:rPr lang="en-US" altLang="zh-CN" b="1" u="sng">
                <a:solidFill>
                  <a:schemeClr val="tx1"/>
                </a:solidFill>
              </a:rPr>
              <a:t>was seen </a:t>
            </a:r>
            <a:r>
              <a:rPr lang="en-US" altLang="zh-CN" b="1">
                <a:solidFill>
                  <a:schemeClr val="tx1"/>
                </a:solidFill>
              </a:rPr>
              <a:t>in the proportion of girls.</a:t>
            </a:r>
            <a:endParaRPr lang="en-US" altLang="zh-CN" b="1">
              <a:solidFill>
                <a:schemeClr val="tx1"/>
              </a:solidFill>
            </a:endParaRPr>
          </a:p>
          <a:p>
            <a:pPr marL="0" indent="0">
              <a:buNone/>
            </a:pPr>
            <a:r>
              <a:rPr lang="en-US" altLang="zh-CN" b="1">
                <a:solidFill>
                  <a:schemeClr val="tx1"/>
                </a:solidFill>
              </a:rPr>
              <a:t>The proportion of girls </a:t>
            </a:r>
            <a:r>
              <a:rPr lang="en-US" altLang="zh-CN" b="1" u="sng">
                <a:solidFill>
                  <a:schemeClr val="tx1"/>
                </a:solidFill>
              </a:rPr>
              <a:t>saw an increasing/upward trend in general</a:t>
            </a:r>
            <a:r>
              <a:rPr lang="en-US" altLang="zh-CN" b="1">
                <a:solidFill>
                  <a:schemeClr val="tx1"/>
                </a:solidFill>
              </a:rPr>
              <a:t>.</a:t>
            </a:r>
            <a:endParaRPr lang="en-US" altLang="zh-CN" b="1">
              <a:solidFill>
                <a:schemeClr val="tx1"/>
              </a:solidFill>
            </a:endParaRPr>
          </a:p>
          <a:p>
            <a:pPr marL="0" indent="0">
              <a:buNone/>
            </a:pPr>
            <a:r>
              <a:rPr b="1">
                <a:solidFill>
                  <a:schemeClr val="tx1"/>
                </a:solidFill>
              </a:rPr>
              <a:t>男孩的比例缓慢地下降。</a:t>
            </a:r>
            <a:endParaRPr lang="en-US" altLang="zh-CN" b="1">
              <a:solidFill>
                <a:schemeClr val="tx1"/>
              </a:solidFill>
            </a:endParaRPr>
          </a:p>
          <a:p>
            <a:pPr marL="0" indent="0">
              <a:buNone/>
            </a:pPr>
            <a:endParaRPr lang="en-US" altLang="zh-CN" b="1">
              <a:solidFill>
                <a:schemeClr val="tx1"/>
              </a:solidFill>
            </a:endParaRPr>
          </a:p>
        </p:txBody>
      </p:sp>
      <p:sp>
        <p:nvSpPr>
          <p:cNvPr id="4" name="标题 3"/>
          <p:cNvSpPr/>
          <p:nvPr>
            <p:ph type="title"/>
          </p:nvPr>
        </p:nvSpPr>
        <p:spPr>
          <a:xfrm>
            <a:off x="252095" y="194945"/>
            <a:ext cx="8486775" cy="500380"/>
          </a:xfrm>
        </p:spPr>
        <p:txBody>
          <a:bodyPr/>
          <a:p>
            <a:r>
              <a:rPr lang="zh-CN" altLang="en-US" sz="3600" b="1">
                <a:solidFill>
                  <a:schemeClr val="tx1"/>
                </a:solidFill>
                <a:latin typeface="+mn-lt"/>
                <a:ea typeface="+mn-ea"/>
                <a:cs typeface="+mn-cs"/>
                <a:sym typeface="+mn-ea"/>
              </a:rPr>
              <a:t>动态图的常用句型</a:t>
            </a:r>
            <a:endParaRPr lang="zh-CN" altLang="en-US" sz="3600" b="1">
              <a:solidFill>
                <a:schemeClr val="tx1"/>
              </a:solidFill>
              <a:latin typeface="+mn-lt"/>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0830" y="694690"/>
            <a:ext cx="8580755" cy="3963035"/>
          </a:xfrm>
        </p:spPr>
        <p:txBody>
          <a:bodyPr/>
          <a:p>
            <a:pPr marL="0" indent="0">
              <a:lnSpc>
                <a:spcPct val="110000"/>
              </a:lnSpc>
              <a:buNone/>
            </a:pPr>
            <a:r>
              <a:rPr b="1">
                <a:solidFill>
                  <a:schemeClr val="tx1"/>
                </a:solidFill>
              </a:rPr>
              <a:t>③表示趋势对比</a:t>
            </a:r>
            <a:r>
              <a:rPr lang="en-US" altLang="zh-CN" b="1">
                <a:solidFill>
                  <a:schemeClr val="tx1"/>
                </a:solidFill>
              </a:rPr>
              <a:t>--</a:t>
            </a:r>
            <a:r>
              <a:rPr b="1">
                <a:solidFill>
                  <a:schemeClr val="tx1"/>
                </a:solidFill>
              </a:rPr>
              <a:t>并列句</a:t>
            </a:r>
            <a:r>
              <a:rPr lang="en-US" altLang="zh-CN" b="1">
                <a:solidFill>
                  <a:schemeClr val="tx1"/>
                </a:solidFill>
              </a:rPr>
              <a:t>--</a:t>
            </a:r>
            <a:r>
              <a:rPr lang="en-US" altLang="zh-CN" b="1">
                <a:solidFill>
                  <a:schemeClr val="tx1"/>
                </a:solidFill>
              </a:rPr>
              <a:t>while/whereas</a:t>
            </a:r>
            <a:endParaRPr lang="en-US" altLang="zh-CN" b="1">
              <a:solidFill>
                <a:schemeClr val="tx1"/>
              </a:solidFill>
            </a:endParaRPr>
          </a:p>
          <a:p>
            <a:pPr>
              <a:lnSpc>
                <a:spcPct val="110000"/>
              </a:lnSpc>
              <a:buFont typeface="Wingdings" panose="05000000000000000000" charset="0"/>
              <a:buChar char="l"/>
            </a:pPr>
            <a:r>
              <a:rPr lang="en-US" altLang="zh-CN" sz="2400" b="1">
                <a:solidFill>
                  <a:schemeClr val="tx1"/>
                </a:solidFill>
              </a:rPr>
              <a:t>From 1992 to 1993, a slight decrease was seen in</a:t>
            </a:r>
            <a:r>
              <a:rPr lang="en-US" altLang="zh-CN" sz="2400" b="1" u="sng">
                <a:solidFill>
                  <a:srgbClr val="FF0000"/>
                </a:solidFill>
              </a:rPr>
              <a:t> the sales of clothes in America</a:t>
            </a:r>
            <a:r>
              <a:rPr lang="en-US" altLang="zh-CN" sz="2400" b="1">
                <a:solidFill>
                  <a:schemeClr val="tx1"/>
                </a:solidFill>
              </a:rPr>
              <a:t>,</a:t>
            </a:r>
            <a:r>
              <a:rPr lang="en-US" altLang="zh-CN" sz="2400" b="1">
                <a:solidFill>
                  <a:schemeClr val="tx1"/>
                </a:solidFill>
                <a:highlight>
                  <a:srgbClr val="FFFF00"/>
                </a:highlight>
              </a:rPr>
              <a:t> while </a:t>
            </a:r>
            <a:r>
              <a:rPr lang="en-US" altLang="zh-CN" sz="2400" b="1" u="sng">
                <a:solidFill>
                  <a:srgbClr val="FF0000"/>
                </a:solidFill>
              </a:rPr>
              <a:t>those in China</a:t>
            </a:r>
            <a:r>
              <a:rPr lang="en-US" altLang="zh-CN" sz="2400" b="1">
                <a:solidFill>
                  <a:schemeClr val="tx1"/>
                </a:solidFill>
              </a:rPr>
              <a:t> increased steadily.</a:t>
            </a:r>
            <a:endParaRPr lang="en-US" altLang="zh-CN" sz="2400" b="1">
              <a:solidFill>
                <a:schemeClr val="tx1"/>
              </a:solidFill>
            </a:endParaRPr>
          </a:p>
          <a:p>
            <a:pPr>
              <a:lnSpc>
                <a:spcPct val="110000"/>
              </a:lnSpc>
              <a:buFont typeface="Wingdings" panose="05000000000000000000" charset="0"/>
              <a:buChar char="l"/>
            </a:pPr>
            <a:r>
              <a:rPr lang="en-US" altLang="zh-CN" sz="2400" b="1">
                <a:solidFill>
                  <a:schemeClr val="tx1"/>
                </a:solidFill>
              </a:rPr>
              <a:t>From 1995 to 1996, a dramatic increase was seen in </a:t>
            </a:r>
            <a:r>
              <a:rPr lang="en-US" altLang="zh-CN" sz="2400" b="1" u="sng">
                <a:solidFill>
                  <a:srgbClr val="FF0000"/>
                </a:solidFill>
              </a:rPr>
              <a:t>the output of seafood in America</a:t>
            </a:r>
            <a:r>
              <a:rPr lang="en-US" altLang="zh-CN" sz="2400" b="1">
                <a:solidFill>
                  <a:schemeClr val="tx1"/>
                </a:solidFill>
              </a:rPr>
              <a:t>, </a:t>
            </a:r>
            <a:r>
              <a:rPr lang="en-US" altLang="zh-CN" sz="2400" b="1">
                <a:solidFill>
                  <a:schemeClr val="tx1"/>
                </a:solidFill>
                <a:highlight>
                  <a:srgbClr val="FFFF00"/>
                </a:highlight>
              </a:rPr>
              <a:t>while</a:t>
            </a:r>
            <a:r>
              <a:rPr lang="en-US" altLang="zh-CN" sz="2400" b="1">
                <a:solidFill>
                  <a:schemeClr val="tx1"/>
                </a:solidFill>
              </a:rPr>
              <a:t> </a:t>
            </a:r>
            <a:r>
              <a:rPr lang="en-US" altLang="zh-CN" sz="2400" b="1" u="sng">
                <a:solidFill>
                  <a:srgbClr val="FF0000"/>
                </a:solidFill>
              </a:rPr>
              <a:t>that in China</a:t>
            </a:r>
            <a:r>
              <a:rPr lang="en-US" altLang="zh-CN" sz="2400" b="1">
                <a:solidFill>
                  <a:schemeClr val="tx1"/>
                </a:solidFill>
              </a:rPr>
              <a:t> decreased constantly.</a:t>
            </a:r>
            <a:endParaRPr lang="en-US" altLang="zh-CN" sz="2400" b="1">
              <a:solidFill>
                <a:schemeClr val="tx1"/>
              </a:solidFill>
            </a:endParaRPr>
          </a:p>
          <a:p>
            <a:pPr marL="0" indent="0">
              <a:buNone/>
            </a:pPr>
            <a:endParaRPr lang="en-US" altLang="zh-CN" b="1">
              <a:solidFill>
                <a:schemeClr val="tx1"/>
              </a:solidFill>
            </a:endParaRPr>
          </a:p>
          <a:p>
            <a:pPr marL="0" indent="0">
              <a:buNone/>
            </a:pPr>
            <a:endParaRPr lang="en-US" altLang="zh-CN" b="1">
              <a:solidFill>
                <a:schemeClr val="tx1"/>
              </a:solidFill>
            </a:endParaRPr>
          </a:p>
        </p:txBody>
      </p:sp>
      <p:sp>
        <p:nvSpPr>
          <p:cNvPr id="4" name="标题 3"/>
          <p:cNvSpPr/>
          <p:nvPr>
            <p:ph type="title"/>
          </p:nvPr>
        </p:nvSpPr>
        <p:spPr>
          <a:xfrm>
            <a:off x="252095" y="194945"/>
            <a:ext cx="8486775" cy="500380"/>
          </a:xfrm>
        </p:spPr>
        <p:txBody>
          <a:bodyPr/>
          <a:p>
            <a:r>
              <a:rPr lang="zh-CN" altLang="en-US" sz="3600" b="1">
                <a:solidFill>
                  <a:schemeClr val="tx1"/>
                </a:solidFill>
                <a:latin typeface="+mn-lt"/>
                <a:ea typeface="+mn-ea"/>
                <a:cs typeface="+mn-cs"/>
                <a:sym typeface="+mn-ea"/>
              </a:rPr>
              <a:t>动态图的常用句型</a:t>
            </a:r>
            <a:endParaRPr lang="zh-CN" altLang="en-US" sz="3600" b="1">
              <a:solidFill>
                <a:schemeClr val="tx1"/>
              </a:solidFill>
              <a:latin typeface="+mn-lt"/>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843280"/>
            <a:ext cx="8547735" cy="3814445"/>
          </a:xfrm>
        </p:spPr>
        <p:txBody>
          <a:bodyPr/>
          <a:p>
            <a:pPr marL="0" indent="0">
              <a:buNone/>
            </a:pPr>
            <a:r>
              <a:rPr b="1">
                <a:solidFill>
                  <a:schemeClr val="tx1"/>
                </a:solidFill>
              </a:rPr>
              <a:t>④表示交点</a:t>
            </a:r>
            <a:r>
              <a:rPr lang="en-US" altLang="zh-CN" b="1">
                <a:solidFill>
                  <a:schemeClr val="tx1"/>
                </a:solidFill>
              </a:rPr>
              <a:t>--</a:t>
            </a:r>
            <a:r>
              <a:rPr b="1">
                <a:solidFill>
                  <a:schemeClr val="tx1"/>
                </a:solidFill>
              </a:rPr>
              <a:t>并列句</a:t>
            </a:r>
            <a:r>
              <a:rPr lang="en-US" altLang="zh-CN" b="1">
                <a:solidFill>
                  <a:schemeClr val="tx1"/>
                </a:solidFill>
              </a:rPr>
              <a:t>--and</a:t>
            </a:r>
            <a:endParaRPr lang="en-US" altLang="zh-CN" b="1">
              <a:solidFill>
                <a:schemeClr val="tx1"/>
              </a:solidFill>
            </a:endParaRPr>
          </a:p>
          <a:p>
            <a:pPr>
              <a:buFont typeface="Wingdings" panose="05000000000000000000" charset="0"/>
              <a:buChar char="l"/>
            </a:pPr>
            <a:r>
              <a:rPr lang="en-US" altLang="zh-CN" sz="2400" b="1">
                <a:solidFill>
                  <a:schemeClr val="tx1"/>
                </a:solidFill>
              </a:rPr>
              <a:t>exceed; overtake; surpass </a:t>
            </a:r>
            <a:r>
              <a:rPr sz="2400" b="1">
                <a:solidFill>
                  <a:schemeClr val="tx1"/>
                </a:solidFill>
              </a:rPr>
              <a:t>（超过）</a:t>
            </a:r>
            <a:endParaRPr sz="2400" b="1">
              <a:solidFill>
                <a:schemeClr val="tx1"/>
              </a:solidFill>
            </a:endParaRPr>
          </a:p>
          <a:p>
            <a:pPr>
              <a:buFont typeface="Wingdings" panose="05000000000000000000" charset="0"/>
              <a:buChar char="l"/>
            </a:pPr>
            <a:r>
              <a:rPr lang="en-US" altLang="zh-CN" sz="2400" b="1">
                <a:solidFill>
                  <a:schemeClr val="tx1"/>
                </a:solidFill>
              </a:rPr>
              <a:t>The sales of children’s book </a:t>
            </a:r>
            <a:r>
              <a:rPr lang="en-US" altLang="zh-CN" sz="2400" b="1" u="sng">
                <a:solidFill>
                  <a:srgbClr val="FF0000"/>
                </a:solidFill>
              </a:rPr>
              <a:t>exceeded</a:t>
            </a:r>
            <a:r>
              <a:rPr lang="en-US" altLang="zh-CN" sz="2400" b="1">
                <a:solidFill>
                  <a:schemeClr val="tx1"/>
                </a:solidFill>
              </a:rPr>
              <a:t> those of adults’ fiction, </a:t>
            </a:r>
            <a:r>
              <a:rPr lang="en-US" altLang="zh-CN" sz="2400" b="1">
                <a:solidFill>
                  <a:schemeClr val="tx1"/>
                </a:solidFill>
                <a:highlight>
                  <a:srgbClr val="FFFF00"/>
                </a:highlight>
              </a:rPr>
              <a:t>and</a:t>
            </a:r>
            <a:r>
              <a:rPr lang="en-US" altLang="zh-CN" sz="2400" b="1">
                <a:solidFill>
                  <a:schemeClr val="tx1"/>
                </a:solidFill>
              </a:rPr>
              <a:t> the former </a:t>
            </a:r>
            <a:r>
              <a:rPr lang="en-US" altLang="zh-CN" sz="2400" b="1" u="sng">
                <a:solidFill>
                  <a:srgbClr val="FF0000"/>
                </a:solidFill>
              </a:rPr>
              <a:t>had become the best-seller since about 1994</a:t>
            </a:r>
            <a:r>
              <a:rPr lang="en-US" altLang="zh-CN" sz="2400" b="1">
                <a:solidFill>
                  <a:schemeClr val="tx1"/>
                </a:solidFill>
              </a:rPr>
              <a:t>.</a:t>
            </a:r>
            <a:endParaRPr lang="en-US" altLang="zh-CN" sz="2400" b="1">
              <a:solidFill>
                <a:schemeClr val="tx1"/>
              </a:solidFill>
            </a:endParaRPr>
          </a:p>
          <a:p>
            <a:pPr>
              <a:buFont typeface="Wingdings" panose="05000000000000000000" charset="0"/>
              <a:buChar char="l"/>
            </a:pPr>
            <a:r>
              <a:rPr lang="en-US" altLang="zh-CN" sz="2400" b="1">
                <a:solidFill>
                  <a:schemeClr val="tx1"/>
                </a:solidFill>
              </a:rPr>
              <a:t>In 2030, the production of vegetables in America</a:t>
            </a:r>
            <a:r>
              <a:rPr lang="en-US" altLang="zh-CN" sz="2400" b="1" u="sng">
                <a:solidFill>
                  <a:srgbClr val="FF0000"/>
                </a:solidFill>
              </a:rPr>
              <a:t> is predicted to exceed </a:t>
            </a:r>
            <a:r>
              <a:rPr lang="en-US" altLang="zh-CN" sz="2400" b="1">
                <a:solidFill>
                  <a:schemeClr val="tx1"/>
                </a:solidFill>
              </a:rPr>
              <a:t>that in Brazil,</a:t>
            </a:r>
            <a:r>
              <a:rPr lang="en-US" altLang="zh-CN" sz="2400" b="1">
                <a:solidFill>
                  <a:schemeClr val="tx1"/>
                </a:solidFill>
                <a:highlight>
                  <a:srgbClr val="FFFF00"/>
                </a:highlight>
              </a:rPr>
              <a:t> and </a:t>
            </a:r>
            <a:r>
              <a:rPr lang="en-US" altLang="zh-CN" sz="2400" b="1">
                <a:solidFill>
                  <a:schemeClr val="tx1"/>
                </a:solidFill>
              </a:rPr>
              <a:t>it </a:t>
            </a:r>
            <a:r>
              <a:rPr lang="en-US" altLang="zh-CN" sz="2400" b="1" u="sng">
                <a:solidFill>
                  <a:srgbClr val="FF0000"/>
                </a:solidFill>
              </a:rPr>
              <a:t>will become </a:t>
            </a:r>
            <a:r>
              <a:rPr lang="en-US" altLang="zh-CN" sz="2400" b="1">
                <a:solidFill>
                  <a:schemeClr val="tx1"/>
                </a:solidFill>
              </a:rPr>
              <a:t>the largest exporter of vegetables.</a:t>
            </a:r>
            <a:endParaRPr lang="en-US" altLang="zh-CN" sz="2400" b="1">
              <a:solidFill>
                <a:schemeClr val="tx1"/>
              </a:solidFill>
            </a:endParaRPr>
          </a:p>
          <a:p>
            <a:pPr>
              <a:buFont typeface="Wingdings" panose="05000000000000000000" charset="0"/>
              <a:buChar char="l"/>
            </a:pPr>
            <a:r>
              <a:rPr lang="en-US" altLang="zh-CN" sz="2400" b="1">
                <a:solidFill>
                  <a:schemeClr val="tx1"/>
                </a:solidFill>
              </a:rPr>
              <a:t>In 2050, the proportion of the elderly in China </a:t>
            </a:r>
            <a:r>
              <a:rPr lang="en-US" altLang="zh-CN" sz="2400" b="1" u="sng">
                <a:solidFill>
                  <a:srgbClr val="FF0000"/>
                </a:solidFill>
              </a:rPr>
              <a:t>is predicted to excceed </a:t>
            </a:r>
            <a:r>
              <a:rPr lang="en-US" altLang="zh-CN" sz="2400" b="1">
                <a:solidFill>
                  <a:schemeClr val="tx1"/>
                </a:solidFill>
              </a:rPr>
              <a:t>that in Japan, </a:t>
            </a:r>
            <a:r>
              <a:rPr lang="en-US" altLang="zh-CN" sz="2400" b="1">
                <a:solidFill>
                  <a:schemeClr val="tx1"/>
                </a:solidFill>
                <a:highlight>
                  <a:srgbClr val="FFFF00"/>
                </a:highlight>
              </a:rPr>
              <a:t>and</a:t>
            </a:r>
            <a:r>
              <a:rPr lang="en-US" altLang="zh-CN" sz="2400" b="1">
                <a:solidFill>
                  <a:schemeClr val="tx1"/>
                </a:solidFill>
              </a:rPr>
              <a:t> it </a:t>
            </a:r>
            <a:r>
              <a:rPr lang="en-US" altLang="zh-CN" sz="2400" b="1" u="sng">
                <a:solidFill>
                  <a:srgbClr val="FF0000"/>
                </a:solidFill>
              </a:rPr>
              <a:t>will become</a:t>
            </a:r>
            <a:r>
              <a:rPr lang="en-US" altLang="zh-CN" sz="2400" b="1">
                <a:solidFill>
                  <a:schemeClr val="tx1"/>
                </a:solidFill>
              </a:rPr>
              <a:t> the most serious aging coutry.</a:t>
            </a:r>
            <a:endParaRPr lang="en-US" altLang="zh-CN" sz="2400" b="1">
              <a:solidFill>
                <a:schemeClr val="tx1"/>
              </a:solidFill>
            </a:endParaRPr>
          </a:p>
          <a:p>
            <a:pPr marL="0" indent="0">
              <a:buNone/>
            </a:pPr>
            <a:endParaRPr lang="en-US" altLang="zh-CN" sz="2400" b="1">
              <a:solidFill>
                <a:schemeClr val="tx1"/>
              </a:solidFill>
            </a:endParaRPr>
          </a:p>
          <a:p>
            <a:pPr marL="0" indent="0">
              <a:buNone/>
            </a:pPr>
            <a:endParaRPr lang="en-US" altLang="zh-CN" sz="2400" b="1">
              <a:solidFill>
                <a:schemeClr val="tx1"/>
              </a:solidFill>
            </a:endParaRPr>
          </a:p>
        </p:txBody>
      </p:sp>
      <p:sp>
        <p:nvSpPr>
          <p:cNvPr id="4" name="标题 3"/>
          <p:cNvSpPr/>
          <p:nvPr>
            <p:ph type="title"/>
          </p:nvPr>
        </p:nvSpPr>
        <p:spPr>
          <a:xfrm>
            <a:off x="252095" y="194945"/>
            <a:ext cx="8486775" cy="500380"/>
          </a:xfrm>
        </p:spPr>
        <p:txBody>
          <a:bodyPr/>
          <a:p>
            <a:pPr algn="ctr"/>
            <a:r>
              <a:rPr lang="zh-CN" altLang="en-US" sz="3200" b="1">
                <a:solidFill>
                  <a:schemeClr val="tx1"/>
                </a:solidFill>
                <a:latin typeface="+mn-lt"/>
                <a:ea typeface="+mn-ea"/>
                <a:cs typeface="+mn-cs"/>
                <a:sym typeface="+mn-ea"/>
              </a:rPr>
              <a:t>动态图的常用句型</a:t>
            </a:r>
            <a:endParaRPr lang="zh-CN" altLang="en-US" sz="3200" b="1">
              <a:solidFill>
                <a:schemeClr val="tx1"/>
              </a:solidFill>
              <a:latin typeface="+mn-lt"/>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843280"/>
            <a:ext cx="8547735" cy="3814445"/>
          </a:xfrm>
        </p:spPr>
        <p:txBody>
          <a:bodyPr/>
          <a:p>
            <a:pPr marL="0" indent="0">
              <a:lnSpc>
                <a:spcPct val="110000"/>
              </a:lnSpc>
              <a:buNone/>
            </a:pPr>
            <a:r>
              <a:rPr b="1">
                <a:solidFill>
                  <a:schemeClr val="tx1"/>
                </a:solidFill>
              </a:rPr>
              <a:t>⑤表示拐点</a:t>
            </a:r>
            <a:r>
              <a:rPr lang="en-US" altLang="zh-CN" b="1">
                <a:solidFill>
                  <a:schemeClr val="tx1"/>
                </a:solidFill>
              </a:rPr>
              <a:t>--</a:t>
            </a:r>
            <a:r>
              <a:rPr b="1">
                <a:solidFill>
                  <a:schemeClr val="tx1"/>
                </a:solidFill>
              </a:rPr>
              <a:t>并列句</a:t>
            </a:r>
            <a:r>
              <a:rPr lang="en-US" altLang="zh-CN" b="1">
                <a:solidFill>
                  <a:schemeClr val="tx1"/>
                </a:solidFill>
              </a:rPr>
              <a:t>--and then</a:t>
            </a:r>
            <a:endParaRPr lang="en-US" altLang="zh-CN" b="1">
              <a:solidFill>
                <a:schemeClr val="tx1"/>
              </a:solidFill>
            </a:endParaRPr>
          </a:p>
          <a:p>
            <a:pPr>
              <a:lnSpc>
                <a:spcPct val="110000"/>
              </a:lnSpc>
              <a:buFont typeface="Wingdings" panose="05000000000000000000" charset="0"/>
              <a:buChar char="l"/>
            </a:pPr>
            <a:r>
              <a:rPr lang="en-US" altLang="zh-CN" b="1">
                <a:solidFill>
                  <a:schemeClr val="tx1"/>
                </a:solidFill>
              </a:rPr>
              <a:t>From 1993 to 1994, </a:t>
            </a:r>
            <a:r>
              <a:rPr lang="en-US" altLang="zh-CN" b="1" u="sng">
                <a:solidFill>
                  <a:srgbClr val="FF0000"/>
                </a:solidFill>
              </a:rPr>
              <a:t>the time spent on phones per teenager per week</a:t>
            </a:r>
            <a:r>
              <a:rPr lang="en-US" altLang="zh-CN" b="1">
                <a:solidFill>
                  <a:schemeClr val="tx1"/>
                </a:solidFill>
              </a:rPr>
              <a:t> firstly saw a temporary decrease,</a:t>
            </a:r>
            <a:r>
              <a:rPr lang="en-US" altLang="zh-CN" b="1">
                <a:solidFill>
                  <a:schemeClr val="tx1"/>
                </a:solidFill>
                <a:highlight>
                  <a:srgbClr val="FFFF00"/>
                </a:highlight>
              </a:rPr>
              <a:t> and then </a:t>
            </a:r>
            <a:r>
              <a:rPr lang="en-US" altLang="zh-CN" b="1" u="sng">
                <a:solidFill>
                  <a:srgbClr val="FF0000"/>
                </a:solidFill>
              </a:rPr>
              <a:t>it </a:t>
            </a:r>
            <a:r>
              <a:rPr lang="en-US" altLang="zh-CN" b="1">
                <a:solidFill>
                  <a:schemeClr val="tx1"/>
                </a:solidFill>
              </a:rPr>
              <a:t>soared to the peak at 21 hours.</a:t>
            </a:r>
            <a:endParaRPr lang="en-US" altLang="zh-CN" b="1">
              <a:solidFill>
                <a:schemeClr val="tx1"/>
              </a:solidFill>
            </a:endParaRPr>
          </a:p>
          <a:p>
            <a:pPr>
              <a:lnSpc>
                <a:spcPct val="110000"/>
              </a:lnSpc>
              <a:buFont typeface="Wingdings" panose="05000000000000000000" charset="0"/>
              <a:buChar char="l"/>
            </a:pPr>
            <a:r>
              <a:rPr lang="en-US" altLang="zh-CN" b="1">
                <a:solidFill>
                  <a:schemeClr val="tx1"/>
                </a:solidFill>
              </a:rPr>
              <a:t>Between 1995 and 1996, </a:t>
            </a:r>
            <a:r>
              <a:rPr lang="en-US" altLang="zh-CN" b="1" u="sng">
                <a:solidFill>
                  <a:srgbClr val="FF0000"/>
                </a:solidFill>
              </a:rPr>
              <a:t>the money spent on clothes </a:t>
            </a:r>
            <a:r>
              <a:rPr lang="en-US" altLang="zh-CN" b="1">
                <a:solidFill>
                  <a:schemeClr val="tx1"/>
                </a:solidFill>
              </a:rPr>
              <a:t>firstly saw a dramatic increase, </a:t>
            </a:r>
            <a:r>
              <a:rPr lang="en-US" altLang="zh-CN" b="1">
                <a:solidFill>
                  <a:schemeClr val="tx1"/>
                </a:solidFill>
                <a:highlight>
                  <a:srgbClr val="FFFF00"/>
                </a:highlight>
              </a:rPr>
              <a:t>and then</a:t>
            </a:r>
            <a:r>
              <a:rPr lang="en-US" altLang="zh-CN" b="1" u="sng">
                <a:solidFill>
                  <a:srgbClr val="FF0000"/>
                </a:solidFill>
              </a:rPr>
              <a:t> it</a:t>
            </a:r>
            <a:r>
              <a:rPr lang="en-US" altLang="zh-CN" b="1">
                <a:solidFill>
                  <a:schemeClr val="tx1"/>
                </a:solidFill>
              </a:rPr>
              <a:t> plunged to the bottom at only 3 million dollars.</a:t>
            </a:r>
            <a:endParaRPr lang="en-US" altLang="zh-CN" b="1">
              <a:solidFill>
                <a:schemeClr val="tx1"/>
              </a:solidFill>
            </a:endParaRPr>
          </a:p>
          <a:p>
            <a:pPr marL="0" indent="0">
              <a:lnSpc>
                <a:spcPct val="110000"/>
              </a:lnSpc>
              <a:buNone/>
            </a:pPr>
            <a:endParaRPr lang="en-US" altLang="zh-CN" b="1">
              <a:solidFill>
                <a:schemeClr val="tx1"/>
              </a:solidFill>
            </a:endParaRPr>
          </a:p>
        </p:txBody>
      </p:sp>
      <p:sp>
        <p:nvSpPr>
          <p:cNvPr id="4" name="标题 3"/>
          <p:cNvSpPr/>
          <p:nvPr>
            <p:ph type="title"/>
          </p:nvPr>
        </p:nvSpPr>
        <p:spPr>
          <a:xfrm>
            <a:off x="252095" y="194945"/>
            <a:ext cx="8486775" cy="500380"/>
          </a:xfrm>
        </p:spPr>
        <p:txBody>
          <a:bodyPr/>
          <a:p>
            <a:pPr algn="ctr"/>
            <a:r>
              <a:rPr lang="zh-CN" altLang="en-US" b="1">
                <a:solidFill>
                  <a:schemeClr val="tx1"/>
                </a:solidFill>
                <a:latin typeface="+mn-lt"/>
                <a:ea typeface="+mn-ea"/>
                <a:cs typeface="+mn-cs"/>
                <a:sym typeface="+mn-ea"/>
              </a:rPr>
              <a:t>动态图的常用句型</a:t>
            </a:r>
            <a:endParaRPr lang="zh-CN" altLang="en-US" b="1">
              <a:solidFill>
                <a:schemeClr val="tx1"/>
              </a:solidFill>
              <a:latin typeface="+mn-lt"/>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⑥表示极值点</a:t>
            </a:r>
            <a:r>
              <a:rPr lang="en-US" altLang="zh-CN" sz="2400" b="1">
                <a:solidFill>
                  <a:schemeClr val="tx1"/>
                </a:solidFill>
              </a:rPr>
              <a:t> the highest point/the peak at +</a:t>
            </a:r>
            <a:r>
              <a:rPr lang="zh-CN" altLang="en-US" sz="2400" b="1">
                <a:solidFill>
                  <a:schemeClr val="tx1"/>
                </a:solidFill>
              </a:rPr>
              <a:t>数值</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                           the lowest point/the bottom at+</a:t>
            </a:r>
            <a:r>
              <a:rPr lang="zh-CN" altLang="en-US" sz="2400" b="1">
                <a:solidFill>
                  <a:schemeClr val="tx1"/>
                </a:solidFill>
              </a:rPr>
              <a:t>数值</a:t>
            </a:r>
            <a:endParaRPr lang="zh-CN" altLang="en-US" sz="2400" b="1">
              <a:solidFill>
                <a:schemeClr val="tx1"/>
              </a:solidFill>
            </a:endParaRPr>
          </a:p>
          <a:p>
            <a:pPr>
              <a:buFont typeface="Arial" panose="020B0604020202020204" pitchFamily="34" charset="0"/>
              <a:buChar char="•"/>
            </a:pPr>
            <a:r>
              <a:rPr lang="zh-CN" altLang="en-US" sz="2400" b="1">
                <a:solidFill>
                  <a:schemeClr val="tx1"/>
                </a:solidFill>
              </a:rPr>
              <a:t>达到最高点</a:t>
            </a:r>
            <a:r>
              <a:rPr lang="en-US" altLang="zh-CN" sz="2400" b="1">
                <a:solidFill>
                  <a:schemeClr val="tx1"/>
                </a:solidFill>
              </a:rPr>
              <a:t> reach the peak at 50%</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                       arrive at the peak at 50%</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The proportion of girls </a:t>
            </a:r>
            <a:r>
              <a:rPr lang="en-US" altLang="zh-CN" sz="2400" b="1" u="sng">
                <a:solidFill>
                  <a:srgbClr val="FF0000"/>
                </a:solidFill>
              </a:rPr>
              <a:t>soared to the peak</a:t>
            </a:r>
            <a:r>
              <a:rPr lang="en-US" altLang="zh-CN" sz="2400" b="1">
                <a:solidFill>
                  <a:schemeClr val="tx1"/>
                </a:solidFill>
              </a:rPr>
              <a:t> at 50%.</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The proportion of girls </a:t>
            </a:r>
            <a:r>
              <a:rPr lang="en-US" altLang="zh-CN" sz="2400" b="1" u="sng">
                <a:solidFill>
                  <a:srgbClr val="FF0000"/>
                </a:solidFill>
              </a:rPr>
              <a:t>plunged to the bottom</a:t>
            </a:r>
            <a:r>
              <a:rPr lang="en-US" altLang="zh-CN" sz="2400" b="1">
                <a:solidFill>
                  <a:schemeClr val="tx1"/>
                </a:solidFill>
              </a:rPr>
              <a:t> at only 10%.</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500"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500"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500"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500"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补充：动态图的常用句型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⑦表示差值</a:t>
            </a:r>
            <a:endParaRPr lang="zh-CN" altLang="en-US" sz="2400" b="1">
              <a:solidFill>
                <a:schemeClr val="tx1"/>
              </a:solidFill>
            </a:endParaRPr>
          </a:p>
          <a:p>
            <a:pPr>
              <a:buFont typeface="Arial" panose="020B0604020202020204" pitchFamily="34" charset="0"/>
              <a:buChar char="•"/>
            </a:pPr>
            <a:r>
              <a:rPr lang="en-US" altLang="zh-CN" sz="2000" b="1">
                <a:solidFill>
                  <a:schemeClr val="tx1"/>
                </a:solidFill>
              </a:rPr>
              <a:t>My weight </a:t>
            </a:r>
            <a:r>
              <a:rPr lang="en-US" altLang="zh-CN" sz="2000" b="1" u="sng">
                <a:solidFill>
                  <a:srgbClr val="FF0000"/>
                </a:solidFill>
              </a:rPr>
              <a:t>increased to</a:t>
            </a:r>
            <a:r>
              <a:rPr lang="en-US" altLang="zh-CN" sz="2000" b="1">
                <a:solidFill>
                  <a:schemeClr val="tx1"/>
                </a:solidFill>
              </a:rPr>
              <a:t> 60kg. </a:t>
            </a:r>
            <a:r>
              <a:rPr lang="zh-CN" altLang="en-US" sz="2000" b="1">
                <a:solidFill>
                  <a:schemeClr val="tx1"/>
                </a:solidFill>
              </a:rPr>
              <a:t>上升到</a:t>
            </a:r>
            <a:endParaRPr lang="zh-CN" altLang="en-US" sz="2000" b="1">
              <a:solidFill>
                <a:schemeClr val="tx1"/>
              </a:solidFill>
            </a:endParaRPr>
          </a:p>
          <a:p>
            <a:pPr>
              <a:buFont typeface="Arial" panose="020B0604020202020204" pitchFamily="34" charset="0"/>
              <a:buChar char="•"/>
            </a:pPr>
            <a:r>
              <a:rPr lang="en-US" altLang="zh-CN" sz="2000" b="1">
                <a:solidFill>
                  <a:schemeClr val="tx1"/>
                </a:solidFill>
              </a:rPr>
              <a:t>My weight </a:t>
            </a:r>
            <a:r>
              <a:rPr lang="en-US" altLang="zh-CN" sz="2000" b="1" u="sng">
                <a:solidFill>
                  <a:srgbClr val="FF0000"/>
                </a:solidFill>
              </a:rPr>
              <a:t>increased by</a:t>
            </a:r>
            <a:r>
              <a:rPr lang="en-US" altLang="zh-CN" sz="2000" b="1">
                <a:solidFill>
                  <a:schemeClr val="tx1"/>
                </a:solidFill>
              </a:rPr>
              <a:t> 5kg. </a:t>
            </a:r>
            <a:r>
              <a:rPr lang="zh-CN" altLang="en-US" sz="2000" b="1">
                <a:solidFill>
                  <a:schemeClr val="tx1"/>
                </a:solidFill>
              </a:rPr>
              <a:t>上升了</a:t>
            </a:r>
            <a:endParaRPr lang="zh-CN" altLang="en-US" sz="2000" b="1">
              <a:solidFill>
                <a:schemeClr val="tx1"/>
              </a:solidFill>
            </a:endParaRPr>
          </a:p>
          <a:p>
            <a:pPr>
              <a:buFont typeface="Arial" panose="020B0604020202020204" pitchFamily="34" charset="0"/>
              <a:buChar char="•"/>
            </a:pPr>
            <a:r>
              <a:rPr lang="en-US" altLang="zh-CN" sz="2000" b="1">
                <a:solidFill>
                  <a:schemeClr val="tx1"/>
                </a:solidFill>
              </a:rPr>
              <a:t>My weight saw an increasing trend in general, </a:t>
            </a:r>
            <a:r>
              <a:rPr lang="en-US" altLang="zh-CN" sz="2000" b="1" u="sng">
                <a:solidFill>
                  <a:srgbClr val="FF0000"/>
                </a:solidFill>
              </a:rPr>
              <a:t>with a jump of 5kg</a:t>
            </a:r>
            <a:r>
              <a:rPr lang="en-US" altLang="zh-CN" sz="2000" b="1">
                <a:solidFill>
                  <a:schemeClr val="tx1"/>
                </a:solidFill>
              </a:rPr>
              <a:t>.</a:t>
            </a:r>
            <a:endParaRPr lang="zh-CN" altLang="en-US" sz="2000" b="1">
              <a:solidFill>
                <a:schemeClr val="tx1"/>
              </a:solidFill>
            </a:endParaRPr>
          </a:p>
          <a:p>
            <a:pPr>
              <a:buFont typeface="Arial" panose="020B0604020202020204" pitchFamily="34" charset="0"/>
              <a:buChar char="•"/>
            </a:pPr>
            <a:r>
              <a:rPr lang="en-US" altLang="zh-CN" sz="2000" b="1">
                <a:solidFill>
                  <a:schemeClr val="tx1"/>
                </a:solidFill>
              </a:rPr>
              <a:t>The sales of children’s book saw an increasing trend in general, </a:t>
            </a:r>
            <a:r>
              <a:rPr lang="en-US" altLang="zh-CN" sz="2000" b="1" u="sng">
                <a:solidFill>
                  <a:srgbClr val="FF0000"/>
                </a:solidFill>
              </a:rPr>
              <a:t>with a jump of 5 million dollars</a:t>
            </a:r>
            <a:r>
              <a:rPr lang="en-US" altLang="zh-CN" sz="2000" b="1">
                <a:solidFill>
                  <a:schemeClr val="tx1"/>
                </a:solidFill>
              </a:rPr>
              <a:t>.</a:t>
            </a:r>
            <a:endParaRPr lang="en-US" altLang="zh-CN" sz="2000" b="1">
              <a:solidFill>
                <a:schemeClr val="tx1"/>
              </a:solidFill>
            </a:endParaRPr>
          </a:p>
          <a:p>
            <a:pPr>
              <a:buFont typeface="Arial" panose="020B0604020202020204" pitchFamily="34" charset="0"/>
              <a:buChar char="•"/>
            </a:pPr>
            <a:r>
              <a:rPr lang="en-US" altLang="zh-CN" sz="2000" b="1">
                <a:solidFill>
                  <a:schemeClr val="tx1"/>
                </a:solidFill>
              </a:rPr>
              <a:t>The proportion of women often doing exercises saw an increasing trend in general, </a:t>
            </a:r>
            <a:r>
              <a:rPr lang="en-US" altLang="zh-CN" sz="2000" b="1" u="sng">
                <a:solidFill>
                  <a:srgbClr val="FF0000"/>
                </a:solidFill>
              </a:rPr>
              <a:t>with a jump of 20%</a:t>
            </a:r>
            <a:r>
              <a:rPr lang="en-US" altLang="zh-CN" sz="2000" b="1">
                <a:solidFill>
                  <a:schemeClr val="tx1"/>
                </a:solidFill>
              </a:rPr>
              <a:t>.</a:t>
            </a:r>
            <a:endParaRPr lang="en-US" altLang="zh-CN" sz="2000" b="1">
              <a:solidFill>
                <a:schemeClr val="tx1"/>
              </a:solidFill>
            </a:endParaRPr>
          </a:p>
          <a:p>
            <a:pPr>
              <a:buFont typeface="Arial" panose="020B0604020202020204" pitchFamily="34" charset="0"/>
              <a:buChar char="•"/>
            </a:pPr>
            <a:endParaRPr lang="en-US" altLang="zh-CN" sz="20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⑧在波动中上升</a:t>
            </a:r>
            <a:endParaRPr lang="zh-CN" altLang="en-US" sz="2400" b="1">
              <a:solidFill>
                <a:schemeClr val="tx1"/>
              </a:solidFill>
            </a:endParaRPr>
          </a:p>
          <a:p>
            <a:pPr>
              <a:buFont typeface="Arial" panose="020B0604020202020204" pitchFamily="34" charset="0"/>
              <a:buChar char="•"/>
            </a:pPr>
            <a:r>
              <a:rPr lang="en-US" altLang="zh-CN" sz="2400" b="1">
                <a:solidFill>
                  <a:schemeClr val="tx1"/>
                </a:solidFill>
              </a:rPr>
              <a:t>The proportion of girls saw an increasing trend in general, </a:t>
            </a:r>
            <a:r>
              <a:rPr lang="en-US" altLang="zh-CN" sz="2400" b="1" u="sng">
                <a:solidFill>
                  <a:srgbClr val="FF0000"/>
                </a:solidFill>
              </a:rPr>
              <a:t>despite some fluctuation in the middle years</a:t>
            </a:r>
            <a:r>
              <a:rPr lang="en-US" altLang="zh-CN" sz="2400" b="1">
                <a:solidFill>
                  <a:schemeClr val="tx1"/>
                </a:solidFill>
              </a:rPr>
              <a:t>.</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The figure almost remained unchanged over the period, </a:t>
            </a:r>
            <a:r>
              <a:rPr lang="en-US" altLang="zh-CN" sz="2400" b="1" u="sng">
                <a:solidFill>
                  <a:srgbClr val="FF0000"/>
                </a:solidFill>
              </a:rPr>
              <a:t>despite several decreases in the middle years</a:t>
            </a:r>
            <a:r>
              <a:rPr lang="en-US" altLang="zh-CN" sz="2400" b="1">
                <a:solidFill>
                  <a:schemeClr val="tx1"/>
                </a:solidFill>
              </a:rPr>
              <a:t>.</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补充：动态图的常用句型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⑨表示相似趋势</a:t>
            </a:r>
            <a:endParaRPr lang="zh-CN" altLang="en-US" sz="2400" b="1">
              <a:solidFill>
                <a:schemeClr val="tx1"/>
              </a:solidFill>
            </a:endParaRPr>
          </a:p>
          <a:p>
            <a:pPr>
              <a:buFont typeface="Arial" panose="020B0604020202020204" pitchFamily="34" charset="0"/>
              <a:buChar char="•"/>
            </a:pPr>
            <a:r>
              <a:rPr lang="en-US" altLang="zh-CN" sz="2400" b="1">
                <a:solidFill>
                  <a:schemeClr val="tx1"/>
                </a:solidFill>
              </a:rPr>
              <a:t>The proportion of girls saw a dramatic increase.</a:t>
            </a:r>
            <a:r>
              <a:rPr lang="en-US" altLang="zh-CN" sz="2400" b="1" u="sng">
                <a:solidFill>
                  <a:srgbClr val="FF0000"/>
                </a:solidFill>
              </a:rPr>
              <a:t> Similarly,</a:t>
            </a:r>
            <a:r>
              <a:rPr lang="en-US" altLang="zh-CN" sz="2400" b="1">
                <a:solidFill>
                  <a:schemeClr val="tx1"/>
                </a:solidFill>
              </a:rPr>
              <a:t> the figure for boys</a:t>
            </a:r>
            <a:r>
              <a:rPr lang="en-US" altLang="zh-CN" sz="2400" b="1" u="sng">
                <a:solidFill>
                  <a:srgbClr val="FF0000"/>
                </a:solidFill>
              </a:rPr>
              <a:t> also</a:t>
            </a:r>
            <a:r>
              <a:rPr lang="en-US" altLang="zh-CN" sz="2400" b="1">
                <a:solidFill>
                  <a:schemeClr val="tx1"/>
                </a:solidFill>
              </a:rPr>
              <a:t> grew,</a:t>
            </a:r>
            <a:r>
              <a:rPr lang="en-US" altLang="zh-CN" sz="2400" b="1">
                <a:solidFill>
                  <a:schemeClr val="tx1"/>
                </a:solidFill>
                <a:highlight>
                  <a:srgbClr val="FFFF00"/>
                </a:highlight>
              </a:rPr>
              <a:t> but much less significantly</a:t>
            </a:r>
            <a:r>
              <a:rPr lang="en-US" altLang="zh-CN" sz="2400" b="1">
                <a:solidFill>
                  <a:schemeClr val="tx1"/>
                </a:solidFill>
              </a:rPr>
              <a:t>, from 2% to </a:t>
            </a:r>
            <a:r>
              <a:rPr lang="en-US" altLang="zh-CN" sz="2400" b="1" u="sng">
                <a:solidFill>
                  <a:srgbClr val="7030A0"/>
                </a:solidFill>
              </a:rPr>
              <a:t>only</a:t>
            </a:r>
            <a:r>
              <a:rPr lang="en-US" altLang="zh-CN" sz="2400" b="1">
                <a:solidFill>
                  <a:schemeClr val="tx1"/>
                </a:solidFill>
              </a:rPr>
              <a:t> 9%.</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⑩动态图</a:t>
            </a:r>
            <a:r>
              <a:rPr lang="en-US" altLang="zh-CN" sz="2400" b="1">
                <a:solidFill>
                  <a:schemeClr val="tx1"/>
                </a:solidFill>
                <a:sym typeface="+mn-ea"/>
              </a:rPr>
              <a:t>中的一般现在时</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sym typeface="+mn-ea"/>
              </a:rPr>
              <a:t>The chart illustrates......</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sym typeface="+mn-ea"/>
              </a:rPr>
              <a:t>As is shown in the chart,.....</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sym typeface="+mn-ea"/>
              </a:rPr>
              <a:t>It is clear/noticeable that.....</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sym typeface="+mn-ea"/>
              </a:rPr>
              <a:t>It is note-worthy that......</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sym typeface="+mn-ea"/>
              </a:rPr>
              <a:t>Obviously,......</a:t>
            </a:r>
            <a:endParaRPr lang="en-US" altLang="zh-CN" sz="2400" b="1">
              <a:solidFill>
                <a:schemeClr val="tx1"/>
              </a:solidFill>
            </a:endParaRPr>
          </a:p>
        </p:txBody>
      </p:sp>
    </p:spTree>
  </p:cSld>
  <p:clrMapOvr>
    <a:masterClrMapping/>
  </p:clrMapOvr>
  <p:timing>
    <p:tnLst>
      <p:par>
        <p:cTn id="1" dur="indefinite" restart="never" nodeType="tmRoot"/>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pic>
        <p:nvPicPr>
          <p:cNvPr id="4" name="图片 2"/>
          <p:cNvPicPr>
            <a:picLocks noChangeAspect="1"/>
          </p:cNvPicPr>
          <p:nvPr/>
        </p:nvPicPr>
        <p:blipFill>
          <a:blip r:embed="rId1"/>
          <a:stretch>
            <a:fillRect/>
          </a:stretch>
        </p:blipFill>
        <p:spPr>
          <a:xfrm>
            <a:off x="1115695" y="699770"/>
            <a:ext cx="5996305" cy="4112260"/>
          </a:xfrm>
          <a:prstGeom prst="rect">
            <a:avLst/>
          </a:prstGeom>
          <a:noFill/>
          <a:ln>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第一段</a:t>
            </a:r>
            <a:endParaRPr lang="en-US" altLang="zh-CN" sz="2400" b="1">
              <a:solidFill>
                <a:schemeClr val="tx1"/>
              </a:solidFill>
            </a:endParaRPr>
          </a:p>
          <a:p>
            <a:pPr>
              <a:buFont typeface="Arial" panose="020B0604020202020204" pitchFamily="34" charset="0"/>
              <a:buChar char="•"/>
            </a:pPr>
            <a:r>
              <a:rPr lang="en-US" altLang="zh-CN" sz="2400" b="1">
                <a:solidFill>
                  <a:schemeClr val="accent4"/>
                </a:solidFill>
              </a:rPr>
              <a:t>The graph illustrates the changes in  quantities of goods transported in the United Kingdom by four different modes of transport between the time period =between1974 and 2002.</a:t>
            </a:r>
            <a:endParaRPr lang="en-US" altLang="zh-CN" sz="2400" b="1">
              <a:solidFill>
                <a:schemeClr val="accent4"/>
              </a:solidFill>
            </a:endParaRPr>
          </a:p>
        </p:txBody>
      </p:sp>
    </p:spTree>
  </p:cSld>
  <p:clrMapOvr>
    <a:masterClrMapping/>
  </p:clrMapOvr>
  <p:timing>
    <p:tnLst>
      <p:par>
        <p:cTn id="1" dur="indefinite" restart="never" nodeType="tmRoot"/>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第二段</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It is clear that </a:t>
            </a:r>
            <a:r>
              <a:rPr lang="en-US" altLang="zh-CN" sz="2400" b="1" u="sng">
                <a:solidFill>
                  <a:srgbClr val="FF0000"/>
                </a:solidFill>
              </a:rPr>
              <a:t>the road remained the most popular method of transporting goods in the UK</a:t>
            </a:r>
            <a:r>
              <a:rPr lang="en-US" altLang="zh-CN" sz="2400" b="1">
                <a:solidFill>
                  <a:schemeClr val="tx1"/>
                </a:solidFill>
              </a:rPr>
              <a:t>, while water and pipelines were becoming increasingly used. However, rail had not become more popular as a method of transport. </a:t>
            </a:r>
            <a:endParaRPr lang="en-US" altLang="zh-CN" sz="2400" b="1">
              <a:solidFill>
                <a:schemeClr val="tx1"/>
              </a:solidFill>
            </a:endParaRPr>
          </a:p>
        </p:txBody>
      </p:sp>
    </p:spTree>
  </p:cSld>
  <p:clrMapOvr>
    <a:masterClrMapping/>
  </p:clrMapOvr>
  <p:timing>
    <p:tnLst>
      <p:par>
        <p:cTn id="1" dur="indefinite" restart="never" nodeType="tmRoot"/>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第三段</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As is shown in the graph, road’s quantity of goods was always the largest, and it saw an increasing trend in general despite some fluctuation in the middle years, from 70 to about 100 million tonnes in the end.</a:t>
            </a:r>
            <a:r>
              <a:rPr lang="en-US" altLang="zh-CN" sz="2400" b="1" u="sng">
                <a:solidFill>
                  <a:srgbClr val="FF0000"/>
                </a:solidFill>
              </a:rPr>
              <a:t> Smilarly</a:t>
            </a:r>
            <a:r>
              <a:rPr lang="en-US" altLang="zh-CN" sz="2400" b="1">
                <a:solidFill>
                  <a:schemeClr val="tx1"/>
                </a:solidFill>
              </a:rPr>
              <a:t>, the figure for pipeline also grew, but much less significantly, from only 5 to 20 million tonnes, making it the least popular mode of transport.</a:t>
            </a:r>
            <a:endParaRPr lang="en-US" altLang="zh-CN" sz="2400" b="1">
              <a:solidFill>
                <a:schemeClr val="tx1"/>
              </a:solidFill>
            </a:endParaRPr>
          </a:p>
        </p:txBody>
      </p:sp>
    </p:spTree>
  </p:cSld>
  <p:clrMapOvr>
    <a:masterClrMapping/>
  </p:clrMapOvr>
  <p:timing>
    <p:tnLst>
      <p:par>
        <p:cTn id="1" dur="indefinite" restart="never" nodeType="tmRoot"/>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动态图的常用句型</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第四段</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In terms of water and rail, coincidentally, the figures for them were almost equal in the beginning at about 40 million tonnes. However, the amount of goods transported by water saw a gradual increase, before keeping stable around 60 million tonnes. By contrast, the figure for rail almost remained stable at 40 million tonnes, despite two decreases in the middle years.</a:t>
            </a:r>
            <a:endParaRPr lang="en-US" altLang="zh-CN" sz="2400" b="1">
              <a:solidFill>
                <a:schemeClr val="tx1"/>
              </a:solidFill>
            </a:endParaRPr>
          </a:p>
        </p:txBody>
      </p:sp>
    </p:spTree>
  </p:cSld>
  <p:clrMapOvr>
    <a:masterClrMapping/>
  </p:clrMapOvr>
  <p:timing>
    <p:tnLst>
      <p:par>
        <p:cTn id="1" dur="indefinite" restart="never" nodeType="tmRoot"/>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00034" y="555612"/>
            <a:ext cx="5357850" cy="500066"/>
          </a:xfrm>
        </p:spPr>
        <p:txBody>
          <a:bodyPr/>
          <a:p>
            <a:r>
              <a:rPr lang="zh-CN" altLang="en-US" b="1">
                <a:solidFill>
                  <a:schemeClr val="accent4"/>
                </a:solidFill>
              </a:rPr>
              <a:t>静态图的常用句型</a:t>
            </a:r>
            <a:endParaRPr lang="zh-CN" altLang="en-US" b="1">
              <a:solidFill>
                <a:schemeClr val="accent4"/>
              </a:solidFill>
            </a:endParaRPr>
          </a:p>
        </p:txBody>
      </p:sp>
      <p:sp>
        <p:nvSpPr>
          <p:cNvPr id="3" name="内容占位符 2"/>
          <p:cNvSpPr>
            <a:spLocks noGrp="1"/>
          </p:cNvSpPr>
          <p:nvPr>
            <p:ph idx="1"/>
          </p:nvPr>
        </p:nvSpPr>
        <p:spPr>
          <a:xfrm>
            <a:off x="260350" y="1226820"/>
            <a:ext cx="8680450" cy="3620135"/>
          </a:xfrm>
        </p:spPr>
        <p:txBody>
          <a:bodyPr/>
          <a:p>
            <a:r>
              <a:rPr lang="zh-CN" altLang="en-US" sz="2400">
                <a:solidFill>
                  <a:schemeClr val="accent4"/>
                </a:solidFill>
              </a:rPr>
              <a:t> </a:t>
            </a:r>
            <a:r>
              <a:rPr lang="zh-CN" altLang="en-US" sz="2400" b="1">
                <a:solidFill>
                  <a:schemeClr val="accent4"/>
                </a:solidFill>
              </a:rPr>
              <a:t>①表示占比：</a:t>
            </a:r>
            <a:r>
              <a:rPr lang="en-US" altLang="zh-CN" sz="2400" b="1">
                <a:solidFill>
                  <a:schemeClr val="accent4"/>
                </a:solidFill>
              </a:rPr>
              <a:t>account for; occupy; make up; take up; constitute; represent</a:t>
            </a:r>
            <a:endParaRPr lang="en-US" altLang="zh-CN" sz="2400" b="1">
              <a:solidFill>
                <a:schemeClr val="accent4"/>
              </a:solidFill>
            </a:endParaRPr>
          </a:p>
          <a:p>
            <a:r>
              <a:rPr sz="2400" b="1">
                <a:solidFill>
                  <a:schemeClr val="accent4"/>
                </a:solidFill>
              </a:rPr>
              <a:t>对象</a:t>
            </a:r>
            <a:r>
              <a:rPr lang="en-US" altLang="zh-CN" sz="2400" b="1">
                <a:solidFill>
                  <a:schemeClr val="accent4"/>
                </a:solidFill>
              </a:rPr>
              <a:t>+</a:t>
            </a:r>
            <a:r>
              <a:rPr sz="2400" b="1">
                <a:solidFill>
                  <a:schemeClr val="accent4"/>
                </a:solidFill>
              </a:rPr>
              <a:t>占有</a:t>
            </a:r>
            <a:r>
              <a:rPr lang="en-US" altLang="zh-CN" sz="2400" b="1">
                <a:solidFill>
                  <a:schemeClr val="accent4"/>
                </a:solidFill>
              </a:rPr>
              <a:t>+</a:t>
            </a:r>
            <a:r>
              <a:rPr sz="2400" b="1">
                <a:solidFill>
                  <a:schemeClr val="accent4"/>
                </a:solidFill>
              </a:rPr>
              <a:t>百分比</a:t>
            </a:r>
            <a:r>
              <a:rPr lang="en-US" altLang="zh-CN" sz="2400" b="1">
                <a:solidFill>
                  <a:schemeClr val="accent4"/>
                </a:solidFill>
              </a:rPr>
              <a:t>+of+</a:t>
            </a:r>
            <a:r>
              <a:rPr sz="2400" b="1">
                <a:solidFill>
                  <a:schemeClr val="accent4"/>
                </a:solidFill>
              </a:rPr>
              <a:t>总数</a:t>
            </a:r>
            <a:endParaRPr sz="2400" b="1">
              <a:solidFill>
                <a:schemeClr val="accent4"/>
              </a:solidFill>
            </a:endParaRPr>
          </a:p>
          <a:p>
            <a:r>
              <a:rPr lang="en-US" altLang="zh-CN" sz="2400" b="1" u="sng">
                <a:solidFill>
                  <a:srgbClr val="FF0000"/>
                </a:solidFill>
              </a:rPr>
              <a:t>The girls</a:t>
            </a:r>
            <a:r>
              <a:rPr lang="en-US" altLang="zh-CN" sz="2400" b="1">
                <a:solidFill>
                  <a:schemeClr val="accent4"/>
                </a:solidFill>
              </a:rPr>
              <a:t> in white </a:t>
            </a:r>
            <a:r>
              <a:rPr lang="en-US" altLang="zh-CN" sz="2400" b="1" u="sng">
                <a:solidFill>
                  <a:srgbClr val="FF0000"/>
                </a:solidFill>
              </a:rPr>
              <a:t>account for</a:t>
            </a:r>
            <a:r>
              <a:rPr lang="en-US" altLang="zh-CN" sz="2400" b="1">
                <a:solidFill>
                  <a:schemeClr val="accent4"/>
                </a:solidFill>
              </a:rPr>
              <a:t> 50% of all girls in China.</a:t>
            </a:r>
            <a:endParaRPr lang="en-US" altLang="zh-CN" sz="2400" b="1">
              <a:solidFill>
                <a:schemeClr val="accent4"/>
              </a:solidFill>
            </a:endParaRPr>
          </a:p>
          <a:p>
            <a:r>
              <a:rPr lang="en-US" altLang="zh-CN" sz="2400" b="1">
                <a:solidFill>
                  <a:schemeClr val="accent4"/>
                </a:solidFill>
              </a:rPr>
              <a:t>The girls in white </a:t>
            </a:r>
            <a:r>
              <a:rPr lang="en-US" altLang="zh-CN" sz="2400" b="1" u="sng">
                <a:solidFill>
                  <a:srgbClr val="FF0000"/>
                </a:solidFill>
              </a:rPr>
              <a:t>account for</a:t>
            </a:r>
            <a:r>
              <a:rPr lang="en-US" altLang="zh-CN" sz="2400" b="1">
                <a:solidFill>
                  <a:schemeClr val="accent4"/>
                </a:solidFill>
              </a:rPr>
              <a:t> 50% of </a:t>
            </a:r>
            <a:r>
              <a:rPr lang="en-US" altLang="zh-CN" sz="2400" b="1" u="sng">
                <a:solidFill>
                  <a:srgbClr val="FF0000"/>
                </a:solidFill>
              </a:rPr>
              <a:t>the whole </a:t>
            </a:r>
            <a:r>
              <a:rPr lang="en-US" altLang="zh-CN" sz="2400" b="1">
                <a:solidFill>
                  <a:schemeClr val="accent4"/>
                </a:solidFill>
              </a:rPr>
              <a:t>in China</a:t>
            </a:r>
            <a:r>
              <a:rPr lang="en-US" altLang="zh-CN" sz="2400" b="1">
                <a:solidFill>
                  <a:schemeClr val="accent4"/>
                </a:solidFill>
              </a:rPr>
              <a:t>.</a:t>
            </a:r>
            <a:endParaRPr lang="en-US" altLang="zh-CN" sz="2400" b="1">
              <a:solidFill>
                <a:schemeClr val="accent4"/>
              </a:solidFill>
            </a:endParaRPr>
          </a:p>
          <a:p>
            <a:r>
              <a:rPr lang="en-US" altLang="zh-CN" sz="2400" b="1" u="sng">
                <a:solidFill>
                  <a:srgbClr val="0070C0"/>
                </a:solidFill>
              </a:rPr>
              <a:t>The proportion</a:t>
            </a:r>
            <a:r>
              <a:rPr lang="en-US" altLang="zh-CN" sz="2400" b="1">
                <a:solidFill>
                  <a:schemeClr val="accent4"/>
                </a:solidFill>
              </a:rPr>
              <a:t> of girls in white</a:t>
            </a:r>
            <a:r>
              <a:rPr lang="en-US" altLang="zh-CN" sz="2400" b="1" u="sng">
                <a:solidFill>
                  <a:srgbClr val="0070C0"/>
                </a:solidFill>
              </a:rPr>
              <a:t> is</a:t>
            </a:r>
            <a:r>
              <a:rPr lang="en-US" altLang="zh-CN" sz="2400" b="1">
                <a:solidFill>
                  <a:schemeClr val="accent4"/>
                </a:solidFill>
              </a:rPr>
              <a:t> 50%.</a:t>
            </a:r>
            <a:endParaRPr lang="en-US" altLang="zh-CN" sz="2400"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00034" y="555612"/>
            <a:ext cx="5357850" cy="500066"/>
          </a:xfrm>
        </p:spPr>
        <p:txBody>
          <a:bodyPr/>
          <a:p>
            <a:r>
              <a:rPr lang="zh-CN" altLang="en-US" b="1">
                <a:solidFill>
                  <a:schemeClr val="accent4"/>
                </a:solidFill>
              </a:rPr>
              <a:t>静态图的常用句型</a:t>
            </a:r>
            <a:endParaRPr lang="zh-CN" altLang="en-US" b="1">
              <a:solidFill>
                <a:schemeClr val="accent4"/>
              </a:solidFill>
            </a:endParaRPr>
          </a:p>
        </p:txBody>
      </p:sp>
      <p:sp>
        <p:nvSpPr>
          <p:cNvPr id="3" name="内容占位符 2"/>
          <p:cNvSpPr>
            <a:spLocks noGrp="1"/>
          </p:cNvSpPr>
          <p:nvPr>
            <p:ph idx="1"/>
          </p:nvPr>
        </p:nvSpPr>
        <p:spPr>
          <a:xfrm>
            <a:off x="260350" y="1226820"/>
            <a:ext cx="8680450" cy="3620135"/>
          </a:xfrm>
        </p:spPr>
        <p:txBody>
          <a:bodyPr/>
          <a:p>
            <a:pPr>
              <a:lnSpc>
                <a:spcPct val="110000"/>
              </a:lnSpc>
            </a:pPr>
            <a:r>
              <a:rPr lang="zh-CN" altLang="en-US" sz="2400">
                <a:solidFill>
                  <a:schemeClr val="accent4"/>
                </a:solidFill>
              </a:rPr>
              <a:t> </a:t>
            </a:r>
            <a:r>
              <a:rPr lang="zh-CN" altLang="en-US" sz="2400" b="1">
                <a:solidFill>
                  <a:schemeClr val="accent4"/>
                </a:solidFill>
              </a:rPr>
              <a:t>①表示占比：</a:t>
            </a:r>
            <a:r>
              <a:rPr lang="en-US" altLang="zh-CN" sz="2400" b="1">
                <a:solidFill>
                  <a:schemeClr val="accent4"/>
                </a:solidFill>
              </a:rPr>
              <a:t>account for; occupy; make up; take up; constitute; represent</a:t>
            </a:r>
            <a:endParaRPr lang="en-US" altLang="zh-CN" sz="2400" b="1">
              <a:solidFill>
                <a:schemeClr val="accent4"/>
              </a:solidFill>
            </a:endParaRPr>
          </a:p>
          <a:p>
            <a:pPr>
              <a:lnSpc>
                <a:spcPct val="110000"/>
              </a:lnSpc>
            </a:pPr>
            <a:r>
              <a:rPr sz="2400" b="1">
                <a:solidFill>
                  <a:schemeClr val="accent4"/>
                </a:solidFill>
              </a:rPr>
              <a:t>对象</a:t>
            </a:r>
            <a:r>
              <a:rPr lang="en-US" altLang="zh-CN" sz="2400" b="1">
                <a:solidFill>
                  <a:schemeClr val="accent4"/>
                </a:solidFill>
              </a:rPr>
              <a:t>+</a:t>
            </a:r>
            <a:r>
              <a:rPr sz="2400" b="1">
                <a:solidFill>
                  <a:schemeClr val="accent4"/>
                </a:solidFill>
              </a:rPr>
              <a:t>占有</a:t>
            </a:r>
            <a:r>
              <a:rPr lang="en-US" altLang="zh-CN" sz="2400" b="1">
                <a:solidFill>
                  <a:schemeClr val="accent4"/>
                </a:solidFill>
              </a:rPr>
              <a:t>+</a:t>
            </a:r>
            <a:r>
              <a:rPr sz="2400" b="1">
                <a:solidFill>
                  <a:schemeClr val="accent4"/>
                </a:solidFill>
              </a:rPr>
              <a:t>百分比</a:t>
            </a:r>
            <a:r>
              <a:rPr lang="en-US" altLang="zh-CN" sz="2400" b="1">
                <a:solidFill>
                  <a:schemeClr val="accent4"/>
                </a:solidFill>
              </a:rPr>
              <a:t>+of+</a:t>
            </a:r>
            <a:r>
              <a:rPr sz="2400" b="1">
                <a:solidFill>
                  <a:schemeClr val="accent4"/>
                </a:solidFill>
              </a:rPr>
              <a:t>总数</a:t>
            </a:r>
            <a:endParaRPr sz="2400" b="1">
              <a:solidFill>
                <a:schemeClr val="accent4"/>
              </a:solidFill>
            </a:endParaRPr>
          </a:p>
          <a:p>
            <a:pPr>
              <a:lnSpc>
                <a:spcPct val="110000"/>
              </a:lnSpc>
            </a:pPr>
            <a:r>
              <a:rPr sz="2400" b="1">
                <a:solidFill>
                  <a:schemeClr val="accent4"/>
                </a:solidFill>
              </a:rPr>
              <a:t>男性吸烟者占了所有男人的30%在中国在</a:t>
            </a:r>
            <a:r>
              <a:rPr lang="en-US" altLang="zh-CN" sz="2400" b="1">
                <a:solidFill>
                  <a:schemeClr val="accent4"/>
                </a:solidFill>
              </a:rPr>
              <a:t>1998 </a:t>
            </a:r>
            <a:r>
              <a:rPr sz="2400" b="1">
                <a:solidFill>
                  <a:schemeClr val="accent4"/>
                </a:solidFill>
              </a:rPr>
              <a:t>年。</a:t>
            </a:r>
            <a:endParaRPr sz="2400" b="1">
              <a:solidFill>
                <a:schemeClr val="accent4"/>
              </a:solidFill>
            </a:endParaRPr>
          </a:p>
          <a:p>
            <a:pPr>
              <a:lnSpc>
                <a:spcPct val="110000"/>
              </a:lnSpc>
            </a:pPr>
            <a:r>
              <a:rPr lang="en-US" altLang="zh-CN" sz="2400" b="1" u="sng">
                <a:solidFill>
                  <a:srgbClr val="FF0000"/>
                </a:solidFill>
              </a:rPr>
              <a:t>Male smokers</a:t>
            </a:r>
            <a:r>
              <a:rPr lang="en-US" altLang="zh-CN" sz="2400" b="1">
                <a:solidFill>
                  <a:schemeClr val="accent4"/>
                </a:solidFill>
              </a:rPr>
              <a:t> </a:t>
            </a:r>
            <a:r>
              <a:rPr lang="en-US" altLang="zh-CN" sz="2400" b="1" u="sng">
                <a:solidFill>
                  <a:srgbClr val="7030A0"/>
                </a:solidFill>
              </a:rPr>
              <a:t>accounted for</a:t>
            </a:r>
            <a:r>
              <a:rPr lang="en-US" altLang="zh-CN" sz="2400" b="1">
                <a:solidFill>
                  <a:schemeClr val="accent4"/>
                </a:solidFill>
              </a:rPr>
              <a:t> 30% of the whole in 1998 in China.</a:t>
            </a:r>
            <a:endParaRPr lang="en-US" altLang="zh-CN" sz="2400" b="1">
              <a:solidFill>
                <a:schemeClr val="accent4"/>
              </a:solidFill>
            </a:endParaRPr>
          </a:p>
          <a:p>
            <a:pPr>
              <a:lnSpc>
                <a:spcPct val="110000"/>
              </a:lnSpc>
            </a:pPr>
            <a:r>
              <a:rPr lang="en-US" altLang="zh-CN" sz="2400" b="1" u="sng">
                <a:solidFill>
                  <a:srgbClr val="0070C0"/>
                </a:solidFill>
              </a:rPr>
              <a:t>The proportion of men who had a habit of smoking</a:t>
            </a:r>
            <a:r>
              <a:rPr lang="en-US" altLang="zh-CN" sz="2400" b="1">
                <a:solidFill>
                  <a:schemeClr val="accent4"/>
                </a:solidFill>
              </a:rPr>
              <a:t> </a:t>
            </a:r>
            <a:r>
              <a:rPr lang="en-US" altLang="zh-CN" sz="2400" b="1" u="sng">
                <a:solidFill>
                  <a:srgbClr val="0070C0"/>
                </a:solidFill>
              </a:rPr>
              <a:t>was</a:t>
            </a:r>
            <a:r>
              <a:rPr lang="en-US" altLang="zh-CN" sz="2400" b="1">
                <a:solidFill>
                  <a:schemeClr val="accent4"/>
                </a:solidFill>
              </a:rPr>
              <a:t> 30% in 1998 in China.</a:t>
            </a:r>
            <a:endParaRPr lang="en-US" altLang="zh-CN" sz="2400"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00034" y="555612"/>
            <a:ext cx="5357850" cy="500066"/>
          </a:xfrm>
        </p:spPr>
        <p:txBody>
          <a:bodyPr/>
          <a:p>
            <a:r>
              <a:rPr lang="zh-CN" altLang="en-US" b="1">
                <a:solidFill>
                  <a:schemeClr val="accent4"/>
                </a:solidFill>
              </a:rPr>
              <a:t>静态图的常用句型</a:t>
            </a:r>
            <a:endParaRPr lang="zh-CN" altLang="en-US" b="1">
              <a:solidFill>
                <a:schemeClr val="accent4"/>
              </a:solidFill>
            </a:endParaRPr>
          </a:p>
        </p:txBody>
      </p:sp>
      <p:sp>
        <p:nvSpPr>
          <p:cNvPr id="3" name="内容占位符 2"/>
          <p:cNvSpPr>
            <a:spLocks noGrp="1"/>
          </p:cNvSpPr>
          <p:nvPr>
            <p:ph idx="1"/>
          </p:nvPr>
        </p:nvSpPr>
        <p:spPr>
          <a:xfrm>
            <a:off x="260350" y="1226820"/>
            <a:ext cx="8716010" cy="3878580"/>
          </a:xfrm>
        </p:spPr>
        <p:txBody>
          <a:bodyPr/>
          <a:p>
            <a:pPr>
              <a:lnSpc>
                <a:spcPct val="110000"/>
              </a:lnSpc>
            </a:pPr>
            <a:r>
              <a:rPr lang="zh-CN" altLang="en-US" sz="2400">
                <a:solidFill>
                  <a:schemeClr val="accent4"/>
                </a:solidFill>
              </a:rPr>
              <a:t> </a:t>
            </a:r>
            <a:r>
              <a:rPr lang="zh-CN" altLang="en-US" sz="2400" b="1">
                <a:solidFill>
                  <a:schemeClr val="accent4"/>
                </a:solidFill>
              </a:rPr>
              <a:t>①表示占比：</a:t>
            </a:r>
            <a:r>
              <a:rPr lang="en-US" altLang="zh-CN" sz="2400" b="1">
                <a:solidFill>
                  <a:schemeClr val="accent4"/>
                </a:solidFill>
              </a:rPr>
              <a:t>account for; occupy; make up; take up; constitute; represent</a:t>
            </a:r>
            <a:endParaRPr lang="en-US" altLang="zh-CN" sz="2400" b="1">
              <a:solidFill>
                <a:schemeClr val="accent4"/>
              </a:solidFill>
            </a:endParaRPr>
          </a:p>
          <a:p>
            <a:pPr>
              <a:lnSpc>
                <a:spcPct val="110000"/>
              </a:lnSpc>
            </a:pPr>
            <a:r>
              <a:rPr sz="2400" b="1">
                <a:solidFill>
                  <a:schemeClr val="accent4"/>
                </a:solidFill>
              </a:rPr>
              <a:t>对象</a:t>
            </a:r>
            <a:r>
              <a:rPr lang="en-US" altLang="zh-CN" sz="2400" b="1">
                <a:solidFill>
                  <a:schemeClr val="accent4"/>
                </a:solidFill>
              </a:rPr>
              <a:t>+</a:t>
            </a:r>
            <a:r>
              <a:rPr sz="2400" b="1">
                <a:solidFill>
                  <a:schemeClr val="accent4"/>
                </a:solidFill>
              </a:rPr>
              <a:t>占有</a:t>
            </a:r>
            <a:r>
              <a:rPr lang="en-US" altLang="zh-CN" sz="2400" b="1">
                <a:solidFill>
                  <a:schemeClr val="accent4"/>
                </a:solidFill>
              </a:rPr>
              <a:t>+</a:t>
            </a:r>
            <a:r>
              <a:rPr sz="2400" b="1">
                <a:solidFill>
                  <a:schemeClr val="accent4"/>
                </a:solidFill>
              </a:rPr>
              <a:t>百分比</a:t>
            </a:r>
            <a:r>
              <a:rPr lang="en-US" altLang="zh-CN" sz="2400" b="1">
                <a:solidFill>
                  <a:schemeClr val="accent4"/>
                </a:solidFill>
              </a:rPr>
              <a:t>+of+</a:t>
            </a:r>
            <a:r>
              <a:rPr sz="2400" b="1">
                <a:solidFill>
                  <a:schemeClr val="accent4"/>
                </a:solidFill>
              </a:rPr>
              <a:t>总数</a:t>
            </a:r>
            <a:endParaRPr sz="2400" b="1">
              <a:solidFill>
                <a:schemeClr val="accent4"/>
              </a:solidFill>
            </a:endParaRPr>
          </a:p>
          <a:p>
            <a:pPr>
              <a:lnSpc>
                <a:spcPct val="110000"/>
              </a:lnSpc>
            </a:pPr>
            <a:r>
              <a:rPr lang="en-US" altLang="zh-CN" sz="2400" b="1">
                <a:solidFill>
                  <a:schemeClr val="accent4"/>
                </a:solidFill>
              </a:rPr>
              <a:t>In 1992, the women </a:t>
            </a:r>
            <a:r>
              <a:rPr lang="en-US" altLang="zh-CN" sz="2400" b="1" u="sng">
                <a:solidFill>
                  <a:srgbClr val="0070C0"/>
                </a:solidFill>
              </a:rPr>
              <a:t>taking maternity leave</a:t>
            </a:r>
            <a:r>
              <a:rPr lang="en-US" altLang="zh-CN" sz="2400" b="1">
                <a:solidFill>
                  <a:schemeClr val="accent4"/>
                </a:solidFill>
              </a:rPr>
              <a:t> accounted for 80% of the whole in America, which was 20% larger than the figure for Brazil.</a:t>
            </a:r>
            <a:endParaRPr lang="en-US" altLang="zh-CN" sz="2400" b="1">
              <a:solidFill>
                <a:schemeClr val="accent4"/>
              </a:solidFill>
            </a:endParaRPr>
          </a:p>
          <a:p>
            <a:pPr>
              <a:lnSpc>
                <a:spcPct val="110000"/>
              </a:lnSpc>
            </a:pPr>
            <a:r>
              <a:rPr lang="en-US" altLang="zh-CN" sz="2400" b="1">
                <a:solidFill>
                  <a:schemeClr val="accent4"/>
                </a:solidFill>
              </a:rPr>
              <a:t>In 1992, the men </a:t>
            </a:r>
            <a:r>
              <a:rPr lang="en-US" altLang="zh-CN" sz="2400" b="1" u="sng">
                <a:solidFill>
                  <a:srgbClr val="0070C0"/>
                </a:solidFill>
              </a:rPr>
              <a:t>taking care of children at home</a:t>
            </a:r>
            <a:r>
              <a:rPr lang="en-US" altLang="zh-CN" sz="2400" b="1">
                <a:solidFill>
                  <a:schemeClr val="accent4"/>
                </a:solidFill>
              </a:rPr>
              <a:t> accounted for 10% of the whole in America, which was 2% smaller than the figure for Brazil.</a:t>
            </a:r>
            <a:endParaRPr lang="en-US" altLang="zh-CN" sz="2400" b="1">
              <a:solidFill>
                <a:schemeClr val="accent4"/>
              </a:solidFill>
            </a:endParaRPr>
          </a:p>
          <a:p>
            <a:pPr>
              <a:lnSpc>
                <a:spcPct val="110000"/>
              </a:lnSpc>
            </a:pPr>
            <a:endParaRPr lang="en-US" altLang="zh-CN" sz="2400"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accent4"/>
                </a:solidFill>
              </a:rPr>
              <a:t>静态图的常用句型</a:t>
            </a:r>
            <a:endParaRPr lang="zh-CN" altLang="en-US">
              <a:solidFill>
                <a:schemeClr val="accent4"/>
              </a:solidFill>
            </a:endParaRPr>
          </a:p>
        </p:txBody>
      </p:sp>
      <p:sp>
        <p:nvSpPr>
          <p:cNvPr id="3" name="内容占位符 2"/>
          <p:cNvSpPr>
            <a:spLocks noGrp="1"/>
          </p:cNvSpPr>
          <p:nvPr>
            <p:ph idx="1"/>
          </p:nvPr>
        </p:nvSpPr>
        <p:spPr>
          <a:xfrm>
            <a:off x="457200" y="1275715"/>
            <a:ext cx="8472170" cy="3418205"/>
          </a:xfrm>
        </p:spPr>
        <p:txBody>
          <a:bodyPr/>
          <a:p>
            <a:r>
              <a:rPr lang="zh-CN" altLang="en-US" sz="2400" b="1">
                <a:solidFill>
                  <a:schemeClr val="accent4"/>
                </a:solidFill>
              </a:rPr>
              <a:t>②表示比较级 </a:t>
            </a:r>
            <a:endParaRPr lang="zh-CN" altLang="en-US" sz="2400" b="1">
              <a:solidFill>
                <a:schemeClr val="accent4"/>
              </a:solidFill>
            </a:endParaRPr>
          </a:p>
          <a:p>
            <a:r>
              <a:rPr lang="zh-CN" altLang="en-US" sz="2400" b="1">
                <a:solidFill>
                  <a:schemeClr val="accent4"/>
                </a:solidFill>
              </a:rPr>
              <a:t>A is </a:t>
            </a:r>
            <a:r>
              <a:rPr lang="zh-CN" altLang="en-US" sz="2400" b="1" u="sng">
                <a:solidFill>
                  <a:srgbClr val="0070C0"/>
                </a:solidFill>
              </a:rPr>
              <a:t>a little/much/twice/three times/20%</a:t>
            </a:r>
            <a:r>
              <a:rPr lang="zh-CN" altLang="en-US" sz="2400" b="1">
                <a:solidFill>
                  <a:schemeClr val="accent4"/>
                </a:solidFill>
              </a:rPr>
              <a:t> larger than B</a:t>
            </a:r>
            <a:endParaRPr lang="zh-CN" altLang="en-US" sz="2400" b="1">
              <a:solidFill>
                <a:schemeClr val="accent4"/>
              </a:solidFill>
            </a:endParaRPr>
          </a:p>
          <a:p>
            <a:r>
              <a:rPr lang="zh-CN" altLang="en-US" sz="2000" b="1">
                <a:solidFill>
                  <a:schemeClr val="accent4"/>
                </a:solidFill>
              </a:rPr>
              <a:t>This task is </a:t>
            </a:r>
            <a:r>
              <a:rPr lang="zh-CN" altLang="en-US" sz="2000" b="1" u="sng">
                <a:solidFill>
                  <a:srgbClr val="0070C0"/>
                </a:solidFill>
              </a:rPr>
              <a:t>much easier</a:t>
            </a:r>
            <a:r>
              <a:rPr lang="zh-CN" altLang="en-US" sz="2000" b="1">
                <a:solidFill>
                  <a:schemeClr val="accent4"/>
                </a:solidFill>
              </a:rPr>
              <a:t> than that one. </a:t>
            </a:r>
            <a:endParaRPr lang="zh-CN" altLang="en-US" sz="2000" b="1">
              <a:solidFill>
                <a:schemeClr val="accent4"/>
              </a:solidFill>
            </a:endParaRPr>
          </a:p>
          <a:p>
            <a:r>
              <a:rPr lang="zh-CN" altLang="en-US" sz="2000" b="1">
                <a:solidFill>
                  <a:schemeClr val="accent4"/>
                </a:solidFill>
              </a:rPr>
              <a:t>This task is </a:t>
            </a:r>
            <a:r>
              <a:rPr lang="zh-CN" altLang="en-US" sz="2000" b="1" u="sng">
                <a:solidFill>
                  <a:srgbClr val="0070C0"/>
                </a:solidFill>
              </a:rPr>
              <a:t>much more challeging</a:t>
            </a:r>
            <a:r>
              <a:rPr lang="zh-CN" altLang="en-US" sz="2000" b="1">
                <a:solidFill>
                  <a:schemeClr val="accent4"/>
                </a:solidFill>
              </a:rPr>
              <a:t> than that one. </a:t>
            </a:r>
            <a:endParaRPr lang="zh-CN" altLang="en-US" sz="2000" b="1">
              <a:solidFill>
                <a:schemeClr val="accent4"/>
              </a:solidFill>
            </a:endParaRPr>
          </a:p>
          <a:p>
            <a:r>
              <a:rPr sz="2000" b="1">
                <a:solidFill>
                  <a:schemeClr val="accent4"/>
                </a:solidFill>
                <a:sym typeface="+mn-ea"/>
              </a:rPr>
              <a:t>This rope is </a:t>
            </a:r>
            <a:r>
              <a:rPr sz="2000" b="1" u="sng">
                <a:solidFill>
                  <a:srgbClr val="0070C0"/>
                </a:solidFill>
                <a:sym typeface="+mn-ea"/>
              </a:rPr>
              <a:t>5 meters longer</a:t>
            </a:r>
            <a:r>
              <a:rPr sz="2000" b="1">
                <a:solidFill>
                  <a:schemeClr val="accent4"/>
                </a:solidFill>
                <a:sym typeface="+mn-ea"/>
              </a:rPr>
              <a:t> than that one.</a:t>
            </a:r>
            <a:endParaRPr lang="zh-CN" altLang="en-US" sz="2000" b="1">
              <a:solidFill>
                <a:schemeClr val="accent4"/>
              </a:solidFill>
            </a:endParaRPr>
          </a:p>
          <a:p>
            <a:r>
              <a:rPr lang="zh-CN" altLang="en-US" sz="2000" b="1">
                <a:solidFill>
                  <a:schemeClr val="accent4"/>
                </a:solidFill>
              </a:rPr>
              <a:t>This book is </a:t>
            </a:r>
            <a:r>
              <a:rPr lang="zh-CN" altLang="en-US" sz="2000" b="1" u="sng">
                <a:solidFill>
                  <a:srgbClr val="0070C0"/>
                </a:solidFill>
              </a:rPr>
              <a:t>5 dollars more expensive</a:t>
            </a:r>
            <a:r>
              <a:rPr lang="zh-CN" altLang="en-US" sz="2000" b="1">
                <a:solidFill>
                  <a:schemeClr val="accent4"/>
                </a:solidFill>
              </a:rPr>
              <a:t> than that one.</a:t>
            </a:r>
            <a:endParaRPr lang="zh-CN" altLang="en-US" sz="2000" b="1">
              <a:solidFill>
                <a:schemeClr val="accent4"/>
              </a:solidFill>
            </a:endParaRPr>
          </a:p>
          <a:p>
            <a:r>
              <a:rPr lang="zh-CN" altLang="en-US" sz="2000" b="1">
                <a:solidFill>
                  <a:schemeClr val="accent4"/>
                </a:solidFill>
              </a:rPr>
              <a:t>This room is </a:t>
            </a:r>
            <a:r>
              <a:rPr lang="zh-CN" altLang="en-US" sz="2000" b="1" u="sng">
                <a:solidFill>
                  <a:srgbClr val="FF0000"/>
                </a:solidFill>
              </a:rPr>
              <a:t>three time</a:t>
            </a:r>
            <a:r>
              <a:rPr lang="en-US" altLang="zh-CN" sz="2000" b="1" u="sng">
                <a:solidFill>
                  <a:srgbClr val="FF0000"/>
                </a:solidFill>
              </a:rPr>
              <a:t>s</a:t>
            </a:r>
            <a:r>
              <a:rPr lang="zh-CN" altLang="en-US" sz="2000" b="1" u="sng">
                <a:solidFill>
                  <a:srgbClr val="FF0000"/>
                </a:solidFill>
              </a:rPr>
              <a:t> larger</a:t>
            </a:r>
            <a:r>
              <a:rPr lang="zh-CN" altLang="en-US" sz="2000" b="1">
                <a:solidFill>
                  <a:schemeClr val="accent4"/>
                </a:solidFill>
              </a:rPr>
              <a:t> than that one.</a:t>
            </a:r>
            <a:r>
              <a:rPr lang="en-US" altLang="zh-CN" sz="2000" b="1">
                <a:solidFill>
                  <a:schemeClr val="accent4"/>
                </a:solidFill>
              </a:rPr>
              <a:t>= This room is three times as large as that one</a:t>
            </a:r>
            <a:endParaRPr lang="zh-CN" altLang="en-US" sz="2000" b="1">
              <a:solidFill>
                <a:schemeClr val="accent4"/>
              </a:solidFill>
            </a:endParaRPr>
          </a:p>
          <a:p>
            <a:r>
              <a:rPr lang="zh-CN" altLang="en-US" sz="2000" b="1">
                <a:solidFill>
                  <a:schemeClr val="accent4"/>
                </a:solidFill>
              </a:rPr>
              <a:t>The proportion of boys is </a:t>
            </a:r>
            <a:r>
              <a:rPr lang="zh-CN" altLang="en-US" sz="2000" b="1" u="sng">
                <a:solidFill>
                  <a:srgbClr val="FF0000"/>
                </a:solidFill>
              </a:rPr>
              <a:t>20% larger</a:t>
            </a:r>
            <a:r>
              <a:rPr lang="zh-CN" altLang="en-US" sz="2000" b="1">
                <a:solidFill>
                  <a:schemeClr val="accent4"/>
                </a:solidFill>
              </a:rPr>
              <a:t> than that of girls. </a:t>
            </a:r>
            <a:endParaRPr lang="zh-CN" altLang="en-US" sz="2000" b="1">
              <a:solidFill>
                <a:schemeClr val="accent4"/>
              </a:solidFill>
            </a:endParaRPr>
          </a:p>
          <a:p>
            <a:r>
              <a:rPr lang="zh-CN" altLang="en-US" sz="2000" b="1">
                <a:solidFill>
                  <a:schemeClr val="accent4"/>
                </a:solidFill>
              </a:rPr>
              <a:t>The girls in BJ are</a:t>
            </a:r>
            <a:r>
              <a:rPr lang="zh-CN" altLang="en-US" sz="2000" b="1" u="sng">
                <a:solidFill>
                  <a:srgbClr val="FF0000"/>
                </a:solidFill>
              </a:rPr>
              <a:t> a little bit taller</a:t>
            </a:r>
            <a:r>
              <a:rPr lang="zh-CN" altLang="en-US" sz="2000" b="1">
                <a:solidFill>
                  <a:schemeClr val="accent4"/>
                </a:solidFill>
              </a:rPr>
              <a:t> than those in SH.  </a:t>
            </a:r>
            <a:endParaRPr lang="zh-CN" altLang="en-US" sz="2000"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500"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500"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500"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500"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500"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500"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500"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b="1">
                <a:solidFill>
                  <a:schemeClr val="accent4"/>
                </a:solidFill>
              </a:rPr>
              <a:t>③</a:t>
            </a:r>
            <a:r>
              <a:rPr lang="en-US" altLang="zh-CN" b="1">
                <a:solidFill>
                  <a:schemeClr val="accent4"/>
                </a:solidFill>
              </a:rPr>
              <a:t>表示最高级</a:t>
            </a:r>
            <a:endParaRPr lang="en-US" altLang="zh-CN" b="1">
              <a:solidFill>
                <a:schemeClr val="accent4"/>
              </a:solidFill>
            </a:endParaRPr>
          </a:p>
        </p:txBody>
      </p:sp>
      <p:sp>
        <p:nvSpPr>
          <p:cNvPr id="3" name="内容占位符 2"/>
          <p:cNvSpPr>
            <a:spLocks noGrp="1"/>
          </p:cNvSpPr>
          <p:nvPr>
            <p:ph idx="1"/>
          </p:nvPr>
        </p:nvSpPr>
        <p:spPr>
          <a:xfrm>
            <a:off x="276225" y="1091565"/>
            <a:ext cx="8688705" cy="3747770"/>
          </a:xfrm>
        </p:spPr>
        <p:txBody>
          <a:bodyPr/>
          <a:p>
            <a:pPr algn="l">
              <a:buClrTx/>
              <a:buSzTx/>
            </a:pPr>
            <a:r>
              <a:rPr sz="2400" b="1">
                <a:solidFill>
                  <a:schemeClr val="accent4"/>
                </a:solidFill>
              </a:rPr>
              <a:t>The population</a:t>
            </a:r>
            <a:r>
              <a:rPr lang="en-US" altLang="zh-CN" sz="2400" b="1">
                <a:solidFill>
                  <a:schemeClr val="accent4"/>
                </a:solidFill>
              </a:rPr>
              <a:t> of India is </a:t>
            </a:r>
            <a:r>
              <a:rPr lang="en-US" altLang="zh-CN" sz="2400" b="1" u="sng">
                <a:solidFill>
                  <a:schemeClr val="accent4"/>
                </a:solidFill>
              </a:rPr>
              <a:t>the largest</a:t>
            </a:r>
            <a:r>
              <a:rPr lang="en-US" altLang="zh-CN" sz="2400" b="1">
                <a:solidFill>
                  <a:schemeClr val="accent4"/>
                </a:solidFill>
              </a:rPr>
              <a:t>.</a:t>
            </a:r>
            <a:endParaRPr lang="zh-CN" altLang="en-US" sz="2400" b="1">
              <a:solidFill>
                <a:schemeClr val="accent4"/>
              </a:solidFill>
            </a:endParaRPr>
          </a:p>
          <a:p>
            <a:pPr algn="l">
              <a:buClrTx/>
              <a:buSzTx/>
            </a:pPr>
            <a:r>
              <a:rPr lang="en-US" altLang="zh-CN" sz="2400" b="1">
                <a:solidFill>
                  <a:schemeClr val="accent4"/>
                </a:solidFill>
              </a:rPr>
              <a:t>Chicken was </a:t>
            </a:r>
            <a:r>
              <a:rPr lang="en-US" altLang="zh-CN" sz="2400" b="1" u="sng">
                <a:solidFill>
                  <a:schemeClr val="accent4"/>
                </a:solidFill>
              </a:rPr>
              <a:t>the most popular food</a:t>
            </a:r>
            <a:r>
              <a:rPr lang="en-US" altLang="zh-CN" sz="2400" b="1">
                <a:solidFill>
                  <a:schemeClr val="accent4"/>
                </a:solidFill>
              </a:rPr>
              <a:t> for Indian people in 2010.</a:t>
            </a:r>
            <a:endParaRPr lang="zh-CN" altLang="en-US" sz="2400" b="1">
              <a:solidFill>
                <a:schemeClr val="accent4"/>
              </a:solidFill>
            </a:endParaRPr>
          </a:p>
          <a:p>
            <a:pPr algn="l">
              <a:buClrTx/>
              <a:buSzTx/>
            </a:pPr>
            <a:r>
              <a:rPr lang="en-US" altLang="zh-CN" sz="2400" b="1">
                <a:solidFill>
                  <a:schemeClr val="accent4"/>
                </a:solidFill>
              </a:rPr>
              <a:t>The apples in China are </a:t>
            </a:r>
            <a:r>
              <a:rPr lang="en-US" altLang="zh-CN" sz="2400" b="1" u="sng">
                <a:solidFill>
                  <a:srgbClr val="FF0000"/>
                </a:solidFill>
              </a:rPr>
              <a:t>the most</a:t>
            </a:r>
            <a:r>
              <a:rPr lang="en-US" altLang="zh-CN" sz="2400" b="1">
                <a:solidFill>
                  <a:schemeClr val="accent4"/>
                </a:solidFill>
              </a:rPr>
              <a:t>, while</a:t>
            </a:r>
            <a:r>
              <a:rPr lang="en-US" altLang="zh-CN" sz="2400" b="1" u="sng">
                <a:solidFill>
                  <a:srgbClr val="FF0000"/>
                </a:solidFill>
              </a:rPr>
              <a:t> those</a:t>
            </a:r>
            <a:r>
              <a:rPr lang="en-US" altLang="zh-CN" sz="2400" b="1">
                <a:solidFill>
                  <a:schemeClr val="accent4"/>
                </a:solidFill>
              </a:rPr>
              <a:t> in America are </a:t>
            </a:r>
            <a:r>
              <a:rPr lang="en-US" altLang="zh-CN" sz="2400" b="1" u="sng">
                <a:solidFill>
                  <a:srgbClr val="FF0000"/>
                </a:solidFill>
              </a:rPr>
              <a:t>the fewest</a:t>
            </a:r>
            <a:r>
              <a:rPr lang="en-US" altLang="zh-CN" sz="2400" b="1">
                <a:solidFill>
                  <a:schemeClr val="accent4"/>
                </a:solidFill>
              </a:rPr>
              <a:t>.</a:t>
            </a:r>
            <a:endParaRPr lang="en-US" altLang="zh-CN" sz="1600" b="1">
              <a:solidFill>
                <a:schemeClr val="accent4"/>
              </a:solidFill>
            </a:endParaRPr>
          </a:p>
          <a:p>
            <a:pPr>
              <a:lnSpc>
                <a:spcPct val="110000"/>
              </a:lnSpc>
            </a:pPr>
            <a:r>
              <a:rPr lang="en-US" altLang="zh-CN" sz="2400" b="1">
                <a:solidFill>
                  <a:schemeClr val="accent4"/>
                </a:solidFill>
                <a:sym typeface="+mn-ea"/>
              </a:rPr>
              <a:t>在这五个国家中日本生产了最少的垃圾在2008年。</a:t>
            </a:r>
            <a:endParaRPr lang="en-US" altLang="zh-CN" sz="2400" b="1">
              <a:solidFill>
                <a:schemeClr val="accent4"/>
              </a:solidFill>
            </a:endParaRPr>
          </a:p>
          <a:p>
            <a:pPr>
              <a:lnSpc>
                <a:spcPct val="110000"/>
              </a:lnSpc>
            </a:pPr>
            <a:r>
              <a:rPr lang="en-US" altLang="zh-CN" sz="2400" b="1">
                <a:solidFill>
                  <a:schemeClr val="accent4"/>
                </a:solidFill>
                <a:sym typeface="+mn-ea"/>
              </a:rPr>
              <a:t>Japan produced </a:t>
            </a:r>
            <a:r>
              <a:rPr lang="en-US" altLang="zh-CN" sz="2400" b="1" u="sng">
                <a:solidFill>
                  <a:srgbClr val="FF0000"/>
                </a:solidFill>
                <a:sym typeface="+mn-ea"/>
              </a:rPr>
              <a:t>the least garbage</a:t>
            </a:r>
            <a:r>
              <a:rPr lang="en-US" altLang="zh-CN" sz="2400" b="1">
                <a:solidFill>
                  <a:schemeClr val="accent4"/>
                </a:solidFill>
                <a:sym typeface="+mn-ea"/>
              </a:rPr>
              <a:t> among all five countries in 2008.</a:t>
            </a:r>
            <a:endParaRPr lang="en-US" altLang="zh-CN" sz="2400" b="1">
              <a:solidFill>
                <a:schemeClr val="accent4"/>
              </a:solidFill>
              <a:sym typeface="+mn-ea"/>
            </a:endParaRPr>
          </a:p>
          <a:p>
            <a:pPr>
              <a:lnSpc>
                <a:spcPct val="110000"/>
              </a:lnSpc>
            </a:pPr>
            <a:r>
              <a:rPr lang="en-US" altLang="zh-CN" sz="2400" b="1">
                <a:solidFill>
                  <a:schemeClr val="accent4"/>
                </a:solidFill>
              </a:rPr>
              <a:t>去日本的游客是最少的。</a:t>
            </a:r>
            <a:endParaRPr lang="en-US" altLang="zh-CN" sz="2400" b="1">
              <a:solidFill>
                <a:schemeClr val="accent4"/>
              </a:solidFill>
            </a:endParaRPr>
          </a:p>
          <a:p>
            <a:pPr>
              <a:lnSpc>
                <a:spcPct val="110000"/>
              </a:lnSpc>
            </a:pPr>
            <a:r>
              <a:rPr lang="en-US" altLang="zh-CN" sz="2400" b="1">
                <a:solidFill>
                  <a:schemeClr val="accent4"/>
                </a:solidFill>
              </a:rPr>
              <a:t>The Indian tourists going to Japan are the fewest. </a:t>
            </a:r>
            <a:endParaRPr lang="en-US" altLang="zh-CN" sz="2400" b="1">
              <a:solidFill>
                <a:schemeClr val="accent4"/>
              </a:solidFill>
            </a:endParaRPr>
          </a:p>
          <a:p>
            <a:pPr marL="0" indent="0">
              <a:buNone/>
            </a:pPr>
            <a:endParaRPr lang="zh-CN" altLang="en-US" sz="180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500"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500"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500"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500"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500"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b="1">
                <a:solidFill>
                  <a:schemeClr val="accent4"/>
                </a:solidFill>
              </a:rPr>
              <a:t>④</a:t>
            </a:r>
            <a:r>
              <a:rPr lang="en-US" altLang="zh-CN" b="1">
                <a:solidFill>
                  <a:schemeClr val="accent4"/>
                </a:solidFill>
              </a:rPr>
              <a:t> </a:t>
            </a:r>
            <a:r>
              <a:rPr lang="zh-CN" altLang="en-US" b="1">
                <a:solidFill>
                  <a:schemeClr val="accent4"/>
                </a:solidFill>
              </a:rPr>
              <a:t>非限制性定从</a:t>
            </a:r>
            <a:r>
              <a:rPr lang="en-US" altLang="zh-CN" b="1">
                <a:solidFill>
                  <a:schemeClr val="accent4"/>
                </a:solidFill>
              </a:rPr>
              <a:t>--</a:t>
            </a:r>
            <a:r>
              <a:rPr lang="zh-CN" altLang="en-US" b="1">
                <a:solidFill>
                  <a:schemeClr val="accent4"/>
                </a:solidFill>
              </a:rPr>
              <a:t>连接</a:t>
            </a:r>
            <a:endParaRPr lang="zh-CN" altLang="en-US" b="1">
              <a:solidFill>
                <a:schemeClr val="accent4"/>
              </a:solidFill>
            </a:endParaRPr>
          </a:p>
        </p:txBody>
      </p:sp>
      <p:sp>
        <p:nvSpPr>
          <p:cNvPr id="3" name="内容占位符 2"/>
          <p:cNvSpPr>
            <a:spLocks noGrp="1"/>
          </p:cNvSpPr>
          <p:nvPr>
            <p:ph idx="1"/>
          </p:nvPr>
        </p:nvSpPr>
        <p:spPr>
          <a:xfrm>
            <a:off x="265430" y="1290955"/>
            <a:ext cx="9083040" cy="3548380"/>
          </a:xfrm>
        </p:spPr>
        <p:txBody>
          <a:bodyPr/>
          <a:p>
            <a:pPr algn="l">
              <a:buClrTx/>
              <a:buSzTx/>
            </a:pPr>
            <a:r>
              <a:rPr lang="en-US" altLang="zh-CN" b="1">
                <a:solidFill>
                  <a:schemeClr val="accent4"/>
                </a:solidFill>
              </a:rPr>
              <a:t>I have </a:t>
            </a:r>
            <a:r>
              <a:rPr lang="en-US" altLang="zh-CN" b="1" u="sng">
                <a:solidFill>
                  <a:srgbClr val="FF0000"/>
                </a:solidFill>
              </a:rPr>
              <a:t>an apple</a:t>
            </a:r>
            <a:r>
              <a:rPr lang="en-US" altLang="zh-CN" b="1">
                <a:solidFill>
                  <a:schemeClr val="accent4"/>
                </a:solidFill>
              </a:rPr>
              <a:t>, </a:t>
            </a:r>
            <a:r>
              <a:rPr lang="en-US" altLang="zh-CN" b="1" u="sng">
                <a:solidFill>
                  <a:srgbClr val="FF0000"/>
                </a:solidFill>
              </a:rPr>
              <a:t>which</a:t>
            </a:r>
            <a:r>
              <a:rPr lang="en-US" altLang="zh-CN" b="1">
                <a:solidFill>
                  <a:schemeClr val="accent4"/>
                </a:solidFill>
              </a:rPr>
              <a:t> is sweet.</a:t>
            </a:r>
            <a:endParaRPr lang="en-US" altLang="zh-CN" b="1">
              <a:solidFill>
                <a:schemeClr val="accent4"/>
              </a:solidFill>
            </a:endParaRPr>
          </a:p>
          <a:p>
            <a:pPr algn="l">
              <a:buClrTx/>
              <a:buSzTx/>
            </a:pPr>
            <a:r>
              <a:rPr lang="en-US" altLang="zh-CN" b="1">
                <a:solidFill>
                  <a:schemeClr val="accent4"/>
                </a:solidFill>
              </a:rPr>
              <a:t>I have </a:t>
            </a:r>
            <a:r>
              <a:rPr lang="en-US" altLang="zh-CN" b="1" u="sng">
                <a:solidFill>
                  <a:srgbClr val="FF0000"/>
                </a:solidFill>
              </a:rPr>
              <a:t>three apples</a:t>
            </a:r>
            <a:r>
              <a:rPr lang="en-US" altLang="zh-CN" b="1">
                <a:solidFill>
                  <a:schemeClr val="accent4"/>
                </a:solidFill>
              </a:rPr>
              <a:t>, </a:t>
            </a:r>
            <a:r>
              <a:rPr lang="en-US" altLang="zh-CN" b="1" u="sng">
                <a:solidFill>
                  <a:srgbClr val="FF0000"/>
                </a:solidFill>
              </a:rPr>
              <a:t>two of which</a:t>
            </a:r>
            <a:r>
              <a:rPr lang="en-US" altLang="zh-CN" b="1">
                <a:solidFill>
                  <a:schemeClr val="accent4"/>
                </a:solidFill>
              </a:rPr>
              <a:t> are sweet.</a:t>
            </a:r>
            <a:endParaRPr lang="en-US" altLang="zh-CN" b="1">
              <a:solidFill>
                <a:schemeClr val="accent4"/>
              </a:solidFill>
            </a:endParaRPr>
          </a:p>
          <a:p>
            <a:pPr algn="l">
              <a:buClrTx/>
              <a:buSzTx/>
            </a:pPr>
            <a:r>
              <a:rPr lang="en-US" altLang="zh-CN" b="1">
                <a:solidFill>
                  <a:schemeClr val="accent4"/>
                </a:solidFill>
              </a:rPr>
              <a:t>There are many apples, </a:t>
            </a:r>
            <a:r>
              <a:rPr lang="en-US" altLang="zh-CN" b="1" u="sng">
                <a:solidFill>
                  <a:srgbClr val="FF0000"/>
                </a:solidFill>
              </a:rPr>
              <a:t>a half of which</a:t>
            </a:r>
            <a:r>
              <a:rPr lang="en-US" altLang="zh-CN" b="1">
                <a:solidFill>
                  <a:schemeClr val="accent4"/>
                </a:solidFill>
              </a:rPr>
              <a:t> are green.</a:t>
            </a:r>
            <a:endParaRPr lang="en-US" altLang="zh-CN" b="1">
              <a:solidFill>
                <a:schemeClr val="accent4"/>
              </a:solidFill>
            </a:endParaRPr>
          </a:p>
          <a:p>
            <a:pPr algn="l">
              <a:buClrTx/>
              <a:buSzTx/>
            </a:pPr>
            <a:r>
              <a:rPr lang="en-US" altLang="zh-CN" b="1">
                <a:solidFill>
                  <a:schemeClr val="accent4"/>
                </a:solidFill>
              </a:rPr>
              <a:t>I have </a:t>
            </a:r>
            <a:r>
              <a:rPr lang="en-US" altLang="zh-CN" b="1" u="sng">
                <a:solidFill>
                  <a:srgbClr val="FF0000"/>
                </a:solidFill>
              </a:rPr>
              <a:t>an aunt</a:t>
            </a:r>
            <a:r>
              <a:rPr lang="en-US" altLang="zh-CN" b="1">
                <a:solidFill>
                  <a:schemeClr val="accent4"/>
                </a:solidFill>
              </a:rPr>
              <a:t>, </a:t>
            </a:r>
            <a:r>
              <a:rPr lang="en-US" altLang="zh-CN" b="1" u="sng">
                <a:solidFill>
                  <a:srgbClr val="FF0000"/>
                </a:solidFill>
              </a:rPr>
              <a:t>who</a:t>
            </a:r>
            <a:r>
              <a:rPr lang="en-US" altLang="zh-CN" b="1">
                <a:solidFill>
                  <a:schemeClr val="accent4"/>
                </a:solidFill>
              </a:rPr>
              <a:t> is beautiful.</a:t>
            </a:r>
            <a:endParaRPr lang="en-US" altLang="zh-CN" b="1">
              <a:solidFill>
                <a:schemeClr val="accent4"/>
              </a:solidFill>
            </a:endParaRPr>
          </a:p>
          <a:p>
            <a:pPr algn="l">
              <a:buClrTx/>
              <a:buSzTx/>
            </a:pPr>
            <a:r>
              <a:rPr lang="en-US" altLang="zh-CN" b="1">
                <a:solidFill>
                  <a:schemeClr val="accent4"/>
                </a:solidFill>
              </a:rPr>
              <a:t>I have </a:t>
            </a:r>
            <a:r>
              <a:rPr lang="en-US" altLang="zh-CN" b="1" u="sng">
                <a:solidFill>
                  <a:srgbClr val="FF0000"/>
                </a:solidFill>
              </a:rPr>
              <a:t>three aunts</a:t>
            </a:r>
            <a:r>
              <a:rPr lang="en-US" altLang="zh-CN" b="1">
                <a:solidFill>
                  <a:schemeClr val="accent4"/>
                </a:solidFill>
              </a:rPr>
              <a:t>, </a:t>
            </a:r>
            <a:r>
              <a:rPr lang="en-US" altLang="zh-CN" b="1" u="sng">
                <a:solidFill>
                  <a:srgbClr val="FF0000"/>
                </a:solidFill>
              </a:rPr>
              <a:t>two of whom</a:t>
            </a:r>
            <a:r>
              <a:rPr lang="en-US" altLang="zh-CN" b="1">
                <a:solidFill>
                  <a:schemeClr val="accent4"/>
                </a:solidFill>
              </a:rPr>
              <a:t> are beautiful.</a:t>
            </a:r>
            <a:endParaRPr lang="en-US" altLang="zh-CN" b="1">
              <a:solidFill>
                <a:schemeClr val="accent4"/>
              </a:solidFill>
            </a:endParaRPr>
          </a:p>
          <a:p>
            <a:pPr algn="l">
              <a:buClrTx/>
              <a:buSzTx/>
            </a:pPr>
            <a:r>
              <a:rPr lang="en-US" altLang="zh-CN" b="1">
                <a:solidFill>
                  <a:schemeClr val="accent4"/>
                </a:solidFill>
              </a:rPr>
              <a:t>There are many Indian tourists, </a:t>
            </a:r>
            <a:r>
              <a:rPr lang="en-US" altLang="zh-CN" b="1" u="sng">
                <a:solidFill>
                  <a:srgbClr val="FF0000"/>
                </a:solidFill>
              </a:rPr>
              <a:t>30% of whom</a:t>
            </a:r>
            <a:r>
              <a:rPr lang="en-US" altLang="zh-CN" b="1">
                <a:solidFill>
                  <a:schemeClr val="accent4"/>
                </a:solidFill>
              </a:rPr>
              <a:t> choose to go to America.</a:t>
            </a:r>
            <a:endParaRPr lang="en-US" altLang="zh-CN"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500"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500"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500"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500"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6141720" cy="500380"/>
          </a:xfrm>
        </p:spPr>
        <p:txBody>
          <a:bodyPr/>
          <a:p>
            <a:pPr algn="l">
              <a:buClrTx/>
              <a:buSzTx/>
              <a:buFontTx/>
            </a:pPr>
            <a:r>
              <a:rPr lang="zh-CN" altLang="en-US" b="1">
                <a:solidFill>
                  <a:schemeClr val="accent4"/>
                </a:solidFill>
              </a:rPr>
              <a:t>⑤往往按照大小的逻辑去写</a:t>
            </a:r>
            <a:endParaRPr lang="zh-CN" altLang="en-US" b="1">
              <a:solidFill>
                <a:schemeClr val="accent4"/>
              </a:solidFill>
            </a:endParaRPr>
          </a:p>
        </p:txBody>
      </p:sp>
      <p:sp>
        <p:nvSpPr>
          <p:cNvPr id="3" name="内容占位符 2"/>
          <p:cNvSpPr>
            <a:spLocks noGrp="1"/>
          </p:cNvSpPr>
          <p:nvPr>
            <p:ph idx="1"/>
          </p:nvPr>
        </p:nvSpPr>
        <p:spPr>
          <a:xfrm>
            <a:off x="265430" y="1290955"/>
            <a:ext cx="8791575" cy="3548380"/>
          </a:xfrm>
        </p:spPr>
        <p:txBody>
          <a:bodyPr/>
          <a:p>
            <a:pPr algn="l">
              <a:lnSpc>
                <a:spcPct val="110000"/>
              </a:lnSpc>
              <a:buClrTx/>
              <a:buSzTx/>
            </a:pPr>
            <a:r>
              <a:rPr lang="en-US" altLang="zh-CN" b="1">
                <a:solidFill>
                  <a:schemeClr val="accent4"/>
                </a:solidFill>
              </a:rPr>
              <a:t>Over-grazing </a:t>
            </a:r>
            <a:r>
              <a:rPr lang="en-US" altLang="zh-CN" b="1" u="sng">
                <a:solidFill>
                  <a:srgbClr val="FF0000"/>
                </a:solidFill>
              </a:rPr>
              <a:t>was the main reason</a:t>
            </a:r>
            <a:r>
              <a:rPr lang="en-US" altLang="zh-CN" b="1">
                <a:solidFill>
                  <a:schemeClr val="accent4"/>
                </a:solidFill>
              </a:rPr>
              <a:t> </a:t>
            </a:r>
            <a:r>
              <a:rPr lang="en-US" altLang="zh-CN" b="1">
                <a:solidFill>
                  <a:schemeClr val="accent4"/>
                </a:solidFill>
                <a:highlight>
                  <a:srgbClr val="FFFF00"/>
                </a:highlight>
              </a:rPr>
              <a:t>leading to land degradation</a:t>
            </a:r>
            <a:r>
              <a:rPr lang="en-US" altLang="zh-CN" b="1">
                <a:solidFill>
                  <a:schemeClr val="accent4"/>
                </a:solidFill>
              </a:rPr>
              <a:t>, accounting for 30%.</a:t>
            </a:r>
            <a:endParaRPr lang="en-US" altLang="zh-CN" b="1">
              <a:solidFill>
                <a:schemeClr val="accent4"/>
              </a:solidFill>
            </a:endParaRPr>
          </a:p>
          <a:p>
            <a:pPr algn="l">
              <a:lnSpc>
                <a:spcPct val="110000"/>
              </a:lnSpc>
              <a:buClrTx/>
              <a:buSzTx/>
            </a:pPr>
            <a:r>
              <a:rPr lang="en-US" altLang="zh-CN" b="1" u="sng">
                <a:solidFill>
                  <a:srgbClr val="FF0000"/>
                </a:solidFill>
              </a:rPr>
              <a:t>This was followed by</a:t>
            </a:r>
            <a:r>
              <a:rPr lang="en-US" altLang="zh-CN" b="1">
                <a:solidFill>
                  <a:schemeClr val="accent4"/>
                </a:solidFill>
              </a:rPr>
              <a:t> deforestation and over-cultivation, occupying 28% and 20% respectively.</a:t>
            </a:r>
            <a:endParaRPr lang="en-US" altLang="zh-CN"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6141720" cy="500380"/>
          </a:xfrm>
        </p:spPr>
        <p:txBody>
          <a:bodyPr/>
          <a:p>
            <a:pPr algn="l">
              <a:buClrTx/>
              <a:buSzTx/>
              <a:buFontTx/>
            </a:pPr>
            <a:r>
              <a:rPr lang="zh-CN" altLang="en-US" b="1">
                <a:solidFill>
                  <a:schemeClr val="accent4"/>
                </a:solidFill>
              </a:rPr>
              <a:t>⑥避免流水账</a:t>
            </a:r>
            <a:r>
              <a:rPr lang="en-US" altLang="zh-CN" b="1">
                <a:solidFill>
                  <a:schemeClr val="accent4"/>
                </a:solidFill>
              </a:rPr>
              <a:t>--</a:t>
            </a:r>
            <a:r>
              <a:rPr lang="zh-CN" altLang="en-US" b="1">
                <a:solidFill>
                  <a:schemeClr val="accent4"/>
                </a:solidFill>
              </a:rPr>
              <a:t>先写特征，再写细节</a:t>
            </a:r>
            <a:endParaRPr lang="zh-CN" altLang="en-US" b="1">
              <a:solidFill>
                <a:schemeClr val="accent4"/>
              </a:solidFill>
            </a:endParaRPr>
          </a:p>
        </p:txBody>
      </p:sp>
      <p:sp>
        <p:nvSpPr>
          <p:cNvPr id="3" name="内容占位符 2"/>
          <p:cNvSpPr>
            <a:spLocks noGrp="1"/>
          </p:cNvSpPr>
          <p:nvPr>
            <p:ph idx="1"/>
          </p:nvPr>
        </p:nvSpPr>
        <p:spPr>
          <a:xfrm>
            <a:off x="265430" y="1290955"/>
            <a:ext cx="8791575" cy="3548380"/>
          </a:xfrm>
        </p:spPr>
        <p:txBody>
          <a:bodyPr/>
          <a:p>
            <a:pPr algn="l">
              <a:lnSpc>
                <a:spcPct val="110000"/>
              </a:lnSpc>
              <a:buClrTx/>
              <a:buSzTx/>
            </a:pPr>
            <a:r>
              <a:rPr lang="en-US" altLang="zh-CN" b="1" u="sng">
                <a:solidFill>
                  <a:srgbClr val="FF0000"/>
                </a:solidFill>
              </a:rPr>
              <a:t>Coal</a:t>
            </a:r>
            <a:r>
              <a:rPr lang="en-US" altLang="zh-CN" b="1">
                <a:solidFill>
                  <a:schemeClr val="accent4"/>
                </a:solidFill>
              </a:rPr>
              <a:t> was the main source in China in 1995, </a:t>
            </a:r>
            <a:r>
              <a:rPr lang="en-US" altLang="zh-CN" b="1">
                <a:solidFill>
                  <a:schemeClr val="accent4"/>
                </a:solidFill>
                <a:highlight>
                  <a:srgbClr val="FFFF00"/>
                </a:highlight>
              </a:rPr>
              <a:t>contributing 50% of electricity</a:t>
            </a:r>
            <a:r>
              <a:rPr lang="en-US" altLang="zh-CN" b="1">
                <a:solidFill>
                  <a:schemeClr val="accent4"/>
                </a:solidFill>
              </a:rPr>
              <a:t>.</a:t>
            </a:r>
            <a:endParaRPr lang="en-US" altLang="zh-CN" b="1">
              <a:solidFill>
                <a:schemeClr val="accent4"/>
              </a:solidFill>
            </a:endParaRPr>
          </a:p>
          <a:p>
            <a:pPr algn="l">
              <a:lnSpc>
                <a:spcPct val="110000"/>
              </a:lnSpc>
              <a:buClrTx/>
              <a:buSzTx/>
            </a:pPr>
            <a:r>
              <a:rPr lang="en-US" altLang="zh-CN" b="1">
                <a:solidFill>
                  <a:schemeClr val="accent4"/>
                </a:solidFill>
              </a:rPr>
              <a:t>Over-grazing was the main reason for land degradation, </a:t>
            </a:r>
            <a:r>
              <a:rPr lang="en-US" altLang="zh-CN" b="1">
                <a:solidFill>
                  <a:schemeClr val="accent4"/>
                </a:solidFill>
                <a:highlight>
                  <a:srgbClr val="FFFF00"/>
                </a:highlight>
              </a:rPr>
              <a:t>accounting for 35% of the whole</a:t>
            </a:r>
            <a:r>
              <a:rPr lang="en-US" altLang="zh-CN" b="1">
                <a:solidFill>
                  <a:schemeClr val="accent4"/>
                </a:solidFill>
              </a:rPr>
              <a:t>.</a:t>
            </a:r>
            <a:endParaRPr lang="en-US" altLang="zh-CN" b="1">
              <a:solidFill>
                <a:schemeClr val="accent4"/>
              </a:solidFill>
            </a:endParaRPr>
          </a:p>
          <a:p>
            <a:pPr marL="0" indent="0" algn="l">
              <a:lnSpc>
                <a:spcPct val="110000"/>
              </a:lnSpc>
              <a:buClrTx/>
              <a:buSzTx/>
              <a:buNone/>
            </a:pPr>
            <a:endParaRPr lang="en-US" altLang="zh-CN"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6141720" cy="500380"/>
          </a:xfrm>
        </p:spPr>
        <p:txBody>
          <a:bodyPr/>
          <a:p>
            <a:pPr algn="l">
              <a:buClrTx/>
              <a:buSzTx/>
              <a:buFontTx/>
            </a:pPr>
            <a:r>
              <a:rPr lang="zh-CN" altLang="en-US" b="1">
                <a:solidFill>
                  <a:schemeClr val="accent4"/>
                </a:solidFill>
              </a:rPr>
              <a:t>⑦用过去完成时</a:t>
            </a:r>
            <a:r>
              <a:rPr lang="en-US" altLang="zh-CN" b="1">
                <a:solidFill>
                  <a:schemeClr val="accent4"/>
                </a:solidFill>
              </a:rPr>
              <a:t>--</a:t>
            </a:r>
            <a:r>
              <a:rPr lang="zh-CN" altLang="en-US" b="1">
                <a:solidFill>
                  <a:schemeClr val="accent4"/>
                </a:solidFill>
              </a:rPr>
              <a:t>表示强烈对比</a:t>
            </a:r>
            <a:endParaRPr lang="zh-CN" altLang="en-US" b="1">
              <a:solidFill>
                <a:schemeClr val="accent4"/>
              </a:solidFill>
            </a:endParaRPr>
          </a:p>
        </p:txBody>
      </p:sp>
      <p:sp>
        <p:nvSpPr>
          <p:cNvPr id="3" name="内容占位符 2"/>
          <p:cNvSpPr>
            <a:spLocks noGrp="1"/>
          </p:cNvSpPr>
          <p:nvPr>
            <p:ph idx="1"/>
          </p:nvPr>
        </p:nvSpPr>
        <p:spPr>
          <a:xfrm>
            <a:off x="265430" y="1290955"/>
            <a:ext cx="8791575" cy="3548380"/>
          </a:xfrm>
        </p:spPr>
        <p:txBody>
          <a:bodyPr/>
          <a:p>
            <a:pPr algn="l">
              <a:lnSpc>
                <a:spcPct val="110000"/>
              </a:lnSpc>
              <a:buClrTx/>
              <a:buSzTx/>
            </a:pPr>
            <a:r>
              <a:rPr lang="en-US" altLang="zh-CN" b="1">
                <a:solidFill>
                  <a:schemeClr val="accent4"/>
                </a:solidFill>
              </a:rPr>
              <a:t>The production of electricity by coal saw a dramatic increase from 5 units to 50 units. </a:t>
            </a:r>
            <a:r>
              <a:rPr b="1">
                <a:solidFill>
                  <a:schemeClr val="accent4"/>
                </a:solidFill>
              </a:rPr>
              <a:t>平淡的表达</a:t>
            </a:r>
            <a:endParaRPr b="1">
              <a:solidFill>
                <a:schemeClr val="accent4"/>
              </a:solidFill>
            </a:endParaRPr>
          </a:p>
          <a:p>
            <a:pPr algn="l">
              <a:lnSpc>
                <a:spcPct val="110000"/>
              </a:lnSpc>
              <a:buClrTx/>
              <a:buSzTx/>
            </a:pPr>
            <a:r>
              <a:rPr lang="en-US" altLang="zh-CN" b="1">
                <a:solidFill>
                  <a:schemeClr val="accent4"/>
                </a:solidFill>
              </a:rPr>
              <a:t> In 1980, the production of electricity by coal was only 5 units, </a:t>
            </a:r>
            <a:r>
              <a:rPr lang="en-US" altLang="zh-CN" b="1" u="sng">
                <a:solidFill>
                  <a:srgbClr val="FF0000"/>
                </a:solidFill>
              </a:rPr>
              <a:t>while by 2000, it had soared to 50 units</a:t>
            </a:r>
            <a:r>
              <a:rPr lang="en-US" altLang="zh-CN" b="1">
                <a:solidFill>
                  <a:schemeClr val="accent4"/>
                </a:solidFill>
              </a:rPr>
              <a:t>. </a:t>
            </a:r>
            <a:r>
              <a:rPr b="1">
                <a:solidFill>
                  <a:schemeClr val="accent4"/>
                </a:solidFill>
              </a:rPr>
              <a:t>强烈的表达</a:t>
            </a:r>
            <a:endParaRPr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6141720" cy="500380"/>
          </a:xfrm>
        </p:spPr>
        <p:txBody>
          <a:bodyPr/>
          <a:p>
            <a:pPr algn="l">
              <a:buClrTx/>
              <a:buSzTx/>
              <a:buFontTx/>
            </a:pPr>
            <a:r>
              <a:rPr lang="zh-CN" altLang="en-US" b="1">
                <a:solidFill>
                  <a:schemeClr val="accent4"/>
                </a:solidFill>
              </a:rPr>
              <a:t>⑤往往按照大小的逻辑去写</a:t>
            </a:r>
            <a:endParaRPr lang="zh-CN" altLang="en-US" b="1">
              <a:solidFill>
                <a:schemeClr val="accent4"/>
              </a:solidFill>
            </a:endParaRPr>
          </a:p>
        </p:txBody>
      </p:sp>
      <p:sp>
        <p:nvSpPr>
          <p:cNvPr id="3" name="内容占位符 2"/>
          <p:cNvSpPr>
            <a:spLocks noGrp="1"/>
          </p:cNvSpPr>
          <p:nvPr>
            <p:ph idx="1"/>
          </p:nvPr>
        </p:nvSpPr>
        <p:spPr>
          <a:xfrm>
            <a:off x="265430" y="1290955"/>
            <a:ext cx="8791575" cy="3548380"/>
          </a:xfrm>
        </p:spPr>
        <p:txBody>
          <a:bodyPr/>
          <a:p>
            <a:pPr algn="l">
              <a:lnSpc>
                <a:spcPct val="110000"/>
              </a:lnSpc>
              <a:buClrTx/>
              <a:buSzTx/>
            </a:pPr>
            <a:r>
              <a:rPr lang="en-US" altLang="zh-CN" b="1">
                <a:solidFill>
                  <a:schemeClr val="accent4"/>
                </a:solidFill>
              </a:rPr>
              <a:t>Over-grazing </a:t>
            </a:r>
            <a:r>
              <a:rPr lang="en-US" altLang="zh-CN" b="1" u="sng">
                <a:solidFill>
                  <a:srgbClr val="FF0000"/>
                </a:solidFill>
              </a:rPr>
              <a:t>was the main reason</a:t>
            </a:r>
            <a:r>
              <a:rPr lang="en-US" altLang="zh-CN" b="1">
                <a:solidFill>
                  <a:schemeClr val="accent4"/>
                </a:solidFill>
              </a:rPr>
              <a:t> leading to land degradation, accounting for 30%.</a:t>
            </a:r>
            <a:endParaRPr lang="en-US" altLang="zh-CN" b="1">
              <a:solidFill>
                <a:schemeClr val="accent4"/>
              </a:solidFill>
            </a:endParaRPr>
          </a:p>
          <a:p>
            <a:pPr algn="l">
              <a:lnSpc>
                <a:spcPct val="110000"/>
              </a:lnSpc>
              <a:buClrTx/>
              <a:buSzTx/>
            </a:pPr>
            <a:r>
              <a:rPr lang="en-US" altLang="zh-CN" b="1" u="sng">
                <a:solidFill>
                  <a:srgbClr val="FF0000"/>
                </a:solidFill>
              </a:rPr>
              <a:t>This was followed by</a:t>
            </a:r>
            <a:r>
              <a:rPr lang="en-US" altLang="zh-CN" b="1">
                <a:solidFill>
                  <a:schemeClr val="accent4"/>
                </a:solidFill>
              </a:rPr>
              <a:t> deforestation and over-cultivation, occupying 28% and 20% respectively.</a:t>
            </a:r>
            <a:endParaRPr lang="en-US" altLang="zh-CN" b="1">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7513320" cy="500380"/>
          </a:xfrm>
        </p:spPr>
        <p:txBody>
          <a:bodyPr/>
          <a:p>
            <a:r>
              <a:rPr lang="zh-CN" altLang="en-US" sz="2400">
                <a:solidFill>
                  <a:schemeClr val="tx1"/>
                </a:solidFill>
              </a:rPr>
              <a:t>一般现在时</a:t>
            </a:r>
            <a:endParaRPr lang="zh-CN" altLang="en-US" sz="2400">
              <a:solidFill>
                <a:schemeClr val="tx1"/>
              </a:solidFill>
            </a:endParaRPr>
          </a:p>
        </p:txBody>
      </p:sp>
      <p:graphicFrame>
        <p:nvGraphicFramePr>
          <p:cNvPr id="4" name="内容占位符 3"/>
          <p:cNvGraphicFramePr/>
          <p:nvPr>
            <p:ph idx="1"/>
            <p:custDataLst>
              <p:tags r:id="rId1"/>
            </p:custDataLst>
          </p:nvPr>
        </p:nvGraphicFramePr>
        <p:xfrm>
          <a:off x="265430" y="1347470"/>
          <a:ext cx="8703945" cy="3298190"/>
        </p:xfrm>
        <a:graphic>
          <a:graphicData uri="http://schemas.openxmlformats.org/drawingml/2006/table">
            <a:tbl>
              <a:tblPr firstRow="1" bandRow="1">
                <a:tableStyleId>{5C22544A-7EE6-4342-B048-85BDC9FD1C3A}</a:tableStyleId>
              </a:tblPr>
              <a:tblGrid>
                <a:gridCol w="4512310"/>
                <a:gridCol w="4191635"/>
              </a:tblGrid>
              <a:tr h="471170">
                <a:tc>
                  <a:txBody>
                    <a:bodyPr/>
                    <a:p>
                      <a:pPr>
                        <a:buNone/>
                      </a:pPr>
                      <a:r>
                        <a:rPr lang="zh-CN" altLang="en-US"/>
                        <a:t>主动</a:t>
                      </a:r>
                      <a:r>
                        <a:rPr lang="en-US" altLang="zh-CN"/>
                        <a:t>  do/does/should do</a:t>
                      </a:r>
                      <a:endParaRPr lang="en-US" altLang="zh-CN"/>
                    </a:p>
                  </a:txBody>
                  <a:tcPr/>
                </a:tc>
                <a:tc>
                  <a:txBody>
                    <a:bodyPr/>
                    <a:p>
                      <a:pPr>
                        <a:buNone/>
                      </a:pPr>
                      <a:r>
                        <a:rPr lang="zh-CN" altLang="en-US"/>
                        <a:t>被动</a:t>
                      </a:r>
                      <a:r>
                        <a:rPr lang="en-US" altLang="zh-CN"/>
                        <a:t>  </a:t>
                      </a:r>
                      <a:r>
                        <a:rPr lang="en-US" altLang="zh-CN"/>
                        <a:t>be done</a:t>
                      </a:r>
                      <a:endParaRPr lang="en-US" altLang="zh-CN"/>
                    </a:p>
                  </a:txBody>
                  <a:tcPr/>
                </a:tc>
              </a:tr>
              <a:tr h="471170">
                <a:tc>
                  <a:txBody>
                    <a:bodyPr/>
                    <a:p>
                      <a:pPr marL="285750" indent="-285750">
                        <a:buFont typeface="Arial" panose="020B0604020202020204" pitchFamily="34" charset="0"/>
                        <a:buChar char="•"/>
                      </a:pPr>
                      <a:r>
                        <a:rPr lang="en-US" altLang="zh-CN" b="1"/>
                        <a:t>I often do my homework after lunch. </a:t>
                      </a:r>
                      <a:endParaRPr lang="en-US" altLang="zh-CN" b="1"/>
                    </a:p>
                  </a:txBody>
                  <a:tcPr/>
                </a:tc>
                <a:tc>
                  <a:txBody>
                    <a:bodyPr/>
                    <a:p>
                      <a:pPr marL="285750" indent="-285750">
                        <a:buFont typeface="Arial" panose="020B0604020202020204" pitchFamily="34" charset="0"/>
                        <a:buChar char="•"/>
                      </a:pPr>
                      <a:r>
                        <a:rPr lang="en-US" altLang="zh-CN" b="1"/>
                        <a:t>I am educated in China.</a:t>
                      </a:r>
                      <a:endParaRPr lang="en-US" altLang="zh-CN" b="1"/>
                    </a:p>
                  </a:txBody>
                  <a:tcPr/>
                </a:tc>
              </a:tr>
              <a:tr h="471170">
                <a:tc>
                  <a:txBody>
                    <a:bodyPr/>
                    <a:p>
                      <a:pPr marL="285750" indent="-285750">
                        <a:buFont typeface="Arial" panose="020B0604020202020204" pitchFamily="34" charset="0"/>
                        <a:buChar char="•"/>
                      </a:pPr>
                      <a:r>
                        <a:rPr lang="en-US" altLang="zh-CN" b="1"/>
                        <a:t>She often does her homework before lunch.</a:t>
                      </a:r>
                      <a:endParaRPr lang="en-US" altLang="zh-CN" b="1"/>
                    </a:p>
                  </a:txBody>
                  <a:tcPr/>
                </a:tc>
                <a:tc>
                  <a:txBody>
                    <a:bodyPr/>
                    <a:p>
                      <a:pPr marL="285750" indent="-285750">
                        <a:buFont typeface="Arial" panose="020B0604020202020204" pitchFamily="34" charset="0"/>
                        <a:buChar char="•"/>
                      </a:pPr>
                      <a:r>
                        <a:rPr lang="en-US" altLang="zh-CN" b="1"/>
                        <a:t>She is educated in America.</a:t>
                      </a:r>
                      <a:endParaRPr lang="en-US" altLang="zh-CN" b="1"/>
                    </a:p>
                  </a:txBody>
                  <a:tcPr/>
                </a:tc>
              </a:tr>
              <a:tr h="471170">
                <a:tc>
                  <a:txBody>
                    <a:bodyPr/>
                    <a:p>
                      <a:pPr marL="285750" indent="-285750">
                        <a:buFont typeface="Arial" panose="020B0604020202020204" pitchFamily="34" charset="0"/>
                        <a:buChar char="•"/>
                      </a:pPr>
                      <a:r>
                        <a:rPr lang="en-US" altLang="zh-CN" b="1"/>
                        <a:t>They should do their homework.</a:t>
                      </a:r>
                      <a:endParaRPr lang="en-US" altLang="zh-CN" b="1"/>
                    </a:p>
                  </a:txBody>
                  <a:tcPr/>
                </a:tc>
                <a:tc>
                  <a:txBody>
                    <a:bodyPr/>
                    <a:p>
                      <a:pPr marL="285750" indent="-285750">
                        <a:buFont typeface="Arial" panose="020B0604020202020204" pitchFamily="34" charset="0"/>
                        <a:buChar char="•"/>
                      </a:pPr>
                      <a:r>
                        <a:rPr lang="en-US" altLang="zh-CN" b="1"/>
                        <a:t>We are educated together.</a:t>
                      </a:r>
                      <a:endParaRPr lang="en-US" altLang="zh-CN" b="1"/>
                    </a:p>
                  </a:txBody>
                  <a:tcPr/>
                </a:tc>
              </a:tr>
              <a:tr h="471170">
                <a:tc>
                  <a:txBody>
                    <a:bodyPr/>
                    <a:p>
                      <a:pPr>
                        <a:buNone/>
                      </a:pPr>
                      <a:endParaRPr lang="en-US" altLang="zh-CN" b="1"/>
                    </a:p>
                  </a:txBody>
                  <a:tcPr/>
                </a:tc>
                <a:tc>
                  <a:txBody>
                    <a:bodyPr/>
                    <a:p>
                      <a:pPr marL="285750" indent="-285750">
                        <a:buFont typeface="Arial" panose="020B0604020202020204" pitchFamily="34" charset="0"/>
                        <a:buChar char="•"/>
                      </a:pPr>
                      <a:r>
                        <a:rPr lang="en-US" altLang="zh-CN" b="1"/>
                        <a:t>They should be educated.</a:t>
                      </a:r>
                      <a:endParaRPr lang="en-US" altLang="zh-CN" b="1"/>
                    </a:p>
                  </a:txBody>
                  <a:tcPr/>
                </a:tc>
              </a:tr>
              <a:tr h="471170">
                <a:tc>
                  <a:txBody>
                    <a:bodyPr/>
                    <a:p>
                      <a:pPr>
                        <a:buNone/>
                      </a:pPr>
                      <a:endParaRPr lang="en-US" altLang="zh-CN" b="1"/>
                    </a:p>
                  </a:txBody>
                  <a:tcPr/>
                </a:tc>
                <a:tc>
                  <a:txBody>
                    <a:bodyPr/>
                    <a:p>
                      <a:pPr marL="285750" indent="-285750">
                        <a:buFont typeface="Arial" panose="020B0604020202020204" pitchFamily="34" charset="0"/>
                        <a:buChar char="•"/>
                      </a:pPr>
                      <a:r>
                        <a:rPr lang="en-US" altLang="zh-CN" b="1"/>
                        <a:t>am/is/are done&amp;should be done</a:t>
                      </a:r>
                      <a:endParaRPr lang="en-US" altLang="zh-CN" b="1"/>
                    </a:p>
                  </a:txBody>
                  <a:tcPr/>
                </a:tc>
              </a:tr>
              <a:tr h="471170">
                <a:tc>
                  <a:txBody>
                    <a:bodyPr/>
                    <a:p>
                      <a:pPr>
                        <a:buNone/>
                      </a:pPr>
                      <a:endParaRPr lang="en-US" altLang="zh-CN" b="1"/>
                    </a:p>
                  </a:txBody>
                  <a:tcPr/>
                </a:tc>
                <a:tc>
                  <a:txBody>
                    <a:bodyPr/>
                    <a:p>
                      <a:pPr marL="285750" indent="-285750">
                        <a:buFont typeface="Arial" panose="020B0604020202020204" pitchFamily="34" charset="0"/>
                        <a:buChar char="•"/>
                      </a:pPr>
                      <a:r>
                        <a:rPr lang="zh-CN" altLang="en-US" b="1"/>
                        <a:t>流程图（</a:t>
                      </a:r>
                      <a:r>
                        <a:rPr lang="en-US" altLang="zh-CN" b="1"/>
                        <a:t>will be done</a:t>
                      </a:r>
                      <a:r>
                        <a:rPr lang="zh-CN" altLang="en-US" b="1"/>
                        <a:t>）</a:t>
                      </a:r>
                      <a:endParaRPr lang="zh-CN" altLang="en-US" b="1"/>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7513320" cy="500380"/>
          </a:xfrm>
        </p:spPr>
        <p:txBody>
          <a:bodyPr/>
          <a:p>
            <a:r>
              <a:rPr lang="zh-CN" altLang="en-US" sz="2400">
                <a:solidFill>
                  <a:schemeClr val="tx1"/>
                </a:solidFill>
              </a:rPr>
              <a:t>一般现在时</a:t>
            </a:r>
            <a:r>
              <a:rPr lang="en-US" altLang="zh-CN" sz="2400">
                <a:solidFill>
                  <a:schemeClr val="tx1"/>
                </a:solidFill>
              </a:rPr>
              <a:t>-</a:t>
            </a:r>
            <a:r>
              <a:rPr lang="zh-CN" altLang="en-US" sz="2400">
                <a:solidFill>
                  <a:schemeClr val="tx1"/>
                </a:solidFill>
              </a:rPr>
              <a:t>大作文</a:t>
            </a:r>
            <a:r>
              <a:rPr lang="en-US" altLang="zh-CN" sz="2400">
                <a:solidFill>
                  <a:schemeClr val="tx1"/>
                </a:solidFill>
              </a:rPr>
              <a:t>-</a:t>
            </a:r>
            <a:r>
              <a:rPr lang="zh-CN" altLang="en-US" sz="2400">
                <a:solidFill>
                  <a:schemeClr val="tx1"/>
                </a:solidFill>
              </a:rPr>
              <a:t>第三人称单数</a:t>
            </a:r>
            <a:endParaRPr lang="zh-CN" altLang="en-US" sz="2400">
              <a:solidFill>
                <a:schemeClr val="tx1"/>
              </a:solidFill>
            </a:endParaRPr>
          </a:p>
        </p:txBody>
      </p:sp>
      <p:sp>
        <p:nvSpPr>
          <p:cNvPr id="3" name="内容占位符 2"/>
          <p:cNvSpPr>
            <a:spLocks noGrp="1"/>
          </p:cNvSpPr>
          <p:nvPr>
            <p:ph idx="1"/>
          </p:nvPr>
        </p:nvSpPr>
        <p:spPr/>
        <p:txBody>
          <a:bodyPr/>
          <a:p>
            <a:r>
              <a:rPr sz="2000">
                <a:solidFill>
                  <a:schemeClr val="tx1"/>
                </a:solidFill>
                <a:sym typeface="+mn-ea"/>
              </a:rPr>
              <a:t>She/he</a:t>
            </a:r>
            <a:r>
              <a:rPr lang="en-US" altLang="zh-CN" sz="2000">
                <a:solidFill>
                  <a:schemeClr val="tx1"/>
                </a:solidFill>
                <a:sym typeface="+mn-ea"/>
              </a:rPr>
              <a:t>/it</a:t>
            </a:r>
            <a:endParaRPr lang="en-US" altLang="zh-CN" sz="2000">
              <a:solidFill>
                <a:schemeClr val="tx1"/>
              </a:solidFill>
              <a:sym typeface="+mn-ea"/>
            </a:endParaRPr>
          </a:p>
          <a:p>
            <a:r>
              <a:rPr sz="2000">
                <a:solidFill>
                  <a:schemeClr val="tx1"/>
                </a:solidFill>
                <a:sym typeface="+mn-ea"/>
              </a:rPr>
              <a:t>China</a:t>
            </a:r>
            <a:endParaRPr sz="2000">
              <a:solidFill>
                <a:schemeClr val="tx1"/>
              </a:solidFill>
              <a:sym typeface="+mn-ea"/>
            </a:endParaRPr>
          </a:p>
          <a:p>
            <a:r>
              <a:rPr sz="2000">
                <a:solidFill>
                  <a:schemeClr val="tx1"/>
                </a:solidFill>
                <a:sym typeface="+mn-ea"/>
              </a:rPr>
              <a:t>Doing Homework</a:t>
            </a:r>
            <a:endParaRPr sz="2000">
              <a:solidFill>
                <a:schemeClr val="tx1"/>
              </a:solidFill>
              <a:sym typeface="+mn-ea"/>
            </a:endParaRPr>
          </a:p>
          <a:p>
            <a:r>
              <a:rPr sz="2000">
                <a:solidFill>
                  <a:schemeClr val="tx1"/>
                </a:solidFill>
                <a:sym typeface="+mn-ea"/>
              </a:rPr>
              <a:t>What I eat</a:t>
            </a:r>
            <a:endParaRPr sz="2000">
              <a:solidFill>
                <a:schemeClr val="tx1"/>
              </a:solidFill>
              <a:sym typeface="+mn-ea"/>
            </a:endParaRPr>
          </a:p>
          <a:p>
            <a:r>
              <a:rPr sz="2000">
                <a:solidFill>
                  <a:schemeClr val="tx1"/>
                </a:solidFill>
                <a:sym typeface="+mn-ea"/>
              </a:rPr>
              <a:t>..., which makes</a:t>
            </a:r>
            <a:endParaRPr sz="2000">
              <a:solidFill>
                <a:schemeClr val="tx1"/>
              </a:solidFill>
              <a:sym typeface="+mn-ea"/>
            </a:endParaRPr>
          </a:p>
          <a:p>
            <a:r>
              <a:rPr sz="2000">
                <a:solidFill>
                  <a:schemeClr val="tx1"/>
                </a:solidFill>
                <a:sym typeface="+mn-ea"/>
              </a:rPr>
              <a:t>是</a:t>
            </a:r>
            <a:r>
              <a:rPr sz="2000">
                <a:solidFill>
                  <a:schemeClr val="tx1"/>
                </a:solidFill>
                <a:latin typeface="+mj-lt"/>
                <a:cs typeface="+mj-lt"/>
                <a:sym typeface="+mn-ea"/>
              </a:rPr>
              <a:t>I</a:t>
            </a:r>
            <a:r>
              <a:rPr sz="2000">
                <a:solidFill>
                  <a:schemeClr val="tx1"/>
                </a:solidFill>
                <a:sym typeface="+mn-ea"/>
              </a:rPr>
              <a:t>吗？是</a:t>
            </a:r>
            <a:r>
              <a:rPr sz="2000">
                <a:solidFill>
                  <a:schemeClr val="tx1"/>
                </a:solidFill>
                <a:latin typeface="Calibri" panose="020F0502020204030204" pitchFamily="34" charset="0"/>
                <a:cs typeface="Calibri" panose="020F0502020204030204" pitchFamily="34" charset="0"/>
                <a:sym typeface="+mn-ea"/>
              </a:rPr>
              <a:t>You</a:t>
            </a:r>
            <a:r>
              <a:rPr sz="2000">
                <a:solidFill>
                  <a:schemeClr val="tx1"/>
                </a:solidFill>
                <a:sym typeface="+mn-ea"/>
              </a:rPr>
              <a:t>吗？是复数吗？</a:t>
            </a:r>
            <a:endParaRPr sz="2000">
              <a:solidFill>
                <a:schemeClr val="tx1"/>
              </a:solidFill>
              <a:sym typeface="+mn-ea"/>
            </a:endParaRPr>
          </a:p>
          <a:p>
            <a:r>
              <a:rPr sz="2000">
                <a:solidFill>
                  <a:schemeClr val="tx1"/>
                </a:solidFill>
                <a:sym typeface="+mn-ea"/>
              </a:rPr>
              <a:t>都不是---后面动词</a:t>
            </a:r>
            <a:r>
              <a:rPr sz="2000">
                <a:solidFill>
                  <a:schemeClr val="tx1"/>
                </a:solidFill>
                <a:latin typeface="Calibri" panose="020F0502020204030204" pitchFamily="34" charset="0"/>
                <a:cs typeface="Calibri" panose="020F0502020204030204" pitchFamily="34" charset="0"/>
                <a:sym typeface="+mn-ea"/>
              </a:rPr>
              <a:t>+s</a:t>
            </a:r>
            <a:endParaRPr lang="zh-CN" altLang="en-US" sz="2000">
              <a:solidFill>
                <a:schemeClr val="tx1"/>
              </a:solidFill>
              <a:latin typeface="Calibri" panose="020F0502020204030204" pitchFamily="34" charset="0"/>
              <a:cs typeface="Calibri" panose="020F0502020204030204" pitchFamily="34" charset="0"/>
              <a:sym typeface="+mn-ea"/>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6810375" y="3843020"/>
              <a:ext cx="9525" cy="360"/>
            </p14:xfrm>
          </p:contentPart>
        </mc:Choice>
        <mc:Fallback xmlns="">
          <p:pic>
            <p:nvPicPr>
              <p:cNvPr id="4" name="墨迹 3"/>
            </p:nvPicPr>
            <p:blipFill>
              <a:blip r:embed="rId2"/>
            </p:blipFill>
            <p:spPr>
              <a:xfrm>
                <a:off x="6810375" y="3843020"/>
                <a:ext cx="9525" cy="3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7513320" cy="500380"/>
          </a:xfrm>
        </p:spPr>
        <p:txBody>
          <a:bodyPr/>
          <a:p>
            <a:r>
              <a:rPr lang="zh-CN" altLang="en-US" sz="2400">
                <a:solidFill>
                  <a:schemeClr val="tx1"/>
                </a:solidFill>
              </a:rPr>
              <a:t>流程图的常用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344805" y="1290320"/>
            <a:ext cx="8519160" cy="3808095"/>
          </a:xfrm>
        </p:spPr>
        <p:txBody>
          <a:bodyPr/>
          <a:p>
            <a:r>
              <a:rPr lang="zh-CN" altLang="en-US" sz="2000" b="1">
                <a:solidFill>
                  <a:schemeClr val="tx1"/>
                </a:solidFill>
                <a:latin typeface="Calibri" panose="020F0502020204030204" pitchFamily="34" charset="0"/>
                <a:cs typeface="Calibri" panose="020F0502020204030204" pitchFamily="34" charset="0"/>
                <a:sym typeface="+mn-ea"/>
              </a:rPr>
              <a:t>①</a:t>
            </a:r>
            <a:r>
              <a:rPr lang="en-US" altLang="zh-CN" sz="2000" b="1">
                <a:solidFill>
                  <a:schemeClr val="tx1"/>
                </a:solidFill>
                <a:latin typeface="Calibri" panose="020F0502020204030204" pitchFamily="34" charset="0"/>
                <a:cs typeface="Calibri" panose="020F0502020204030204" pitchFamily="34" charset="0"/>
                <a:sym typeface="+mn-ea"/>
              </a:rPr>
              <a:t>The flow chart illustrates </a:t>
            </a:r>
            <a:r>
              <a:rPr lang="en-US" altLang="zh-CN" sz="2000" b="1" u="sng">
                <a:solidFill>
                  <a:srgbClr val="FF0000"/>
                </a:solidFill>
                <a:latin typeface="Calibri" panose="020F0502020204030204" pitchFamily="34" charset="0"/>
                <a:cs typeface="Calibri" panose="020F0502020204030204" pitchFamily="34" charset="0"/>
                <a:sym typeface="+mn-ea"/>
              </a:rPr>
              <a:t>how the glass bottles are recycled</a:t>
            </a:r>
            <a:r>
              <a:rPr lang="en-US" altLang="zh-CN" sz="2000" b="1">
                <a:solidFill>
                  <a:schemeClr val="tx1"/>
                </a:solidFill>
                <a:latin typeface="Calibri" panose="020F0502020204030204" pitchFamily="34" charset="0"/>
                <a:cs typeface="Calibri" panose="020F0502020204030204" pitchFamily="34" charset="0"/>
                <a:sym typeface="+mn-ea"/>
              </a:rPr>
              <a:t>, which can be divided into three main stages including collecting, processing and selling respectively.</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这个流程图展示了桃子罐头是如何被制作的。</a:t>
            </a:r>
            <a:endParaRPr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The flow chart illustrates </a:t>
            </a:r>
            <a:r>
              <a:rPr lang="en-US" altLang="zh-CN" sz="2000" b="1" u="sng">
                <a:solidFill>
                  <a:srgbClr val="FF0000"/>
                </a:solidFill>
                <a:latin typeface="Calibri" panose="020F0502020204030204" pitchFamily="34" charset="0"/>
                <a:cs typeface="Calibri" panose="020F0502020204030204" pitchFamily="34" charset="0"/>
                <a:sym typeface="+mn-ea"/>
              </a:rPr>
              <a:t>how peach cans are produced</a:t>
            </a:r>
            <a:r>
              <a:rPr lang="en-US" altLang="zh-CN" sz="2000" b="1">
                <a:solidFill>
                  <a:schemeClr val="tx1"/>
                </a:solidFill>
                <a:latin typeface="Calibri" panose="020F0502020204030204" pitchFamily="34" charset="0"/>
                <a:cs typeface="Calibri" panose="020F0502020204030204" pitchFamily="34" charset="0"/>
                <a:sym typeface="+mn-ea"/>
              </a:rPr>
              <a:t>, which can be divided into three main stages including picking, processing and selling respectively.</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这个流程图展示了巧克力是如何被制作</a:t>
            </a:r>
            <a:r>
              <a:rPr sz="2000" b="1">
                <a:solidFill>
                  <a:schemeClr val="tx1"/>
                </a:solidFill>
                <a:latin typeface="Calibri" panose="020F0502020204030204" pitchFamily="34" charset="0"/>
                <a:cs typeface="Calibri" panose="020F0502020204030204" pitchFamily="34" charset="0"/>
                <a:sym typeface="+mn-ea"/>
              </a:rPr>
              <a:t>的。</a:t>
            </a:r>
            <a:endParaRPr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The flow chart illustrates </a:t>
            </a:r>
            <a:r>
              <a:rPr lang="en-US" altLang="zh-CN" sz="2000" b="1" u="sng">
                <a:solidFill>
                  <a:srgbClr val="FF0000"/>
                </a:solidFill>
                <a:latin typeface="Calibri" panose="020F0502020204030204" pitchFamily="34" charset="0"/>
                <a:cs typeface="Calibri" panose="020F0502020204030204" pitchFamily="34" charset="0"/>
                <a:sym typeface="+mn-ea"/>
              </a:rPr>
              <a:t>how chocolate is produced</a:t>
            </a:r>
            <a:r>
              <a:rPr lang="en-US" altLang="zh-CN" sz="2000" b="1">
                <a:solidFill>
                  <a:schemeClr val="tx1"/>
                </a:solidFill>
                <a:latin typeface="Calibri" panose="020F0502020204030204" pitchFamily="34" charset="0"/>
                <a:cs typeface="Calibri" panose="020F0502020204030204" pitchFamily="34" charset="0"/>
                <a:sym typeface="+mn-ea"/>
              </a:rPr>
              <a:t>, which can be divided into three main stages including preparing raw materials, processing and selling respectively.</a:t>
            </a:r>
            <a:endParaRPr sz="2000" b="1">
              <a:solidFill>
                <a:schemeClr val="tx1"/>
              </a:solidFill>
              <a:latin typeface="Calibri" panose="020F0502020204030204" pitchFamily="34" charset="0"/>
              <a:cs typeface="Calibri" panose="020F0502020204030204" pitchFamily="34" charset="0"/>
              <a:sym typeface="+mn-ea"/>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2852420" y="2633345"/>
              <a:ext cx="843280" cy="138430"/>
            </p14:xfrm>
          </p:contentPart>
        </mc:Choice>
        <mc:Fallback xmlns="">
          <p:pic>
            <p:nvPicPr>
              <p:cNvPr id="4" name="墨迹 3"/>
            </p:nvPicPr>
            <p:blipFill>
              <a:blip r:embed="rId2"/>
            </p:blipFill>
            <p:spPr>
              <a:xfrm>
                <a:off x="2852420" y="2633345"/>
                <a:ext cx="843280" cy="13843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7513320" cy="500380"/>
          </a:xfrm>
        </p:spPr>
        <p:txBody>
          <a:bodyPr/>
          <a:p>
            <a:r>
              <a:rPr lang="zh-CN" altLang="en-US" sz="2400" b="1">
                <a:solidFill>
                  <a:schemeClr val="tx1"/>
                </a:solidFill>
                <a:latin typeface="Calibri" panose="020F0502020204030204" pitchFamily="34" charset="0"/>
                <a:cs typeface="Calibri" panose="020F0502020204030204" pitchFamily="34" charset="0"/>
                <a:sym typeface="+mn-ea"/>
              </a:rPr>
              <a:t>②【然后】的多样性</a:t>
            </a:r>
            <a:endParaRPr lang="zh-CN" altLang="en-US" sz="2400">
              <a:solidFill>
                <a:schemeClr val="tx1"/>
              </a:solidFill>
            </a:endParaRPr>
          </a:p>
        </p:txBody>
      </p:sp>
      <p:sp>
        <p:nvSpPr>
          <p:cNvPr id="3" name="内容占位符 2"/>
          <p:cNvSpPr>
            <a:spLocks noGrp="1"/>
          </p:cNvSpPr>
          <p:nvPr>
            <p:ph idx="1"/>
          </p:nvPr>
        </p:nvSpPr>
        <p:spPr>
          <a:xfrm>
            <a:off x="458470" y="1329055"/>
            <a:ext cx="8228330" cy="3689985"/>
          </a:xfrm>
        </p:spPr>
        <p:txBody>
          <a:bodyPr/>
          <a:p>
            <a:r>
              <a:rPr lang="zh-CN" altLang="en-US" sz="2000" b="1">
                <a:solidFill>
                  <a:schemeClr val="tx1"/>
                </a:solidFill>
                <a:latin typeface="Calibri" panose="020F0502020204030204" pitchFamily="34" charset="0"/>
                <a:cs typeface="Calibri" panose="020F0502020204030204" pitchFamily="34" charset="0"/>
                <a:sym typeface="+mn-ea"/>
              </a:rPr>
              <a:t>介词</a:t>
            </a:r>
            <a:r>
              <a:rPr lang="en-US" altLang="zh-CN" sz="2000" b="1">
                <a:solidFill>
                  <a:schemeClr val="tx1"/>
                </a:solidFill>
                <a:latin typeface="Calibri" panose="020F0502020204030204" pitchFamily="34" charset="0"/>
                <a:cs typeface="Calibri" panose="020F0502020204030204" pitchFamily="34" charset="0"/>
                <a:sym typeface="+mn-ea"/>
              </a:rPr>
              <a:t>after </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u="sng">
                <a:solidFill>
                  <a:srgbClr val="FF0000"/>
                </a:solidFill>
                <a:latin typeface="Calibri" panose="020F0502020204030204" pitchFamily="34" charset="0"/>
                <a:cs typeface="Calibri" panose="020F0502020204030204" pitchFamily="34" charset="0"/>
                <a:sym typeface="+mn-ea"/>
              </a:rPr>
              <a:t>After arriving at the destination</a:t>
            </a:r>
            <a:r>
              <a:rPr lang="en-US" altLang="zh-CN" sz="2000" b="1">
                <a:solidFill>
                  <a:schemeClr val="tx1"/>
                </a:solidFill>
                <a:latin typeface="Calibri" panose="020F0502020204030204" pitchFamily="34" charset="0"/>
                <a:cs typeface="Calibri" panose="020F0502020204030204" pitchFamily="34" charset="0"/>
                <a:sym typeface="+mn-ea"/>
              </a:rPr>
              <a:t>, the fish will be frozen.</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u="sng">
                <a:solidFill>
                  <a:srgbClr val="FF0000"/>
                </a:solidFill>
                <a:latin typeface="Calibri" panose="020F0502020204030204" pitchFamily="34" charset="0"/>
                <a:cs typeface="Calibri" panose="020F0502020204030204" pitchFamily="34" charset="0"/>
                <a:sym typeface="+mn-ea"/>
              </a:rPr>
              <a:t>After being transported to the port</a:t>
            </a:r>
            <a:r>
              <a:rPr lang="en-US" altLang="zh-CN" sz="2000" b="1">
                <a:solidFill>
                  <a:schemeClr val="tx1"/>
                </a:solidFill>
                <a:latin typeface="Calibri" panose="020F0502020204030204" pitchFamily="34" charset="0"/>
                <a:cs typeface="Calibri" panose="020F0502020204030204" pitchFamily="34" charset="0"/>
                <a:sym typeface="+mn-ea"/>
              </a:rPr>
              <a:t>, the fish will be frozen.</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介词</a:t>
            </a:r>
            <a:r>
              <a:rPr lang="en-US" altLang="zh-CN" sz="2000" b="1">
                <a:solidFill>
                  <a:schemeClr val="tx1"/>
                </a:solidFill>
                <a:latin typeface="Calibri" panose="020F0502020204030204" pitchFamily="34" charset="0"/>
                <a:cs typeface="Calibri" panose="020F0502020204030204" pitchFamily="34" charset="0"/>
                <a:sym typeface="+mn-ea"/>
              </a:rPr>
              <a:t>before</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I prefer to have dinner first </a:t>
            </a:r>
            <a:r>
              <a:rPr lang="en-US" altLang="zh-CN" sz="2000" b="1" u="sng">
                <a:solidFill>
                  <a:srgbClr val="FF0000"/>
                </a:solidFill>
                <a:latin typeface="Calibri" panose="020F0502020204030204" pitchFamily="34" charset="0"/>
                <a:cs typeface="Calibri" panose="020F0502020204030204" pitchFamily="34" charset="0"/>
                <a:sym typeface="+mn-ea"/>
              </a:rPr>
              <a:t>before watching movies</a:t>
            </a:r>
            <a:r>
              <a:rPr lang="en-US" altLang="zh-CN" sz="2000" b="1">
                <a:solidFill>
                  <a:schemeClr val="tx1"/>
                </a:solidFill>
                <a:latin typeface="Calibri" panose="020F0502020204030204" pitchFamily="34" charset="0"/>
                <a:cs typeface="Calibri" panose="020F0502020204030204" pitchFamily="34" charset="0"/>
                <a:sym typeface="+mn-ea"/>
              </a:rPr>
              <a:t>.</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Apples are washed </a:t>
            </a:r>
            <a:r>
              <a:rPr lang="en-US" altLang="zh-CN" sz="2000" b="1" u="sng">
                <a:solidFill>
                  <a:srgbClr val="FF0000"/>
                </a:solidFill>
                <a:latin typeface="Calibri" panose="020F0502020204030204" pitchFamily="34" charset="0"/>
                <a:cs typeface="Calibri" panose="020F0502020204030204" pitchFamily="34" charset="0"/>
                <a:sym typeface="+mn-ea"/>
              </a:rPr>
              <a:t>before being eaten</a:t>
            </a:r>
            <a:r>
              <a:rPr lang="en-US" altLang="zh-CN" sz="2000" b="1">
                <a:solidFill>
                  <a:schemeClr val="tx1"/>
                </a:solidFill>
                <a:latin typeface="Calibri" panose="020F0502020204030204" pitchFamily="34" charset="0"/>
                <a:cs typeface="Calibri" panose="020F0502020204030204" pitchFamily="34" charset="0"/>
                <a:sym typeface="+mn-ea"/>
              </a:rPr>
              <a:t>.</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并列连词</a:t>
            </a:r>
            <a:r>
              <a:rPr lang="en-US" altLang="zh-CN" sz="2000" b="1">
                <a:solidFill>
                  <a:schemeClr val="tx1"/>
                </a:solidFill>
                <a:latin typeface="Calibri" panose="020F0502020204030204" pitchFamily="34" charset="0"/>
                <a:cs typeface="Calibri" panose="020F0502020204030204" pitchFamily="34" charset="0"/>
                <a:sym typeface="+mn-ea"/>
              </a:rPr>
              <a:t> and then +</a:t>
            </a:r>
            <a:r>
              <a:rPr sz="2000" b="1">
                <a:solidFill>
                  <a:schemeClr val="tx1"/>
                </a:solidFill>
                <a:latin typeface="Calibri" panose="020F0502020204030204" pitchFamily="34" charset="0"/>
                <a:cs typeface="Calibri" panose="020F0502020204030204" pitchFamily="34" charset="0"/>
                <a:sym typeface="+mn-ea"/>
              </a:rPr>
              <a:t>完整句子（主语可以省略）</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The fish are cleaned at first, </a:t>
            </a:r>
            <a:r>
              <a:rPr lang="en-US" altLang="zh-CN" sz="2000" b="1" u="sng">
                <a:solidFill>
                  <a:srgbClr val="FF0000"/>
                </a:solidFill>
                <a:latin typeface="Calibri" panose="020F0502020204030204" pitchFamily="34" charset="0"/>
                <a:cs typeface="Calibri" panose="020F0502020204030204" pitchFamily="34" charset="0"/>
                <a:sym typeface="+mn-ea"/>
              </a:rPr>
              <a:t>and then</a:t>
            </a:r>
            <a:r>
              <a:rPr lang="en-US" altLang="zh-CN" sz="2000" b="1">
                <a:solidFill>
                  <a:schemeClr val="tx1"/>
                </a:solidFill>
                <a:latin typeface="Calibri" panose="020F0502020204030204" pitchFamily="34" charset="0"/>
                <a:cs typeface="Calibri" panose="020F0502020204030204" pitchFamily="34" charset="0"/>
                <a:sym typeface="+mn-ea"/>
              </a:rPr>
              <a:t> they will be frozen.</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非限制性定从</a:t>
            </a:r>
            <a:r>
              <a:rPr lang="en-US" altLang="zh-CN" sz="2000" b="1">
                <a:solidFill>
                  <a:schemeClr val="tx1"/>
                </a:solidFill>
                <a:latin typeface="Calibri" panose="020F0502020204030204" pitchFamily="34" charset="0"/>
                <a:cs typeface="Calibri" panose="020F0502020204030204" pitchFamily="34" charset="0"/>
                <a:sym typeface="+mn-ea"/>
              </a:rPr>
              <a:t> after which+</a:t>
            </a:r>
            <a:r>
              <a:rPr sz="2000" b="1">
                <a:solidFill>
                  <a:schemeClr val="tx1"/>
                </a:solidFill>
                <a:latin typeface="Calibri" panose="020F0502020204030204" pitchFamily="34" charset="0"/>
                <a:cs typeface="Calibri" panose="020F0502020204030204" pitchFamily="34" charset="0"/>
                <a:sym typeface="+mn-ea"/>
              </a:rPr>
              <a:t>完整句子</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The fish are cleaned at first,</a:t>
            </a:r>
            <a:r>
              <a:rPr lang="en-US" altLang="zh-CN" sz="2000" b="1" u="sng">
                <a:solidFill>
                  <a:srgbClr val="FF0000"/>
                </a:solidFill>
                <a:latin typeface="Calibri" panose="020F0502020204030204" pitchFamily="34" charset="0"/>
                <a:cs typeface="Calibri" panose="020F0502020204030204" pitchFamily="34" charset="0"/>
                <a:sym typeface="+mn-ea"/>
              </a:rPr>
              <a:t> after which</a:t>
            </a:r>
            <a:r>
              <a:rPr lang="en-US" altLang="zh-CN" sz="2000" b="1">
                <a:solidFill>
                  <a:schemeClr val="tx1"/>
                </a:solidFill>
                <a:latin typeface="Calibri" panose="020F0502020204030204" pitchFamily="34" charset="0"/>
                <a:cs typeface="Calibri" panose="020F0502020204030204" pitchFamily="34" charset="0"/>
                <a:sym typeface="+mn-ea"/>
              </a:rPr>
              <a:t> they will be frozen.</a:t>
            </a:r>
            <a:endParaRPr lang="en-US" altLang="zh-CN" sz="20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95605" y="411480"/>
            <a:ext cx="7560310" cy="640080"/>
          </a:xfrm>
        </p:spPr>
        <p:txBody>
          <a:bodyPr/>
          <a:p>
            <a:r>
              <a:rPr lang="zh-CN" altLang="en-US" sz="2400">
                <a:solidFill>
                  <a:schemeClr val="tx1"/>
                </a:solidFill>
              </a:rPr>
              <a:t>流程图的常用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365125" y="1111885"/>
            <a:ext cx="8564245" cy="3914140"/>
          </a:xfrm>
        </p:spPr>
        <p:txBody>
          <a:bodyPr/>
          <a:p>
            <a:r>
              <a:rPr sz="2000" b="1">
                <a:solidFill>
                  <a:schemeClr val="tx1"/>
                </a:solidFill>
                <a:latin typeface="Calibri" panose="020F0502020204030204" pitchFamily="34" charset="0"/>
                <a:cs typeface="Calibri" panose="020F0502020204030204" pitchFamily="34" charset="0"/>
                <a:sym typeface="+mn-ea"/>
              </a:rPr>
              <a:t>条件状语从句</a:t>
            </a:r>
            <a:r>
              <a:rPr lang="en-US" altLang="zh-CN" sz="2000" b="1">
                <a:solidFill>
                  <a:schemeClr val="tx1"/>
                </a:solidFill>
                <a:latin typeface="Calibri" panose="020F0502020204030204" pitchFamily="34" charset="0"/>
                <a:cs typeface="Calibri" panose="020F0502020204030204" pitchFamily="34" charset="0"/>
                <a:sym typeface="+mn-ea"/>
              </a:rPr>
              <a:t> Once XXX</a:t>
            </a:r>
            <a:r>
              <a:rPr sz="2000" b="1">
                <a:solidFill>
                  <a:schemeClr val="tx1"/>
                </a:solidFill>
                <a:latin typeface="Calibri" panose="020F0502020204030204" pitchFamily="34" charset="0"/>
                <a:cs typeface="Calibri" panose="020F0502020204030204" pitchFamily="34" charset="0"/>
                <a:sym typeface="+mn-ea"/>
              </a:rPr>
              <a:t>，</a:t>
            </a:r>
            <a:r>
              <a:rPr lang="en-US" altLang="zh-CN" sz="2000" b="1">
                <a:solidFill>
                  <a:schemeClr val="tx1"/>
                </a:solidFill>
                <a:latin typeface="Calibri" panose="020F0502020204030204" pitchFamily="34" charset="0"/>
                <a:cs typeface="Calibri" panose="020F0502020204030204" pitchFamily="34" charset="0"/>
                <a:sym typeface="+mn-ea"/>
              </a:rPr>
              <a:t>XXX will XXX</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u="sng">
                <a:solidFill>
                  <a:srgbClr val="FF0000"/>
                </a:solidFill>
                <a:latin typeface="Calibri" panose="020F0502020204030204" pitchFamily="34" charset="0"/>
                <a:cs typeface="Calibri" panose="020F0502020204030204" pitchFamily="34" charset="0"/>
                <a:sym typeface="+mn-ea"/>
              </a:rPr>
              <a:t>Once washing is finished,</a:t>
            </a:r>
            <a:r>
              <a:rPr lang="en-US" altLang="zh-CN" sz="2000" b="1">
                <a:solidFill>
                  <a:schemeClr val="tx1"/>
                </a:solidFill>
                <a:latin typeface="Calibri" panose="020F0502020204030204" pitchFamily="34" charset="0"/>
                <a:cs typeface="Calibri" panose="020F0502020204030204" pitchFamily="34" charset="0"/>
                <a:sym typeface="+mn-ea"/>
              </a:rPr>
              <a:t> the fish will be frozen.</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时间状语从句</a:t>
            </a:r>
            <a:r>
              <a:rPr lang="en-US" altLang="zh-CN" sz="2000" b="1">
                <a:solidFill>
                  <a:schemeClr val="tx1"/>
                </a:solidFill>
                <a:latin typeface="Calibri" panose="020F0502020204030204" pitchFamily="34" charset="0"/>
                <a:cs typeface="Calibri" panose="020F0502020204030204" pitchFamily="34" charset="0"/>
                <a:sym typeface="+mn-ea"/>
              </a:rPr>
              <a:t> XXXXX, until XXXX</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The pieces will be heated </a:t>
            </a:r>
            <a:r>
              <a:rPr lang="en-US" altLang="zh-CN" sz="2000" b="1" u="sng">
                <a:solidFill>
                  <a:srgbClr val="FF0000"/>
                </a:solidFill>
                <a:latin typeface="Calibri" panose="020F0502020204030204" pitchFamily="34" charset="0"/>
                <a:cs typeface="Calibri" panose="020F0502020204030204" pitchFamily="34" charset="0"/>
                <a:sym typeface="+mn-ea"/>
              </a:rPr>
              <a:t>until they are completely melted into liquid.</a:t>
            </a:r>
            <a:endParaRPr lang="en-US" altLang="zh-CN" sz="2000" b="1" u="sng">
              <a:solidFill>
                <a:srgbClr val="FF0000"/>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副词</a:t>
            </a:r>
            <a:r>
              <a:rPr lang="en-US" altLang="zh-CN" sz="2000" b="1">
                <a:solidFill>
                  <a:schemeClr val="tx1"/>
                </a:solidFill>
                <a:latin typeface="Calibri" panose="020F0502020204030204" pitchFamily="34" charset="0"/>
                <a:cs typeface="Calibri" panose="020F0502020204030204" pitchFamily="34" charset="0"/>
                <a:sym typeface="+mn-ea"/>
              </a:rPr>
              <a:t> Subsequently </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The fish are cleaned at first.</a:t>
            </a:r>
            <a:r>
              <a:rPr lang="en-US" altLang="zh-CN" sz="2000" b="1" u="sng">
                <a:solidFill>
                  <a:srgbClr val="FF0000"/>
                </a:solidFill>
                <a:latin typeface="Calibri" panose="020F0502020204030204" pitchFamily="34" charset="0"/>
                <a:cs typeface="Calibri" panose="020F0502020204030204" pitchFamily="34" charset="0"/>
                <a:sym typeface="+mn-ea"/>
              </a:rPr>
              <a:t> Subsequently, </a:t>
            </a:r>
            <a:r>
              <a:rPr lang="en-US" altLang="zh-CN" sz="2000" b="1">
                <a:solidFill>
                  <a:schemeClr val="tx1"/>
                </a:solidFill>
                <a:latin typeface="Calibri" panose="020F0502020204030204" pitchFamily="34" charset="0"/>
                <a:cs typeface="Calibri" panose="020F0502020204030204" pitchFamily="34" charset="0"/>
                <a:sym typeface="+mn-ea"/>
              </a:rPr>
              <a:t>they will be frozen.</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介词短语</a:t>
            </a:r>
            <a:r>
              <a:rPr lang="en-US" altLang="zh-CN" sz="2000" b="1">
                <a:solidFill>
                  <a:schemeClr val="tx1"/>
                </a:solidFill>
                <a:latin typeface="Calibri" panose="020F0502020204030204" pitchFamily="34" charset="0"/>
                <a:cs typeface="Calibri" panose="020F0502020204030204" pitchFamily="34" charset="0"/>
                <a:sym typeface="+mn-ea"/>
              </a:rPr>
              <a:t> After that</a:t>
            </a:r>
            <a:endParaRPr lang="en-US" altLang="zh-CN"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The fish are cleaned.</a:t>
            </a:r>
            <a:r>
              <a:rPr lang="en-US" altLang="zh-CN" sz="2000" b="1" u="sng">
                <a:solidFill>
                  <a:srgbClr val="FF0000"/>
                </a:solidFill>
                <a:latin typeface="Calibri" panose="020F0502020204030204" pitchFamily="34" charset="0"/>
                <a:cs typeface="Calibri" panose="020F0502020204030204" pitchFamily="34" charset="0"/>
                <a:sym typeface="+mn-ea"/>
              </a:rPr>
              <a:t> After that</a:t>
            </a:r>
            <a:r>
              <a:rPr lang="en-US" altLang="zh-CN" sz="2000" b="1">
                <a:solidFill>
                  <a:schemeClr val="tx1"/>
                </a:solidFill>
                <a:latin typeface="Calibri" panose="020F0502020204030204" pitchFamily="34" charset="0"/>
                <a:cs typeface="Calibri" panose="020F0502020204030204" pitchFamily="34" charset="0"/>
                <a:sym typeface="+mn-ea"/>
              </a:rPr>
              <a:t>, they will be frozen.</a:t>
            </a:r>
            <a:endParaRPr lang="en-US" altLang="zh-CN" sz="2000" b="1">
              <a:solidFill>
                <a:schemeClr val="tx1"/>
              </a:solidFill>
              <a:latin typeface="Calibri" panose="020F0502020204030204" pitchFamily="34" charset="0"/>
              <a:cs typeface="Calibri" panose="020F0502020204030204" pitchFamily="34" charset="0"/>
              <a:sym typeface="+mn-ea"/>
            </a:endParaRPr>
          </a:p>
          <a:p>
            <a:endParaRPr lang="en-US" altLang="zh-CN" sz="20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流程图的常用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lang="zh-CN" altLang="en-US" sz="2000" b="1">
                <a:solidFill>
                  <a:schemeClr val="tx1"/>
                </a:solidFill>
                <a:latin typeface="Calibri" panose="020F0502020204030204" pitchFamily="34" charset="0"/>
                <a:cs typeface="Calibri" panose="020F0502020204030204" pitchFamily="34" charset="0"/>
                <a:sym typeface="+mn-ea"/>
              </a:rPr>
              <a:t>③地点名词</a:t>
            </a:r>
            <a:r>
              <a:rPr lang="en-US" altLang="zh-CN" sz="2000" b="1">
                <a:solidFill>
                  <a:schemeClr val="tx1"/>
                </a:solidFill>
                <a:latin typeface="Calibri" panose="020F0502020204030204" pitchFamily="34" charset="0"/>
                <a:cs typeface="Calibri" panose="020F0502020204030204" pitchFamily="34" charset="0"/>
                <a:sym typeface="+mn-ea"/>
              </a:rPr>
              <a:t>+where+</a:t>
            </a:r>
            <a:r>
              <a:rPr sz="2000" b="1">
                <a:solidFill>
                  <a:schemeClr val="tx1"/>
                </a:solidFill>
                <a:latin typeface="Calibri" panose="020F0502020204030204" pitchFamily="34" charset="0"/>
                <a:cs typeface="Calibri" panose="020F0502020204030204" pitchFamily="34" charset="0"/>
                <a:sym typeface="+mn-ea"/>
              </a:rPr>
              <a:t>完整句子</a:t>
            </a:r>
            <a:endParaRPr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Finally, those products will be delivered to </a:t>
            </a:r>
            <a:r>
              <a:rPr lang="en-US" altLang="zh-CN" sz="2000" b="1">
                <a:solidFill>
                  <a:schemeClr val="tx1"/>
                </a:solidFill>
                <a:highlight>
                  <a:srgbClr val="FFFF00"/>
                </a:highlight>
                <a:latin typeface="Calibri" panose="020F0502020204030204" pitchFamily="34" charset="0"/>
                <a:cs typeface="Calibri" panose="020F0502020204030204" pitchFamily="34" charset="0"/>
                <a:sym typeface="+mn-ea"/>
              </a:rPr>
              <a:t>the supermarket</a:t>
            </a:r>
            <a:r>
              <a:rPr lang="en-US" altLang="zh-CN" sz="2000" b="1">
                <a:solidFill>
                  <a:schemeClr val="tx1"/>
                </a:solidFill>
                <a:latin typeface="Calibri" panose="020F0502020204030204" pitchFamily="34" charset="0"/>
                <a:cs typeface="Calibri" panose="020F0502020204030204" pitchFamily="34" charset="0"/>
                <a:sym typeface="+mn-ea"/>
              </a:rPr>
              <a:t> </a:t>
            </a:r>
            <a:r>
              <a:rPr lang="en-US" altLang="zh-CN" sz="2000" b="1" u="sng">
                <a:solidFill>
                  <a:srgbClr val="FF0000"/>
                </a:solidFill>
                <a:latin typeface="Calibri" panose="020F0502020204030204" pitchFamily="34" charset="0"/>
                <a:cs typeface="Calibri" panose="020F0502020204030204" pitchFamily="34" charset="0"/>
                <a:sym typeface="+mn-ea"/>
              </a:rPr>
              <a:t>where they will be sold to various customers</a:t>
            </a:r>
            <a:r>
              <a:rPr lang="en-US" altLang="zh-CN" sz="2000" b="1">
                <a:solidFill>
                  <a:schemeClr val="tx1"/>
                </a:solidFill>
                <a:latin typeface="Calibri" panose="020F0502020204030204" pitchFamily="34" charset="0"/>
                <a:cs typeface="Calibri" panose="020F0502020204030204" pitchFamily="34" charset="0"/>
                <a:sym typeface="+mn-ea"/>
              </a:rPr>
              <a:t>.</a:t>
            </a:r>
            <a:endParaRPr sz="2000" b="1">
              <a:solidFill>
                <a:schemeClr val="tx1"/>
              </a:solidFill>
              <a:latin typeface="Calibri" panose="020F0502020204030204" pitchFamily="34" charset="0"/>
              <a:cs typeface="Calibri" panose="020F0502020204030204" pitchFamily="34" charset="0"/>
              <a:sym typeface="+mn-ea"/>
            </a:endParaRPr>
          </a:p>
          <a:p>
            <a:endParaRPr lang="en-US" altLang="zh-CN" sz="2000" b="1" u="sng">
              <a:solidFill>
                <a:srgbClr val="FF0000"/>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流程图的常用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lang="zh-CN" altLang="en-US" sz="2000" b="1">
                <a:solidFill>
                  <a:schemeClr val="tx1"/>
                </a:solidFill>
                <a:latin typeface="Calibri" panose="020F0502020204030204" pitchFamily="34" charset="0"/>
                <a:cs typeface="Calibri" panose="020F0502020204030204" pitchFamily="34" charset="0"/>
                <a:sym typeface="+mn-ea"/>
              </a:rPr>
              <a:t>④不能用祈使句</a:t>
            </a:r>
            <a:endParaRPr lang="zh-CN" altLang="en-US" sz="2000" b="1">
              <a:solidFill>
                <a:schemeClr val="tx1"/>
              </a:solidFill>
              <a:latin typeface="Calibri" panose="020F0502020204030204" pitchFamily="34" charset="0"/>
              <a:cs typeface="Calibri" panose="020F0502020204030204" pitchFamily="34" charset="0"/>
              <a:sym typeface="+mn-ea"/>
            </a:endParaRPr>
          </a:p>
          <a:p>
            <a:r>
              <a:rPr lang="en-US" altLang="zh-CN" sz="2000" b="1" u="sng">
                <a:solidFill>
                  <a:srgbClr val="FF0000"/>
                </a:solidFill>
                <a:latin typeface="Calibri" panose="020F0502020204030204" pitchFamily="34" charset="0"/>
                <a:cs typeface="Calibri" panose="020F0502020204030204" pitchFamily="34" charset="0"/>
                <a:sym typeface="+mn-ea"/>
              </a:rPr>
              <a:t>Open the door. </a:t>
            </a:r>
            <a:r>
              <a:rPr sz="2000" b="1" u="sng">
                <a:solidFill>
                  <a:srgbClr val="FF0000"/>
                </a:solidFill>
                <a:latin typeface="Calibri" panose="020F0502020204030204" pitchFamily="34" charset="0"/>
                <a:cs typeface="Calibri" panose="020F0502020204030204" pitchFamily="34" charset="0"/>
                <a:sym typeface="+mn-ea"/>
              </a:rPr>
              <a:t>×</a:t>
            </a:r>
            <a:endParaRPr sz="2000" b="1" u="sng">
              <a:solidFill>
                <a:srgbClr val="FF0000"/>
              </a:solidFill>
              <a:latin typeface="Calibri" panose="020F0502020204030204" pitchFamily="34" charset="0"/>
              <a:cs typeface="Calibri" panose="020F0502020204030204" pitchFamily="34" charset="0"/>
              <a:sym typeface="+mn-ea"/>
            </a:endParaRPr>
          </a:p>
          <a:p>
            <a:r>
              <a:rPr lang="en-US" altLang="zh-CN" sz="2000" b="1" u="sng">
                <a:solidFill>
                  <a:srgbClr val="FF0000"/>
                </a:solidFill>
                <a:latin typeface="Calibri" panose="020F0502020204030204" pitchFamily="34" charset="0"/>
                <a:cs typeface="Calibri" panose="020F0502020204030204" pitchFamily="34" charset="0"/>
                <a:sym typeface="+mn-ea"/>
              </a:rPr>
              <a:t>The door should be opened at first. √</a:t>
            </a:r>
            <a:endParaRPr lang="en-US" altLang="zh-CN" sz="2000" b="1" u="sng">
              <a:solidFill>
                <a:srgbClr val="FF0000"/>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95605" y="411480"/>
            <a:ext cx="7560310" cy="640080"/>
          </a:xfrm>
        </p:spPr>
        <p:txBody>
          <a:bodyPr/>
          <a:p>
            <a:r>
              <a:rPr lang="zh-CN" altLang="en-US" sz="2400">
                <a:solidFill>
                  <a:schemeClr val="tx1"/>
                </a:solidFill>
              </a:rPr>
              <a:t>练习</a:t>
            </a:r>
            <a:endParaRPr lang="zh-CN" altLang="en-US" sz="2400">
              <a:solidFill>
                <a:schemeClr val="tx1"/>
              </a:solidFill>
            </a:endParaRPr>
          </a:p>
        </p:txBody>
      </p:sp>
      <p:sp>
        <p:nvSpPr>
          <p:cNvPr id="3" name="内容占位符 2"/>
          <p:cNvSpPr>
            <a:spLocks noGrp="1"/>
          </p:cNvSpPr>
          <p:nvPr>
            <p:ph idx="1"/>
          </p:nvPr>
        </p:nvSpPr>
        <p:spPr>
          <a:xfrm>
            <a:off x="365125" y="1111885"/>
            <a:ext cx="8564245" cy="3914140"/>
          </a:xfrm>
        </p:spPr>
        <p:txBody>
          <a:bodyPr/>
          <a:p>
            <a:r>
              <a:rPr sz="2000" b="1">
                <a:solidFill>
                  <a:schemeClr val="tx1"/>
                </a:solidFill>
                <a:latin typeface="Calibri" panose="020F0502020204030204" pitchFamily="34" charset="0"/>
                <a:cs typeface="Calibri" panose="020F0502020204030204" pitchFamily="34" charset="0"/>
                <a:sym typeface="+mn-ea"/>
              </a:rPr>
              <a:t>在到达目的地之后，鱼会被放在冰箱当中，在那里他们会被</a:t>
            </a:r>
            <a:r>
              <a:rPr sz="2000" b="1">
                <a:solidFill>
                  <a:schemeClr val="tx1"/>
                </a:solidFill>
                <a:latin typeface="Calibri" panose="020F0502020204030204" pitchFamily="34" charset="0"/>
                <a:cs typeface="Calibri" panose="020F0502020204030204" pitchFamily="34" charset="0"/>
                <a:sym typeface="+mn-ea"/>
              </a:rPr>
              <a:t>冻住。</a:t>
            </a:r>
            <a:endParaRPr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After arriving at the destination, the fish will be put into the fridge where they will be frozen.</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一旦清洗被完成，干净的瓶子会被分成三组根据他们的颜色。</a:t>
            </a:r>
            <a:endParaRPr sz="2000" b="1">
              <a:solidFill>
                <a:schemeClr val="tx1"/>
              </a:solidFill>
              <a:latin typeface="Calibri" panose="020F0502020204030204" pitchFamily="34" charset="0"/>
              <a:cs typeface="Calibri" panose="020F0502020204030204" pitchFamily="34" charset="0"/>
              <a:sym typeface="+mn-ea"/>
            </a:endParaRPr>
          </a:p>
          <a:p>
            <a:r>
              <a:rPr lang="en-US" altLang="zh-CN" sz="2000" b="1" u="sng">
                <a:solidFill>
                  <a:srgbClr val="FF0000"/>
                </a:solidFill>
                <a:latin typeface="Calibri" panose="020F0502020204030204" pitchFamily="34" charset="0"/>
                <a:cs typeface="Calibri" panose="020F0502020204030204" pitchFamily="34" charset="0"/>
                <a:sym typeface="+mn-ea"/>
              </a:rPr>
              <a:t>Once washing has been finished</a:t>
            </a:r>
            <a:r>
              <a:rPr lang="en-US" altLang="zh-CN" sz="2000" b="1">
                <a:solidFill>
                  <a:schemeClr val="tx1"/>
                </a:solidFill>
                <a:latin typeface="Calibri" panose="020F0502020204030204" pitchFamily="34" charset="0"/>
                <a:cs typeface="Calibri" panose="020F0502020204030204" pitchFamily="34" charset="0"/>
                <a:sym typeface="+mn-ea"/>
              </a:rPr>
              <a:t>, the clean bottles will be divided into three groups according to their colors.</a:t>
            </a:r>
            <a:endParaRPr lang="en-US" altLang="zh-CN" sz="2000" b="1">
              <a:solidFill>
                <a:schemeClr val="tx1"/>
              </a:solidFill>
              <a:latin typeface="Calibri" panose="020F0502020204030204" pitchFamily="34" charset="0"/>
              <a:cs typeface="Calibri" panose="020F0502020204030204" pitchFamily="34" charset="0"/>
              <a:sym typeface="+mn-ea"/>
            </a:endParaRPr>
          </a:p>
          <a:p>
            <a:r>
              <a:rPr sz="2000" b="1">
                <a:solidFill>
                  <a:schemeClr val="tx1"/>
                </a:solidFill>
                <a:latin typeface="Calibri" panose="020F0502020204030204" pitchFamily="34" charset="0"/>
                <a:cs typeface="Calibri" panose="020F0502020204030204" pitchFamily="34" charset="0"/>
                <a:sym typeface="+mn-ea"/>
              </a:rPr>
              <a:t>在被抓之后，鱼会被运输到港口，在那里被冻住。</a:t>
            </a:r>
            <a:endParaRPr sz="2000" b="1">
              <a:solidFill>
                <a:schemeClr val="tx1"/>
              </a:solidFill>
              <a:latin typeface="Calibri" panose="020F0502020204030204" pitchFamily="34" charset="0"/>
              <a:cs typeface="Calibri" panose="020F0502020204030204" pitchFamily="34" charset="0"/>
              <a:sym typeface="+mn-ea"/>
            </a:endParaRPr>
          </a:p>
          <a:p>
            <a:r>
              <a:rPr lang="en-US" altLang="zh-CN" sz="2000" b="1">
                <a:solidFill>
                  <a:schemeClr val="tx1"/>
                </a:solidFill>
                <a:latin typeface="Calibri" panose="020F0502020204030204" pitchFamily="34" charset="0"/>
                <a:cs typeface="Calibri" panose="020F0502020204030204" pitchFamily="34" charset="0"/>
                <a:sym typeface="+mn-ea"/>
              </a:rPr>
              <a:t>After being caught, the fish will be delivered to the port where they will be frozen.</a:t>
            </a:r>
            <a:endParaRPr sz="2000" b="1">
              <a:solidFill>
                <a:schemeClr val="tx1"/>
              </a:solidFill>
              <a:latin typeface="Calibri" panose="020F0502020204030204" pitchFamily="34" charset="0"/>
              <a:cs typeface="Calibri" panose="020F0502020204030204" pitchFamily="34" charset="0"/>
            </a:endParaRPr>
          </a:p>
          <a:p>
            <a:endParaRPr lang="en-US" altLang="zh-CN" sz="2000" b="1">
              <a:solidFill>
                <a:schemeClr val="tx1"/>
              </a:solidFill>
              <a:latin typeface="Calibri" panose="020F0502020204030204" pitchFamily="34" charset="0"/>
              <a:cs typeface="Calibri" panose="020F0502020204030204" pitchFamily="34" charset="0"/>
              <a:sym typeface="+mn-ea"/>
            </a:endParaRPr>
          </a:p>
          <a:p>
            <a:endParaRPr lang="en-US" altLang="zh-CN" sz="20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215" y="390525"/>
            <a:ext cx="8215630" cy="549275"/>
          </a:xfrm>
        </p:spPr>
        <p:txBody>
          <a:bodyPr/>
          <a:lstStyle/>
          <a:p>
            <a:r>
              <a:rPr lang="en-US" altLang="zh-CN" sz="2400" dirty="0" smtClean="0">
                <a:solidFill>
                  <a:schemeClr val="tx1"/>
                </a:solidFill>
                <a:latin typeface="Times New Roman" panose="02020603050405020304" charset="0"/>
                <a:cs typeface="Times New Roman" panose="02020603050405020304" charset="0"/>
              </a:rPr>
              <a:t>before; after; until; once; where; after which</a:t>
            </a:r>
            <a:endParaRPr lang="en-US" altLang="zh-CN" sz="2400" dirty="0" smtClean="0">
              <a:solidFill>
                <a:schemeClr val="tx1"/>
              </a:solidFill>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47980" y="939800"/>
            <a:ext cx="8378190" cy="4074795"/>
          </a:xfrm>
        </p:spPr>
        <p:txBody>
          <a:bodyPr/>
          <a:lstStyle/>
          <a:p>
            <a:pPr marL="514350" indent="-514350" algn="l"/>
            <a:r>
              <a:rPr lang="en-US" altLang="zh-CN" dirty="0" smtClean="0">
                <a:solidFill>
                  <a:schemeClr val="tx1"/>
                </a:solidFill>
                <a:sym typeface="+mn-ea"/>
              </a:rPr>
              <a:t>2. </a:t>
            </a:r>
            <a:r>
              <a:rPr lang="zh-CN" altLang="en-US" dirty="0" smtClean="0">
                <a:solidFill>
                  <a:schemeClr val="tx1"/>
                </a:solidFill>
                <a:sym typeface="+mn-ea"/>
              </a:rPr>
              <a:t>使用过的玻璃瓶先被收集在回收站，然后运输到工厂，在那里被清洗。</a:t>
            </a:r>
            <a:endParaRPr lang="zh-CN" altLang="en-US" dirty="0" smtClean="0">
              <a:solidFill>
                <a:schemeClr val="tx1"/>
              </a:solidFill>
            </a:endParaRPr>
          </a:p>
          <a:p>
            <a:pPr marL="514350" indent="-514350" algn="l"/>
            <a:r>
              <a:rPr lang="en-US" altLang="zh-CN" dirty="0" smtClean="0">
                <a:solidFill>
                  <a:schemeClr val="tx1"/>
                </a:solidFill>
                <a:sym typeface="+mn-ea"/>
              </a:rPr>
              <a:t>After being collected at the recycling station, the used glass bottles are transported </a:t>
            </a:r>
            <a:endParaRPr lang="en-US" altLang="zh-CN" dirty="0" smtClean="0">
              <a:solidFill>
                <a:schemeClr val="tx1"/>
              </a:solidFill>
            </a:endParaRPr>
          </a:p>
          <a:p>
            <a:pPr marL="514350" indent="-514350" algn="l"/>
            <a:r>
              <a:rPr lang="en-US" altLang="zh-CN" dirty="0" smtClean="0">
                <a:solidFill>
                  <a:schemeClr val="tx1"/>
                </a:solidFill>
                <a:sym typeface="+mn-ea"/>
              </a:rPr>
              <a:t>to the factory where they </a:t>
            </a:r>
            <a:r>
              <a:rPr lang="zh-CN" altLang="en-US" dirty="0" smtClean="0">
                <a:solidFill>
                  <a:schemeClr val="tx1"/>
                </a:solidFill>
                <a:sym typeface="+mn-ea"/>
              </a:rPr>
              <a:t> </a:t>
            </a:r>
            <a:r>
              <a:rPr lang="en-US" altLang="zh-CN" dirty="0" smtClean="0">
                <a:solidFill>
                  <a:schemeClr val="tx1"/>
                </a:solidFill>
                <a:sym typeface="+mn-ea"/>
              </a:rPr>
              <a:t>are washed. </a:t>
            </a:r>
            <a:endParaRPr lang="en-US" altLang="zh-CN" dirty="0" smtClean="0">
              <a:solidFill>
                <a:schemeClr val="tx1"/>
              </a:solidFill>
              <a:sym typeface="+mn-ea"/>
            </a:endParaRPr>
          </a:p>
          <a:p>
            <a:pPr marL="514350" indent="-514350" algn="l"/>
            <a:r>
              <a:rPr lang="en-US" altLang="zh-CN" dirty="0" smtClean="0">
                <a:solidFill>
                  <a:schemeClr val="tx1"/>
                </a:solidFill>
                <a:sym typeface="+mn-ea"/>
              </a:rPr>
              <a:t>3. </a:t>
            </a:r>
            <a:r>
              <a:rPr lang="zh-CN" altLang="en-US" dirty="0" smtClean="0">
                <a:solidFill>
                  <a:schemeClr val="tx1"/>
                </a:solidFill>
                <a:sym typeface="+mn-ea"/>
              </a:rPr>
              <a:t>桃子被从树上摘下来，然后被装（</a:t>
            </a:r>
            <a:r>
              <a:rPr lang="en-US" altLang="zh-CN" dirty="0" smtClean="0">
                <a:solidFill>
                  <a:schemeClr val="tx1"/>
                </a:solidFill>
                <a:sym typeface="+mn-ea"/>
              </a:rPr>
              <a:t>put</a:t>
            </a:r>
            <a:r>
              <a:rPr lang="zh-CN" altLang="en-US" dirty="0" smtClean="0">
                <a:solidFill>
                  <a:schemeClr val="tx1"/>
                </a:solidFill>
                <a:sym typeface="+mn-ea"/>
              </a:rPr>
              <a:t>）在一个特殊的容器，在那里他们被清洗。</a:t>
            </a:r>
            <a:endParaRPr lang="en-US" altLang="zh-CN" dirty="0" smtClean="0">
              <a:solidFill>
                <a:schemeClr val="tx1"/>
              </a:solidFill>
              <a:sym typeface="+mn-ea"/>
            </a:endParaRPr>
          </a:p>
          <a:p>
            <a:pPr marL="514350" indent="-514350" algn="l"/>
            <a:r>
              <a:rPr lang="en-US" altLang="zh-CN" dirty="0" smtClean="0">
                <a:solidFill>
                  <a:schemeClr val="tx1"/>
                </a:solidFill>
                <a:sym typeface="+mn-ea"/>
              </a:rPr>
              <a:t>4. </a:t>
            </a:r>
            <a:r>
              <a:rPr lang="zh-CN" altLang="en-US" dirty="0" smtClean="0">
                <a:solidFill>
                  <a:schemeClr val="tx1"/>
                </a:solidFill>
              </a:rPr>
              <a:t>一旦完全解冻，鱼会被切成两半，然后浸泡在有染料的水中，直到变成黄色。</a:t>
            </a:r>
            <a:endParaRPr lang="en-US" altLang="zh-CN" dirty="0" smtClean="0">
              <a:solidFill>
                <a:schemeClr val="tx1"/>
              </a:solidFill>
            </a:endParaRPr>
          </a:p>
          <a:p>
            <a:pPr marL="514350" indent="-514350" algn="l"/>
            <a:r>
              <a:rPr lang="en-US" altLang="zh-CN" dirty="0" smtClean="0">
                <a:solidFill>
                  <a:schemeClr val="tx1"/>
                </a:solidFill>
              </a:rPr>
              <a:t>Once defrosting is finished, the fish will be cut in half, after which they are </a:t>
            </a:r>
            <a:endParaRPr lang="en-US" altLang="zh-CN" dirty="0" smtClean="0">
              <a:solidFill>
                <a:schemeClr val="tx1"/>
              </a:solidFill>
            </a:endParaRPr>
          </a:p>
          <a:p>
            <a:pPr marL="514350" indent="-514350" algn="l"/>
            <a:r>
              <a:rPr lang="en-US" altLang="zh-CN" dirty="0" smtClean="0">
                <a:solidFill>
                  <a:schemeClr val="tx1"/>
                </a:solidFill>
              </a:rPr>
              <a:t>soaked in the water full of coloring until becoming yellow. </a:t>
            </a:r>
            <a:endParaRPr lang="en-US" altLang="zh-CN" sz="1600" dirty="0"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0039" y="554977"/>
            <a:ext cx="5357850" cy="500066"/>
          </a:xfrm>
        </p:spPr>
        <p:txBody>
          <a:bodyPr/>
          <a:lstStyle/>
          <a:p>
            <a:r>
              <a:rPr lang="zh-CN" altLang="en-US" sz="2400">
                <a:solidFill>
                  <a:schemeClr val="tx1"/>
                </a:solidFill>
              </a:rPr>
              <a:t>一般现在时</a:t>
            </a:r>
            <a:r>
              <a:rPr lang="en-US" altLang="zh-CN" sz="2400">
                <a:solidFill>
                  <a:schemeClr val="tx1"/>
                </a:solidFill>
              </a:rPr>
              <a:t>-</a:t>
            </a:r>
            <a:r>
              <a:rPr lang="zh-CN" altLang="en-US" sz="2400">
                <a:solidFill>
                  <a:schemeClr val="tx1"/>
                </a:solidFill>
              </a:rPr>
              <a:t>流程图</a:t>
            </a:r>
            <a:endParaRPr lang="zh-CN" altLang="en-US" sz="2400">
              <a:solidFill>
                <a:schemeClr val="tx1"/>
              </a:solidFill>
            </a:endParaRPr>
          </a:p>
        </p:txBody>
      </p:sp>
      <p:sp>
        <p:nvSpPr>
          <p:cNvPr id="3" name="内容占位符 2"/>
          <p:cNvSpPr>
            <a:spLocks noGrp="1"/>
          </p:cNvSpPr>
          <p:nvPr>
            <p:ph idx="1"/>
          </p:nvPr>
        </p:nvSpPr>
        <p:spPr>
          <a:xfrm>
            <a:off x="456565" y="1214120"/>
            <a:ext cx="8230235" cy="3518535"/>
          </a:xfrm>
        </p:spPr>
        <p:txBody>
          <a:bodyPr/>
          <a:lstStyle/>
          <a:p>
            <a:r>
              <a:rPr lang="zh-CN" altLang="zh-CN" sz="2000" dirty="0">
                <a:solidFill>
                  <a:schemeClr val="tx1"/>
                </a:solidFill>
              </a:rPr>
              <a:t>制作</a:t>
            </a:r>
            <a:r>
              <a:rPr lang="zh-CN" altLang="zh-CN" sz="2000" dirty="0" smtClean="0">
                <a:solidFill>
                  <a:schemeClr val="tx1"/>
                </a:solidFill>
              </a:rPr>
              <a:t>工艺</a:t>
            </a:r>
            <a:r>
              <a:rPr lang="en-US" altLang="zh-CN" sz="2000" dirty="0" smtClean="0">
                <a:solidFill>
                  <a:schemeClr val="tx1"/>
                </a:solidFill>
              </a:rPr>
              <a:t>--</a:t>
            </a:r>
            <a:r>
              <a:rPr lang="zh-CN" altLang="en-US" sz="2000" dirty="0" smtClean="0">
                <a:solidFill>
                  <a:schemeClr val="tx1"/>
                </a:solidFill>
              </a:rPr>
              <a:t>被动</a:t>
            </a:r>
            <a:r>
              <a:rPr lang="zh-CN" altLang="en-US" sz="2000" dirty="0">
                <a:solidFill>
                  <a:schemeClr val="tx1"/>
                </a:solidFill>
              </a:rPr>
              <a:t>语态：be done(transitive)</a:t>
            </a:r>
            <a:endParaRPr lang="zh-CN" altLang="en-US" sz="2000" dirty="0">
              <a:solidFill>
                <a:schemeClr val="tx1"/>
              </a:solidFill>
            </a:endParaRPr>
          </a:p>
          <a:p>
            <a:endParaRPr lang="zh-CN" altLang="en-US" sz="2000" dirty="0">
              <a:solidFill>
                <a:schemeClr val="tx1"/>
              </a:solidFill>
            </a:endParaRPr>
          </a:p>
        </p:txBody>
      </p:sp>
      <p:pic>
        <p:nvPicPr>
          <p:cNvPr id="4" name="图片 3" descr="微信图片_20180724134413"/>
          <p:cNvPicPr>
            <a:picLocks noChangeAspect="1"/>
          </p:cNvPicPr>
          <p:nvPr/>
        </p:nvPicPr>
        <p:blipFill>
          <a:blip r:embed="rId1" cstate="print"/>
          <a:srcRect l="625" t="37443" r="625" b="22404"/>
          <a:stretch>
            <a:fillRect/>
          </a:stretch>
        </p:blipFill>
        <p:spPr>
          <a:xfrm>
            <a:off x="207010" y="1687195"/>
            <a:ext cx="7922260" cy="32207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7513320" cy="500380"/>
          </a:xfrm>
        </p:spPr>
        <p:txBody>
          <a:bodyPr/>
          <a:p>
            <a:r>
              <a:rPr lang="zh-CN" altLang="en-US" sz="2400">
                <a:solidFill>
                  <a:schemeClr val="tx1"/>
                </a:solidFill>
              </a:rPr>
              <a:t>现在完成时</a:t>
            </a:r>
            <a:r>
              <a:rPr lang="en-US" altLang="zh-CN" sz="2400">
                <a:solidFill>
                  <a:schemeClr val="tx1"/>
                </a:solidFill>
              </a:rPr>
              <a:t>--</a:t>
            </a:r>
            <a:r>
              <a:rPr lang="zh-CN" altLang="en-US" sz="2400">
                <a:solidFill>
                  <a:schemeClr val="tx1"/>
                </a:solidFill>
              </a:rPr>
              <a:t>动作发生在过去，强调对现在的</a:t>
            </a:r>
            <a:r>
              <a:rPr lang="zh-CN" altLang="en-US" sz="2400">
                <a:solidFill>
                  <a:schemeClr val="tx1"/>
                </a:solidFill>
              </a:rPr>
              <a:t>影响</a:t>
            </a:r>
            <a:endParaRPr lang="zh-CN" altLang="en-US" sz="2400">
              <a:solidFill>
                <a:schemeClr val="tx1"/>
              </a:solidFill>
            </a:endParaRPr>
          </a:p>
        </p:txBody>
      </p:sp>
      <p:graphicFrame>
        <p:nvGraphicFramePr>
          <p:cNvPr id="4" name="内容占位符 3"/>
          <p:cNvGraphicFramePr/>
          <p:nvPr>
            <p:ph idx="1"/>
            <p:custDataLst>
              <p:tags r:id="rId1"/>
            </p:custDataLst>
          </p:nvPr>
        </p:nvGraphicFramePr>
        <p:xfrm>
          <a:off x="467360" y="1381760"/>
          <a:ext cx="8021955" cy="2672715"/>
        </p:xfrm>
        <a:graphic>
          <a:graphicData uri="http://schemas.openxmlformats.org/drawingml/2006/table">
            <a:tbl>
              <a:tblPr firstRow="1" bandRow="1">
                <a:tableStyleId>{5C22544A-7EE6-4342-B048-85BDC9FD1C3A}</a:tableStyleId>
              </a:tblPr>
              <a:tblGrid>
                <a:gridCol w="4041140"/>
                <a:gridCol w="3980815"/>
              </a:tblGrid>
              <a:tr h="530225">
                <a:tc>
                  <a:txBody>
                    <a:bodyPr/>
                    <a:p>
                      <a:pPr>
                        <a:buNone/>
                      </a:pPr>
                      <a:r>
                        <a:rPr lang="zh-CN" altLang="en-US" sz="2000"/>
                        <a:t>主动</a:t>
                      </a:r>
                      <a:r>
                        <a:rPr lang="en-US" altLang="zh-CN" sz="2000"/>
                        <a:t>  have/has done</a:t>
                      </a:r>
                      <a:endParaRPr lang="en-US" altLang="zh-CN" sz="2000"/>
                    </a:p>
                  </a:txBody>
                  <a:tcPr/>
                </a:tc>
                <a:tc>
                  <a:txBody>
                    <a:bodyPr/>
                    <a:p>
                      <a:pPr>
                        <a:buNone/>
                      </a:pPr>
                      <a:r>
                        <a:rPr lang="zh-CN" altLang="en-US" sz="2000"/>
                        <a:t>被动</a:t>
                      </a:r>
                      <a:r>
                        <a:rPr lang="en-US" altLang="zh-CN" sz="2000"/>
                        <a:t>  have/has been done</a:t>
                      </a:r>
                      <a:endParaRPr lang="en-US" altLang="zh-CN" sz="2000"/>
                    </a:p>
                  </a:txBody>
                  <a:tcPr/>
                </a:tc>
              </a:tr>
              <a:tr h="789305">
                <a:tc>
                  <a:txBody>
                    <a:bodyPr/>
                    <a:p>
                      <a:pPr>
                        <a:buNone/>
                      </a:pPr>
                      <a:r>
                        <a:rPr lang="en-US" altLang="zh-CN" sz="2000" b="1"/>
                        <a:t>I have watched the film before.</a:t>
                      </a:r>
                      <a:endParaRPr lang="en-US" altLang="zh-CN" sz="2000" b="1"/>
                    </a:p>
                  </a:txBody>
                  <a:tcPr/>
                </a:tc>
                <a:tc>
                  <a:txBody>
                    <a:bodyPr/>
                    <a:p>
                      <a:pPr>
                        <a:buNone/>
                      </a:pPr>
                      <a:r>
                        <a:rPr lang="en-US" altLang="zh-CN" sz="2000" b="1"/>
                        <a:t>The car park has been established in the south of the community.</a:t>
                      </a:r>
                      <a:endParaRPr lang="en-US" altLang="zh-CN" sz="2000" b="1"/>
                    </a:p>
                  </a:txBody>
                  <a:tcPr/>
                </a:tc>
              </a:tr>
              <a:tr h="530225">
                <a:tc>
                  <a:txBody>
                    <a:bodyPr/>
                    <a:p>
                      <a:pPr>
                        <a:buNone/>
                      </a:pPr>
                      <a:r>
                        <a:rPr lang="en-US" altLang="zh-CN" sz="2000" b="1"/>
                        <a:t>She has lived in BJ for three years.</a:t>
                      </a:r>
                      <a:endParaRPr lang="en-US" altLang="zh-CN" sz="2000" b="1"/>
                    </a:p>
                  </a:txBody>
                  <a:tcPr/>
                </a:tc>
                <a:tc>
                  <a:txBody>
                    <a:bodyPr/>
                    <a:p>
                      <a:pPr algn="l">
                        <a:buClrTx/>
                        <a:buSzTx/>
                        <a:buFontTx/>
                        <a:buNone/>
                      </a:pPr>
                      <a:r>
                        <a:rPr lang="en-US" altLang="zh-CN" sz="2000" b="1"/>
                        <a:t>The gate has been demolished .</a:t>
                      </a:r>
                      <a:endParaRPr lang="en-US" altLang="zh-CN" sz="2000" b="1"/>
                    </a:p>
                  </a:txBody>
                  <a:tcPr/>
                </a:tc>
              </a:tr>
              <a:tr h="530225">
                <a:tc>
                  <a:txBody>
                    <a:bodyPr/>
                    <a:p>
                      <a:pPr>
                        <a:buNone/>
                      </a:pPr>
                      <a:endParaRPr lang="en-US" altLang="zh-CN" b="1"/>
                    </a:p>
                  </a:txBody>
                  <a:tcPr/>
                </a:tc>
                <a:tc>
                  <a:txBody>
                    <a:bodyPr/>
                    <a:p>
                      <a:pPr>
                        <a:buNone/>
                      </a:pPr>
                      <a:r>
                        <a:rPr lang="zh-CN" altLang="en-US" b="1"/>
                        <a:t>地图（过去</a:t>
                      </a:r>
                      <a:r>
                        <a:rPr lang="en-US" altLang="zh-CN" b="1"/>
                        <a:t>+</a:t>
                      </a:r>
                      <a:r>
                        <a:rPr lang="zh-CN" altLang="en-US" b="1"/>
                        <a:t>现在）</a:t>
                      </a:r>
                      <a:endParaRPr lang="zh-CN" altLang="en-US" b="1"/>
                    </a:p>
                  </a:txBody>
                  <a:tcPr/>
                </a:tc>
              </a:tr>
            </a:tbl>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①</a:t>
            </a:r>
            <a:r>
              <a:rPr lang="en-US" altLang="zh-CN" sz="2400" b="1">
                <a:solidFill>
                  <a:schemeClr val="tx1"/>
                </a:solidFill>
                <a:latin typeface="Calibri" panose="020F0502020204030204" pitchFamily="34" charset="0"/>
                <a:cs typeface="Calibri" panose="020F0502020204030204" pitchFamily="34" charset="0"/>
                <a:sym typeface="+mn-ea"/>
              </a:rPr>
              <a:t> The two maps compare </a:t>
            </a:r>
            <a:r>
              <a:rPr lang="en-US" altLang="zh-CN" sz="2400" b="1" u="sng">
                <a:solidFill>
                  <a:srgbClr val="FF0000"/>
                </a:solidFill>
                <a:latin typeface="Calibri" panose="020F0502020204030204" pitchFamily="34" charset="0"/>
                <a:cs typeface="Calibri" panose="020F0502020204030204" pitchFamily="34" charset="0"/>
                <a:sym typeface="+mn-ea"/>
              </a:rPr>
              <a:t>how the village has been rebuilt</a:t>
            </a:r>
            <a:r>
              <a:rPr lang="en-US" altLang="zh-CN" sz="2400" b="1">
                <a:solidFill>
                  <a:schemeClr val="tx1"/>
                </a:solidFill>
                <a:latin typeface="Calibri" panose="020F0502020204030204" pitchFamily="34" charset="0"/>
                <a:cs typeface="Calibri" panose="020F0502020204030204" pitchFamily="34" charset="0"/>
                <a:sym typeface="+mn-ea"/>
              </a:rPr>
              <a:t> in the past thirty years.</a:t>
            </a:r>
            <a:endParaRPr lang="en-US" altLang="zh-CN" sz="2400" b="1">
              <a:solidFill>
                <a:schemeClr val="tx1"/>
              </a:solidFill>
              <a:latin typeface="Calibri" panose="020F0502020204030204" pitchFamily="34" charset="0"/>
              <a:cs typeface="Calibri" panose="020F0502020204030204" pitchFamily="34" charset="0"/>
              <a:sym typeface="+mn-ea"/>
            </a:endParaRPr>
          </a:p>
          <a:p>
            <a:r>
              <a:rPr sz="2400" b="1">
                <a:solidFill>
                  <a:schemeClr val="tx1"/>
                </a:solidFill>
                <a:latin typeface="Calibri" panose="020F0502020204030204" pitchFamily="34" charset="0"/>
                <a:cs typeface="Calibri" panose="020F0502020204030204" pitchFamily="34" charset="0"/>
                <a:sym typeface="+mn-ea"/>
              </a:rPr>
              <a:t>这两个地图对比了花园是如何被发展的自从</a:t>
            </a:r>
            <a:r>
              <a:rPr lang="en-US" altLang="zh-CN" sz="2400" b="1">
                <a:solidFill>
                  <a:schemeClr val="tx1"/>
                </a:solidFill>
                <a:latin typeface="Calibri" panose="020F0502020204030204" pitchFamily="34" charset="0"/>
                <a:cs typeface="Calibri" panose="020F0502020204030204" pitchFamily="34" charset="0"/>
                <a:sym typeface="+mn-ea"/>
              </a:rPr>
              <a:t>1995</a:t>
            </a:r>
            <a:r>
              <a:rPr sz="2400" b="1">
                <a:solidFill>
                  <a:schemeClr val="tx1"/>
                </a:solidFill>
                <a:latin typeface="Calibri" panose="020F0502020204030204" pitchFamily="34" charset="0"/>
                <a:cs typeface="Calibri" panose="020F0502020204030204" pitchFamily="34" charset="0"/>
                <a:sym typeface="+mn-ea"/>
              </a:rPr>
              <a:t>年</a:t>
            </a:r>
            <a:r>
              <a:rPr sz="2400" b="1">
                <a:solidFill>
                  <a:schemeClr val="tx1"/>
                </a:solidFill>
                <a:latin typeface="Calibri" panose="020F0502020204030204" pitchFamily="34" charset="0"/>
                <a:cs typeface="Calibri" panose="020F0502020204030204" pitchFamily="34" charset="0"/>
                <a:sym typeface="+mn-ea"/>
              </a:rPr>
              <a:t>以来。</a:t>
            </a:r>
            <a:endParaRPr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The two maps compare how the garden has been developed since 1995.</a:t>
            </a:r>
            <a:endParaRPr lang="en-US" altLang="zh-CN" sz="2400" b="1">
              <a:solidFill>
                <a:schemeClr val="tx1"/>
              </a:solidFill>
              <a:latin typeface="Calibri" panose="020F0502020204030204" pitchFamily="34" charset="0"/>
              <a:cs typeface="Calibri" panose="020F0502020204030204" pitchFamily="34" charset="0"/>
              <a:sym typeface="+mn-ea"/>
            </a:endParaRPr>
          </a:p>
          <a:p>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②位于</a:t>
            </a:r>
            <a:r>
              <a:rPr lang="en-US" altLang="zh-CN" sz="2400" b="1">
                <a:solidFill>
                  <a:schemeClr val="tx1"/>
                </a:solidFill>
                <a:latin typeface="Calibri" panose="020F0502020204030204" pitchFamily="34" charset="0"/>
                <a:cs typeface="Calibri" panose="020F0502020204030204" pitchFamily="34" charset="0"/>
                <a:sym typeface="+mn-ea"/>
              </a:rPr>
              <a:t>   A be located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a:t>
            </a: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r>
              <a:rPr lang="en-US" altLang="zh-CN" sz="2400" b="1">
                <a:solidFill>
                  <a:schemeClr val="tx1"/>
                </a:solidFill>
                <a:latin typeface="Calibri" panose="020F0502020204030204" pitchFamily="34" charset="0"/>
                <a:cs typeface="Calibri" panose="020F0502020204030204" pitchFamily="34" charset="0"/>
                <a:sym typeface="+mn-ea"/>
              </a:rPr>
              <a:t>                   A be situated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a:t>
            </a: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r>
              <a:rPr lang="en-US" altLang="zh-CN" sz="2400" b="1">
                <a:solidFill>
                  <a:schemeClr val="tx1"/>
                </a:solidFill>
                <a:latin typeface="Calibri" panose="020F0502020204030204" pitchFamily="34" charset="0"/>
                <a:cs typeface="Calibri" panose="020F0502020204030204" pitchFamily="34" charset="0"/>
                <a:sym typeface="+mn-ea"/>
              </a:rPr>
              <a:t>                   A lie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 </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sz="2400" b="1" u="sng">
                <a:solidFill>
                  <a:srgbClr val="FF0000"/>
                </a:solidFill>
                <a:latin typeface="Calibri" panose="020F0502020204030204" pitchFamily="34" charset="0"/>
                <a:cs typeface="Calibri" panose="020F0502020204030204" pitchFamily="34" charset="0"/>
                <a:sym typeface="+mn-ea"/>
              </a:rPr>
              <a:t>曾经位于村庄南部的</a:t>
            </a:r>
            <a:r>
              <a:rPr sz="2400" b="1">
                <a:solidFill>
                  <a:schemeClr val="tx1"/>
                </a:solidFill>
                <a:latin typeface="Calibri" panose="020F0502020204030204" pitchFamily="34" charset="0"/>
                <a:cs typeface="Calibri" panose="020F0502020204030204" pitchFamily="34" charset="0"/>
                <a:sym typeface="+mn-ea"/>
              </a:rPr>
              <a:t>停车场已经被拆掉了。</a:t>
            </a:r>
            <a:endParaRPr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lang="en-US" altLang="zh-CN" sz="2400" b="1">
                <a:solidFill>
                  <a:schemeClr val="tx1"/>
                </a:solidFill>
                <a:latin typeface="Calibri" panose="020F0502020204030204" pitchFamily="34" charset="0"/>
                <a:cs typeface="Calibri" panose="020F0502020204030204" pitchFamily="34" charset="0"/>
                <a:sym typeface="+mn-ea"/>
              </a:rPr>
              <a:t>The car park </a:t>
            </a:r>
            <a:r>
              <a:rPr lang="en-US" altLang="zh-CN" sz="2400" b="1" u="sng">
                <a:solidFill>
                  <a:srgbClr val="FF0000"/>
                </a:solidFill>
                <a:latin typeface="Calibri" panose="020F0502020204030204" pitchFamily="34" charset="0"/>
                <a:cs typeface="Calibri" panose="020F0502020204030204" pitchFamily="34" charset="0"/>
                <a:sym typeface="+mn-ea"/>
              </a:rPr>
              <a:t>which was located in the south of the village</a:t>
            </a:r>
            <a:r>
              <a:rPr lang="en-US" altLang="zh-CN" sz="2400" b="1">
                <a:solidFill>
                  <a:schemeClr val="tx1"/>
                </a:solidFill>
                <a:latin typeface="Calibri" panose="020F0502020204030204" pitchFamily="34" charset="0"/>
                <a:cs typeface="Calibri" panose="020F0502020204030204" pitchFamily="34" charset="0"/>
                <a:sym typeface="+mn-ea"/>
              </a:rPr>
              <a:t> has been demolished.</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lang="en-US" altLang="zh-CN" sz="2400" b="1">
                <a:solidFill>
                  <a:schemeClr val="tx1"/>
                </a:solidFill>
                <a:latin typeface="Calibri" panose="020F0502020204030204" pitchFamily="34" charset="0"/>
                <a:cs typeface="Calibri" panose="020F0502020204030204" pitchFamily="34" charset="0"/>
                <a:sym typeface="+mn-ea"/>
              </a:rPr>
              <a:t>The car park </a:t>
            </a:r>
            <a:r>
              <a:rPr lang="en-US" altLang="zh-CN" sz="2400" b="1" u="sng">
                <a:solidFill>
                  <a:srgbClr val="FF0000"/>
                </a:solidFill>
                <a:latin typeface="Calibri" panose="020F0502020204030204" pitchFamily="34" charset="0"/>
                <a:cs typeface="Calibri" panose="020F0502020204030204" pitchFamily="34" charset="0"/>
                <a:sym typeface="+mn-ea"/>
              </a:rPr>
              <a:t> located in the south of the village</a:t>
            </a:r>
            <a:r>
              <a:rPr lang="en-US" altLang="zh-CN" sz="2400" b="1">
                <a:solidFill>
                  <a:schemeClr val="tx1"/>
                </a:solidFill>
                <a:latin typeface="Calibri" panose="020F0502020204030204" pitchFamily="34" charset="0"/>
                <a:cs typeface="Calibri" panose="020F0502020204030204" pitchFamily="34" charset="0"/>
                <a:sym typeface="+mn-ea"/>
              </a:rPr>
              <a:t> has been demolished.</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②位于</a:t>
            </a:r>
            <a:r>
              <a:rPr lang="en-US" altLang="zh-CN" sz="2400" b="1">
                <a:solidFill>
                  <a:schemeClr val="tx1"/>
                </a:solidFill>
                <a:latin typeface="Calibri" panose="020F0502020204030204" pitchFamily="34" charset="0"/>
                <a:cs typeface="Calibri" panose="020F0502020204030204" pitchFamily="34" charset="0"/>
                <a:sym typeface="+mn-ea"/>
              </a:rPr>
              <a:t>   A be located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a:t>
            </a: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r>
              <a:rPr lang="en-US" altLang="zh-CN" sz="2400" b="1">
                <a:solidFill>
                  <a:schemeClr val="tx1"/>
                </a:solidFill>
                <a:latin typeface="Calibri" panose="020F0502020204030204" pitchFamily="34" charset="0"/>
                <a:cs typeface="Calibri" panose="020F0502020204030204" pitchFamily="34" charset="0"/>
                <a:sym typeface="+mn-ea"/>
              </a:rPr>
              <a:t>                   A be situated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a:t>
            </a: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r>
              <a:rPr lang="en-US" altLang="zh-CN" sz="2400" b="1">
                <a:solidFill>
                  <a:schemeClr val="tx1"/>
                </a:solidFill>
                <a:latin typeface="Calibri" panose="020F0502020204030204" pitchFamily="34" charset="0"/>
                <a:cs typeface="Calibri" panose="020F0502020204030204" pitchFamily="34" charset="0"/>
                <a:sym typeface="+mn-ea"/>
              </a:rPr>
              <a:t>                   A lie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 </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sz="2400" b="1" u="sng">
                <a:solidFill>
                  <a:srgbClr val="FF0000"/>
                </a:solidFill>
                <a:latin typeface="Calibri" panose="020F0502020204030204" pitchFamily="34" charset="0"/>
                <a:cs typeface="Calibri" panose="020F0502020204030204" pitchFamily="34" charset="0"/>
                <a:sym typeface="+mn-ea"/>
              </a:rPr>
              <a:t>曾经位于村庄南部的</a:t>
            </a:r>
            <a:r>
              <a:rPr sz="2400" b="1">
                <a:solidFill>
                  <a:schemeClr val="tx1"/>
                </a:solidFill>
                <a:latin typeface="Calibri" panose="020F0502020204030204" pitchFamily="34" charset="0"/>
                <a:cs typeface="Calibri" panose="020F0502020204030204" pitchFamily="34" charset="0"/>
                <a:sym typeface="+mn-ea"/>
              </a:rPr>
              <a:t>停车场已经被拆掉了。</a:t>
            </a:r>
            <a:endParaRPr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lang="en-US" altLang="zh-CN" sz="2400" b="1">
                <a:solidFill>
                  <a:schemeClr val="tx1"/>
                </a:solidFill>
                <a:latin typeface="Calibri" panose="020F0502020204030204" pitchFamily="34" charset="0"/>
                <a:cs typeface="Calibri" panose="020F0502020204030204" pitchFamily="34" charset="0"/>
                <a:sym typeface="+mn-ea"/>
              </a:rPr>
              <a:t>The car park </a:t>
            </a:r>
            <a:r>
              <a:rPr lang="en-US" altLang="zh-CN" sz="2400" b="1" u="sng">
                <a:solidFill>
                  <a:srgbClr val="FF0000"/>
                </a:solidFill>
                <a:latin typeface="Calibri" panose="020F0502020204030204" pitchFamily="34" charset="0"/>
                <a:cs typeface="Calibri" panose="020F0502020204030204" pitchFamily="34" charset="0"/>
                <a:sym typeface="+mn-ea"/>
              </a:rPr>
              <a:t>which lay in the south of the village </a:t>
            </a:r>
            <a:r>
              <a:rPr lang="en-US" altLang="zh-CN" sz="2400" b="1">
                <a:solidFill>
                  <a:schemeClr val="tx1"/>
                </a:solidFill>
                <a:latin typeface="Calibri" panose="020F0502020204030204" pitchFamily="34" charset="0"/>
                <a:cs typeface="Calibri" panose="020F0502020204030204" pitchFamily="34" charset="0"/>
                <a:sym typeface="+mn-ea"/>
              </a:rPr>
              <a:t>has been demolished.</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lang="en-US" altLang="zh-CN" sz="2400" b="1">
                <a:solidFill>
                  <a:schemeClr val="tx1"/>
                </a:solidFill>
                <a:latin typeface="Calibri" panose="020F0502020204030204" pitchFamily="34" charset="0"/>
                <a:cs typeface="Calibri" panose="020F0502020204030204" pitchFamily="34" charset="0"/>
                <a:sym typeface="+mn-ea"/>
              </a:rPr>
              <a:t>The car park </a:t>
            </a:r>
            <a:r>
              <a:rPr lang="en-US" altLang="zh-CN" sz="2400" b="1" u="sng">
                <a:solidFill>
                  <a:srgbClr val="FF0000"/>
                </a:solidFill>
                <a:latin typeface="Calibri" panose="020F0502020204030204" pitchFamily="34" charset="0"/>
                <a:cs typeface="Calibri" panose="020F0502020204030204" pitchFamily="34" charset="0"/>
                <a:sym typeface="+mn-ea"/>
              </a:rPr>
              <a:t>lying in the south of the village</a:t>
            </a:r>
            <a:r>
              <a:rPr lang="en-US" altLang="zh-CN" sz="2400" b="1">
                <a:solidFill>
                  <a:schemeClr val="tx1"/>
                </a:solidFill>
                <a:latin typeface="Calibri" panose="020F0502020204030204" pitchFamily="34" charset="0"/>
                <a:cs typeface="Calibri" panose="020F0502020204030204" pitchFamily="34" charset="0"/>
                <a:sym typeface="+mn-ea"/>
              </a:rPr>
              <a:t> has been demolished.</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②位于</a:t>
            </a:r>
            <a:r>
              <a:rPr lang="en-US" altLang="zh-CN" sz="2400" b="1">
                <a:solidFill>
                  <a:schemeClr val="tx1"/>
                </a:solidFill>
                <a:latin typeface="Calibri" panose="020F0502020204030204" pitchFamily="34" charset="0"/>
                <a:cs typeface="Calibri" panose="020F0502020204030204" pitchFamily="34" charset="0"/>
                <a:sym typeface="+mn-ea"/>
              </a:rPr>
              <a:t>   A be located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a:t>
            </a: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r>
              <a:rPr lang="en-US" altLang="zh-CN" sz="2400" b="1">
                <a:solidFill>
                  <a:schemeClr val="tx1"/>
                </a:solidFill>
                <a:latin typeface="Calibri" panose="020F0502020204030204" pitchFamily="34" charset="0"/>
                <a:cs typeface="Calibri" panose="020F0502020204030204" pitchFamily="34" charset="0"/>
                <a:sym typeface="+mn-ea"/>
              </a:rPr>
              <a:t>                   A be situated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a:t>
            </a: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r>
              <a:rPr lang="en-US" altLang="zh-CN" sz="2400" b="1">
                <a:solidFill>
                  <a:schemeClr val="tx1"/>
                </a:solidFill>
                <a:latin typeface="Calibri" panose="020F0502020204030204" pitchFamily="34" charset="0"/>
                <a:cs typeface="Calibri" panose="020F0502020204030204" pitchFamily="34" charset="0"/>
                <a:sym typeface="+mn-ea"/>
              </a:rPr>
              <a:t>                   A lie </a:t>
            </a:r>
            <a:r>
              <a:rPr lang="en-US" altLang="zh-CN" sz="2400" b="1" u="sng">
                <a:solidFill>
                  <a:srgbClr val="FF0000"/>
                </a:solidFill>
                <a:latin typeface="Calibri" panose="020F0502020204030204" pitchFamily="34" charset="0"/>
                <a:cs typeface="Calibri" panose="020F0502020204030204" pitchFamily="34" charset="0"/>
                <a:sym typeface="+mn-ea"/>
              </a:rPr>
              <a:t>in/on/to</a:t>
            </a:r>
            <a:r>
              <a:rPr lang="en-US" altLang="zh-CN" sz="2400" b="1">
                <a:solidFill>
                  <a:schemeClr val="tx1"/>
                </a:solidFill>
                <a:latin typeface="Calibri" panose="020F0502020204030204" pitchFamily="34" charset="0"/>
                <a:cs typeface="Calibri" panose="020F0502020204030204" pitchFamily="34" charset="0"/>
                <a:sym typeface="+mn-ea"/>
              </a:rPr>
              <a:t> the south of B. </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sz="2400" b="1" u="sng">
                <a:solidFill>
                  <a:srgbClr val="FF0000"/>
                </a:solidFill>
                <a:latin typeface="Calibri" panose="020F0502020204030204" pitchFamily="34" charset="0"/>
                <a:cs typeface="Calibri" panose="020F0502020204030204" pitchFamily="34" charset="0"/>
                <a:sym typeface="+mn-ea"/>
              </a:rPr>
              <a:t>位于城市中心的</a:t>
            </a:r>
            <a:r>
              <a:rPr sz="2400" b="1">
                <a:solidFill>
                  <a:schemeClr val="tx1"/>
                </a:solidFill>
                <a:latin typeface="Calibri" panose="020F0502020204030204" pitchFamily="34" charset="0"/>
                <a:cs typeface="Calibri" panose="020F0502020204030204" pitchFamily="34" charset="0"/>
                <a:sym typeface="+mn-ea"/>
              </a:rPr>
              <a:t>超市已经被大大地扩建了。</a:t>
            </a:r>
            <a:endParaRPr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lang="en-US" altLang="zh-CN" sz="2400" b="1">
                <a:solidFill>
                  <a:schemeClr val="tx1"/>
                </a:solidFill>
                <a:latin typeface="Calibri" panose="020F0502020204030204" pitchFamily="34" charset="0"/>
                <a:cs typeface="Calibri" panose="020F0502020204030204" pitchFamily="34" charset="0"/>
                <a:sym typeface="+mn-ea"/>
              </a:rPr>
              <a:t>The supermarket </a:t>
            </a:r>
            <a:r>
              <a:rPr lang="en-US" altLang="zh-CN" sz="2400" b="1" u="sng">
                <a:solidFill>
                  <a:srgbClr val="FF0000"/>
                </a:solidFill>
                <a:latin typeface="Calibri" panose="020F0502020204030204" pitchFamily="34" charset="0"/>
                <a:cs typeface="Calibri" panose="020F0502020204030204" pitchFamily="34" charset="0"/>
                <a:sym typeface="+mn-ea"/>
              </a:rPr>
              <a:t>located in the city center</a:t>
            </a:r>
            <a:r>
              <a:rPr lang="en-US" altLang="zh-CN" sz="2400" b="1">
                <a:solidFill>
                  <a:schemeClr val="tx1"/>
                </a:solidFill>
                <a:latin typeface="Calibri" panose="020F0502020204030204" pitchFamily="34" charset="0"/>
                <a:cs typeface="Calibri" panose="020F0502020204030204" pitchFamily="34" charset="0"/>
                <a:sym typeface="+mn-ea"/>
              </a:rPr>
              <a:t> </a:t>
            </a:r>
            <a:r>
              <a:rPr lang="en-US" altLang="zh-CN" sz="2400" b="1">
                <a:solidFill>
                  <a:schemeClr val="tx1"/>
                </a:solidFill>
                <a:highlight>
                  <a:srgbClr val="FFFF00"/>
                </a:highlight>
                <a:latin typeface="Calibri" panose="020F0502020204030204" pitchFamily="34" charset="0"/>
                <a:cs typeface="Calibri" panose="020F0502020204030204" pitchFamily="34" charset="0"/>
                <a:sym typeface="+mn-ea"/>
              </a:rPr>
              <a:t>has been expanded dramatically</a:t>
            </a:r>
            <a:r>
              <a:rPr lang="en-US" altLang="zh-CN" sz="2400" b="1">
                <a:solidFill>
                  <a:schemeClr val="tx1"/>
                </a:solidFill>
                <a:latin typeface="Calibri" panose="020F0502020204030204" pitchFamily="34" charset="0"/>
                <a:cs typeface="Calibri" panose="020F0502020204030204" pitchFamily="34" charset="0"/>
                <a:sym typeface="+mn-ea"/>
              </a:rPr>
              <a:t>.</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lang="en-US" altLang="zh-CN" sz="2400" b="1">
                <a:solidFill>
                  <a:schemeClr val="tx1"/>
                </a:solidFill>
                <a:latin typeface="Calibri" panose="020F0502020204030204" pitchFamily="34" charset="0"/>
                <a:cs typeface="Calibri" panose="020F0502020204030204" pitchFamily="34" charset="0"/>
                <a:sym typeface="+mn-ea"/>
              </a:rPr>
              <a:t>I </a:t>
            </a:r>
            <a:r>
              <a:rPr lang="en-US" altLang="zh-CN" sz="2400" b="1">
                <a:solidFill>
                  <a:schemeClr val="tx1"/>
                </a:solidFill>
                <a:highlight>
                  <a:srgbClr val="FFFF00"/>
                </a:highlight>
                <a:latin typeface="Calibri" panose="020F0502020204030204" pitchFamily="34" charset="0"/>
                <a:cs typeface="Calibri" panose="020F0502020204030204" pitchFamily="34" charset="0"/>
                <a:sym typeface="+mn-ea"/>
              </a:rPr>
              <a:t>am educated</a:t>
            </a:r>
            <a:r>
              <a:rPr lang="en-US" altLang="zh-CN" sz="2400" b="1">
                <a:solidFill>
                  <a:schemeClr val="tx1"/>
                </a:solidFill>
                <a:latin typeface="Calibri" panose="020F0502020204030204" pitchFamily="34" charset="0"/>
                <a:cs typeface="Calibri" panose="020F0502020204030204" pitchFamily="34" charset="0"/>
                <a:sym typeface="+mn-ea"/>
              </a:rPr>
              <a:t> in China.</a:t>
            </a:r>
            <a:endParaRPr lang="en-US" altLang="zh-CN" sz="2400" b="1">
              <a:solidFill>
                <a:schemeClr val="tx1"/>
              </a:solidFill>
              <a:latin typeface="Calibri" panose="020F0502020204030204" pitchFamily="34" charset="0"/>
              <a:cs typeface="Calibri" panose="020F0502020204030204" pitchFamily="34" charset="0"/>
              <a:sym typeface="+mn-ea"/>
            </a:endParaRPr>
          </a:p>
          <a:p>
            <a:pPr>
              <a:buFont typeface="Arial" panose="020B0604020202020204" pitchFamily="34" charset="0"/>
              <a:buChar char="•"/>
            </a:pPr>
            <a:r>
              <a:rPr lang="en-US" altLang="zh-CN" sz="2400" b="1">
                <a:solidFill>
                  <a:schemeClr val="tx1"/>
                </a:solidFill>
                <a:latin typeface="Calibri" panose="020F0502020204030204" pitchFamily="34" charset="0"/>
                <a:cs typeface="Calibri" panose="020F0502020204030204" pitchFamily="34" charset="0"/>
                <a:sym typeface="+mn-ea"/>
              </a:rPr>
              <a:t>The supermarket</a:t>
            </a:r>
            <a:r>
              <a:rPr lang="en-US" altLang="zh-CN" sz="2400" b="1" u="sng">
                <a:solidFill>
                  <a:srgbClr val="FF0000"/>
                </a:solidFill>
                <a:latin typeface="Calibri" panose="020F0502020204030204" pitchFamily="34" charset="0"/>
                <a:cs typeface="Calibri" panose="020F0502020204030204" pitchFamily="34" charset="0"/>
                <a:sym typeface="+mn-ea"/>
              </a:rPr>
              <a:t> lying in  the city center</a:t>
            </a:r>
            <a:r>
              <a:rPr lang="en-US" altLang="zh-CN" sz="2400" b="1">
                <a:solidFill>
                  <a:schemeClr val="tx1"/>
                </a:solidFill>
                <a:latin typeface="Calibri" panose="020F0502020204030204" pitchFamily="34" charset="0"/>
                <a:cs typeface="Calibri" panose="020F0502020204030204" pitchFamily="34" charset="0"/>
                <a:sym typeface="+mn-ea"/>
              </a:rPr>
              <a:t> has been expanded dramatically.</a:t>
            </a:r>
            <a:endParaRPr lang="en-US" altLang="zh-CN" sz="2400" b="1">
              <a:solidFill>
                <a:schemeClr val="tx1"/>
              </a:solidFill>
              <a:latin typeface="Calibri" panose="020F0502020204030204" pitchFamily="34" charset="0"/>
              <a:cs typeface="Calibri" panose="020F0502020204030204" pitchFamily="34" charset="0"/>
              <a:sym typeface="+mn-ea"/>
            </a:endParaRPr>
          </a:p>
          <a:p>
            <a:pPr marL="0" indent="0">
              <a:buNone/>
            </a:pPr>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③并列句表示转折</a:t>
            </a:r>
            <a:r>
              <a:rPr lang="en-US" altLang="zh-CN" sz="2400" b="1">
                <a:solidFill>
                  <a:schemeClr val="tx1"/>
                </a:solidFill>
                <a:latin typeface="Calibri" panose="020F0502020204030204" pitchFamily="34" charset="0"/>
                <a:cs typeface="Calibri" panose="020F0502020204030204" pitchFamily="34" charset="0"/>
                <a:sym typeface="+mn-ea"/>
              </a:rPr>
              <a:t>  </a:t>
            </a:r>
            <a:r>
              <a:rPr lang="en-US" altLang="zh-CN" sz="2400" b="1">
                <a:solidFill>
                  <a:schemeClr val="tx1"/>
                </a:solidFill>
                <a:latin typeface="Calibri" panose="020F0502020204030204" pitchFamily="34" charset="0"/>
                <a:cs typeface="Calibri" panose="020F0502020204030204" pitchFamily="34" charset="0"/>
                <a:sym typeface="+mn-ea"/>
              </a:rPr>
              <a:t>while/whereas</a:t>
            </a:r>
            <a:endParaRPr lang="en-US" altLang="zh-CN"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There used to be a car park in the south, </a:t>
            </a:r>
            <a:r>
              <a:rPr lang="en-US" altLang="zh-CN" sz="2400" b="1">
                <a:solidFill>
                  <a:schemeClr val="tx1"/>
                </a:solidFill>
                <a:highlight>
                  <a:srgbClr val="FFFF00"/>
                </a:highlight>
                <a:latin typeface="Calibri" panose="020F0502020204030204" pitchFamily="34" charset="0"/>
                <a:cs typeface="Calibri" panose="020F0502020204030204" pitchFamily="34" charset="0"/>
                <a:sym typeface="+mn-ea"/>
              </a:rPr>
              <a:t>while</a:t>
            </a:r>
            <a:r>
              <a:rPr lang="en-US" altLang="zh-CN" sz="2400" b="1">
                <a:solidFill>
                  <a:schemeClr val="tx1"/>
                </a:solidFill>
                <a:latin typeface="Calibri" panose="020F0502020204030204" pitchFamily="34" charset="0"/>
                <a:cs typeface="Calibri" panose="020F0502020204030204" pitchFamily="34" charset="0"/>
                <a:sym typeface="+mn-ea"/>
              </a:rPr>
              <a:t> now it has been demolished.</a:t>
            </a:r>
            <a:endParaRPr lang="en-US" altLang="zh-CN"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There </a:t>
            </a:r>
            <a:r>
              <a:rPr lang="en-US" altLang="zh-CN" sz="2400" b="1" u="sng">
                <a:solidFill>
                  <a:srgbClr val="FF0000"/>
                </a:solidFill>
                <a:latin typeface="Calibri" panose="020F0502020204030204" pitchFamily="34" charset="0"/>
                <a:cs typeface="Calibri" panose="020F0502020204030204" pitchFamily="34" charset="0"/>
                <a:sym typeface="+mn-ea"/>
              </a:rPr>
              <a:t>has been</a:t>
            </a:r>
            <a:r>
              <a:rPr lang="en-US" altLang="zh-CN" sz="2400" b="1">
                <a:solidFill>
                  <a:schemeClr val="tx1"/>
                </a:solidFill>
                <a:latin typeface="Calibri" panose="020F0502020204030204" pitchFamily="34" charset="0"/>
                <a:cs typeface="Calibri" panose="020F0502020204030204" pitchFamily="34" charset="0"/>
                <a:sym typeface="+mn-ea"/>
              </a:rPr>
              <a:t> a new car park in the south, while the previous hotel was demolished.</a:t>
            </a:r>
            <a:endParaRPr lang="en-US" altLang="zh-CN"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Many new facilities have been added in this park, </a:t>
            </a:r>
            <a:r>
              <a:rPr lang="en-US" altLang="zh-CN" sz="2400" b="1">
                <a:solidFill>
                  <a:schemeClr val="tx1"/>
                </a:solidFill>
                <a:highlight>
                  <a:srgbClr val="FFFF00"/>
                </a:highlight>
                <a:latin typeface="Calibri" panose="020F0502020204030204" pitchFamily="34" charset="0"/>
                <a:cs typeface="Calibri" panose="020F0502020204030204" pitchFamily="34" charset="0"/>
                <a:sym typeface="+mn-ea"/>
              </a:rPr>
              <a:t>while </a:t>
            </a:r>
            <a:r>
              <a:rPr lang="en-US" altLang="zh-CN" sz="2400" b="1">
                <a:solidFill>
                  <a:schemeClr val="tx1"/>
                </a:solidFill>
                <a:latin typeface="Calibri" panose="020F0502020204030204" pitchFamily="34" charset="0"/>
                <a:cs typeface="Calibri" panose="020F0502020204030204" pitchFamily="34" charset="0"/>
                <a:sym typeface="+mn-ea"/>
              </a:rPr>
              <a:t>the green landscapes have been decreased.</a:t>
            </a:r>
            <a:endParaRPr lang="en-US" altLang="zh-CN" sz="2400" b="1">
              <a:solidFill>
                <a:schemeClr val="tx1"/>
              </a:solidFill>
              <a:latin typeface="Calibri" panose="020F0502020204030204" pitchFamily="34" charset="0"/>
              <a:cs typeface="Calibri" panose="020F0502020204030204" pitchFamily="34" charset="0"/>
              <a:sym typeface="+mn-ea"/>
            </a:endParaRPr>
          </a:p>
          <a:p>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④</a:t>
            </a:r>
            <a:r>
              <a:rPr lang="en-US" altLang="zh-CN" sz="2400" b="1">
                <a:solidFill>
                  <a:schemeClr val="tx1"/>
                </a:solidFill>
                <a:latin typeface="Calibri" panose="020F0502020204030204" pitchFamily="34" charset="0"/>
                <a:cs typeface="Calibri" panose="020F0502020204030204" pitchFamily="34" charset="0"/>
                <a:sym typeface="+mn-ea"/>
              </a:rPr>
              <a:t>  With+n+doing/</a:t>
            </a:r>
            <a:r>
              <a:rPr lang="en-US" altLang="zh-CN" sz="2400" b="1" u="sng">
                <a:solidFill>
                  <a:srgbClr val="FF0000"/>
                </a:solidFill>
                <a:latin typeface="Calibri" panose="020F0502020204030204" pitchFamily="34" charset="0"/>
                <a:cs typeface="Calibri" panose="020F0502020204030204" pitchFamily="34" charset="0"/>
                <a:sym typeface="+mn-ea"/>
              </a:rPr>
              <a:t>done</a:t>
            </a:r>
            <a:endParaRPr lang="en-US" altLang="zh-CN"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Many changes have taken place in the south, </a:t>
            </a:r>
            <a:r>
              <a:rPr lang="en-US" altLang="zh-CN" sz="2400" b="1" u="sng">
                <a:solidFill>
                  <a:srgbClr val="FF0000"/>
                </a:solidFill>
                <a:latin typeface="Calibri" panose="020F0502020204030204" pitchFamily="34" charset="0"/>
                <a:cs typeface="Calibri" panose="020F0502020204030204" pitchFamily="34" charset="0"/>
                <a:sym typeface="+mn-ea"/>
              </a:rPr>
              <a:t>with a new car park built next to the hotel</a:t>
            </a:r>
            <a:r>
              <a:rPr lang="en-US" altLang="zh-CN" sz="2400" b="1">
                <a:solidFill>
                  <a:schemeClr val="tx1"/>
                </a:solidFill>
                <a:latin typeface="Calibri" panose="020F0502020204030204" pitchFamily="34" charset="0"/>
                <a:cs typeface="Calibri" panose="020F0502020204030204" pitchFamily="34" charset="0"/>
                <a:sym typeface="+mn-ea"/>
              </a:rPr>
              <a:t>.</a:t>
            </a:r>
            <a:endParaRPr lang="en-US" altLang="zh-CN"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The housing area has been expanded dramatically, </a:t>
            </a:r>
            <a:r>
              <a:rPr lang="en-US" altLang="zh-CN" sz="2400" b="1" u="sng">
                <a:solidFill>
                  <a:srgbClr val="FF0000"/>
                </a:solidFill>
                <a:latin typeface="Calibri" panose="020F0502020204030204" pitchFamily="34" charset="0"/>
                <a:cs typeface="Calibri" panose="020F0502020204030204" pitchFamily="34" charset="0"/>
                <a:sym typeface="+mn-ea"/>
              </a:rPr>
              <a:t>with two branches of roads added there</a:t>
            </a:r>
            <a:r>
              <a:rPr lang="en-US" altLang="zh-CN" sz="2400" b="1">
                <a:solidFill>
                  <a:schemeClr val="tx1"/>
                </a:solidFill>
                <a:latin typeface="Calibri" panose="020F0502020204030204" pitchFamily="34" charset="0"/>
                <a:cs typeface="Calibri" panose="020F0502020204030204" pitchFamily="34" charset="0"/>
                <a:sym typeface="+mn-ea"/>
              </a:rPr>
              <a:t>.</a:t>
            </a:r>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⑤</a:t>
            </a:r>
            <a:r>
              <a:rPr lang="en-US" altLang="zh-CN" sz="2400" b="1">
                <a:solidFill>
                  <a:schemeClr val="tx1"/>
                </a:solidFill>
                <a:latin typeface="Calibri" panose="020F0502020204030204" pitchFamily="34" charset="0"/>
                <a:cs typeface="Calibri" panose="020F0502020204030204" pitchFamily="34" charset="0"/>
                <a:sym typeface="+mn-ea"/>
              </a:rPr>
              <a:t> XXXXX</a:t>
            </a:r>
            <a:r>
              <a:rPr sz="2400" b="1">
                <a:solidFill>
                  <a:schemeClr val="tx1"/>
                </a:solidFill>
                <a:latin typeface="Calibri" panose="020F0502020204030204" pitchFamily="34" charset="0"/>
                <a:cs typeface="Calibri" panose="020F0502020204030204" pitchFamily="34" charset="0"/>
                <a:sym typeface="+mn-ea"/>
              </a:rPr>
              <a:t>，</a:t>
            </a:r>
            <a:r>
              <a:rPr lang="en-US" altLang="zh-CN" sz="2400" b="1">
                <a:solidFill>
                  <a:schemeClr val="tx1"/>
                </a:solidFill>
                <a:latin typeface="Calibri" panose="020F0502020204030204" pitchFamily="34" charset="0"/>
                <a:cs typeface="Calibri" panose="020F0502020204030204" pitchFamily="34" charset="0"/>
                <a:sym typeface="+mn-ea"/>
              </a:rPr>
              <a:t>to the east of which XXXX</a:t>
            </a:r>
            <a:endParaRPr lang="en-US" altLang="zh-CN"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I  have </a:t>
            </a:r>
            <a:r>
              <a:rPr lang="en-US" altLang="zh-CN" sz="2400" b="1" u="sng">
                <a:solidFill>
                  <a:srgbClr val="FF0000"/>
                </a:solidFill>
                <a:latin typeface="Calibri" panose="020F0502020204030204" pitchFamily="34" charset="0"/>
                <a:cs typeface="Calibri" panose="020F0502020204030204" pitchFamily="34" charset="0"/>
                <a:sym typeface="+mn-ea"/>
              </a:rPr>
              <a:t>a house</a:t>
            </a:r>
            <a:r>
              <a:rPr lang="en-US" altLang="zh-CN" sz="2400" b="1">
                <a:solidFill>
                  <a:schemeClr val="tx1"/>
                </a:solidFill>
                <a:latin typeface="Calibri" panose="020F0502020204030204" pitchFamily="34" charset="0"/>
                <a:cs typeface="Calibri" panose="020F0502020204030204" pitchFamily="34" charset="0"/>
                <a:sym typeface="+mn-ea"/>
              </a:rPr>
              <a:t>,</a:t>
            </a:r>
            <a:r>
              <a:rPr lang="en-US" altLang="zh-CN" sz="2400" b="1">
                <a:solidFill>
                  <a:schemeClr val="tx1"/>
                </a:solidFill>
                <a:highlight>
                  <a:srgbClr val="FFFF00"/>
                </a:highlight>
                <a:latin typeface="Calibri" panose="020F0502020204030204" pitchFamily="34" charset="0"/>
                <a:cs typeface="Calibri" panose="020F0502020204030204" pitchFamily="34" charset="0"/>
                <a:sym typeface="+mn-ea"/>
              </a:rPr>
              <a:t> to the south of </a:t>
            </a:r>
            <a:r>
              <a:rPr lang="en-US" altLang="zh-CN" sz="2400" b="1" u="sng">
                <a:solidFill>
                  <a:srgbClr val="FF0000"/>
                </a:solidFill>
                <a:highlight>
                  <a:srgbClr val="FFFF00"/>
                </a:highlight>
                <a:latin typeface="Calibri" panose="020F0502020204030204" pitchFamily="34" charset="0"/>
                <a:cs typeface="Calibri" panose="020F0502020204030204" pitchFamily="34" charset="0"/>
                <a:sym typeface="+mn-ea"/>
              </a:rPr>
              <a:t>which</a:t>
            </a:r>
            <a:r>
              <a:rPr lang="en-US" altLang="zh-CN" sz="2400" b="1">
                <a:solidFill>
                  <a:schemeClr val="tx1"/>
                </a:solidFill>
                <a:latin typeface="Calibri" panose="020F0502020204030204" pitchFamily="34" charset="0"/>
                <a:cs typeface="Calibri" panose="020F0502020204030204" pitchFamily="34" charset="0"/>
                <a:sym typeface="+mn-ea"/>
              </a:rPr>
              <a:t> there is a supermarket.</a:t>
            </a:r>
            <a:endParaRPr lang="en-US" altLang="zh-CN" sz="2400" b="1">
              <a:solidFill>
                <a:schemeClr val="tx1"/>
              </a:solidFill>
              <a:latin typeface="Calibri" panose="020F0502020204030204" pitchFamily="34" charset="0"/>
              <a:cs typeface="Calibri" panose="020F0502020204030204" pitchFamily="34" charset="0"/>
              <a:sym typeface="+mn-ea"/>
            </a:endParaRPr>
          </a:p>
          <a:p>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⑥</a:t>
            </a:r>
            <a:r>
              <a:rPr lang="en-US" altLang="zh-CN" sz="2400" b="1">
                <a:solidFill>
                  <a:schemeClr val="tx1"/>
                </a:solidFill>
                <a:latin typeface="Calibri" panose="020F0502020204030204" pitchFamily="34" charset="0"/>
                <a:cs typeface="Calibri" panose="020F0502020204030204" pitchFamily="34" charset="0"/>
                <a:sym typeface="+mn-ea"/>
              </a:rPr>
              <a:t> There is  a C now where D once stood. (C </a:t>
            </a:r>
            <a:r>
              <a:rPr sz="2400" b="1">
                <a:solidFill>
                  <a:schemeClr val="tx1"/>
                </a:solidFill>
                <a:latin typeface="Calibri" panose="020F0502020204030204" pitchFamily="34" charset="0"/>
                <a:cs typeface="Calibri" panose="020F0502020204030204" pitchFamily="34" charset="0"/>
                <a:sym typeface="+mn-ea"/>
              </a:rPr>
              <a:t>替代了</a:t>
            </a:r>
            <a:r>
              <a:rPr lang="en-US" altLang="zh-CN" sz="2400" b="1">
                <a:solidFill>
                  <a:schemeClr val="tx1"/>
                </a:solidFill>
                <a:latin typeface="Calibri" panose="020F0502020204030204" pitchFamily="34" charset="0"/>
                <a:cs typeface="Calibri" panose="020F0502020204030204" pitchFamily="34" charset="0"/>
                <a:sym typeface="+mn-ea"/>
              </a:rPr>
              <a:t>D)</a:t>
            </a:r>
            <a:endParaRPr lang="en-US" altLang="zh-CN"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There is a C now where D used to be.</a:t>
            </a:r>
            <a:endParaRPr lang="en-US" altLang="zh-CN"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There is a C now where D previously was.</a:t>
            </a:r>
            <a:endParaRPr lang="en-US" altLang="zh-CN" sz="2400" b="1">
              <a:solidFill>
                <a:schemeClr val="tx1"/>
              </a:solidFill>
              <a:latin typeface="Calibri" panose="020F0502020204030204" pitchFamily="34" charset="0"/>
              <a:cs typeface="Calibri" panose="020F0502020204030204" pitchFamily="34" charset="0"/>
              <a:sym typeface="+mn-ea"/>
            </a:endParaRPr>
          </a:p>
          <a:p>
            <a:r>
              <a:rPr sz="2400" b="1">
                <a:solidFill>
                  <a:schemeClr val="tx1"/>
                </a:solidFill>
                <a:latin typeface="Calibri" panose="020F0502020204030204" pitchFamily="34" charset="0"/>
                <a:cs typeface="Calibri" panose="020F0502020204030204" pitchFamily="34" charset="0"/>
                <a:sym typeface="+mn-ea"/>
              </a:rPr>
              <a:t>曾经是停车场，现在是餐馆在城市南部。</a:t>
            </a:r>
            <a:endParaRPr sz="2400" b="1">
              <a:solidFill>
                <a:schemeClr val="tx1"/>
              </a:solidFill>
              <a:latin typeface="Calibri" panose="020F0502020204030204" pitchFamily="34" charset="0"/>
              <a:cs typeface="Calibri" panose="020F0502020204030204" pitchFamily="34" charset="0"/>
              <a:sym typeface="+mn-ea"/>
            </a:endParaRPr>
          </a:p>
          <a:p>
            <a:r>
              <a:rPr lang="en-US" altLang="zh-CN" sz="2400" b="1">
                <a:solidFill>
                  <a:schemeClr val="tx1"/>
                </a:solidFill>
                <a:latin typeface="Calibri" panose="020F0502020204030204" pitchFamily="34" charset="0"/>
                <a:cs typeface="Calibri" panose="020F0502020204030204" pitchFamily="34" charset="0"/>
                <a:sym typeface="+mn-ea"/>
              </a:rPr>
              <a:t>There is a new restaurant now in the south of the city </a:t>
            </a:r>
            <a:r>
              <a:rPr lang="en-US" altLang="zh-CN" sz="2400" b="1" u="sng">
                <a:solidFill>
                  <a:srgbClr val="FF0000"/>
                </a:solidFill>
                <a:latin typeface="Calibri" panose="020F0502020204030204" pitchFamily="34" charset="0"/>
                <a:cs typeface="Calibri" panose="020F0502020204030204" pitchFamily="34" charset="0"/>
                <a:sym typeface="+mn-ea"/>
              </a:rPr>
              <a:t>where the old car park once stood</a:t>
            </a:r>
            <a:r>
              <a:rPr lang="en-US" altLang="zh-CN" sz="2400" b="1">
                <a:solidFill>
                  <a:schemeClr val="tx1"/>
                </a:solidFill>
                <a:latin typeface="Calibri" panose="020F0502020204030204" pitchFamily="34" charset="0"/>
                <a:cs typeface="Calibri" panose="020F0502020204030204" pitchFamily="34" charset="0"/>
                <a:sym typeface="+mn-ea"/>
              </a:rPr>
              <a:t>.</a:t>
            </a:r>
            <a:endParaRPr lang="en-US" altLang="zh-CN" sz="2400" b="1">
              <a:solidFill>
                <a:schemeClr val="tx1"/>
              </a:solidFill>
              <a:latin typeface="Calibri" panose="020F0502020204030204" pitchFamily="34" charset="0"/>
              <a:cs typeface="Calibri" panose="020F0502020204030204" pitchFamily="34" charset="0"/>
              <a:sym typeface="+mn-ea"/>
            </a:endParaRPr>
          </a:p>
          <a:p>
            <a:r>
              <a:rPr sz="2400" b="1">
                <a:solidFill>
                  <a:schemeClr val="tx1"/>
                </a:solidFill>
                <a:latin typeface="Calibri" panose="020F0502020204030204" pitchFamily="34" charset="0"/>
                <a:cs typeface="Calibri" panose="020F0502020204030204" pitchFamily="34" charset="0"/>
                <a:sym typeface="+mn-ea"/>
              </a:rPr>
              <a:t>曾经是操场，现在是图书馆在学校东北角</a:t>
            </a:r>
            <a:endParaRPr sz="2400" b="1">
              <a:solidFill>
                <a:schemeClr val="tx1"/>
              </a:solidFill>
              <a:latin typeface="Calibri" panose="020F0502020204030204" pitchFamily="34" charset="0"/>
              <a:cs typeface="Calibri" panose="020F0502020204030204" pitchFamily="34" charset="0"/>
              <a:sym typeface="+mn-ea"/>
            </a:endParaRPr>
          </a:p>
          <a:p>
            <a:r>
              <a:rPr lang="en-US" altLang="zh-CN" sz="2400" b="1" u="sng">
                <a:solidFill>
                  <a:srgbClr val="FF0000"/>
                </a:solidFill>
                <a:latin typeface="Calibri" panose="020F0502020204030204" pitchFamily="34" charset="0"/>
                <a:cs typeface="Calibri" panose="020F0502020204030204" pitchFamily="34" charset="0"/>
                <a:sym typeface="+mn-ea"/>
              </a:rPr>
              <a:t>Where the old playground once stood</a:t>
            </a:r>
            <a:r>
              <a:rPr lang="en-US" altLang="zh-CN" sz="2400" b="1">
                <a:solidFill>
                  <a:schemeClr val="tx1"/>
                </a:solidFill>
                <a:latin typeface="Calibri" panose="020F0502020204030204" pitchFamily="34" charset="0"/>
                <a:cs typeface="Calibri" panose="020F0502020204030204" pitchFamily="34" charset="0"/>
                <a:sym typeface="+mn-ea"/>
              </a:rPr>
              <a:t>, there is a new library now in the northeastern corner of the shcool.</a:t>
            </a:r>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⑦无变化的表达</a:t>
            </a:r>
            <a:r>
              <a:rPr sz="2400" b="1">
                <a:solidFill>
                  <a:schemeClr val="tx1"/>
                </a:solidFill>
                <a:latin typeface="Calibri" panose="020F0502020204030204" pitchFamily="34" charset="0"/>
                <a:cs typeface="Calibri" panose="020F0502020204030204" pitchFamily="34" charset="0"/>
                <a:sym typeface="+mn-ea"/>
              </a:rPr>
              <a:t>方式</a:t>
            </a:r>
            <a:endParaRPr sz="2400" b="1">
              <a:solidFill>
                <a:schemeClr val="tx1"/>
              </a:solidFill>
              <a:latin typeface="Calibri" panose="020F0502020204030204" pitchFamily="34" charset="0"/>
              <a:cs typeface="Calibri" panose="020F0502020204030204" pitchFamily="34" charset="0"/>
              <a:sym typeface="+mn-ea"/>
            </a:endParaRPr>
          </a:p>
          <a:p>
            <a:pPr>
              <a:lnSpc>
                <a:spcPct val="120000"/>
              </a:lnSpc>
            </a:pPr>
            <a:r>
              <a:rPr lang="en-US" altLang="zh-CN" sz="2400" b="1">
                <a:solidFill>
                  <a:schemeClr val="tx1"/>
                </a:solidFill>
                <a:latin typeface="Calibri" panose="020F0502020204030204" pitchFamily="34" charset="0"/>
                <a:cs typeface="Calibri" panose="020F0502020204030204" pitchFamily="34" charset="0"/>
                <a:sym typeface="+mn-ea"/>
              </a:rPr>
              <a:t>XX </a:t>
            </a:r>
            <a:r>
              <a:rPr lang="en-US" altLang="zh-CN" sz="2400" b="1">
                <a:solidFill>
                  <a:schemeClr val="tx1"/>
                </a:solidFill>
                <a:latin typeface="Calibri" panose="020F0502020204030204" pitchFamily="34" charset="0"/>
                <a:cs typeface="Calibri" panose="020F0502020204030204" pitchFamily="34" charset="0"/>
                <a:sym typeface="+mn-ea"/>
              </a:rPr>
              <a:t>is the only part that remains unchanged.</a:t>
            </a:r>
            <a:endParaRPr lang="en-US" altLang="zh-CN" sz="2400" b="1">
              <a:solidFill>
                <a:schemeClr val="tx1"/>
              </a:solidFill>
              <a:latin typeface="Calibri" panose="020F0502020204030204" pitchFamily="34" charset="0"/>
              <a:cs typeface="Calibri" panose="020F0502020204030204" pitchFamily="34" charset="0"/>
              <a:sym typeface="+mn-ea"/>
            </a:endParaRPr>
          </a:p>
          <a:p>
            <a:pPr>
              <a:lnSpc>
                <a:spcPct val="120000"/>
              </a:lnSpc>
            </a:pPr>
            <a:r>
              <a:rPr lang="en-US" altLang="zh-CN" sz="2400" b="1">
                <a:solidFill>
                  <a:schemeClr val="tx1"/>
                </a:solidFill>
                <a:latin typeface="Calibri" panose="020F0502020204030204" pitchFamily="34" charset="0"/>
                <a:cs typeface="Calibri" panose="020F0502020204030204" pitchFamily="34" charset="0"/>
                <a:sym typeface="+mn-ea"/>
              </a:rPr>
              <a:t>XX and XX are the two only parts that remain unchanged.</a:t>
            </a:r>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2755" y="574675"/>
            <a:ext cx="7560310" cy="640080"/>
          </a:xfrm>
        </p:spPr>
        <p:txBody>
          <a:bodyPr/>
          <a:p>
            <a:r>
              <a:rPr lang="zh-CN" altLang="en-US" sz="2400">
                <a:solidFill>
                  <a:schemeClr val="tx1"/>
                </a:solidFill>
              </a:rPr>
              <a:t>地图</a:t>
            </a:r>
            <a:r>
              <a:rPr lang="zh-CN" altLang="en-US" sz="2400">
                <a:solidFill>
                  <a:schemeClr val="tx1"/>
                </a:solidFill>
              </a:rPr>
              <a:t>题的常用</a:t>
            </a:r>
            <a:r>
              <a:rPr lang="zh-CN" altLang="en-US" sz="2400">
                <a:solidFill>
                  <a:schemeClr val="tx1"/>
                </a:solidFill>
              </a:rPr>
              <a:t>句型</a:t>
            </a:r>
            <a:endParaRPr lang="zh-CN" altLang="en-US" sz="2400">
              <a:solidFill>
                <a:schemeClr val="tx1"/>
              </a:solidFill>
            </a:endParaRPr>
          </a:p>
        </p:txBody>
      </p:sp>
      <p:sp>
        <p:nvSpPr>
          <p:cNvPr id="3" name="内容占位符 2"/>
          <p:cNvSpPr>
            <a:spLocks noGrp="1"/>
          </p:cNvSpPr>
          <p:nvPr>
            <p:ph idx="1"/>
          </p:nvPr>
        </p:nvSpPr>
        <p:spPr>
          <a:xfrm>
            <a:off x="208915" y="1235075"/>
            <a:ext cx="8716010" cy="3434715"/>
          </a:xfrm>
        </p:spPr>
        <p:txBody>
          <a:bodyPr/>
          <a:p>
            <a:r>
              <a:rPr sz="2400" b="1">
                <a:solidFill>
                  <a:schemeClr val="tx1"/>
                </a:solidFill>
                <a:latin typeface="Calibri" panose="020F0502020204030204" pitchFamily="34" charset="0"/>
                <a:cs typeface="Calibri" panose="020F0502020204030204" pitchFamily="34" charset="0"/>
                <a:sym typeface="+mn-ea"/>
              </a:rPr>
              <a:t>⑦逻辑</a:t>
            </a:r>
            <a:r>
              <a:rPr sz="2400" b="1">
                <a:solidFill>
                  <a:schemeClr val="tx1"/>
                </a:solidFill>
                <a:latin typeface="Calibri" panose="020F0502020204030204" pitchFamily="34" charset="0"/>
                <a:cs typeface="Calibri" panose="020F0502020204030204" pitchFamily="34" charset="0"/>
                <a:sym typeface="+mn-ea"/>
              </a:rPr>
              <a:t>为王</a:t>
            </a:r>
            <a:endParaRPr sz="2400" b="1">
              <a:solidFill>
                <a:schemeClr val="tx1"/>
              </a:solidFill>
              <a:latin typeface="Calibri" panose="020F0502020204030204" pitchFamily="34" charset="0"/>
              <a:cs typeface="Calibri" panose="020F0502020204030204" pitchFamily="34" charset="0"/>
              <a:sym typeface="+mn-ea"/>
            </a:endParaRPr>
          </a:p>
          <a:p>
            <a:pPr>
              <a:lnSpc>
                <a:spcPct val="120000"/>
              </a:lnSpc>
            </a:pPr>
            <a:r>
              <a:rPr lang="en-US" altLang="zh-CN" sz="2400" b="1">
                <a:solidFill>
                  <a:schemeClr val="tx1"/>
                </a:solidFill>
                <a:latin typeface="Calibri" panose="020F0502020204030204" pitchFamily="34" charset="0"/>
                <a:cs typeface="Calibri" panose="020F0502020204030204" pitchFamily="34" charset="0"/>
                <a:sym typeface="+mn-ea"/>
              </a:rPr>
              <a:t>Many changes have taken place in this area. A significant one is that.....; Another important one is that.....</a:t>
            </a:r>
            <a:endParaRPr lang="en-US" altLang="zh-CN" sz="2400" b="1">
              <a:solidFill>
                <a:schemeClr val="tx1"/>
              </a:solidFill>
              <a:latin typeface="Calibri" panose="020F0502020204030204" pitchFamily="34" charset="0"/>
              <a:cs typeface="Calibri" panose="020F0502020204030204" pitchFamily="34" charset="0"/>
              <a:sym typeface="+mn-ea"/>
            </a:endParaRPr>
          </a:p>
          <a:p>
            <a:pPr>
              <a:lnSpc>
                <a:spcPct val="120000"/>
              </a:lnSpc>
            </a:pPr>
            <a:r>
              <a:rPr lang="en-US" altLang="zh-CN" sz="2400" b="1">
                <a:solidFill>
                  <a:schemeClr val="tx1"/>
                </a:solidFill>
                <a:latin typeface="Calibri" panose="020F0502020204030204" pitchFamily="34" charset="0"/>
                <a:cs typeface="Calibri" panose="020F0502020204030204" pitchFamily="34" charset="0"/>
                <a:sym typeface="+mn-ea"/>
              </a:rPr>
              <a:t>Further to the south,.....</a:t>
            </a:r>
            <a:endParaRPr lang="en-US" altLang="zh-CN" sz="2400" b="1">
              <a:solidFill>
                <a:schemeClr val="tx1"/>
              </a:solidFill>
              <a:latin typeface="Calibri" panose="020F0502020204030204" pitchFamily="34" charset="0"/>
              <a:cs typeface="Calibri" panose="020F0502020204030204" pitchFamily="34" charset="0"/>
              <a:sym typeface="+mn-ea"/>
            </a:endParaRPr>
          </a:p>
          <a:p>
            <a:pPr>
              <a:lnSpc>
                <a:spcPct val="120000"/>
              </a:lnSpc>
            </a:pPr>
            <a:endParaRPr lang="en-US" altLang="zh-CN" sz="2400" b="1">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20" descr="src=http___ielts.shanghai.gedu.org_uploads_allimg_130924_1-1309241042542Q.jpg&amp;refer=http___ielts.shanghai.gedu"/>
          <p:cNvPicPr>
            <a:picLocks noChangeAspect="1"/>
          </p:cNvPicPr>
          <p:nvPr>
            <p:ph idx="1"/>
          </p:nvPr>
        </p:nvPicPr>
        <p:blipFill>
          <a:blip r:embed="rId1"/>
          <a:stretch>
            <a:fillRect/>
          </a:stretch>
        </p:blipFill>
        <p:spPr>
          <a:xfrm>
            <a:off x="611505" y="1022985"/>
            <a:ext cx="8126095" cy="4039235"/>
          </a:xfrm>
          <a:prstGeom prst="rect">
            <a:avLst/>
          </a:prstGeom>
        </p:spPr>
      </p:pic>
      <p:sp>
        <p:nvSpPr>
          <p:cNvPr id="2" name="标题 1"/>
          <p:cNvSpPr>
            <a:spLocks noGrp="1"/>
          </p:cNvSpPr>
          <p:nvPr>
            <p:ph type="title"/>
          </p:nvPr>
        </p:nvSpPr>
        <p:spPr>
          <a:xfrm>
            <a:off x="534035" y="483235"/>
            <a:ext cx="5203825" cy="539750"/>
          </a:xfrm>
        </p:spPr>
        <p:txBody>
          <a:bodyPr/>
          <a:p>
            <a:r>
              <a:rPr lang="zh-CN" altLang="en-US" sz="2400" dirty="0">
                <a:solidFill>
                  <a:schemeClr val="tx1"/>
                </a:solidFill>
                <a:sym typeface="+mn-ea"/>
              </a:rPr>
              <a:t>现在完成</a:t>
            </a:r>
            <a:r>
              <a:rPr lang="zh-CN" altLang="en-US" sz="2400" dirty="0" smtClean="0">
                <a:solidFill>
                  <a:schemeClr val="tx1"/>
                </a:solidFill>
                <a:sym typeface="+mn-ea"/>
              </a:rPr>
              <a:t>时（地图）</a:t>
            </a:r>
            <a:endParaRPr lang="zh-CN" altLang="en-US" sz="2400" dirty="0" smtClean="0">
              <a:solidFill>
                <a:schemeClr val="tx1"/>
              </a:solidFill>
              <a:sym typeface="+mn-ea"/>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4925" y="699770"/>
            <a:ext cx="9017000" cy="500380"/>
          </a:xfrm>
        </p:spPr>
        <p:txBody>
          <a:bodyPr/>
          <a:p>
            <a:r>
              <a:rPr lang="zh-CN" altLang="en-US" sz="2400">
                <a:solidFill>
                  <a:schemeClr val="tx1"/>
                </a:solidFill>
              </a:rPr>
              <a:t>过去完成时</a:t>
            </a:r>
            <a:r>
              <a:rPr lang="en-US" altLang="zh-CN" sz="2400">
                <a:solidFill>
                  <a:schemeClr val="tx1"/>
                </a:solidFill>
              </a:rPr>
              <a:t>--</a:t>
            </a:r>
            <a:r>
              <a:rPr lang="zh-CN" altLang="en-US" sz="2400">
                <a:solidFill>
                  <a:schemeClr val="tx1"/>
                </a:solidFill>
              </a:rPr>
              <a:t>动作发生在过去的过去，强调对</a:t>
            </a:r>
            <a:r>
              <a:rPr lang="zh-CN" altLang="en-US" sz="2400">
                <a:solidFill>
                  <a:schemeClr val="tx1"/>
                </a:solidFill>
              </a:rPr>
              <a:t>过去某一时间的</a:t>
            </a:r>
            <a:r>
              <a:rPr lang="zh-CN" altLang="en-US" sz="2400">
                <a:solidFill>
                  <a:schemeClr val="tx1"/>
                </a:solidFill>
              </a:rPr>
              <a:t>影响</a:t>
            </a:r>
            <a:endParaRPr lang="zh-CN" altLang="en-US" sz="2400">
              <a:solidFill>
                <a:schemeClr val="tx1"/>
              </a:solidFill>
            </a:endParaRPr>
          </a:p>
        </p:txBody>
      </p:sp>
      <p:graphicFrame>
        <p:nvGraphicFramePr>
          <p:cNvPr id="4" name="内容占位符 3"/>
          <p:cNvGraphicFramePr/>
          <p:nvPr>
            <p:ph idx="1"/>
            <p:custDataLst>
              <p:tags r:id="rId1"/>
            </p:custDataLst>
          </p:nvPr>
        </p:nvGraphicFramePr>
        <p:xfrm>
          <a:off x="394970" y="1347470"/>
          <a:ext cx="8565515" cy="2523490"/>
        </p:xfrm>
        <a:graphic>
          <a:graphicData uri="http://schemas.openxmlformats.org/drawingml/2006/table">
            <a:tbl>
              <a:tblPr firstRow="1" bandRow="1">
                <a:tableStyleId>{5C22544A-7EE6-4342-B048-85BDC9FD1C3A}</a:tableStyleId>
              </a:tblPr>
              <a:tblGrid>
                <a:gridCol w="3729355"/>
                <a:gridCol w="4836160"/>
              </a:tblGrid>
              <a:tr h="530225">
                <a:tc>
                  <a:txBody>
                    <a:bodyPr/>
                    <a:p>
                      <a:pPr>
                        <a:buNone/>
                      </a:pPr>
                      <a:r>
                        <a:rPr lang="zh-CN" altLang="en-US" sz="2000"/>
                        <a:t>主动</a:t>
                      </a:r>
                      <a:r>
                        <a:rPr lang="en-US" altLang="zh-CN" sz="2000"/>
                        <a:t>  ha</a:t>
                      </a:r>
                      <a:r>
                        <a:rPr lang="en-US" altLang="zh-CN" sz="2000"/>
                        <a:t>d done</a:t>
                      </a:r>
                      <a:endParaRPr lang="en-US" altLang="zh-CN" sz="2000"/>
                    </a:p>
                  </a:txBody>
                  <a:tcPr/>
                </a:tc>
                <a:tc>
                  <a:txBody>
                    <a:bodyPr/>
                    <a:p>
                      <a:pPr>
                        <a:buNone/>
                      </a:pPr>
                      <a:r>
                        <a:rPr lang="zh-CN" altLang="en-US" sz="2000"/>
                        <a:t>被动</a:t>
                      </a:r>
                      <a:r>
                        <a:rPr lang="en-US" altLang="zh-CN" sz="2000"/>
                        <a:t>  had been done</a:t>
                      </a:r>
                      <a:endParaRPr lang="en-US" altLang="zh-CN" sz="2000"/>
                    </a:p>
                  </a:txBody>
                  <a:tcPr/>
                </a:tc>
              </a:tr>
              <a:tr h="789305">
                <a:tc>
                  <a:txBody>
                    <a:bodyPr/>
                    <a:p>
                      <a:pPr>
                        <a:buNone/>
                      </a:pPr>
                      <a:r>
                        <a:rPr lang="en-US" altLang="zh-CN" sz="2400" b="1"/>
                        <a:t>I had watched the film before 2003.</a:t>
                      </a:r>
                      <a:endParaRPr lang="en-US" altLang="zh-CN" sz="2400" b="1"/>
                    </a:p>
                  </a:txBody>
                  <a:tcPr/>
                </a:tc>
                <a:tc>
                  <a:txBody>
                    <a:bodyPr/>
                    <a:p>
                      <a:pPr>
                        <a:buNone/>
                      </a:pPr>
                      <a:r>
                        <a:rPr lang="en-US" altLang="zh-CN" sz="2400" b="1"/>
                        <a:t>The village had been rebuilt since 1995 until 2005</a:t>
                      </a:r>
                      <a:endParaRPr lang="en-US" altLang="zh-CN" sz="2400" b="1"/>
                    </a:p>
                  </a:txBody>
                  <a:tcPr/>
                </a:tc>
              </a:tr>
              <a:tr h="530225">
                <a:tc>
                  <a:txBody>
                    <a:bodyPr/>
                    <a:p>
                      <a:pPr>
                        <a:buNone/>
                      </a:pPr>
                      <a:r>
                        <a:rPr lang="zh-CN" altLang="en-US" sz="1800" b="1">
                          <a:sym typeface="+mn-ea"/>
                        </a:rPr>
                        <a:t>饼图（过去</a:t>
                      </a:r>
                      <a:r>
                        <a:rPr lang="en-US" altLang="zh-CN" sz="1800" b="1">
                          <a:sym typeface="+mn-ea"/>
                        </a:rPr>
                        <a:t>+</a:t>
                      </a:r>
                      <a:r>
                        <a:rPr lang="zh-CN" altLang="en-US" sz="1800" b="1">
                          <a:sym typeface="+mn-ea"/>
                        </a:rPr>
                        <a:t>过去）</a:t>
                      </a:r>
                      <a:endParaRPr lang="zh-CN" altLang="en-US" sz="1800" b="1"/>
                    </a:p>
                    <a:p>
                      <a:pPr>
                        <a:buNone/>
                      </a:pPr>
                      <a:endParaRPr lang="en-US" altLang="zh-CN" b="1"/>
                    </a:p>
                  </a:txBody>
                  <a:tcPr/>
                </a:tc>
                <a:tc>
                  <a:txBody>
                    <a:bodyPr/>
                    <a:p>
                      <a:pPr>
                        <a:buNone/>
                      </a:pPr>
                      <a:r>
                        <a:rPr lang="zh-CN" altLang="en-US" b="1"/>
                        <a:t>地图（过去</a:t>
                      </a:r>
                      <a:r>
                        <a:rPr lang="en-US" altLang="zh-CN" b="1"/>
                        <a:t>+</a:t>
                      </a:r>
                      <a:r>
                        <a:rPr lang="zh-CN" altLang="en-US" b="1"/>
                        <a:t>过去）</a:t>
                      </a:r>
                      <a:endParaRPr lang="zh-CN" altLang="en-US" b="1"/>
                    </a:p>
                    <a:p>
                      <a:pPr>
                        <a:buNone/>
                      </a:pPr>
                      <a:endParaRPr lang="zh-CN" altLang="en-US" b="1"/>
                    </a:p>
                  </a:txBody>
                  <a:tcPr/>
                </a:tc>
              </a:tr>
              <a:tr h="530225">
                <a:tc>
                  <a:txBody>
                    <a:bodyPr/>
                    <a:p>
                      <a:pPr>
                        <a:buNone/>
                      </a:pPr>
                      <a:r>
                        <a:rPr lang="en-US" altLang="zh-CN" sz="1800" b="1">
                          <a:sym typeface="+mn-ea"/>
                        </a:rPr>
                        <a:t>The proportion of the spending on food in America</a:t>
                      </a:r>
                      <a:r>
                        <a:rPr lang="en-US" altLang="zh-CN" sz="1800" b="1" u="sng">
                          <a:solidFill>
                            <a:srgbClr val="FF0000"/>
                          </a:solidFill>
                          <a:sym typeface="+mn-ea"/>
                        </a:rPr>
                        <a:t> had plunged to 20%</a:t>
                      </a:r>
                      <a:r>
                        <a:rPr lang="en-US" altLang="zh-CN" sz="1800" b="1">
                          <a:sym typeface="+mn-ea"/>
                        </a:rPr>
                        <a:t> by 2013.</a:t>
                      </a:r>
                      <a:endParaRPr lang="en-US" altLang="zh-CN" sz="1800" b="1"/>
                    </a:p>
                    <a:p>
                      <a:pPr>
                        <a:buNone/>
                      </a:pPr>
                      <a:endParaRPr lang="en-US" altLang="zh-CN" b="1"/>
                    </a:p>
                  </a:txBody>
                  <a:tcPr/>
                </a:tc>
                <a:tc>
                  <a:txBody>
                    <a:bodyPr/>
                    <a:p>
                      <a:pPr>
                        <a:buNone/>
                      </a:pPr>
                      <a:endParaRPr lang="en-US" altLang="zh-CN" sz="2400" b="1"/>
                    </a:p>
                  </a:txBody>
                  <a:tcPr/>
                </a:tc>
              </a:tr>
            </a:tbl>
          </a:graphicData>
        </a:graphic>
      </p:graphicFrame>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6" name="图片 36" descr="WechatIMG297"/>
          <p:cNvPicPr>
            <a:picLocks noChangeAspect="1"/>
          </p:cNvPicPr>
          <p:nvPr/>
        </p:nvPicPr>
        <p:blipFill>
          <a:blip r:embed="rId1"/>
          <a:srcRect t="34399"/>
          <a:stretch>
            <a:fillRect/>
          </a:stretch>
        </p:blipFill>
        <p:spPr>
          <a:xfrm>
            <a:off x="0" y="0"/>
            <a:ext cx="7646670" cy="507619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68325" y="714375"/>
            <a:ext cx="6271260" cy="4015105"/>
          </a:xfrm>
        </p:spPr>
        <p:txBody>
          <a:bodyPr/>
          <a:p>
            <a:pPr algn="just"/>
            <a:r>
              <a:rPr lang="en-US" altLang="zh-CN">
                <a:solidFill>
                  <a:schemeClr val="tx1"/>
                </a:solidFill>
              </a:rPr>
              <a:t>The production of electricity by coal saw a dramatic increase from 50 units in 1980 to 130 units in 2000.</a:t>
            </a:r>
            <a:br>
              <a:rPr lang="en-US" altLang="zh-CN">
                <a:solidFill>
                  <a:schemeClr val="tx1"/>
                </a:solidFill>
              </a:rPr>
            </a:br>
            <a:r>
              <a:rPr lang="en-US" altLang="zh-CN">
                <a:solidFill>
                  <a:schemeClr val="tx1"/>
                </a:solidFill>
              </a:rPr>
              <a:t> </a:t>
            </a:r>
            <a:br>
              <a:rPr lang="en-US" altLang="zh-CN">
                <a:solidFill>
                  <a:schemeClr val="tx1"/>
                </a:solidFill>
              </a:rPr>
            </a:br>
            <a:r>
              <a:rPr lang="en-US" altLang="zh-CN">
                <a:solidFill>
                  <a:schemeClr val="tx1"/>
                </a:solidFill>
              </a:rPr>
              <a:t>In 1980, the production of electricity by coal was 50 units.</a:t>
            </a:r>
            <a:r>
              <a:rPr lang="en-US" altLang="zh-CN" u="sng">
                <a:solidFill>
                  <a:srgbClr val="FF0000"/>
                </a:solidFill>
              </a:rPr>
              <a:t> However,</a:t>
            </a:r>
            <a:r>
              <a:rPr lang="en-US" altLang="zh-CN" u="sng">
                <a:solidFill>
                  <a:srgbClr val="FF0000"/>
                </a:solidFill>
              </a:rPr>
              <a:t> by 2000, it had soared to 130 units, accounting for three quarters of the whole.</a:t>
            </a:r>
            <a:endParaRPr lang="en-US" altLang="zh-CN" u="sng">
              <a:solidFill>
                <a:srgbClr val="FF0000"/>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9745" y="714375"/>
            <a:ext cx="8139430" cy="500380"/>
          </a:xfrm>
        </p:spPr>
        <p:txBody>
          <a:bodyPr/>
          <a:p>
            <a:r>
              <a:rPr lang="zh-CN" altLang="en-US" sz="2400">
                <a:solidFill>
                  <a:schemeClr val="tx1"/>
                </a:solidFill>
              </a:rPr>
              <a:t>一般</a:t>
            </a:r>
            <a:r>
              <a:rPr lang="zh-CN" altLang="en-US" sz="2400">
                <a:solidFill>
                  <a:schemeClr val="tx1"/>
                </a:solidFill>
              </a:rPr>
              <a:t>将来时</a:t>
            </a:r>
            <a:endParaRPr lang="zh-CN" altLang="en-US" sz="2400">
              <a:solidFill>
                <a:schemeClr val="tx1"/>
              </a:solidFill>
            </a:endParaRPr>
          </a:p>
        </p:txBody>
      </p:sp>
      <p:graphicFrame>
        <p:nvGraphicFramePr>
          <p:cNvPr id="4" name="内容占位符 3"/>
          <p:cNvGraphicFramePr/>
          <p:nvPr>
            <p:ph idx="1"/>
            <p:custDataLst>
              <p:tags r:id="rId1"/>
            </p:custDataLst>
          </p:nvPr>
        </p:nvGraphicFramePr>
        <p:xfrm>
          <a:off x="265430" y="1184275"/>
          <a:ext cx="8828405" cy="3738245"/>
        </p:xfrm>
        <a:graphic>
          <a:graphicData uri="http://schemas.openxmlformats.org/drawingml/2006/table">
            <a:tbl>
              <a:tblPr firstRow="1" bandRow="1">
                <a:tableStyleId>{5C22544A-7EE6-4342-B048-85BDC9FD1C3A}</a:tableStyleId>
              </a:tblPr>
              <a:tblGrid>
                <a:gridCol w="4250690"/>
                <a:gridCol w="4577715"/>
              </a:tblGrid>
              <a:tr h="486410">
                <a:tc>
                  <a:txBody>
                    <a:bodyPr/>
                    <a:p>
                      <a:pPr>
                        <a:buNone/>
                      </a:pPr>
                      <a:r>
                        <a:rPr lang="zh-CN" altLang="en-US" sz="2000"/>
                        <a:t>主动</a:t>
                      </a:r>
                      <a:r>
                        <a:rPr lang="en-US" altLang="zh-CN" sz="2000"/>
                        <a:t>  </a:t>
                      </a:r>
                      <a:r>
                        <a:rPr lang="en-US" altLang="zh-CN" sz="2000"/>
                        <a:t>will do</a:t>
                      </a:r>
                      <a:endParaRPr lang="en-US" altLang="zh-CN" sz="2000"/>
                    </a:p>
                  </a:txBody>
                  <a:tcPr/>
                </a:tc>
                <a:tc>
                  <a:txBody>
                    <a:bodyPr/>
                    <a:p>
                      <a:pPr>
                        <a:buNone/>
                      </a:pPr>
                      <a:r>
                        <a:rPr lang="zh-CN" altLang="en-US" sz="2000"/>
                        <a:t>被动</a:t>
                      </a:r>
                      <a:r>
                        <a:rPr lang="en-US" altLang="zh-CN" sz="2000"/>
                        <a:t> will be done</a:t>
                      </a:r>
                      <a:endParaRPr lang="en-US" altLang="zh-CN" sz="2000"/>
                    </a:p>
                  </a:txBody>
                  <a:tcPr/>
                </a:tc>
              </a:tr>
              <a:tr h="789305">
                <a:tc>
                  <a:txBody>
                    <a:bodyPr/>
                    <a:p>
                      <a:pPr>
                        <a:buNone/>
                      </a:pPr>
                      <a:r>
                        <a:rPr lang="en-US" altLang="zh-CN" sz="2000" b="1"/>
                        <a:t>I will become a scientist in the future.</a:t>
                      </a:r>
                      <a:endParaRPr lang="en-US" altLang="zh-CN" sz="2000" b="1"/>
                    </a:p>
                  </a:txBody>
                  <a:tcPr/>
                </a:tc>
                <a:tc>
                  <a:txBody>
                    <a:bodyPr/>
                    <a:p>
                      <a:pPr>
                        <a:buNone/>
                      </a:pPr>
                      <a:r>
                        <a:rPr lang="en-US" altLang="zh-CN" sz="2000" b="1"/>
                        <a:t>The village is predicted to be rebuilt in the future.</a:t>
                      </a:r>
                      <a:endParaRPr lang="en-US" altLang="zh-CN" sz="2000" b="1"/>
                    </a:p>
                  </a:txBody>
                  <a:tcPr/>
                </a:tc>
              </a:tr>
              <a:tr h="530225">
                <a:tc>
                  <a:txBody>
                    <a:bodyPr/>
                    <a:p>
                      <a:pPr>
                        <a:buNone/>
                      </a:pPr>
                      <a:r>
                        <a:rPr lang="en-US" altLang="zh-CN" sz="2000" b="1"/>
                        <a:t>be expected to</a:t>
                      </a:r>
                      <a:endParaRPr lang="en-US" altLang="zh-CN" sz="2000" b="1"/>
                    </a:p>
                  </a:txBody>
                  <a:tcPr/>
                </a:tc>
                <a:tc>
                  <a:txBody>
                    <a:bodyPr/>
                    <a:p>
                      <a:pPr algn="l">
                        <a:buClrTx/>
                        <a:buSzTx/>
                        <a:buFontTx/>
                        <a:buNone/>
                      </a:pPr>
                      <a:r>
                        <a:rPr lang="en-US" altLang="zh-CN" sz="2000" b="1"/>
                        <a:t>地图（现在+将来）</a:t>
                      </a:r>
                      <a:endParaRPr lang="en-US" altLang="zh-CN" sz="2000" b="1"/>
                    </a:p>
                  </a:txBody>
                  <a:tcPr/>
                </a:tc>
              </a:tr>
              <a:tr h="530225">
                <a:tc>
                  <a:txBody>
                    <a:bodyPr/>
                    <a:p>
                      <a:pPr>
                        <a:buNone/>
                      </a:pPr>
                      <a:r>
                        <a:rPr lang="en-US" altLang="zh-CN" sz="2000" b="1"/>
                        <a:t>be indicated to</a:t>
                      </a:r>
                      <a:endParaRPr lang="en-US" altLang="zh-CN" sz="2000" b="1"/>
                    </a:p>
                  </a:txBody>
                  <a:tcPr/>
                </a:tc>
                <a:tc>
                  <a:txBody>
                    <a:bodyPr/>
                    <a:p>
                      <a:pPr algn="l">
                        <a:buClrTx/>
                        <a:buSzTx/>
                        <a:buFontTx/>
                        <a:buNone/>
                      </a:pPr>
                      <a:r>
                        <a:rPr lang="en-US" altLang="zh-CN" sz="2000" b="1"/>
                        <a:t>预计会</a:t>
                      </a:r>
                      <a:endParaRPr lang="en-US" altLang="zh-CN" sz="2000" b="1"/>
                    </a:p>
                  </a:txBody>
                  <a:tcPr/>
                </a:tc>
              </a:tr>
              <a:tr h="530225">
                <a:tc>
                  <a:txBody>
                    <a:bodyPr/>
                    <a:p>
                      <a:pPr>
                        <a:buNone/>
                      </a:pPr>
                      <a:r>
                        <a:rPr lang="en-US" altLang="zh-CN" sz="2000" b="1"/>
                        <a:t>be predicted to </a:t>
                      </a:r>
                      <a:endParaRPr lang="en-US" altLang="zh-CN" sz="2000" b="1"/>
                    </a:p>
                  </a:txBody>
                  <a:tcPr/>
                </a:tc>
                <a:tc>
                  <a:txBody>
                    <a:bodyPr/>
                    <a:p>
                      <a:pPr algn="l">
                        <a:buClrTx/>
                        <a:buSzTx/>
                        <a:buFontTx/>
                        <a:buNone/>
                      </a:pPr>
                      <a:r>
                        <a:rPr lang="en-US" altLang="zh-CN" sz="2000" b="1"/>
                        <a:t>be expected to/be indicated to/be predicted to</a:t>
                      </a:r>
                      <a:endParaRPr lang="en-US" altLang="zh-CN" sz="2000" b="1"/>
                    </a:p>
                  </a:txBody>
                  <a:tcPr/>
                </a:tc>
              </a:tr>
              <a:tr h="530225">
                <a:tc>
                  <a:txBody>
                    <a:bodyPr/>
                    <a:p>
                      <a:pPr>
                        <a:buNone/>
                      </a:pPr>
                      <a:r>
                        <a:rPr lang="en-US" altLang="zh-CN" sz="2000" b="1"/>
                        <a:t>The proportion of girls is predicted to see a dramatic increase.</a:t>
                      </a:r>
                      <a:endParaRPr lang="en-US" altLang="zh-CN" sz="2000" b="1"/>
                    </a:p>
                  </a:txBody>
                  <a:tcPr/>
                </a:tc>
                <a:tc>
                  <a:txBody>
                    <a:bodyPr/>
                    <a:p>
                      <a:pPr>
                        <a:buNone/>
                      </a:pPr>
                      <a:endParaRPr lang="zh-CN" altLang="en-US" b="1"/>
                    </a:p>
                  </a:txBody>
                  <a:tcPr/>
                </a:tc>
              </a:tr>
            </a:tbl>
          </a:graphicData>
        </a:graphic>
      </p:graphicFrame>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4" descr="6537c6bede89c81d48d53463e4203c7"/>
          <p:cNvPicPr>
            <a:picLocks noChangeAspect="1"/>
          </p:cNvPicPr>
          <p:nvPr/>
        </p:nvPicPr>
        <p:blipFill>
          <a:blip r:embed="rId1"/>
          <a:srcRect t="32025" b="21104"/>
          <a:stretch>
            <a:fillRect/>
          </a:stretch>
        </p:blipFill>
        <p:spPr>
          <a:xfrm>
            <a:off x="1540510" y="45085"/>
            <a:ext cx="6136005" cy="5114925"/>
          </a:xfrm>
          <a:prstGeom prst="rect">
            <a:avLst/>
          </a:prstGeom>
          <a:noFill/>
          <a:ln>
            <a:noFill/>
          </a:ln>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TABLE_ENDDRAG_ORIGIN_RECT" val="684*187"/>
  <p:tag name="TABLE_ENDDRAG_RECT" val="20*106*684*187"/>
</p:tagLst>
</file>

<file path=ppt/tags/tag5.xml><?xml version="1.0" encoding="utf-8"?>
<p:tagLst xmlns:p="http://schemas.openxmlformats.org/presentationml/2006/main">
  <p:tag name="TABLE_ENDDRAG_ORIGIN_RECT" val="685*259"/>
  <p:tag name="TABLE_ENDDRAG_RECT" val="20*95*685*259"/>
</p:tagLst>
</file>

<file path=ppt/tags/tag6.xml><?xml version="1.0" encoding="utf-8"?>
<p:tagLst xmlns:p="http://schemas.openxmlformats.org/presentationml/2006/main">
  <p:tag name="TABLE_ENDDRAG_ORIGIN_RECT" val="684*187"/>
  <p:tag name="TABLE_ENDDRAG_RECT" val="20*106*684*187"/>
</p:tagLst>
</file>

<file path=ppt/tags/tag7.xml><?xml version="1.0" encoding="utf-8"?>
<p:tagLst xmlns:p="http://schemas.openxmlformats.org/presentationml/2006/main">
  <p:tag name="TABLE_ENDDRAG_ORIGIN_RECT" val="684*187"/>
  <p:tag name="TABLE_ENDDRAG_RECT" val="20*106*684*187"/>
</p:tagLst>
</file>

<file path=ppt/tags/tag8.xml><?xml version="1.0" encoding="utf-8"?>
<p:tagLst xmlns:p="http://schemas.openxmlformats.org/presentationml/2006/main">
  <p:tag name="TABLE_ENDDRAG_ORIGIN_RECT" val="684*187"/>
  <p:tag name="TABLE_ENDDRAG_RECT" val="20*106*684*187"/>
</p:tagLst>
</file>

<file path=ppt/tags/tag9.xml><?xml version="1.0" encoding="utf-8"?>
<p:tagLst xmlns:p="http://schemas.openxmlformats.org/presentationml/2006/main">
  <p:tag name="COMMONDATA" val="eyJoZGlkIjoiNTZmZWVlMmZmMmMwMjg0N2YyYTk3MTFkYzRhYzQyOWUifQ=="/>
  <p:tag name="commondata" val="eyJoZGlkIjoiMzUzMTExZDRhOGI0MWQyYTJlZjllNGYwOGE2OGNmYmEifQ=="/>
  <p:tag name="KSO_WPP_MARK_KEY" val="a90e8de1-c064-4f2d-b1d0-ed0edf299737"/>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22152</Words>
  <Application>WPS 演示</Application>
  <PresentationFormat>全屏显示(16:9)</PresentationFormat>
  <Paragraphs>711</Paragraphs>
  <Slides>87</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87</vt:i4>
      </vt:variant>
    </vt:vector>
  </HeadingPairs>
  <TitlesOfParts>
    <vt:vector size="97" baseType="lpstr">
      <vt:lpstr>Arial</vt:lpstr>
      <vt:lpstr>宋体</vt:lpstr>
      <vt:lpstr>Wingdings</vt:lpstr>
      <vt:lpstr>Calibri</vt:lpstr>
      <vt:lpstr>Comic Sans MS</vt:lpstr>
      <vt:lpstr>微软雅黑</vt:lpstr>
      <vt:lpstr>Wingdings</vt:lpstr>
      <vt:lpstr>Arial Unicode MS</vt:lpstr>
      <vt:lpstr>Times New Roman</vt:lpstr>
      <vt:lpstr>Office 主题​​</vt:lpstr>
      <vt:lpstr>五种时态&amp;语态</vt:lpstr>
      <vt:lpstr>补充语法点①辨析 to do&amp; to doing </vt:lpstr>
      <vt:lpstr> ②不定式--非谓语--不是谓语--避免双谓语</vt:lpstr>
      <vt:lpstr>补充语法点  to do/to be done ②不定式--非谓语--不是谓语--避免双谓语</vt:lpstr>
      <vt:lpstr>补充语法点  to do/to be done ②不定式--非谓语--不是谓语--避免双谓语</vt:lpstr>
      <vt:lpstr>补充语法点  to do/to be done ②不定式--非谓语--不是谓语--避免双谓语</vt:lpstr>
      <vt:lpstr>补充语法点  to do/to be done ②不定式--非谓语--不是谓语--避免双谓语</vt:lpstr>
      <vt:lpstr>补充语法点  to do/to be done ②不定式--非谓语--不是谓语--避免双谓语</vt:lpstr>
      <vt:lpstr>补充语法点  to do/to be done ②不定式--非谓语--不是谓语--避免双谓语</vt:lpstr>
      <vt:lpstr>②动名词--名词--doing/being done</vt:lpstr>
      <vt:lpstr>②动名词--名词--doing/being done</vt:lpstr>
      <vt:lpstr>②动名词--名词--doing/being done</vt:lpstr>
      <vt:lpstr>③分词--doing/done</vt:lpstr>
      <vt:lpstr>③分词--doing/done</vt:lpstr>
      <vt:lpstr>③分词--doing/done</vt:lpstr>
      <vt:lpstr>③分词--doing/done</vt:lpstr>
      <vt:lpstr>Tree(主干)+Bird（修饰）</vt:lpstr>
      <vt:lpstr>Tree(主干)+Bird（修饰）</vt:lpstr>
      <vt:lpstr>③which引导定语从句</vt:lpstr>
      <vt:lpstr>主 系 表（n/adj/prep/to do）</vt:lpstr>
      <vt:lpstr>主 谓 宾</vt:lpstr>
      <vt:lpstr>主 谓 宾</vt:lpstr>
      <vt:lpstr>主 谓 </vt:lpstr>
      <vt:lpstr>并列句 </vt:lpstr>
      <vt:lpstr>adv+adj </vt:lpstr>
      <vt:lpstr>adv+adj </vt:lpstr>
      <vt:lpstr>状语从句--状语从句的连词 +句子</vt:lpstr>
      <vt:lpstr>状语从句--状语从句的连词 +句子</vt:lpstr>
      <vt:lpstr>介词+n/doing/being done</vt:lpstr>
      <vt:lpstr>PowerPoint 演示文稿</vt:lpstr>
      <vt:lpstr>PowerPoint 演示文稿</vt:lpstr>
      <vt:lpstr>PowerPoint 演示文稿</vt:lpstr>
      <vt:lpstr>PowerPoint 演示文稿</vt:lpstr>
      <vt:lpstr>五种时态</vt:lpstr>
      <vt:lpstr>一般过去时（动态图&amp;静态图）</vt:lpstr>
      <vt:lpstr>动态图的常用句型</vt:lpstr>
      <vt:lpstr>动态图的常用句型</vt:lpstr>
      <vt:lpstr>动态图的常用句型</vt:lpstr>
      <vt:lpstr>动态图的常用句型</vt:lpstr>
      <vt:lpstr>动态图的常用句型</vt:lpstr>
      <vt:lpstr>动态图的常用句型</vt:lpstr>
      <vt:lpstr>补充：动态图的常用句型</vt:lpstr>
      <vt:lpstr>动态图的常用句型</vt:lpstr>
      <vt:lpstr>补充：动态图的常用句型</vt:lpstr>
      <vt:lpstr>动态图的常用句型</vt:lpstr>
      <vt:lpstr>动态图的常用句型</vt:lpstr>
      <vt:lpstr>动态图的常用句型</vt:lpstr>
      <vt:lpstr>动态图的常用句型</vt:lpstr>
      <vt:lpstr>动态图的常用句型</vt:lpstr>
      <vt:lpstr>动态图的常用句型</vt:lpstr>
      <vt:lpstr>静态图的常用句型</vt:lpstr>
      <vt:lpstr>静态图的常用句型</vt:lpstr>
      <vt:lpstr>静态图的常用句型</vt:lpstr>
      <vt:lpstr>静态图的常用句型</vt:lpstr>
      <vt:lpstr>③表示最高级</vt:lpstr>
      <vt:lpstr>④ 非限制性定从--连接</vt:lpstr>
      <vt:lpstr>⑤往往按照大小的逻辑去写</vt:lpstr>
      <vt:lpstr>⑥避免流水账--先写特征，再写细节</vt:lpstr>
      <vt:lpstr>⑦用过去完成时--表示强烈对比</vt:lpstr>
      <vt:lpstr>⑤往往按照大小的逻辑去写</vt:lpstr>
      <vt:lpstr>一般现在时</vt:lpstr>
      <vt:lpstr>一般现在时-大作文-第三人称单数</vt:lpstr>
      <vt:lpstr>流程图的常用句型</vt:lpstr>
      <vt:lpstr>②【然后】的多样性</vt:lpstr>
      <vt:lpstr>流程图的常用句型</vt:lpstr>
      <vt:lpstr>流程图的常用句型</vt:lpstr>
      <vt:lpstr>流程图的常用句型</vt:lpstr>
      <vt:lpstr>练习</vt:lpstr>
      <vt:lpstr>before; after; until; once; where; after which</vt:lpstr>
      <vt:lpstr>一般现在时-流程图</vt:lpstr>
      <vt:lpstr>现在完成时--动作发生在过去，强调对现在的影响</vt:lpstr>
      <vt:lpstr>地图题的常用句型</vt:lpstr>
      <vt:lpstr>地图题的常用句型</vt:lpstr>
      <vt:lpstr>地图题的常用句型</vt:lpstr>
      <vt:lpstr>地图题的常用句型</vt:lpstr>
      <vt:lpstr>地图题的常用句型</vt:lpstr>
      <vt:lpstr>地图题的常用句型</vt:lpstr>
      <vt:lpstr>地图题的常用句型</vt:lpstr>
      <vt:lpstr>地图题的常用句型</vt:lpstr>
      <vt:lpstr>地图题的常用句型</vt:lpstr>
      <vt:lpstr>地图题的常用句型</vt:lpstr>
      <vt:lpstr>现在完成时（地图）</vt:lpstr>
      <vt:lpstr>过去完成时--动作发生在过去的过去，强调对过去某一时间的影响</vt:lpstr>
      <vt:lpstr>PowerPoint 演示文稿</vt:lpstr>
      <vt:lpstr>The production of electricity by coal saw a dramatic increase from 50 units in 1980 to 130 units in 2000.   In 1980, the production of electricity by coal was 50 units. However, by 2000, it had soared to 130 units, accounting for three quarters of the whole.</vt:lpstr>
      <vt:lpstr>一般将来时</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LBDZ</dc:creator>
  <cp:lastModifiedBy>DLHT</cp:lastModifiedBy>
  <cp:revision>748</cp:revision>
  <dcterms:created xsi:type="dcterms:W3CDTF">2021-08-07T10:06:00Z</dcterms:created>
  <dcterms:modified xsi:type="dcterms:W3CDTF">2025-01-08T02:37:20Z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6212929208774EFEBD280B8E55F37B9D_12</vt:lpwstr>
  </property>
</Properties>
</file>