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1294" r:id="rId3"/>
    <p:sldId id="1295" r:id="rId4"/>
    <p:sldId id="1344" r:id="rId5"/>
    <p:sldId id="1345" r:id="rId6"/>
    <p:sldId id="1346" r:id="rId7"/>
    <p:sldId id="1347" r:id="rId8"/>
    <p:sldId id="1348" r:id="rId9"/>
    <p:sldId id="1349" r:id="rId10"/>
    <p:sldId id="1350" r:id="rId11"/>
    <p:sldId id="1399" r:id="rId12"/>
    <p:sldId id="1461" r:id="rId13"/>
    <p:sldId id="1462" r:id="rId14"/>
    <p:sldId id="278" r:id="rId15"/>
    <p:sldId id="849" r:id="rId17"/>
    <p:sldId id="1110" r:id="rId18"/>
    <p:sldId id="837" r:id="rId19"/>
    <p:sldId id="844" r:id="rId20"/>
    <p:sldId id="940" r:id="rId21"/>
    <p:sldId id="1078" r:id="rId22"/>
    <p:sldId id="811" r:id="rId23"/>
    <p:sldId id="1160" r:id="rId24"/>
    <p:sldId id="1268" r:id="rId25"/>
    <p:sldId id="1162" r:id="rId26"/>
    <p:sldId id="1163" r:id="rId27"/>
    <p:sldId id="1203" r:id="rId28"/>
    <p:sldId id="1164" r:id="rId29"/>
    <p:sldId id="1165" r:id="rId30"/>
    <p:sldId id="1166" r:id="rId31"/>
    <p:sldId id="1183" r:id="rId32"/>
    <p:sldId id="1184" r:id="rId33"/>
    <p:sldId id="1185" r:id="rId34"/>
    <p:sldId id="1042" r:id="rId35"/>
    <p:sldId id="934" r:id="rId36"/>
    <p:sldId id="935" r:id="rId37"/>
    <p:sldId id="1146" r:id="rId38"/>
    <p:sldId id="1147" r:id="rId39"/>
    <p:sldId id="1148" r:id="rId40"/>
    <p:sldId id="824" r:id="rId41"/>
    <p:sldId id="825" r:id="rId42"/>
    <p:sldId id="826" r:id="rId43"/>
    <p:sldId id="1079" r:id="rId44"/>
    <p:sldId id="1102" r:id="rId45"/>
    <p:sldId id="993" r:id="rId46"/>
    <p:sldId id="1103" r:id="rId47"/>
    <p:sldId id="1134" r:id="rId48"/>
    <p:sldId id="1448" r:id="rId49"/>
    <p:sldId id="1449" r:id="rId50"/>
    <p:sldId id="1450" r:id="rId51"/>
    <p:sldId id="1451" r:id="rId52"/>
    <p:sldId id="1452" r:id="rId53"/>
    <p:sldId id="1453" r:id="rId54"/>
    <p:sldId id="1454" r:id="rId55"/>
    <p:sldId id="1455" r:id="rId56"/>
    <p:sldId id="1456" r:id="rId57"/>
    <p:sldId id="1457" r:id="rId58"/>
    <p:sldId id="1458" r:id="rId59"/>
    <p:sldId id="1459" r:id="rId60"/>
    <p:sldId id="1460" r:id="rId61"/>
  </p:sldIdLst>
  <p:sldSz cx="9144000" cy="5143500" type="screen16x9"/>
  <p:notesSz cx="6858000" cy="9144000"/>
  <p:custDataLst>
    <p:tags r:id="rId65"/>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0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E5BA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6" d="100"/>
          <a:sy n="56" d="100"/>
        </p:scale>
        <p:origin x="-342" y="-90"/>
      </p:cViewPr>
      <p:guideLst>
        <p:guide orient="horz" pos="1601"/>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5" Type="http://schemas.openxmlformats.org/officeDocument/2006/relationships/tags" Target="tags/tag1.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0034" y="714362"/>
            <a:ext cx="5357850" cy="500066"/>
          </a:xfrm>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57200" y="1428742"/>
            <a:ext cx="8229600" cy="3303998"/>
          </a:xfrm>
        </p:spPr>
        <p:txBody>
          <a:bodyPr/>
          <a:lstStyle>
            <a:lvl1pPr algn="l">
              <a:defRPr lang="zh-CN" altLang="en-US" sz="2800" kern="1200" baseline="0" dirty="0">
                <a:solidFill>
                  <a:schemeClr val="bg1"/>
                </a:solidFill>
                <a:latin typeface="+mn-lt"/>
                <a:ea typeface="+mn-ea"/>
                <a:cs typeface="+mn-cs"/>
                <a:sym typeface="Calibri" panose="020F0502020204030204" pitchFamily="34" charset="0"/>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0034" y="714362"/>
            <a:ext cx="5357850" cy="500066"/>
          </a:xfrm>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57200" y="1428742"/>
            <a:ext cx="8229600" cy="3303998"/>
          </a:xfrm>
        </p:spPr>
        <p:txBody>
          <a:bodyPr/>
          <a:lstStyle>
            <a:lvl1pPr algn="l" eaLnBrk="1" hangingPunct="1">
              <a:lnSpc>
                <a:spcPct val="150000"/>
              </a:lnSpc>
              <a:buFont typeface="Arial" panose="020B0604020202020204" pitchFamily="34" charset="0"/>
              <a:buNone/>
              <a:defRPr sz="1800"/>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457200" y="642938"/>
            <a:ext cx="8229600" cy="420687"/>
          </a:xfrm>
          <a:prstGeom prst="rect">
            <a:avLst/>
          </a:prstGeom>
          <a:noFill/>
          <a:ln w="9525">
            <a:noFill/>
            <a:miter lim="800000"/>
          </a:ln>
        </p:spPr>
        <p:txBody>
          <a:bodyPr vert="horz" wrap="square" lIns="91440" tIns="45720" rIns="91440" bIns="45720" numCol="1" anchor="ctr" anchorCtr="0" compatLnSpc="1"/>
          <a:lstStyle/>
          <a:p>
            <a:pPr lvl="0"/>
            <a:r>
              <a:rPr lang="zh-CN" altLang="en-US" smtClean="0">
                <a:sym typeface="Calibri" panose="020F0502020204030204" pitchFamily="34" charset="0"/>
              </a:rPr>
              <a:t>贵学</a:t>
            </a:r>
            <a:r>
              <a:rPr lang="en-US" altLang="zh-CN" smtClean="0">
                <a:sym typeface="Calibri" panose="020F0502020204030204" pitchFamily="34" charset="0"/>
              </a:rPr>
              <a:t>PPT</a:t>
            </a:r>
            <a:r>
              <a:rPr lang="zh-CN" altLang="en-US" smtClean="0">
                <a:sym typeface="Calibri" panose="020F0502020204030204" pitchFamily="34" charset="0"/>
              </a:rPr>
              <a:t>制作要求</a:t>
            </a:r>
            <a:endParaRPr lang="zh-CN" smtClean="0">
              <a:sym typeface="Calibri" panose="020F0502020204030204" pitchFamily="34" charset="0"/>
            </a:endParaRPr>
          </a:p>
        </p:txBody>
      </p:sp>
      <p:sp>
        <p:nvSpPr>
          <p:cNvPr id="1027" name="文本占位符 2"/>
          <p:cNvSpPr>
            <a:spLocks noGrp="1" noChangeArrowheads="1"/>
          </p:cNvSpPr>
          <p:nvPr>
            <p:ph type="body" idx="1"/>
          </p:nvPr>
        </p:nvSpPr>
        <p:spPr bwMode="auto">
          <a:xfrm>
            <a:off x="428625" y="1357313"/>
            <a:ext cx="8229600" cy="3394075"/>
          </a:xfrm>
          <a:prstGeom prst="rect">
            <a:avLst/>
          </a:prstGeom>
          <a:noFill/>
          <a:ln w="9525">
            <a:noFill/>
            <a:miter lim="800000"/>
          </a:ln>
        </p:spPr>
        <p:txBody>
          <a:bodyPr vert="horz" wrap="square" lIns="91440" tIns="45720" rIns="91440" bIns="45720" numCol="1" anchor="t" anchorCtr="0" compatLnSpc="1"/>
          <a:lstStyle/>
          <a:p>
            <a:pPr lvl="0"/>
            <a:endParaRPr lang="en-US" altLang="zh-CN" smtClean="0">
              <a:sym typeface="Calibri" panose="020F0502020204030204" pitchFamily="34" charset="0"/>
            </a:endParaRPr>
          </a:p>
          <a:p>
            <a:pPr lvl="0"/>
            <a:r>
              <a:rPr lang="zh-CN" altLang="en-US" smtClean="0">
                <a:sym typeface="Calibri" panose="020F0502020204030204" pitchFamily="34" charset="0"/>
              </a:rPr>
              <a:t>雅思阅读真经  </a:t>
            </a:r>
            <a:r>
              <a:rPr lang="en-US" altLang="zh-CN" smtClean="0">
                <a:sym typeface="Calibri" panose="020F0502020204030204" pitchFamily="34" charset="0"/>
              </a:rPr>
              <a:t>1</a:t>
            </a:r>
            <a:endParaRPr lang="en-US" altLang="zh-CN" smtClean="0">
              <a:sym typeface="Calibri" panose="020F0502020204030204" pitchFamily="34" charset="0"/>
            </a:endParaRPr>
          </a:p>
          <a:p>
            <a:pPr lvl="0"/>
            <a:r>
              <a:rPr lang="zh-CN" altLang="en-US" smtClean="0">
                <a:sym typeface="Calibri" panose="020F0502020204030204" pitchFamily="34" charset="0"/>
              </a:rPr>
              <a:t>刘洪波</a:t>
            </a:r>
            <a:endParaRPr lang="zh-CN" smtClean="0">
              <a:sym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p:titleStyle>
    <p:bodyStyle>
      <a:lvl1pPr marL="342900" indent="-342900" algn="ctr" rtl="0" eaLnBrk="0" fontAlgn="base" hangingPunct="0">
        <a:spcBef>
          <a:spcPct val="20000"/>
        </a:spcBef>
        <a:spcAft>
          <a:spcPct val="0"/>
        </a:spcAft>
        <a:buFont typeface="Arial" panose="020B0604020202020204" pitchFamily="34" charset="0"/>
        <a:buChar char="•"/>
        <a:defRPr sz="3200" kern="1200">
          <a:solidFill>
            <a:schemeClr val="bg1"/>
          </a:solidFill>
          <a:latin typeface="+mn-lt"/>
          <a:ea typeface="+mn-ea"/>
          <a:cs typeface="微软雅黑" panose="020B0503020204020204" charset="-122"/>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bg1"/>
          </a:solidFill>
          <a:latin typeface="+mn-lt"/>
          <a:ea typeface="+mn-ea"/>
          <a:cs typeface="微软雅黑" panose="020B0503020204020204" charset="-122"/>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bg1"/>
          </a:solidFill>
          <a:latin typeface="+mn-lt"/>
          <a:ea typeface="+mn-ea"/>
          <a:cs typeface="微软雅黑" panose="020B0503020204020204" charset="-122"/>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395605" y="411480"/>
            <a:ext cx="6704330" cy="500380"/>
          </a:xfrm>
        </p:spPr>
        <p:txBody>
          <a:bodyPr/>
          <a:lstStyle/>
          <a:p>
            <a:r>
              <a:rPr lang="zh-CN" altLang="en-US" sz="2400" smtClean="0">
                <a:solidFill>
                  <a:schemeClr val="tx1"/>
                </a:solidFill>
              </a:rPr>
              <a:t>补充语法点①状语从句的省略</a:t>
            </a:r>
            <a:r>
              <a:rPr lang="en-US" altLang="zh-CN" sz="2400" smtClean="0">
                <a:solidFill>
                  <a:schemeClr val="tx1"/>
                </a:solidFill>
              </a:rPr>
              <a:t>--</a:t>
            </a:r>
            <a:r>
              <a:rPr lang="zh-CN" altLang="en-US" sz="2400" smtClean="0">
                <a:solidFill>
                  <a:schemeClr val="tx1"/>
                </a:solidFill>
              </a:rPr>
              <a:t>分词做状语</a:t>
            </a:r>
            <a:endParaRPr lang="zh-CN" altLang="en-US" sz="2400" smtClean="0">
              <a:solidFill>
                <a:schemeClr val="tx1"/>
              </a:solidFill>
            </a:endParaRPr>
          </a:p>
        </p:txBody>
      </p:sp>
      <p:sp>
        <p:nvSpPr>
          <p:cNvPr id="7170" name="内容占位符 2"/>
          <p:cNvSpPr>
            <a:spLocks noGrp="1"/>
          </p:cNvSpPr>
          <p:nvPr>
            <p:ph idx="1"/>
          </p:nvPr>
        </p:nvSpPr>
        <p:spPr>
          <a:xfrm>
            <a:off x="394970" y="911225"/>
            <a:ext cx="8291830" cy="3821430"/>
          </a:xfrm>
        </p:spPr>
        <p:txBody>
          <a:bodyPr/>
          <a:lstStyle/>
          <a:p>
            <a:pPr>
              <a:buFont typeface="Wingdings" panose="05000000000000000000" pitchFamily="2" charset="2"/>
              <a:buChar char="Ø"/>
            </a:pPr>
            <a:r>
              <a:rPr lang="en-US" altLang="zh-CN" sz="2400" b="1" u="sng" smtClean="0">
                <a:solidFill>
                  <a:schemeClr val="tx1"/>
                </a:solidFill>
              </a:rPr>
              <a:t>When </a:t>
            </a:r>
            <a:r>
              <a:rPr lang="en-US" altLang="zh-CN" sz="2400" b="1" u="sng" smtClean="0">
                <a:solidFill>
                  <a:schemeClr val="tx1"/>
                </a:solidFill>
                <a:highlight>
                  <a:srgbClr val="FFFF00"/>
                </a:highlight>
              </a:rPr>
              <a:t>pears</a:t>
            </a:r>
            <a:r>
              <a:rPr lang="en-US" altLang="zh-CN" sz="2400" b="1" u="sng" smtClean="0">
                <a:solidFill>
                  <a:schemeClr val="tx1"/>
                </a:solidFill>
              </a:rPr>
              <a:t> are compared with apples</a:t>
            </a:r>
            <a:r>
              <a:rPr lang="en-US" altLang="zh-CN" sz="2400" b="1" smtClean="0">
                <a:solidFill>
                  <a:schemeClr val="tx1"/>
                </a:solidFill>
              </a:rPr>
              <a:t>, </a:t>
            </a:r>
            <a:r>
              <a:rPr lang="en-US" altLang="zh-CN" sz="2400" b="1" smtClean="0">
                <a:solidFill>
                  <a:schemeClr val="tx1"/>
                </a:solidFill>
                <a:highlight>
                  <a:srgbClr val="FFFF00"/>
                </a:highlight>
              </a:rPr>
              <a:t>pears</a:t>
            </a:r>
            <a:r>
              <a:rPr lang="en-US" altLang="zh-CN" sz="2400" b="1" smtClean="0">
                <a:solidFill>
                  <a:schemeClr val="tx1"/>
                </a:solidFill>
              </a:rPr>
              <a:t> are sweeter.</a:t>
            </a:r>
            <a:endParaRPr lang="en-US" altLang="zh-CN" sz="2400" b="1" smtClean="0">
              <a:solidFill>
                <a:schemeClr val="tx1"/>
              </a:solidFill>
            </a:endParaRPr>
          </a:p>
          <a:p>
            <a:pPr>
              <a:buFont typeface="Wingdings" panose="05000000000000000000" pitchFamily="2" charset="2"/>
              <a:buChar char="Ø"/>
            </a:pPr>
            <a:r>
              <a:rPr lang="en-US" altLang="zh-CN" sz="2400" b="1" u="sng" smtClean="0">
                <a:solidFill>
                  <a:schemeClr val="tx1"/>
                </a:solidFill>
                <a:sym typeface="+mn-ea"/>
              </a:rPr>
              <a:t>When compared with apples</a:t>
            </a:r>
            <a:r>
              <a:rPr lang="en-US" altLang="zh-CN" sz="2400" b="1" smtClean="0">
                <a:solidFill>
                  <a:schemeClr val="tx1"/>
                </a:solidFill>
                <a:sym typeface="+mn-ea"/>
              </a:rPr>
              <a:t>, </a:t>
            </a:r>
            <a:r>
              <a:rPr lang="en-US" altLang="zh-CN" sz="2400" b="1" smtClean="0">
                <a:solidFill>
                  <a:schemeClr val="tx1"/>
                </a:solidFill>
                <a:highlight>
                  <a:srgbClr val="FFFF00"/>
                </a:highlight>
                <a:sym typeface="+mn-ea"/>
              </a:rPr>
              <a:t>pears</a:t>
            </a:r>
            <a:r>
              <a:rPr lang="en-US" altLang="zh-CN" sz="2400" b="1" smtClean="0">
                <a:solidFill>
                  <a:schemeClr val="tx1"/>
                </a:solidFill>
                <a:sym typeface="+mn-ea"/>
              </a:rPr>
              <a:t> are sweeter.</a:t>
            </a:r>
            <a:endParaRPr lang="en-US" altLang="zh-CN" sz="2400" b="1" smtClean="0">
              <a:solidFill>
                <a:schemeClr val="tx1"/>
              </a:solidFill>
              <a:sym typeface="+mn-ea"/>
            </a:endParaRPr>
          </a:p>
          <a:p>
            <a:pPr>
              <a:buFont typeface="Wingdings" panose="05000000000000000000" pitchFamily="2" charset="2"/>
              <a:buChar char="Ø"/>
            </a:pPr>
            <a:r>
              <a:rPr lang="en-US" altLang="zh-CN" sz="2400" b="1" u="sng" smtClean="0">
                <a:solidFill>
                  <a:schemeClr val="tx1"/>
                </a:solidFill>
                <a:sym typeface="+mn-ea"/>
              </a:rPr>
              <a:t>Compared with apples</a:t>
            </a:r>
            <a:r>
              <a:rPr lang="en-US" altLang="zh-CN" sz="2400" b="1" smtClean="0">
                <a:solidFill>
                  <a:schemeClr val="tx1"/>
                </a:solidFill>
                <a:sym typeface="+mn-ea"/>
              </a:rPr>
              <a:t>, </a:t>
            </a:r>
            <a:r>
              <a:rPr lang="en-US" altLang="zh-CN" sz="2400" b="1" smtClean="0">
                <a:solidFill>
                  <a:schemeClr val="tx1"/>
                </a:solidFill>
                <a:highlight>
                  <a:srgbClr val="FFFF00"/>
                </a:highlight>
                <a:sym typeface="+mn-ea"/>
              </a:rPr>
              <a:t>pears</a:t>
            </a:r>
            <a:r>
              <a:rPr lang="en-US" altLang="zh-CN" sz="2400" b="1" smtClean="0">
                <a:solidFill>
                  <a:schemeClr val="tx1"/>
                </a:solidFill>
                <a:sym typeface="+mn-ea"/>
              </a:rPr>
              <a:t> are sweeter.</a:t>
            </a:r>
            <a:endParaRPr lang="en-US" altLang="zh-CN" sz="2400" b="1" smtClean="0">
              <a:solidFill>
                <a:schemeClr val="tx1"/>
              </a:solidFill>
              <a:sym typeface="+mn-ea"/>
            </a:endParaRPr>
          </a:p>
          <a:p>
            <a:pPr>
              <a:buFont typeface="Wingdings" panose="05000000000000000000" pitchFamily="2" charset="2"/>
              <a:buChar char="Ø"/>
            </a:pPr>
            <a:r>
              <a:rPr lang="en-US" altLang="zh-CN" sz="2400" b="1" u="sng" smtClean="0">
                <a:solidFill>
                  <a:schemeClr val="tx1"/>
                </a:solidFill>
                <a:sym typeface="+mn-ea"/>
              </a:rPr>
              <a:t>Compared with pears</a:t>
            </a:r>
            <a:r>
              <a:rPr lang="en-US" altLang="zh-CN" sz="2400" b="1" smtClean="0">
                <a:solidFill>
                  <a:schemeClr val="tx1"/>
                </a:solidFill>
                <a:sym typeface="+mn-ea"/>
              </a:rPr>
              <a:t>, bananas are sweeter.</a:t>
            </a:r>
            <a:endParaRPr lang="en-US" altLang="zh-CN" sz="2400" b="1" smtClean="0">
              <a:solidFill>
                <a:schemeClr val="tx1"/>
              </a:solidFill>
              <a:sym typeface="+mn-ea"/>
            </a:endParaRPr>
          </a:p>
          <a:p>
            <a:pPr>
              <a:buFont typeface="Wingdings" panose="05000000000000000000" pitchFamily="2" charset="2"/>
              <a:buChar char="Ø"/>
            </a:pPr>
            <a:r>
              <a:rPr lang="en-US" altLang="zh-CN" sz="2400" b="1" u="sng" smtClean="0">
                <a:solidFill>
                  <a:schemeClr val="tx1"/>
                </a:solidFill>
              </a:rPr>
              <a:t>Compared with bananas</a:t>
            </a:r>
            <a:r>
              <a:rPr lang="en-US" altLang="zh-CN" sz="2400" b="1" smtClean="0">
                <a:solidFill>
                  <a:schemeClr val="tx1"/>
                </a:solidFill>
              </a:rPr>
              <a:t>, watermelons are sweeter.</a:t>
            </a:r>
            <a:endParaRPr lang="en-US" altLang="zh-CN" sz="2400" b="1" smtClean="0">
              <a:solidFill>
                <a:schemeClr val="tx1"/>
              </a:solidFill>
            </a:endParaRPr>
          </a:p>
          <a:p>
            <a:pPr>
              <a:buFont typeface="Wingdings" panose="05000000000000000000" pitchFamily="2" charset="2"/>
              <a:buChar char="Ø"/>
            </a:pPr>
            <a:r>
              <a:rPr lang="en-US" altLang="zh-CN" sz="2400" b="1" u="sng" smtClean="0">
                <a:solidFill>
                  <a:schemeClr val="tx1"/>
                </a:solidFill>
              </a:rPr>
              <a:t>Compared with online courses</a:t>
            </a:r>
            <a:r>
              <a:rPr lang="en-US" altLang="zh-CN" sz="2400" b="1" smtClean="0">
                <a:solidFill>
                  <a:schemeClr val="tx1"/>
                </a:solidFill>
              </a:rPr>
              <a:t>, classroom-based learning is more effective.</a:t>
            </a:r>
            <a:endParaRPr lang="en-US" altLang="zh-CN" sz="2400" b="1" smtClean="0">
              <a:solidFill>
                <a:schemeClr val="tx1"/>
              </a:solidFill>
            </a:endParaRPr>
          </a:p>
          <a:p>
            <a:pPr>
              <a:buFont typeface="Wingdings" panose="05000000000000000000" pitchFamily="2" charset="2"/>
              <a:buChar char="Ø"/>
            </a:pPr>
            <a:endParaRPr lang="en-US" altLang="zh-CN" sz="2400" b="1" smtClean="0">
              <a:solidFill>
                <a:schemeClr val="tx1"/>
              </a:solidFill>
            </a:endParaRPr>
          </a:p>
          <a:p>
            <a:pPr>
              <a:buFont typeface="Wingdings" panose="05000000000000000000" pitchFamily="2" charset="2"/>
              <a:buChar char="Ø"/>
            </a:pPr>
            <a:endParaRPr lang="en-US" altLang="zh-CN" sz="2400" b="1" smtClean="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 calcmode="lin" valueType="num">
                                      <p:cBhvr additive="base">
                                        <p:cTn id="7" dur="500" fill="hold"/>
                                        <p:tgtEl>
                                          <p:spTgt spid="717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0">
                                            <p:txEl>
                                              <p:pRg st="1" end="1"/>
                                            </p:txEl>
                                          </p:spTgt>
                                        </p:tgtEl>
                                        <p:attrNameLst>
                                          <p:attrName>style.visibility</p:attrName>
                                        </p:attrNameLst>
                                      </p:cBhvr>
                                      <p:to>
                                        <p:strVal val="visible"/>
                                      </p:to>
                                    </p:set>
                                    <p:anim calcmode="lin" valueType="num">
                                      <p:cBhvr additive="base">
                                        <p:cTn id="13" dur="500" fill="hold"/>
                                        <p:tgtEl>
                                          <p:spTgt spid="717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0">
                                            <p:txEl>
                                              <p:pRg st="2" end="2"/>
                                            </p:txEl>
                                          </p:spTgt>
                                        </p:tgtEl>
                                        <p:attrNameLst>
                                          <p:attrName>style.visibility</p:attrName>
                                        </p:attrNameLst>
                                      </p:cBhvr>
                                      <p:to>
                                        <p:strVal val="visible"/>
                                      </p:to>
                                    </p:set>
                                    <p:anim calcmode="lin" valueType="num">
                                      <p:cBhvr additive="base">
                                        <p:cTn id="19" dur="500" fill="hold"/>
                                        <p:tgtEl>
                                          <p:spTgt spid="717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170">
                                            <p:txEl>
                                              <p:pRg st="3" end="3"/>
                                            </p:txEl>
                                          </p:spTgt>
                                        </p:tgtEl>
                                        <p:attrNameLst>
                                          <p:attrName>style.visibility</p:attrName>
                                        </p:attrNameLst>
                                      </p:cBhvr>
                                      <p:to>
                                        <p:strVal val="visible"/>
                                      </p:to>
                                    </p:set>
                                    <p:anim calcmode="lin" valueType="num">
                                      <p:cBhvr additive="base">
                                        <p:cTn id="25" dur="500" fill="hold"/>
                                        <p:tgtEl>
                                          <p:spTgt spid="717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7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170">
                                            <p:txEl>
                                              <p:pRg st="4" end="4"/>
                                            </p:txEl>
                                          </p:spTgt>
                                        </p:tgtEl>
                                        <p:attrNameLst>
                                          <p:attrName>style.visibility</p:attrName>
                                        </p:attrNameLst>
                                      </p:cBhvr>
                                      <p:to>
                                        <p:strVal val="visible"/>
                                      </p:to>
                                    </p:set>
                                    <p:anim calcmode="lin" valueType="num">
                                      <p:cBhvr additive="base">
                                        <p:cTn id="31" dur="500" fill="hold"/>
                                        <p:tgtEl>
                                          <p:spTgt spid="717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7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170">
                                            <p:txEl>
                                              <p:pRg st="5" end="5"/>
                                            </p:txEl>
                                          </p:spTgt>
                                        </p:tgtEl>
                                        <p:attrNameLst>
                                          <p:attrName>style.visibility</p:attrName>
                                        </p:attrNameLst>
                                      </p:cBhvr>
                                      <p:to>
                                        <p:strVal val="visible"/>
                                      </p:to>
                                    </p:set>
                                    <p:anim calcmode="lin" valueType="num">
                                      <p:cBhvr additive="base">
                                        <p:cTn id="37" dur="500" fill="hold"/>
                                        <p:tgtEl>
                                          <p:spTgt spid="717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17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395605" y="411480"/>
            <a:ext cx="6704330" cy="500380"/>
          </a:xfrm>
        </p:spPr>
        <p:txBody>
          <a:bodyPr/>
          <a:lstStyle/>
          <a:p>
            <a:r>
              <a:rPr lang="zh-CN" altLang="en-US" sz="2400" smtClean="0">
                <a:solidFill>
                  <a:schemeClr val="tx1"/>
                </a:solidFill>
              </a:rPr>
              <a:t>补充语法点①状语从句的省略</a:t>
            </a:r>
            <a:r>
              <a:rPr lang="en-US" altLang="zh-CN" sz="2400" smtClean="0">
                <a:solidFill>
                  <a:schemeClr val="tx1"/>
                </a:solidFill>
              </a:rPr>
              <a:t>--</a:t>
            </a:r>
            <a:r>
              <a:rPr lang="zh-CN" altLang="en-US" sz="2400" smtClean="0">
                <a:solidFill>
                  <a:schemeClr val="tx1"/>
                </a:solidFill>
              </a:rPr>
              <a:t>分词做状语</a:t>
            </a:r>
            <a:endParaRPr lang="zh-CN" altLang="en-US" sz="2400" smtClean="0">
              <a:solidFill>
                <a:schemeClr val="tx1"/>
              </a:solidFill>
            </a:endParaRPr>
          </a:p>
        </p:txBody>
      </p:sp>
      <p:sp>
        <p:nvSpPr>
          <p:cNvPr id="7170" name="内容占位符 2"/>
          <p:cNvSpPr>
            <a:spLocks noGrp="1"/>
          </p:cNvSpPr>
          <p:nvPr>
            <p:ph idx="1"/>
          </p:nvPr>
        </p:nvSpPr>
        <p:spPr>
          <a:xfrm>
            <a:off x="394970" y="911225"/>
            <a:ext cx="8816975" cy="4076700"/>
          </a:xfrm>
        </p:spPr>
        <p:txBody>
          <a:bodyPr/>
          <a:lstStyle/>
          <a:p>
            <a:pPr>
              <a:buFont typeface="Wingdings" panose="05000000000000000000" pitchFamily="2" charset="2"/>
              <a:buChar char="Ø"/>
            </a:pPr>
            <a:r>
              <a:rPr lang="en-US" altLang="zh-CN" sz="2400" b="1" smtClean="0">
                <a:solidFill>
                  <a:schemeClr val="tx1"/>
                </a:solidFill>
              </a:rPr>
              <a:t>Compared with traditional games, electronic games are more exciting.</a:t>
            </a:r>
            <a:endParaRPr lang="en-US" altLang="zh-CN" sz="2400" b="1" smtClean="0">
              <a:solidFill>
                <a:schemeClr val="tx1"/>
              </a:solidFill>
            </a:endParaRPr>
          </a:p>
          <a:p>
            <a:pPr>
              <a:buFont typeface="Wingdings" panose="05000000000000000000" pitchFamily="2" charset="2"/>
              <a:buChar char="Ø"/>
            </a:pPr>
            <a:r>
              <a:rPr lang="en-US" altLang="zh-CN" sz="2400" b="1" u="sng" smtClean="0">
                <a:solidFill>
                  <a:schemeClr val="tx1"/>
                </a:solidFill>
              </a:rPr>
              <a:t>When</a:t>
            </a:r>
            <a:r>
              <a:rPr lang="en-US" altLang="zh-CN" sz="2400" b="1" u="sng" smtClean="0">
                <a:solidFill>
                  <a:schemeClr val="tx1"/>
                </a:solidFill>
                <a:highlight>
                  <a:srgbClr val="FFFF00"/>
                </a:highlight>
              </a:rPr>
              <a:t> I </a:t>
            </a:r>
            <a:r>
              <a:rPr lang="en-US" altLang="zh-CN" sz="2400" b="1" u="sng" smtClean="0">
                <a:solidFill>
                  <a:schemeClr val="tx1"/>
                </a:solidFill>
              </a:rPr>
              <a:t>compare those apples</a:t>
            </a:r>
            <a:r>
              <a:rPr lang="en-US" altLang="zh-CN" sz="2400" b="1" smtClean="0">
                <a:solidFill>
                  <a:schemeClr val="tx1"/>
                </a:solidFill>
              </a:rPr>
              <a:t>,</a:t>
            </a:r>
            <a:r>
              <a:rPr lang="en-US" altLang="zh-CN" sz="2400" b="1" smtClean="0">
                <a:solidFill>
                  <a:schemeClr val="tx1"/>
                </a:solidFill>
                <a:highlight>
                  <a:srgbClr val="FFFF00"/>
                </a:highlight>
              </a:rPr>
              <a:t> I </a:t>
            </a:r>
            <a:r>
              <a:rPr lang="en-US" altLang="zh-CN" sz="2400" b="1" smtClean="0">
                <a:solidFill>
                  <a:schemeClr val="tx1"/>
                </a:solidFill>
              </a:rPr>
              <a:t>choose three.</a:t>
            </a:r>
            <a:endParaRPr lang="en-US" altLang="zh-CN" sz="2400" b="1" smtClean="0">
              <a:solidFill>
                <a:schemeClr val="tx1"/>
              </a:solidFill>
            </a:endParaRPr>
          </a:p>
          <a:p>
            <a:pPr>
              <a:buFont typeface="Wingdings" panose="05000000000000000000" pitchFamily="2" charset="2"/>
              <a:buChar char="Ø"/>
            </a:pPr>
            <a:r>
              <a:rPr lang="en-US" altLang="zh-CN" sz="2400" b="1" u="sng" smtClean="0">
                <a:solidFill>
                  <a:schemeClr val="tx1"/>
                </a:solidFill>
                <a:sym typeface="+mn-ea"/>
              </a:rPr>
              <a:t>Comparing those apples</a:t>
            </a:r>
            <a:r>
              <a:rPr lang="en-US" altLang="zh-CN" sz="2400" b="1" smtClean="0">
                <a:solidFill>
                  <a:schemeClr val="tx1"/>
                </a:solidFill>
                <a:sym typeface="+mn-ea"/>
              </a:rPr>
              <a:t>,</a:t>
            </a:r>
            <a:r>
              <a:rPr lang="en-US" altLang="zh-CN" sz="2400" b="1" smtClean="0">
                <a:solidFill>
                  <a:schemeClr val="tx1"/>
                </a:solidFill>
                <a:highlight>
                  <a:srgbClr val="FFFF00"/>
                </a:highlight>
                <a:sym typeface="+mn-ea"/>
              </a:rPr>
              <a:t> I </a:t>
            </a:r>
            <a:r>
              <a:rPr lang="en-US" altLang="zh-CN" sz="2400" b="1" smtClean="0">
                <a:solidFill>
                  <a:schemeClr val="tx1"/>
                </a:solidFill>
                <a:sym typeface="+mn-ea"/>
              </a:rPr>
              <a:t>choose three.</a:t>
            </a:r>
            <a:endParaRPr lang="en-US" altLang="zh-CN" sz="2400" b="1" smtClean="0">
              <a:solidFill>
                <a:schemeClr val="tx1"/>
              </a:solidFill>
              <a:sym typeface="+mn-ea"/>
            </a:endParaRPr>
          </a:p>
          <a:p>
            <a:pPr>
              <a:buFont typeface="Wingdings" panose="05000000000000000000" pitchFamily="2" charset="2"/>
              <a:buChar char="Ø"/>
            </a:pPr>
            <a:r>
              <a:rPr lang="en-US" altLang="zh-CN" sz="2400" b="1" u="sng" smtClean="0">
                <a:solidFill>
                  <a:srgbClr val="FF0000"/>
                </a:solidFill>
                <a:sym typeface="+mn-ea"/>
              </a:rPr>
              <a:t>Feeling a little tired</a:t>
            </a:r>
            <a:r>
              <a:rPr lang="en-US" altLang="zh-CN" sz="2400" b="1" smtClean="0">
                <a:solidFill>
                  <a:schemeClr val="tx1"/>
                </a:solidFill>
                <a:sym typeface="+mn-ea"/>
              </a:rPr>
              <a:t>, I plan to take a nap.</a:t>
            </a:r>
            <a:endParaRPr lang="en-US" altLang="zh-CN" sz="2400" b="1" smtClean="0">
              <a:solidFill>
                <a:schemeClr val="tx1"/>
              </a:solidFill>
              <a:sym typeface="+mn-ea"/>
            </a:endParaRPr>
          </a:p>
          <a:p>
            <a:pPr>
              <a:buFont typeface="Wingdings" panose="05000000000000000000" pitchFamily="2" charset="2"/>
              <a:buChar char="Ø"/>
            </a:pPr>
            <a:r>
              <a:rPr lang="en-US" altLang="zh-CN" sz="2400" b="1" smtClean="0">
                <a:solidFill>
                  <a:schemeClr val="tx1"/>
                </a:solidFill>
                <a:sym typeface="+mn-ea"/>
              </a:rPr>
              <a:t>Many students are addicted to video games, </a:t>
            </a:r>
            <a:r>
              <a:rPr lang="en-US" altLang="zh-CN" sz="2400" b="1" u="sng" smtClean="0">
                <a:solidFill>
                  <a:srgbClr val="FF0000"/>
                </a:solidFill>
                <a:sym typeface="+mn-ea"/>
              </a:rPr>
              <a:t>causing them to be distracted from their study</a:t>
            </a:r>
            <a:r>
              <a:rPr lang="en-US" altLang="zh-CN" sz="2400" b="1" smtClean="0">
                <a:solidFill>
                  <a:schemeClr val="tx1"/>
                </a:solidFill>
                <a:sym typeface="+mn-ea"/>
              </a:rPr>
              <a:t>.</a:t>
            </a:r>
            <a:endParaRPr lang="en-US" altLang="zh-CN" sz="2400" b="1" smtClean="0">
              <a:solidFill>
                <a:schemeClr val="tx1"/>
              </a:solidFill>
            </a:endParaRPr>
          </a:p>
          <a:p>
            <a:pPr>
              <a:buFont typeface="Wingdings" panose="05000000000000000000" pitchFamily="2" charset="2"/>
              <a:buChar char="Ø"/>
            </a:pPr>
            <a:endParaRPr lang="en-US" altLang="zh-CN" sz="2400" b="1" smtClean="0">
              <a:solidFill>
                <a:schemeClr val="tx1"/>
              </a:solidFill>
            </a:endParaRPr>
          </a:p>
          <a:p>
            <a:pPr>
              <a:buFont typeface="Wingdings" panose="05000000000000000000" pitchFamily="2" charset="2"/>
              <a:buChar char="Ø"/>
            </a:pPr>
            <a:endParaRPr lang="en-US" altLang="zh-CN" sz="2400" b="1" smtClean="0">
              <a:solidFill>
                <a:schemeClr val="tx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395605" y="411480"/>
            <a:ext cx="6704330" cy="500380"/>
          </a:xfrm>
        </p:spPr>
        <p:txBody>
          <a:bodyPr/>
          <a:lstStyle/>
          <a:p>
            <a:r>
              <a:rPr lang="zh-CN" altLang="en-US" sz="2400" smtClean="0">
                <a:solidFill>
                  <a:schemeClr val="tx1"/>
                </a:solidFill>
              </a:rPr>
              <a:t>补充语法点②辨析</a:t>
            </a:r>
            <a:r>
              <a:rPr lang="en-US" altLang="zh-CN" sz="2400" smtClean="0">
                <a:solidFill>
                  <a:schemeClr val="tx1"/>
                </a:solidFill>
              </a:rPr>
              <a:t>that &amp; those</a:t>
            </a:r>
            <a:endParaRPr lang="en-US" altLang="zh-CN" sz="2400" smtClean="0">
              <a:solidFill>
                <a:schemeClr val="tx1"/>
              </a:solidFill>
            </a:endParaRPr>
          </a:p>
        </p:txBody>
      </p:sp>
      <p:sp>
        <p:nvSpPr>
          <p:cNvPr id="7170" name="内容占位符 2"/>
          <p:cNvSpPr>
            <a:spLocks noGrp="1"/>
          </p:cNvSpPr>
          <p:nvPr>
            <p:ph idx="1"/>
          </p:nvPr>
        </p:nvSpPr>
        <p:spPr>
          <a:xfrm>
            <a:off x="394970" y="911225"/>
            <a:ext cx="8291830" cy="3821430"/>
          </a:xfrm>
        </p:spPr>
        <p:txBody>
          <a:bodyPr/>
          <a:lstStyle/>
          <a:p>
            <a:pPr>
              <a:buFont typeface="Wingdings" panose="05000000000000000000" pitchFamily="2" charset="2"/>
              <a:buChar char="Ø"/>
            </a:pPr>
            <a:r>
              <a:rPr lang="en-US" altLang="zh-CN" sz="2400" b="1" u="sng" smtClean="0">
                <a:solidFill>
                  <a:srgbClr val="FF0000"/>
                </a:solidFill>
              </a:rPr>
              <a:t>The proportion</a:t>
            </a:r>
            <a:r>
              <a:rPr lang="en-US" altLang="zh-CN" sz="2400" b="1" smtClean="0">
                <a:solidFill>
                  <a:schemeClr val="tx1"/>
                </a:solidFill>
              </a:rPr>
              <a:t> of girls is larger than</a:t>
            </a:r>
            <a:r>
              <a:rPr lang="en-US" altLang="zh-CN" sz="2400" b="1" u="sng" smtClean="0">
                <a:solidFill>
                  <a:srgbClr val="FF0000"/>
                </a:solidFill>
              </a:rPr>
              <a:t> that </a:t>
            </a:r>
            <a:r>
              <a:rPr lang="en-US" altLang="zh-CN" sz="2400" b="1" smtClean="0">
                <a:solidFill>
                  <a:schemeClr val="tx1"/>
                </a:solidFill>
              </a:rPr>
              <a:t>of boys. </a:t>
            </a:r>
            <a:r>
              <a:rPr lang="zh-CN" altLang="en-US" sz="2400" b="1" smtClean="0">
                <a:solidFill>
                  <a:schemeClr val="tx1"/>
                </a:solidFill>
              </a:rPr>
              <a:t>同类不同个</a:t>
            </a:r>
            <a:r>
              <a:rPr lang="en-US" altLang="zh-CN" sz="2400" b="1" smtClean="0">
                <a:solidFill>
                  <a:schemeClr val="tx1"/>
                </a:solidFill>
              </a:rPr>
              <a:t>--</a:t>
            </a:r>
            <a:r>
              <a:rPr lang="zh-CN" altLang="en-US" sz="2400" b="1" smtClean="0">
                <a:solidFill>
                  <a:schemeClr val="tx1"/>
                </a:solidFill>
              </a:rPr>
              <a:t>单数</a:t>
            </a:r>
            <a:endParaRPr lang="zh-CN" altLang="en-US" sz="2400" b="1" smtClean="0">
              <a:solidFill>
                <a:schemeClr val="tx1"/>
              </a:solidFill>
            </a:endParaRPr>
          </a:p>
          <a:p>
            <a:pPr>
              <a:buFont typeface="Wingdings" panose="05000000000000000000" pitchFamily="2" charset="2"/>
              <a:buChar char="Ø"/>
            </a:pPr>
            <a:r>
              <a:rPr lang="en-US" altLang="zh-CN" sz="2400" b="1" u="sng" smtClean="0">
                <a:solidFill>
                  <a:srgbClr val="FF0000"/>
                </a:solidFill>
              </a:rPr>
              <a:t>The girls </a:t>
            </a:r>
            <a:r>
              <a:rPr lang="en-US" altLang="zh-CN" sz="2400" b="1" smtClean="0">
                <a:solidFill>
                  <a:schemeClr val="tx1"/>
                </a:solidFill>
              </a:rPr>
              <a:t>in SD are much taller than</a:t>
            </a:r>
            <a:r>
              <a:rPr lang="en-US" altLang="zh-CN" sz="2400" b="1" u="sng" smtClean="0">
                <a:solidFill>
                  <a:srgbClr val="FF0000"/>
                </a:solidFill>
              </a:rPr>
              <a:t> those</a:t>
            </a:r>
            <a:r>
              <a:rPr lang="en-US" altLang="zh-CN" sz="2400" b="1" smtClean="0">
                <a:solidFill>
                  <a:schemeClr val="tx1"/>
                </a:solidFill>
              </a:rPr>
              <a:t> in BJ. </a:t>
            </a:r>
            <a:r>
              <a:rPr lang="zh-CN" altLang="en-US" sz="2400" b="1" smtClean="0">
                <a:solidFill>
                  <a:schemeClr val="tx1"/>
                </a:solidFill>
              </a:rPr>
              <a:t>同类不同个</a:t>
            </a:r>
            <a:r>
              <a:rPr lang="en-US" altLang="zh-CN" sz="2400" b="1" smtClean="0">
                <a:solidFill>
                  <a:schemeClr val="tx1"/>
                </a:solidFill>
              </a:rPr>
              <a:t>--</a:t>
            </a:r>
            <a:r>
              <a:rPr lang="zh-CN" altLang="en-US" sz="2400" b="1" smtClean="0">
                <a:solidFill>
                  <a:schemeClr val="tx1"/>
                </a:solidFill>
              </a:rPr>
              <a:t>复数</a:t>
            </a:r>
            <a:endParaRPr lang="zh-CN" altLang="en-US" sz="2400" b="1" smtClean="0">
              <a:solidFill>
                <a:schemeClr val="tx1"/>
              </a:solidFill>
            </a:endParaRPr>
          </a:p>
          <a:p>
            <a:pPr>
              <a:buFont typeface="Wingdings" panose="05000000000000000000" pitchFamily="2" charset="2"/>
              <a:buChar char="Ø"/>
            </a:pPr>
            <a:r>
              <a:rPr lang="zh-CN" altLang="en-US" sz="2400" b="1" smtClean="0">
                <a:solidFill>
                  <a:schemeClr val="tx1"/>
                </a:solidFill>
              </a:rPr>
              <a:t>表示趋势对比</a:t>
            </a:r>
            <a:endParaRPr lang="zh-CN" altLang="en-US" sz="2400" b="1" smtClean="0">
              <a:solidFill>
                <a:schemeClr val="tx1"/>
              </a:solidFill>
            </a:endParaRPr>
          </a:p>
          <a:p>
            <a:pPr>
              <a:buFont typeface="Wingdings" panose="05000000000000000000" pitchFamily="2" charset="2"/>
              <a:buChar char="Ø"/>
            </a:pPr>
            <a:r>
              <a:rPr lang="en-US" altLang="zh-CN" sz="2400" b="1" smtClean="0">
                <a:solidFill>
                  <a:schemeClr val="tx1"/>
                </a:solidFill>
              </a:rPr>
              <a:t>from 1993 to 2003, a slight decrease was seen in the output of seafood in America, while that in China increased steadily.</a:t>
            </a:r>
            <a:endParaRPr lang="en-US" altLang="zh-CN" sz="2400" b="1" smtClean="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 calcmode="lin" valueType="num">
                                      <p:cBhvr additive="base">
                                        <p:cTn id="7" dur="500" fill="hold"/>
                                        <p:tgtEl>
                                          <p:spTgt spid="717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0">
                                            <p:txEl>
                                              <p:pRg st="1" end="1"/>
                                            </p:txEl>
                                          </p:spTgt>
                                        </p:tgtEl>
                                        <p:attrNameLst>
                                          <p:attrName>style.visibility</p:attrName>
                                        </p:attrNameLst>
                                      </p:cBhvr>
                                      <p:to>
                                        <p:strVal val="visible"/>
                                      </p:to>
                                    </p:set>
                                    <p:anim calcmode="lin" valueType="num">
                                      <p:cBhvr additive="base">
                                        <p:cTn id="13" dur="500" fill="hold"/>
                                        <p:tgtEl>
                                          <p:spTgt spid="717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0">
                                            <p:txEl>
                                              <p:pRg st="2" end="2"/>
                                            </p:txEl>
                                          </p:spTgt>
                                        </p:tgtEl>
                                        <p:attrNameLst>
                                          <p:attrName>style.visibility</p:attrName>
                                        </p:attrNameLst>
                                      </p:cBhvr>
                                      <p:to>
                                        <p:strVal val="visible"/>
                                      </p:to>
                                    </p:set>
                                    <p:anim calcmode="lin" valueType="num">
                                      <p:cBhvr additive="base">
                                        <p:cTn id="19" dur="500" fill="hold"/>
                                        <p:tgtEl>
                                          <p:spTgt spid="717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170">
                                            <p:txEl>
                                              <p:pRg st="3" end="3"/>
                                            </p:txEl>
                                          </p:spTgt>
                                        </p:tgtEl>
                                        <p:attrNameLst>
                                          <p:attrName>style.visibility</p:attrName>
                                        </p:attrNameLst>
                                      </p:cBhvr>
                                      <p:to>
                                        <p:strVal val="visible"/>
                                      </p:to>
                                    </p:set>
                                    <p:anim calcmode="lin" valueType="num">
                                      <p:cBhvr additive="base">
                                        <p:cTn id="25" dur="500" fill="hold"/>
                                        <p:tgtEl>
                                          <p:spTgt spid="717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7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395605" y="411480"/>
            <a:ext cx="6704330" cy="500380"/>
          </a:xfrm>
        </p:spPr>
        <p:txBody>
          <a:bodyPr/>
          <a:lstStyle/>
          <a:p>
            <a:r>
              <a:rPr lang="zh-CN" altLang="en-US" sz="2400" smtClean="0">
                <a:solidFill>
                  <a:schemeClr val="tx1"/>
                </a:solidFill>
              </a:rPr>
              <a:t>补充语法点②辨析</a:t>
            </a:r>
            <a:r>
              <a:rPr lang="en-US" altLang="zh-CN" sz="2400" smtClean="0">
                <a:solidFill>
                  <a:schemeClr val="tx1"/>
                </a:solidFill>
              </a:rPr>
              <a:t>that &amp; those</a:t>
            </a:r>
            <a:endParaRPr lang="en-US" altLang="zh-CN" sz="2400" smtClean="0">
              <a:solidFill>
                <a:schemeClr val="tx1"/>
              </a:solidFill>
            </a:endParaRPr>
          </a:p>
        </p:txBody>
      </p:sp>
      <p:sp>
        <p:nvSpPr>
          <p:cNvPr id="7170" name="内容占位符 2"/>
          <p:cNvSpPr>
            <a:spLocks noGrp="1"/>
          </p:cNvSpPr>
          <p:nvPr>
            <p:ph idx="1"/>
          </p:nvPr>
        </p:nvSpPr>
        <p:spPr>
          <a:xfrm>
            <a:off x="394970" y="911225"/>
            <a:ext cx="8291830" cy="3821430"/>
          </a:xfrm>
        </p:spPr>
        <p:txBody>
          <a:bodyPr/>
          <a:lstStyle/>
          <a:p>
            <a:pPr>
              <a:buFont typeface="Wingdings" panose="05000000000000000000" pitchFamily="2" charset="2"/>
              <a:buChar char="Ø"/>
            </a:pPr>
            <a:r>
              <a:rPr lang="zh-CN" altLang="en-US" sz="2400" b="1" smtClean="0">
                <a:solidFill>
                  <a:schemeClr val="tx1"/>
                </a:solidFill>
              </a:rPr>
              <a:t>表示趋势对比</a:t>
            </a:r>
            <a:endParaRPr lang="zh-CN" altLang="en-US" sz="2400" b="1" smtClean="0">
              <a:solidFill>
                <a:schemeClr val="tx1"/>
              </a:solidFill>
            </a:endParaRPr>
          </a:p>
          <a:p>
            <a:pPr>
              <a:buFont typeface="Wingdings" panose="05000000000000000000" pitchFamily="2" charset="2"/>
              <a:buChar char="Ø"/>
            </a:pPr>
            <a:r>
              <a:rPr lang="en-US" altLang="zh-CN" sz="2400" b="1" smtClean="0">
                <a:solidFill>
                  <a:schemeClr val="tx1"/>
                </a:solidFill>
              </a:rPr>
              <a:t>from 1993 to 2003, a slight decrease was seen </a:t>
            </a:r>
            <a:r>
              <a:rPr lang="en-US" altLang="zh-CN" sz="2400" b="1" smtClean="0">
                <a:solidFill>
                  <a:schemeClr val="tx1"/>
                </a:solidFill>
                <a:sym typeface="+mn-ea"/>
              </a:rPr>
              <a:t>in</a:t>
            </a:r>
            <a:r>
              <a:rPr lang="en-US" altLang="zh-CN" sz="2400" b="1" u="sng" smtClean="0">
                <a:solidFill>
                  <a:srgbClr val="FF0000"/>
                </a:solidFill>
                <a:sym typeface="+mn-ea"/>
              </a:rPr>
              <a:t> the sales of clothes in America</a:t>
            </a:r>
            <a:r>
              <a:rPr lang="en-US" altLang="zh-CN" sz="2400" b="1" smtClean="0">
                <a:solidFill>
                  <a:schemeClr val="tx1"/>
                </a:solidFill>
                <a:sym typeface="+mn-ea"/>
              </a:rPr>
              <a:t>, while</a:t>
            </a:r>
            <a:r>
              <a:rPr lang="en-US" altLang="zh-CN" sz="2400" b="1" u="sng" smtClean="0">
                <a:solidFill>
                  <a:srgbClr val="FF0000"/>
                </a:solidFill>
                <a:sym typeface="+mn-ea"/>
              </a:rPr>
              <a:t> those in China</a:t>
            </a:r>
            <a:r>
              <a:rPr lang="en-US" altLang="zh-CN" sz="2400" b="1" smtClean="0">
                <a:solidFill>
                  <a:schemeClr val="tx1"/>
                </a:solidFill>
                <a:sym typeface="+mn-ea"/>
              </a:rPr>
              <a:t> </a:t>
            </a:r>
            <a:r>
              <a:rPr lang="en-US" altLang="zh-CN" sz="2400" b="1" smtClean="0">
                <a:solidFill>
                  <a:schemeClr val="tx1"/>
                </a:solidFill>
              </a:rPr>
              <a:t> increased steadily.</a:t>
            </a:r>
            <a:endParaRPr lang="en-US" altLang="zh-CN" sz="2400" b="1" smtClean="0">
              <a:solidFill>
                <a:schemeClr val="tx1"/>
              </a:solidFill>
            </a:endParaRPr>
          </a:p>
          <a:p>
            <a:pPr>
              <a:buFont typeface="Wingdings" panose="05000000000000000000" pitchFamily="2" charset="2"/>
              <a:buChar char="Ø"/>
            </a:pPr>
            <a:r>
              <a:rPr lang="en-US" altLang="zh-CN" sz="2400" b="1" smtClean="0">
                <a:solidFill>
                  <a:schemeClr val="tx1"/>
                </a:solidFill>
              </a:rPr>
              <a:t>Between 1996 and 2006, a dramatic increase was seen </a:t>
            </a:r>
            <a:r>
              <a:rPr lang="en-US" altLang="zh-CN" sz="2400" b="1" smtClean="0">
                <a:solidFill>
                  <a:schemeClr val="tx1"/>
                </a:solidFill>
                <a:sym typeface="+mn-ea"/>
              </a:rPr>
              <a:t> </a:t>
            </a:r>
            <a:r>
              <a:rPr lang="en-US" altLang="zh-CN" sz="2400" b="1" u="sng" smtClean="0">
                <a:solidFill>
                  <a:srgbClr val="FF0000"/>
                </a:solidFill>
                <a:sym typeface="+mn-ea"/>
              </a:rPr>
              <a:t>the output of seafood</a:t>
            </a:r>
            <a:r>
              <a:rPr lang="en-US" altLang="zh-CN" sz="2400" b="1" smtClean="0">
                <a:solidFill>
                  <a:schemeClr val="tx1"/>
                </a:solidFill>
                <a:sym typeface="+mn-ea"/>
              </a:rPr>
              <a:t> in America, while </a:t>
            </a:r>
            <a:r>
              <a:rPr lang="en-US" altLang="zh-CN" sz="2400" b="1" u="sng" smtClean="0">
                <a:solidFill>
                  <a:srgbClr val="FF0000"/>
                </a:solidFill>
                <a:sym typeface="+mn-ea"/>
              </a:rPr>
              <a:t>that in China</a:t>
            </a:r>
            <a:r>
              <a:rPr lang="en-US" altLang="zh-CN" sz="2400" b="1" smtClean="0">
                <a:solidFill>
                  <a:schemeClr val="tx1"/>
                </a:solidFill>
              </a:rPr>
              <a:t>decreased constantly.</a:t>
            </a:r>
            <a:endParaRPr lang="en-US" altLang="zh-CN" sz="2400" b="1" smtClean="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 calcmode="lin" valueType="num">
                                      <p:cBhvr additive="base">
                                        <p:cTn id="7" dur="500" fill="hold"/>
                                        <p:tgtEl>
                                          <p:spTgt spid="717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0">
                                            <p:txEl>
                                              <p:pRg st="1" end="1"/>
                                            </p:txEl>
                                          </p:spTgt>
                                        </p:tgtEl>
                                        <p:attrNameLst>
                                          <p:attrName>style.visibility</p:attrName>
                                        </p:attrNameLst>
                                      </p:cBhvr>
                                      <p:to>
                                        <p:strVal val="visible"/>
                                      </p:to>
                                    </p:set>
                                    <p:anim calcmode="lin" valueType="num">
                                      <p:cBhvr additive="base">
                                        <p:cTn id="13" dur="500" fill="hold"/>
                                        <p:tgtEl>
                                          <p:spTgt spid="717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0">
                                            <p:txEl>
                                              <p:pRg st="2" end="2"/>
                                            </p:txEl>
                                          </p:spTgt>
                                        </p:tgtEl>
                                        <p:attrNameLst>
                                          <p:attrName>style.visibility</p:attrName>
                                        </p:attrNameLst>
                                      </p:cBhvr>
                                      <p:to>
                                        <p:strVal val="visible"/>
                                      </p:to>
                                    </p:set>
                                    <p:anim calcmode="lin" valueType="num">
                                      <p:cBhvr additive="base">
                                        <p:cTn id="19" dur="500" fill="hold"/>
                                        <p:tgtEl>
                                          <p:spTgt spid="717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395605" y="411480"/>
            <a:ext cx="6704330" cy="500380"/>
          </a:xfrm>
        </p:spPr>
        <p:txBody>
          <a:bodyPr/>
          <a:lstStyle/>
          <a:p>
            <a:r>
              <a:rPr lang="zh-CN" altLang="en-US" sz="2400" smtClean="0">
                <a:solidFill>
                  <a:schemeClr val="tx1"/>
                </a:solidFill>
              </a:rPr>
              <a:t>补充语法点②辨析</a:t>
            </a:r>
            <a:r>
              <a:rPr lang="en-US" altLang="zh-CN" sz="2400" smtClean="0">
                <a:solidFill>
                  <a:schemeClr val="tx1"/>
                </a:solidFill>
              </a:rPr>
              <a:t>that &amp; those</a:t>
            </a:r>
            <a:endParaRPr lang="en-US" altLang="zh-CN" sz="2400" smtClean="0">
              <a:solidFill>
                <a:schemeClr val="tx1"/>
              </a:solidFill>
            </a:endParaRPr>
          </a:p>
        </p:txBody>
      </p:sp>
      <p:sp>
        <p:nvSpPr>
          <p:cNvPr id="7170" name="内容占位符 2"/>
          <p:cNvSpPr>
            <a:spLocks noGrp="1"/>
          </p:cNvSpPr>
          <p:nvPr>
            <p:ph idx="1"/>
          </p:nvPr>
        </p:nvSpPr>
        <p:spPr>
          <a:xfrm>
            <a:off x="394970" y="911225"/>
            <a:ext cx="8291830" cy="3821430"/>
          </a:xfrm>
        </p:spPr>
        <p:txBody>
          <a:bodyPr/>
          <a:lstStyle/>
          <a:p>
            <a:pPr>
              <a:buFont typeface="Wingdings" panose="05000000000000000000" pitchFamily="2" charset="2"/>
              <a:buChar char="Ø"/>
            </a:pPr>
            <a:r>
              <a:rPr lang="zh-CN" altLang="en-US" sz="2400" b="1" smtClean="0">
                <a:solidFill>
                  <a:schemeClr val="tx1"/>
                </a:solidFill>
              </a:rPr>
              <a:t>表示交点</a:t>
            </a:r>
            <a:r>
              <a:rPr lang="en-US" altLang="zh-CN" sz="2400" b="1" smtClean="0">
                <a:solidFill>
                  <a:schemeClr val="tx1"/>
                </a:solidFill>
              </a:rPr>
              <a:t> exceed; overtake; surpass</a:t>
            </a:r>
            <a:endParaRPr lang="zh-CN" altLang="en-US" sz="2400" b="1" smtClean="0">
              <a:solidFill>
                <a:schemeClr val="tx1"/>
              </a:solidFill>
            </a:endParaRPr>
          </a:p>
          <a:p>
            <a:pPr>
              <a:buFont typeface="Wingdings" panose="05000000000000000000" pitchFamily="2" charset="2"/>
              <a:buChar char="Ø"/>
            </a:pPr>
            <a:r>
              <a:rPr lang="en-US" altLang="zh-CN" sz="2400" b="1" smtClean="0">
                <a:solidFill>
                  <a:schemeClr val="tx1"/>
                </a:solidFill>
              </a:rPr>
              <a:t>It is note-worthy that the sales of children’s book exceeded those of adults’ fiction,</a:t>
            </a:r>
            <a:r>
              <a:rPr lang="en-US" altLang="zh-CN" sz="2400" b="1" i="1" u="sng" smtClean="0">
                <a:solidFill>
                  <a:srgbClr val="FF0000"/>
                </a:solidFill>
              </a:rPr>
              <a:t> and it had become the best-seller since 2003</a:t>
            </a:r>
            <a:r>
              <a:rPr lang="en-US" altLang="zh-CN" sz="2400" b="1" smtClean="0">
                <a:solidFill>
                  <a:schemeClr val="tx1"/>
                </a:solidFill>
              </a:rPr>
              <a:t>.</a:t>
            </a:r>
            <a:endParaRPr lang="en-US" altLang="zh-CN" sz="2400" b="1" smtClean="0">
              <a:solidFill>
                <a:schemeClr val="tx1"/>
              </a:solidFill>
            </a:endParaRPr>
          </a:p>
          <a:p>
            <a:pPr>
              <a:buFont typeface="Wingdings" panose="05000000000000000000" pitchFamily="2" charset="2"/>
              <a:buChar char="Ø"/>
            </a:pPr>
            <a:r>
              <a:rPr lang="en-US" altLang="zh-CN" sz="2400" b="1" smtClean="0">
                <a:solidFill>
                  <a:schemeClr val="tx1"/>
                </a:solidFill>
              </a:rPr>
              <a:t>In 2030, </a:t>
            </a:r>
            <a:r>
              <a:rPr lang="en-US" altLang="zh-CN" sz="2400" b="1" u="sng" smtClean="0">
                <a:solidFill>
                  <a:srgbClr val="FF0000"/>
                </a:solidFill>
              </a:rPr>
              <a:t>the production of vegetables in America</a:t>
            </a:r>
            <a:r>
              <a:rPr lang="en-US" altLang="zh-CN" sz="2400" b="1" smtClean="0">
                <a:solidFill>
                  <a:schemeClr val="tx1"/>
                </a:solidFill>
              </a:rPr>
              <a:t> is expected to exceed </a:t>
            </a:r>
            <a:r>
              <a:rPr lang="en-US" altLang="zh-CN" sz="2400" b="1" u="sng" smtClean="0">
                <a:solidFill>
                  <a:srgbClr val="FF0000"/>
                </a:solidFill>
              </a:rPr>
              <a:t>that in Brazil</a:t>
            </a:r>
            <a:r>
              <a:rPr lang="en-US" altLang="zh-CN" sz="2400" b="1" smtClean="0">
                <a:solidFill>
                  <a:schemeClr val="tx1"/>
                </a:solidFill>
              </a:rPr>
              <a:t>, and it will become the largest exporter of vegetables.</a:t>
            </a:r>
            <a:endParaRPr lang="en-US" altLang="zh-CN" sz="2400" b="1" smtClean="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 calcmode="lin" valueType="num">
                                      <p:cBhvr additive="base">
                                        <p:cTn id="7" dur="500" fill="hold"/>
                                        <p:tgtEl>
                                          <p:spTgt spid="717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0">
                                            <p:txEl>
                                              <p:pRg st="1" end="1"/>
                                            </p:txEl>
                                          </p:spTgt>
                                        </p:tgtEl>
                                        <p:attrNameLst>
                                          <p:attrName>style.visibility</p:attrName>
                                        </p:attrNameLst>
                                      </p:cBhvr>
                                      <p:to>
                                        <p:strVal val="visible"/>
                                      </p:to>
                                    </p:set>
                                    <p:anim calcmode="lin" valueType="num">
                                      <p:cBhvr additive="base">
                                        <p:cTn id="13" dur="500" fill="hold"/>
                                        <p:tgtEl>
                                          <p:spTgt spid="717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0">
                                            <p:txEl>
                                              <p:pRg st="2" end="2"/>
                                            </p:txEl>
                                          </p:spTgt>
                                        </p:tgtEl>
                                        <p:attrNameLst>
                                          <p:attrName>style.visibility</p:attrName>
                                        </p:attrNameLst>
                                      </p:cBhvr>
                                      <p:to>
                                        <p:strVal val="visible"/>
                                      </p:to>
                                    </p:set>
                                    <p:anim calcmode="lin" valueType="num">
                                      <p:cBhvr additive="base">
                                        <p:cTn id="19" dur="500" fill="hold"/>
                                        <p:tgtEl>
                                          <p:spTgt spid="717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395605" y="411480"/>
            <a:ext cx="6704330" cy="500380"/>
          </a:xfrm>
        </p:spPr>
        <p:txBody>
          <a:bodyPr/>
          <a:lstStyle/>
          <a:p>
            <a:r>
              <a:rPr lang="zh-CN" altLang="en-US" sz="2400" smtClean="0">
                <a:solidFill>
                  <a:schemeClr val="tx1"/>
                </a:solidFill>
              </a:rPr>
              <a:t>补充语法点②辨析</a:t>
            </a:r>
            <a:r>
              <a:rPr lang="en-US" altLang="zh-CN" sz="2400" smtClean="0">
                <a:solidFill>
                  <a:schemeClr val="tx1"/>
                </a:solidFill>
              </a:rPr>
              <a:t>that &amp; those</a:t>
            </a:r>
            <a:endParaRPr lang="en-US" altLang="zh-CN" sz="2400" smtClean="0">
              <a:solidFill>
                <a:schemeClr val="tx1"/>
              </a:solidFill>
            </a:endParaRPr>
          </a:p>
        </p:txBody>
      </p:sp>
      <p:sp>
        <p:nvSpPr>
          <p:cNvPr id="7170" name="内容占位符 2"/>
          <p:cNvSpPr>
            <a:spLocks noGrp="1"/>
          </p:cNvSpPr>
          <p:nvPr>
            <p:ph idx="1"/>
          </p:nvPr>
        </p:nvSpPr>
        <p:spPr>
          <a:xfrm>
            <a:off x="394970" y="911225"/>
            <a:ext cx="8291830" cy="3821430"/>
          </a:xfrm>
        </p:spPr>
        <p:txBody>
          <a:bodyPr/>
          <a:lstStyle/>
          <a:p>
            <a:pPr>
              <a:buFont typeface="Wingdings" panose="05000000000000000000" pitchFamily="2" charset="2"/>
              <a:buChar char="Ø"/>
            </a:pPr>
            <a:r>
              <a:rPr lang="zh-CN" altLang="en-US" sz="2400" b="1" smtClean="0">
                <a:solidFill>
                  <a:schemeClr val="tx1"/>
                </a:solidFill>
              </a:rPr>
              <a:t>表示交点</a:t>
            </a:r>
            <a:r>
              <a:rPr lang="en-US" altLang="zh-CN" sz="2400" b="1" smtClean="0">
                <a:solidFill>
                  <a:schemeClr val="tx1"/>
                </a:solidFill>
              </a:rPr>
              <a:t> exceed; overtake; surpass</a:t>
            </a:r>
            <a:endParaRPr lang="zh-CN" altLang="en-US" sz="2400" b="1" smtClean="0">
              <a:solidFill>
                <a:schemeClr val="tx1"/>
              </a:solidFill>
            </a:endParaRPr>
          </a:p>
          <a:p>
            <a:pPr>
              <a:buFont typeface="Wingdings" panose="05000000000000000000" pitchFamily="2" charset="2"/>
              <a:buChar char="Ø"/>
            </a:pPr>
            <a:r>
              <a:rPr lang="en-US" altLang="zh-CN" sz="2400" b="1" smtClean="0">
                <a:solidFill>
                  <a:schemeClr val="tx1"/>
                </a:solidFill>
              </a:rPr>
              <a:t>In 2030, </a:t>
            </a:r>
            <a:r>
              <a:rPr lang="en-US" altLang="zh-CN" sz="2400" b="1" u="sng" smtClean="0">
                <a:solidFill>
                  <a:srgbClr val="FF0000"/>
                </a:solidFill>
              </a:rPr>
              <a:t>the production of vegetables in America</a:t>
            </a:r>
            <a:r>
              <a:rPr lang="en-US" altLang="zh-CN" sz="2400" b="1" smtClean="0">
                <a:solidFill>
                  <a:schemeClr val="tx1"/>
                </a:solidFill>
              </a:rPr>
              <a:t> is expected to exceed </a:t>
            </a:r>
            <a:r>
              <a:rPr lang="en-US" altLang="zh-CN" sz="2400" b="1" u="sng" smtClean="0">
                <a:solidFill>
                  <a:srgbClr val="FF0000"/>
                </a:solidFill>
              </a:rPr>
              <a:t>that in Brazil</a:t>
            </a:r>
            <a:r>
              <a:rPr lang="en-US" altLang="zh-CN" sz="2400" b="1" smtClean="0">
                <a:solidFill>
                  <a:schemeClr val="tx1"/>
                </a:solidFill>
              </a:rPr>
              <a:t>, and it will become the largest exporter of vegetables.</a:t>
            </a:r>
            <a:endParaRPr lang="en-US" altLang="zh-CN" sz="2400" b="1" smtClean="0">
              <a:solidFill>
                <a:schemeClr val="tx1"/>
              </a:solidFill>
            </a:endParaRPr>
          </a:p>
          <a:p>
            <a:pPr>
              <a:buFont typeface="Wingdings" panose="05000000000000000000" pitchFamily="2" charset="2"/>
              <a:buChar char="Ø"/>
            </a:pPr>
            <a:r>
              <a:rPr lang="en-US" altLang="zh-CN" sz="2400" b="1" smtClean="0">
                <a:solidFill>
                  <a:schemeClr val="tx1"/>
                </a:solidFill>
              </a:rPr>
              <a:t>In 2050, </a:t>
            </a:r>
            <a:r>
              <a:rPr lang="en-US" altLang="zh-CN" sz="2400" b="1" u="sng" smtClean="0">
                <a:solidFill>
                  <a:srgbClr val="FF0000"/>
                </a:solidFill>
              </a:rPr>
              <a:t>the proportion of the elderly in China</a:t>
            </a:r>
            <a:r>
              <a:rPr lang="en-US" altLang="zh-CN" sz="2400" b="1" smtClean="0">
                <a:solidFill>
                  <a:schemeClr val="tx1"/>
                </a:solidFill>
              </a:rPr>
              <a:t> is expected to exceed</a:t>
            </a:r>
            <a:r>
              <a:rPr lang="en-US" altLang="zh-CN" sz="2400" b="1" u="sng" smtClean="0">
                <a:solidFill>
                  <a:srgbClr val="FF0000"/>
                </a:solidFill>
              </a:rPr>
              <a:t> that in Japan</a:t>
            </a:r>
            <a:r>
              <a:rPr lang="en-US" altLang="zh-CN" sz="2400" b="1" smtClean="0">
                <a:solidFill>
                  <a:schemeClr val="tx1"/>
                </a:solidFill>
              </a:rPr>
              <a:t>, and it will become the most serious aging country.</a:t>
            </a:r>
            <a:endParaRPr lang="en-US" altLang="zh-CN" sz="2400" b="1" smtClean="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 calcmode="lin" valueType="num">
                                      <p:cBhvr additive="base">
                                        <p:cTn id="7" dur="500" fill="hold"/>
                                        <p:tgtEl>
                                          <p:spTgt spid="717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0">
                                            <p:txEl>
                                              <p:pRg st="1" end="1"/>
                                            </p:txEl>
                                          </p:spTgt>
                                        </p:tgtEl>
                                        <p:attrNameLst>
                                          <p:attrName>style.visibility</p:attrName>
                                        </p:attrNameLst>
                                      </p:cBhvr>
                                      <p:to>
                                        <p:strVal val="visible"/>
                                      </p:to>
                                    </p:set>
                                    <p:anim calcmode="lin" valueType="num">
                                      <p:cBhvr additive="base">
                                        <p:cTn id="13" dur="500" fill="hold"/>
                                        <p:tgtEl>
                                          <p:spTgt spid="717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0">
                                            <p:txEl>
                                              <p:pRg st="2" end="2"/>
                                            </p:txEl>
                                          </p:spTgt>
                                        </p:tgtEl>
                                        <p:attrNameLst>
                                          <p:attrName>style.visibility</p:attrName>
                                        </p:attrNameLst>
                                      </p:cBhvr>
                                      <p:to>
                                        <p:strVal val="visible"/>
                                      </p:to>
                                    </p:set>
                                    <p:anim calcmode="lin" valueType="num">
                                      <p:cBhvr additive="base">
                                        <p:cTn id="19" dur="500" fill="hold"/>
                                        <p:tgtEl>
                                          <p:spTgt spid="717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395605" y="411480"/>
            <a:ext cx="6704330" cy="500380"/>
          </a:xfrm>
        </p:spPr>
        <p:txBody>
          <a:bodyPr/>
          <a:lstStyle/>
          <a:p>
            <a:r>
              <a:rPr lang="zh-CN" altLang="en-US" sz="2400" smtClean="0">
                <a:solidFill>
                  <a:schemeClr val="tx1"/>
                </a:solidFill>
              </a:rPr>
              <a:t>补充语法点③辨析</a:t>
            </a:r>
            <a:r>
              <a:rPr lang="en-US" altLang="zh-CN" sz="2400" smtClean="0">
                <a:solidFill>
                  <a:schemeClr val="tx1"/>
                </a:solidFill>
              </a:rPr>
              <a:t>it &amp; they</a:t>
            </a:r>
            <a:endParaRPr lang="en-US" altLang="zh-CN" sz="2400" smtClean="0">
              <a:solidFill>
                <a:schemeClr val="tx1"/>
              </a:solidFill>
            </a:endParaRPr>
          </a:p>
        </p:txBody>
      </p:sp>
      <p:sp>
        <p:nvSpPr>
          <p:cNvPr id="7170" name="内容占位符 2"/>
          <p:cNvSpPr>
            <a:spLocks noGrp="1"/>
          </p:cNvSpPr>
          <p:nvPr>
            <p:ph idx="1"/>
          </p:nvPr>
        </p:nvSpPr>
        <p:spPr>
          <a:xfrm>
            <a:off x="394970" y="911225"/>
            <a:ext cx="8291830" cy="3821430"/>
          </a:xfrm>
        </p:spPr>
        <p:txBody>
          <a:bodyPr/>
          <a:lstStyle/>
          <a:p>
            <a:pPr>
              <a:buFont typeface="Wingdings" panose="05000000000000000000" pitchFamily="2" charset="2"/>
              <a:buChar char="Ø"/>
            </a:pPr>
            <a:r>
              <a:rPr lang="en-US" altLang="zh-CN" sz="2400" b="1" smtClean="0">
                <a:solidFill>
                  <a:schemeClr val="tx1"/>
                </a:solidFill>
              </a:rPr>
              <a:t>I have a cat, it is lovely. </a:t>
            </a:r>
            <a:r>
              <a:rPr lang="zh-CN" altLang="en-US" sz="2400" b="1" smtClean="0">
                <a:solidFill>
                  <a:schemeClr val="tx1"/>
                </a:solidFill>
              </a:rPr>
              <a:t>×逗号不能连接两个完整句子</a:t>
            </a:r>
            <a:endParaRPr lang="zh-CN" altLang="en-US" sz="2400" b="1" smtClean="0">
              <a:solidFill>
                <a:schemeClr val="tx1"/>
              </a:solidFill>
            </a:endParaRPr>
          </a:p>
          <a:p>
            <a:pPr>
              <a:buFont typeface="Wingdings" panose="05000000000000000000" pitchFamily="2" charset="2"/>
              <a:buChar char="Ø"/>
            </a:pPr>
            <a:r>
              <a:rPr lang="en-US" altLang="zh-CN" sz="2400" b="1" smtClean="0">
                <a:solidFill>
                  <a:schemeClr val="tx1"/>
                </a:solidFill>
              </a:rPr>
              <a:t>I have a cat, which is lovely. </a:t>
            </a:r>
            <a:r>
              <a:rPr lang="zh-CN" altLang="en-US" sz="2400" b="1" smtClean="0">
                <a:solidFill>
                  <a:schemeClr val="tx1"/>
                </a:solidFill>
              </a:rPr>
              <a:t>非限制性定从</a:t>
            </a:r>
            <a:r>
              <a:rPr lang="en-US" altLang="zh-CN" sz="2400" b="1" smtClean="0">
                <a:solidFill>
                  <a:schemeClr val="tx1"/>
                </a:solidFill>
              </a:rPr>
              <a:t> √</a:t>
            </a:r>
            <a:endParaRPr lang="en-US" altLang="zh-CN" sz="2400" b="1" smtClean="0">
              <a:solidFill>
                <a:schemeClr val="tx1"/>
              </a:solidFill>
            </a:endParaRPr>
          </a:p>
          <a:p>
            <a:pPr>
              <a:buFont typeface="Wingdings" panose="05000000000000000000" pitchFamily="2" charset="2"/>
              <a:buChar char="Ø"/>
            </a:pPr>
            <a:r>
              <a:rPr lang="en-US" altLang="zh-CN" sz="2400" b="1" smtClean="0">
                <a:solidFill>
                  <a:schemeClr val="tx1"/>
                </a:solidFill>
              </a:rPr>
              <a:t>I have </a:t>
            </a:r>
            <a:r>
              <a:rPr lang="en-US" altLang="zh-CN" sz="2400" b="1" u="sng" smtClean="0">
                <a:solidFill>
                  <a:srgbClr val="FF0000"/>
                </a:solidFill>
              </a:rPr>
              <a:t>a cat</a:t>
            </a:r>
            <a:r>
              <a:rPr lang="en-US" altLang="zh-CN" sz="2400" b="1" smtClean="0">
                <a:solidFill>
                  <a:schemeClr val="tx1"/>
                </a:solidFill>
              </a:rPr>
              <a:t>, and</a:t>
            </a:r>
            <a:r>
              <a:rPr lang="en-US" altLang="zh-CN" sz="2400" b="1" u="sng" smtClean="0">
                <a:solidFill>
                  <a:srgbClr val="FF0000"/>
                </a:solidFill>
              </a:rPr>
              <a:t> it</a:t>
            </a:r>
            <a:r>
              <a:rPr lang="en-US" altLang="zh-CN" sz="2400" b="1" smtClean="0">
                <a:solidFill>
                  <a:schemeClr val="tx1"/>
                </a:solidFill>
              </a:rPr>
              <a:t> is lovely. </a:t>
            </a:r>
            <a:r>
              <a:rPr lang="zh-CN" altLang="en-US" sz="2400" b="1" smtClean="0">
                <a:solidFill>
                  <a:schemeClr val="tx1"/>
                </a:solidFill>
              </a:rPr>
              <a:t>并列句</a:t>
            </a:r>
            <a:r>
              <a:rPr lang="en-US" altLang="zh-CN" sz="2400" b="1" smtClean="0">
                <a:solidFill>
                  <a:schemeClr val="tx1"/>
                </a:solidFill>
              </a:rPr>
              <a:t> √ </a:t>
            </a:r>
            <a:r>
              <a:rPr lang="zh-CN" altLang="en-US" sz="2400" b="1" u="sng" smtClean="0">
                <a:solidFill>
                  <a:srgbClr val="FF0000"/>
                </a:solidFill>
              </a:rPr>
              <a:t>同一只</a:t>
            </a:r>
            <a:endParaRPr lang="zh-CN" altLang="en-US" sz="2400" b="1" u="sng" smtClean="0">
              <a:solidFill>
                <a:srgbClr val="FF0000"/>
              </a:solidFill>
            </a:endParaRPr>
          </a:p>
          <a:p>
            <a:pPr>
              <a:buFont typeface="Wingdings" panose="05000000000000000000" pitchFamily="2" charset="2"/>
              <a:buChar char="Ø"/>
            </a:pPr>
            <a:r>
              <a:rPr lang="en-US" altLang="zh-CN" sz="2400" b="1" smtClean="0">
                <a:solidFill>
                  <a:schemeClr val="tx1"/>
                </a:solidFill>
              </a:rPr>
              <a:t>I have t</a:t>
            </a:r>
            <a:r>
              <a:rPr lang="en-US" altLang="zh-CN" sz="2400" b="1" u="sng" smtClean="0">
                <a:solidFill>
                  <a:srgbClr val="FF0000"/>
                </a:solidFill>
              </a:rPr>
              <a:t>hree cats</a:t>
            </a:r>
            <a:r>
              <a:rPr lang="en-US" altLang="zh-CN" sz="2400" b="1" smtClean="0">
                <a:solidFill>
                  <a:schemeClr val="tx1"/>
                </a:solidFill>
              </a:rPr>
              <a:t>, and </a:t>
            </a:r>
            <a:r>
              <a:rPr lang="en-US" altLang="zh-CN" sz="2400" b="1" u="sng" smtClean="0">
                <a:solidFill>
                  <a:srgbClr val="FF0000"/>
                </a:solidFill>
              </a:rPr>
              <a:t>they</a:t>
            </a:r>
            <a:r>
              <a:rPr lang="en-US" altLang="zh-CN" sz="2400" b="1" smtClean="0">
                <a:solidFill>
                  <a:schemeClr val="tx1"/>
                </a:solidFill>
              </a:rPr>
              <a:t> are lovely. </a:t>
            </a:r>
            <a:r>
              <a:rPr lang="zh-CN" altLang="en-US" sz="2400" b="1" smtClean="0">
                <a:solidFill>
                  <a:schemeClr val="tx1"/>
                </a:solidFill>
              </a:rPr>
              <a:t>同一只</a:t>
            </a:r>
            <a:r>
              <a:rPr lang="en-US" altLang="zh-CN" sz="2400" b="1" smtClean="0">
                <a:solidFill>
                  <a:schemeClr val="tx1"/>
                </a:solidFill>
              </a:rPr>
              <a:t>--</a:t>
            </a:r>
            <a:r>
              <a:rPr lang="zh-CN" altLang="en-US" sz="2400" b="1" smtClean="0">
                <a:solidFill>
                  <a:schemeClr val="tx1"/>
                </a:solidFill>
              </a:rPr>
              <a:t>复数</a:t>
            </a:r>
            <a:endParaRPr lang="zh-CN" altLang="en-US" sz="2400" b="1" smtClean="0">
              <a:solidFill>
                <a:schemeClr val="tx1"/>
              </a:solidFill>
            </a:endParaRPr>
          </a:p>
          <a:p>
            <a:pPr>
              <a:buFont typeface="Wingdings" panose="05000000000000000000" pitchFamily="2" charset="2"/>
              <a:buChar char="Ø"/>
            </a:pPr>
            <a:endParaRPr lang="zh-CN" altLang="en-US" sz="2400" b="1" smtClean="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 calcmode="lin" valueType="num">
                                      <p:cBhvr additive="base">
                                        <p:cTn id="7" dur="500" fill="hold"/>
                                        <p:tgtEl>
                                          <p:spTgt spid="717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0">
                                            <p:txEl>
                                              <p:pRg st="1" end="1"/>
                                            </p:txEl>
                                          </p:spTgt>
                                        </p:tgtEl>
                                        <p:attrNameLst>
                                          <p:attrName>style.visibility</p:attrName>
                                        </p:attrNameLst>
                                      </p:cBhvr>
                                      <p:to>
                                        <p:strVal val="visible"/>
                                      </p:to>
                                    </p:set>
                                    <p:anim calcmode="lin" valueType="num">
                                      <p:cBhvr additive="base">
                                        <p:cTn id="13" dur="500" fill="hold"/>
                                        <p:tgtEl>
                                          <p:spTgt spid="717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0">
                                            <p:txEl>
                                              <p:pRg st="2" end="2"/>
                                            </p:txEl>
                                          </p:spTgt>
                                        </p:tgtEl>
                                        <p:attrNameLst>
                                          <p:attrName>style.visibility</p:attrName>
                                        </p:attrNameLst>
                                      </p:cBhvr>
                                      <p:to>
                                        <p:strVal val="visible"/>
                                      </p:to>
                                    </p:set>
                                    <p:anim calcmode="lin" valueType="num">
                                      <p:cBhvr additive="base">
                                        <p:cTn id="19" dur="500" fill="hold"/>
                                        <p:tgtEl>
                                          <p:spTgt spid="717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170">
                                            <p:txEl>
                                              <p:pRg st="3" end="3"/>
                                            </p:txEl>
                                          </p:spTgt>
                                        </p:tgtEl>
                                        <p:attrNameLst>
                                          <p:attrName>style.visibility</p:attrName>
                                        </p:attrNameLst>
                                      </p:cBhvr>
                                      <p:to>
                                        <p:strVal val="visible"/>
                                      </p:to>
                                    </p:set>
                                    <p:anim calcmode="lin" valueType="num">
                                      <p:cBhvr additive="base">
                                        <p:cTn id="25" dur="500" fill="hold"/>
                                        <p:tgtEl>
                                          <p:spTgt spid="717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7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395605" y="411480"/>
            <a:ext cx="6704330" cy="500380"/>
          </a:xfrm>
        </p:spPr>
        <p:txBody>
          <a:bodyPr/>
          <a:lstStyle/>
          <a:p>
            <a:r>
              <a:rPr lang="zh-CN" altLang="en-US" sz="2400" smtClean="0">
                <a:solidFill>
                  <a:schemeClr val="tx1"/>
                </a:solidFill>
              </a:rPr>
              <a:t>补充语法点③辨析</a:t>
            </a:r>
            <a:r>
              <a:rPr lang="en-US" altLang="zh-CN" sz="2400" smtClean="0">
                <a:solidFill>
                  <a:schemeClr val="tx1"/>
                </a:solidFill>
              </a:rPr>
              <a:t>it &amp; they</a:t>
            </a:r>
            <a:endParaRPr lang="en-US" altLang="zh-CN" sz="2400" smtClean="0">
              <a:solidFill>
                <a:schemeClr val="tx1"/>
              </a:solidFill>
            </a:endParaRPr>
          </a:p>
        </p:txBody>
      </p:sp>
      <p:sp>
        <p:nvSpPr>
          <p:cNvPr id="7170" name="内容占位符 2"/>
          <p:cNvSpPr>
            <a:spLocks noGrp="1"/>
          </p:cNvSpPr>
          <p:nvPr>
            <p:ph idx="1"/>
          </p:nvPr>
        </p:nvSpPr>
        <p:spPr>
          <a:xfrm>
            <a:off x="394970" y="911225"/>
            <a:ext cx="8291830" cy="3821430"/>
          </a:xfrm>
        </p:spPr>
        <p:txBody>
          <a:bodyPr/>
          <a:lstStyle/>
          <a:p>
            <a:pPr>
              <a:buFont typeface="Wingdings" panose="05000000000000000000" pitchFamily="2" charset="2"/>
              <a:buChar char="Ø"/>
            </a:pPr>
            <a:r>
              <a:rPr lang="zh-CN" altLang="en-US" sz="2400" b="1" smtClean="0">
                <a:solidFill>
                  <a:schemeClr val="tx1"/>
                </a:solidFill>
              </a:rPr>
              <a:t>表示拐点</a:t>
            </a:r>
            <a:endParaRPr lang="zh-CN" altLang="en-US" sz="2400" b="1" smtClean="0">
              <a:solidFill>
                <a:schemeClr val="tx1"/>
              </a:solidFill>
            </a:endParaRPr>
          </a:p>
          <a:p>
            <a:pPr>
              <a:buFont typeface="Wingdings" panose="05000000000000000000" pitchFamily="2" charset="2"/>
              <a:buChar char="Ø"/>
            </a:pPr>
            <a:r>
              <a:rPr lang="en-US" altLang="zh-CN" sz="2400" b="1" smtClean="0">
                <a:solidFill>
                  <a:schemeClr val="tx1"/>
                </a:solidFill>
              </a:rPr>
              <a:t>From 1993 to 1994, the time spent on phones firstly saw a temporary decrease, </a:t>
            </a:r>
            <a:r>
              <a:rPr lang="en-US" altLang="zh-CN" sz="2400" b="1" u="sng" smtClean="0">
                <a:solidFill>
                  <a:srgbClr val="FF0000"/>
                </a:solidFill>
              </a:rPr>
              <a:t>and then</a:t>
            </a:r>
            <a:r>
              <a:rPr lang="en-US" altLang="zh-CN" sz="2400" b="1" u="sng" smtClean="0">
                <a:solidFill>
                  <a:srgbClr val="FF0000"/>
                </a:solidFill>
                <a:highlight>
                  <a:srgbClr val="FFFF00"/>
                </a:highlight>
              </a:rPr>
              <a:t> it </a:t>
            </a:r>
            <a:r>
              <a:rPr lang="en-US" altLang="zh-CN" sz="2400" b="1" u="sng" smtClean="0">
                <a:solidFill>
                  <a:srgbClr val="FF0000"/>
                </a:solidFill>
              </a:rPr>
              <a:t>soared to the peak at 21 hours</a:t>
            </a:r>
            <a:r>
              <a:rPr lang="en-US" altLang="zh-CN" sz="2400" b="1" smtClean="0">
                <a:solidFill>
                  <a:schemeClr val="tx1"/>
                </a:solidFill>
              </a:rPr>
              <a:t>.</a:t>
            </a:r>
            <a:endParaRPr lang="en-US" altLang="zh-CN" sz="2400" b="1" smtClean="0">
              <a:solidFill>
                <a:schemeClr val="tx1"/>
              </a:solidFill>
            </a:endParaRPr>
          </a:p>
          <a:p>
            <a:pPr>
              <a:buFont typeface="Wingdings" panose="05000000000000000000" pitchFamily="2" charset="2"/>
              <a:buChar char="Ø"/>
            </a:pPr>
            <a:r>
              <a:rPr lang="en-US" altLang="zh-CN" sz="2400" b="1" smtClean="0">
                <a:solidFill>
                  <a:schemeClr val="tx1"/>
                </a:solidFill>
              </a:rPr>
              <a:t>Between 1995 and 1996, the money spent on clothes firstly saw a dramatic increase, </a:t>
            </a:r>
            <a:r>
              <a:rPr lang="en-US" altLang="zh-CN" sz="2400" b="1" u="sng" smtClean="0">
                <a:solidFill>
                  <a:srgbClr val="FF0000"/>
                </a:solidFill>
              </a:rPr>
              <a:t>and then</a:t>
            </a:r>
            <a:r>
              <a:rPr lang="en-US" altLang="zh-CN" sz="2400" b="1" u="sng" smtClean="0">
                <a:solidFill>
                  <a:srgbClr val="FF0000"/>
                </a:solidFill>
                <a:highlight>
                  <a:srgbClr val="FFFF00"/>
                </a:highlight>
              </a:rPr>
              <a:t> it </a:t>
            </a:r>
            <a:r>
              <a:rPr lang="en-US" altLang="zh-CN" sz="2400" b="1" u="sng" smtClean="0">
                <a:solidFill>
                  <a:srgbClr val="FF0000"/>
                </a:solidFill>
              </a:rPr>
              <a:t>plunged to the bottom at 5 million dollars.</a:t>
            </a:r>
            <a:endParaRPr lang="en-US" altLang="zh-CN" sz="2400" b="1" u="sng" smtClean="0">
              <a:solidFill>
                <a:srgbClr val="FF0000"/>
              </a:solidFill>
            </a:endParaRPr>
          </a:p>
          <a:p>
            <a:pPr>
              <a:buFont typeface="Wingdings" panose="05000000000000000000" pitchFamily="2" charset="2"/>
              <a:buChar char="Ø"/>
            </a:pPr>
            <a:endParaRPr lang="en-US" altLang="zh-CN" sz="2400" b="1" u="sng"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 calcmode="lin" valueType="num">
                                      <p:cBhvr additive="base">
                                        <p:cTn id="7" dur="500" fill="hold"/>
                                        <p:tgtEl>
                                          <p:spTgt spid="717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0">
                                            <p:txEl>
                                              <p:pRg st="1" end="1"/>
                                            </p:txEl>
                                          </p:spTgt>
                                        </p:tgtEl>
                                        <p:attrNameLst>
                                          <p:attrName>style.visibility</p:attrName>
                                        </p:attrNameLst>
                                      </p:cBhvr>
                                      <p:to>
                                        <p:strVal val="visible"/>
                                      </p:to>
                                    </p:set>
                                    <p:anim calcmode="lin" valueType="num">
                                      <p:cBhvr additive="base">
                                        <p:cTn id="13" dur="500" fill="hold"/>
                                        <p:tgtEl>
                                          <p:spTgt spid="717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0">
                                            <p:txEl>
                                              <p:pRg st="2" end="2"/>
                                            </p:txEl>
                                          </p:spTgt>
                                        </p:tgtEl>
                                        <p:attrNameLst>
                                          <p:attrName>style.visibility</p:attrName>
                                        </p:attrNameLst>
                                      </p:cBhvr>
                                      <p:to>
                                        <p:strVal val="visible"/>
                                      </p:to>
                                    </p:set>
                                    <p:anim calcmode="lin" valueType="num">
                                      <p:cBhvr additive="base">
                                        <p:cTn id="19" dur="500" fill="hold"/>
                                        <p:tgtEl>
                                          <p:spTgt spid="717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395605" y="411480"/>
            <a:ext cx="6704330" cy="500380"/>
          </a:xfrm>
        </p:spPr>
        <p:txBody>
          <a:bodyPr/>
          <a:lstStyle/>
          <a:p>
            <a:r>
              <a:rPr lang="zh-CN" altLang="en-US" sz="2400" smtClean="0">
                <a:solidFill>
                  <a:schemeClr val="tx1"/>
                </a:solidFill>
              </a:rPr>
              <a:t>补充语法点③辨析</a:t>
            </a:r>
            <a:r>
              <a:rPr lang="en-US" altLang="zh-CN" sz="2400" smtClean="0">
                <a:solidFill>
                  <a:schemeClr val="tx1"/>
                </a:solidFill>
              </a:rPr>
              <a:t>it &amp; they</a:t>
            </a:r>
            <a:endParaRPr lang="en-US" altLang="zh-CN" sz="2400" smtClean="0">
              <a:solidFill>
                <a:schemeClr val="tx1"/>
              </a:solidFill>
            </a:endParaRPr>
          </a:p>
        </p:txBody>
      </p:sp>
      <p:sp>
        <p:nvSpPr>
          <p:cNvPr id="7170" name="内容占位符 2"/>
          <p:cNvSpPr>
            <a:spLocks noGrp="1"/>
          </p:cNvSpPr>
          <p:nvPr>
            <p:ph idx="1"/>
          </p:nvPr>
        </p:nvSpPr>
        <p:spPr>
          <a:xfrm>
            <a:off x="394970" y="911225"/>
            <a:ext cx="8291830" cy="3821430"/>
          </a:xfrm>
        </p:spPr>
        <p:txBody>
          <a:bodyPr/>
          <a:lstStyle/>
          <a:p>
            <a:pPr>
              <a:buFont typeface="Wingdings" panose="05000000000000000000" pitchFamily="2" charset="2"/>
              <a:buChar char="Ø"/>
            </a:pPr>
            <a:r>
              <a:rPr lang="zh-CN" altLang="en-US" sz="2400" b="1" smtClean="0">
                <a:solidFill>
                  <a:schemeClr val="tx1"/>
                </a:solidFill>
              </a:rPr>
              <a:t>表示拐点</a:t>
            </a:r>
            <a:endParaRPr lang="zh-CN" altLang="en-US" sz="2400" b="1" smtClean="0">
              <a:solidFill>
                <a:schemeClr val="tx1"/>
              </a:solidFill>
            </a:endParaRPr>
          </a:p>
          <a:p>
            <a:pPr>
              <a:buFont typeface="Wingdings" panose="05000000000000000000" pitchFamily="2" charset="2"/>
              <a:buChar char="Ø"/>
            </a:pPr>
            <a:r>
              <a:rPr lang="en-US" altLang="zh-CN" sz="2400" b="1" smtClean="0">
                <a:solidFill>
                  <a:schemeClr val="tx1"/>
                </a:solidFill>
              </a:rPr>
              <a:t>From 1993 to 1994, the time</a:t>
            </a:r>
            <a:r>
              <a:rPr lang="en-US" altLang="zh-CN" sz="2400" b="1" smtClean="0">
                <a:solidFill>
                  <a:schemeClr val="tx1"/>
                </a:solidFill>
                <a:highlight>
                  <a:srgbClr val="00FFFF"/>
                </a:highlight>
              </a:rPr>
              <a:t> spent on phones</a:t>
            </a:r>
            <a:r>
              <a:rPr lang="en-US" altLang="zh-CN" sz="2400" b="1" smtClean="0">
                <a:solidFill>
                  <a:schemeClr val="tx1"/>
                </a:solidFill>
              </a:rPr>
              <a:t> firstly saw a temporary decrease, </a:t>
            </a:r>
            <a:r>
              <a:rPr lang="en-US" altLang="zh-CN" sz="2400" b="1" u="sng" smtClean="0">
                <a:solidFill>
                  <a:srgbClr val="FF0000"/>
                </a:solidFill>
              </a:rPr>
              <a:t>and then</a:t>
            </a:r>
            <a:r>
              <a:rPr lang="en-US" altLang="zh-CN" sz="2400" b="1" u="sng" smtClean="0">
                <a:solidFill>
                  <a:srgbClr val="FF0000"/>
                </a:solidFill>
                <a:highlight>
                  <a:srgbClr val="FFFF00"/>
                </a:highlight>
              </a:rPr>
              <a:t> it </a:t>
            </a:r>
            <a:r>
              <a:rPr lang="en-US" altLang="zh-CN" sz="2400" b="1" u="sng" smtClean="0">
                <a:solidFill>
                  <a:srgbClr val="FF0000"/>
                </a:solidFill>
              </a:rPr>
              <a:t>soared to the peak at 21 hours</a:t>
            </a:r>
            <a:r>
              <a:rPr lang="en-US" altLang="zh-CN" sz="2400" b="1" smtClean="0">
                <a:solidFill>
                  <a:schemeClr val="tx1"/>
                </a:solidFill>
              </a:rPr>
              <a:t>.</a:t>
            </a:r>
            <a:endParaRPr lang="en-US" altLang="zh-CN" sz="2400" b="1" smtClean="0">
              <a:solidFill>
                <a:schemeClr val="tx1"/>
              </a:solidFill>
            </a:endParaRPr>
          </a:p>
          <a:p>
            <a:pPr>
              <a:buFont typeface="Wingdings" panose="05000000000000000000" pitchFamily="2" charset="2"/>
              <a:buChar char="Ø"/>
            </a:pPr>
            <a:r>
              <a:rPr lang="en-US" altLang="zh-CN" sz="2400" b="1" smtClean="0">
                <a:solidFill>
                  <a:schemeClr val="tx1"/>
                </a:solidFill>
              </a:rPr>
              <a:t>Between 1995 and 1996, the money </a:t>
            </a:r>
            <a:r>
              <a:rPr lang="en-US" altLang="zh-CN" sz="2400" b="1" smtClean="0">
                <a:solidFill>
                  <a:schemeClr val="tx1"/>
                </a:solidFill>
                <a:highlight>
                  <a:srgbClr val="00FFFF"/>
                </a:highlight>
              </a:rPr>
              <a:t> spent on clothes </a:t>
            </a:r>
            <a:r>
              <a:rPr lang="en-US" altLang="zh-CN" sz="2400" b="1" smtClean="0">
                <a:solidFill>
                  <a:schemeClr val="tx1"/>
                </a:solidFill>
              </a:rPr>
              <a:t>firstly saw a dramatic increase, </a:t>
            </a:r>
            <a:r>
              <a:rPr lang="en-US" altLang="zh-CN" sz="2400" b="1" u="sng" smtClean="0">
                <a:solidFill>
                  <a:srgbClr val="FF0000"/>
                </a:solidFill>
              </a:rPr>
              <a:t>and then</a:t>
            </a:r>
            <a:r>
              <a:rPr lang="en-US" altLang="zh-CN" sz="2400" b="1" u="sng" smtClean="0">
                <a:solidFill>
                  <a:srgbClr val="FF0000"/>
                </a:solidFill>
                <a:highlight>
                  <a:srgbClr val="FFFF00"/>
                </a:highlight>
              </a:rPr>
              <a:t> it </a:t>
            </a:r>
            <a:r>
              <a:rPr lang="en-US" altLang="zh-CN" sz="2400" b="1" u="sng" smtClean="0">
                <a:solidFill>
                  <a:srgbClr val="FF0000"/>
                </a:solidFill>
              </a:rPr>
              <a:t>plunged to the bottom at 5 million dollars.</a:t>
            </a:r>
            <a:endParaRPr lang="en-US" altLang="zh-CN" sz="2400" b="1" u="sng" smtClean="0">
              <a:solidFill>
                <a:srgbClr val="FF0000"/>
              </a:solidFill>
            </a:endParaRPr>
          </a:p>
          <a:p>
            <a:pPr>
              <a:buFont typeface="Wingdings" panose="05000000000000000000" pitchFamily="2" charset="2"/>
              <a:buChar char="Ø"/>
            </a:pPr>
            <a:endParaRPr lang="en-US" altLang="zh-CN" sz="2400" b="1" u="sng"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 calcmode="lin" valueType="num">
                                      <p:cBhvr additive="base">
                                        <p:cTn id="7" dur="500" fill="hold"/>
                                        <p:tgtEl>
                                          <p:spTgt spid="717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0">
                                            <p:txEl>
                                              <p:pRg st="1" end="1"/>
                                            </p:txEl>
                                          </p:spTgt>
                                        </p:tgtEl>
                                        <p:attrNameLst>
                                          <p:attrName>style.visibility</p:attrName>
                                        </p:attrNameLst>
                                      </p:cBhvr>
                                      <p:to>
                                        <p:strVal val="visible"/>
                                      </p:to>
                                    </p:set>
                                    <p:anim calcmode="lin" valueType="num">
                                      <p:cBhvr additive="base">
                                        <p:cTn id="13" dur="500" fill="hold"/>
                                        <p:tgtEl>
                                          <p:spTgt spid="717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0">
                                            <p:txEl>
                                              <p:pRg st="2" end="2"/>
                                            </p:txEl>
                                          </p:spTgt>
                                        </p:tgtEl>
                                        <p:attrNameLst>
                                          <p:attrName>style.visibility</p:attrName>
                                        </p:attrNameLst>
                                      </p:cBhvr>
                                      <p:to>
                                        <p:strVal val="visible"/>
                                      </p:to>
                                    </p:set>
                                    <p:anim calcmode="lin" valueType="num">
                                      <p:cBhvr additive="base">
                                        <p:cTn id="19" dur="500" fill="hold"/>
                                        <p:tgtEl>
                                          <p:spTgt spid="717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395605" y="411480"/>
            <a:ext cx="6704330" cy="500380"/>
          </a:xfrm>
        </p:spPr>
        <p:txBody>
          <a:bodyPr/>
          <a:lstStyle/>
          <a:p>
            <a:r>
              <a:rPr lang="zh-CN" altLang="en-US" sz="2400" smtClean="0">
                <a:solidFill>
                  <a:schemeClr val="tx1"/>
                </a:solidFill>
              </a:rPr>
              <a:t>补充语法点③辨析</a:t>
            </a:r>
            <a:r>
              <a:rPr lang="en-US" altLang="zh-CN" sz="2400" smtClean="0">
                <a:solidFill>
                  <a:schemeClr val="tx1"/>
                </a:solidFill>
              </a:rPr>
              <a:t>it &amp; they</a:t>
            </a:r>
            <a:endParaRPr lang="en-US" altLang="zh-CN" sz="2400" smtClean="0">
              <a:solidFill>
                <a:schemeClr val="tx1"/>
              </a:solidFill>
            </a:endParaRPr>
          </a:p>
        </p:txBody>
      </p:sp>
      <p:sp>
        <p:nvSpPr>
          <p:cNvPr id="7170" name="内容占位符 2"/>
          <p:cNvSpPr>
            <a:spLocks noGrp="1"/>
          </p:cNvSpPr>
          <p:nvPr>
            <p:ph idx="1"/>
          </p:nvPr>
        </p:nvSpPr>
        <p:spPr>
          <a:xfrm>
            <a:off x="394970" y="911225"/>
            <a:ext cx="8291830" cy="3821430"/>
          </a:xfrm>
        </p:spPr>
        <p:txBody>
          <a:bodyPr/>
          <a:lstStyle/>
          <a:p>
            <a:pPr>
              <a:buFont typeface="Wingdings" panose="05000000000000000000" pitchFamily="2" charset="2"/>
              <a:buChar char="Ø"/>
            </a:pPr>
            <a:r>
              <a:rPr lang="zh-CN" altLang="en-US" sz="2400" b="1" smtClean="0">
                <a:solidFill>
                  <a:schemeClr val="tx1"/>
                </a:solidFill>
              </a:rPr>
              <a:t>表示差值</a:t>
            </a:r>
            <a:endParaRPr lang="zh-CN" altLang="en-US" sz="2400" b="1" smtClean="0">
              <a:solidFill>
                <a:schemeClr val="tx1"/>
              </a:solidFill>
            </a:endParaRPr>
          </a:p>
          <a:p>
            <a:pPr>
              <a:buFont typeface="Wingdings" panose="05000000000000000000" pitchFamily="2" charset="2"/>
              <a:buChar char="Ø"/>
            </a:pPr>
            <a:r>
              <a:rPr lang="en-US" altLang="zh-CN" sz="2400" b="1" u="sng" smtClean="0">
                <a:solidFill>
                  <a:schemeClr val="tx1"/>
                </a:solidFill>
              </a:rPr>
              <a:t>The sales of children’s book in China saw an increasing trend in general,</a:t>
            </a:r>
            <a:r>
              <a:rPr lang="en-US" altLang="zh-CN" sz="2400" b="1" u="sng" smtClean="0">
                <a:solidFill>
                  <a:srgbClr val="FF0000"/>
                </a:solidFill>
              </a:rPr>
              <a:t> with a jump of 5 million dollars.</a:t>
            </a:r>
            <a:endParaRPr lang="en-US" altLang="zh-CN" sz="2400" b="1" u="sng" smtClean="0">
              <a:solidFill>
                <a:srgbClr val="FF0000"/>
              </a:solidFill>
            </a:endParaRPr>
          </a:p>
          <a:p>
            <a:pPr>
              <a:buFont typeface="Wingdings" panose="05000000000000000000" pitchFamily="2" charset="2"/>
              <a:buChar char="Ø"/>
            </a:pPr>
            <a:r>
              <a:rPr lang="en-US" altLang="zh-CN" sz="2400" b="1" u="sng" smtClean="0">
                <a:solidFill>
                  <a:schemeClr val="tx1"/>
                </a:solidFill>
              </a:rPr>
              <a:t>My weight increased to 60kg. </a:t>
            </a:r>
            <a:r>
              <a:rPr lang="zh-CN" altLang="en-US" sz="2400" b="1" u="sng" smtClean="0">
                <a:solidFill>
                  <a:schemeClr val="tx1"/>
                </a:solidFill>
              </a:rPr>
              <a:t>上升到</a:t>
            </a:r>
            <a:endParaRPr lang="en-US" altLang="zh-CN" sz="2400" b="1" u="sng" smtClean="0">
              <a:solidFill>
                <a:schemeClr val="tx1"/>
              </a:solidFill>
            </a:endParaRPr>
          </a:p>
          <a:p>
            <a:pPr>
              <a:buFont typeface="Wingdings" panose="05000000000000000000" pitchFamily="2" charset="2"/>
              <a:buChar char="Ø"/>
            </a:pPr>
            <a:r>
              <a:rPr lang="en-US" altLang="zh-CN" sz="2400" b="1" u="sng" smtClean="0">
                <a:solidFill>
                  <a:schemeClr val="tx1"/>
                </a:solidFill>
              </a:rPr>
              <a:t>My weight increased by 5kg. </a:t>
            </a:r>
            <a:r>
              <a:rPr lang="zh-CN" altLang="en-US" sz="2400" b="1" u="sng" smtClean="0">
                <a:solidFill>
                  <a:schemeClr val="tx1"/>
                </a:solidFill>
              </a:rPr>
              <a:t>上升了</a:t>
            </a:r>
            <a:endParaRPr lang="zh-CN" altLang="en-US" sz="2400" b="1" u="sng" smtClean="0">
              <a:solidFill>
                <a:schemeClr val="tx1"/>
              </a:solidFill>
            </a:endParaRPr>
          </a:p>
          <a:p>
            <a:pPr>
              <a:buFont typeface="Wingdings" panose="05000000000000000000" pitchFamily="2" charset="2"/>
              <a:buChar char="Ø"/>
            </a:pPr>
            <a:r>
              <a:rPr lang="en-US" altLang="zh-CN" sz="2400" b="1" u="sng" smtClean="0">
                <a:solidFill>
                  <a:schemeClr val="tx1"/>
                </a:solidFill>
              </a:rPr>
              <a:t>My weight saw an increasing trend in general, with a jump of 5 kg.</a:t>
            </a:r>
            <a:endParaRPr lang="en-US" altLang="zh-CN" sz="2400" b="1" u="sng" smtClean="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 calcmode="lin" valueType="num">
                                      <p:cBhvr additive="base">
                                        <p:cTn id="7" dur="500" fill="hold"/>
                                        <p:tgtEl>
                                          <p:spTgt spid="717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0">
                                            <p:txEl>
                                              <p:pRg st="1" end="1"/>
                                            </p:txEl>
                                          </p:spTgt>
                                        </p:tgtEl>
                                        <p:attrNameLst>
                                          <p:attrName>style.visibility</p:attrName>
                                        </p:attrNameLst>
                                      </p:cBhvr>
                                      <p:to>
                                        <p:strVal val="visible"/>
                                      </p:to>
                                    </p:set>
                                    <p:anim calcmode="lin" valueType="num">
                                      <p:cBhvr additive="base">
                                        <p:cTn id="13" dur="500" fill="hold"/>
                                        <p:tgtEl>
                                          <p:spTgt spid="717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0">
                                            <p:txEl>
                                              <p:pRg st="2" end="2"/>
                                            </p:txEl>
                                          </p:spTgt>
                                        </p:tgtEl>
                                        <p:attrNameLst>
                                          <p:attrName>style.visibility</p:attrName>
                                        </p:attrNameLst>
                                      </p:cBhvr>
                                      <p:to>
                                        <p:strVal val="visible"/>
                                      </p:to>
                                    </p:set>
                                    <p:anim calcmode="lin" valueType="num">
                                      <p:cBhvr additive="base">
                                        <p:cTn id="19" dur="500" fill="hold"/>
                                        <p:tgtEl>
                                          <p:spTgt spid="717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170">
                                            <p:txEl>
                                              <p:pRg st="3" end="3"/>
                                            </p:txEl>
                                          </p:spTgt>
                                        </p:tgtEl>
                                        <p:attrNameLst>
                                          <p:attrName>style.visibility</p:attrName>
                                        </p:attrNameLst>
                                      </p:cBhvr>
                                      <p:to>
                                        <p:strVal val="visible"/>
                                      </p:to>
                                    </p:set>
                                    <p:anim calcmode="lin" valueType="num">
                                      <p:cBhvr additive="base">
                                        <p:cTn id="25" dur="500" fill="hold"/>
                                        <p:tgtEl>
                                          <p:spTgt spid="717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7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170">
                                            <p:txEl>
                                              <p:pRg st="4" end="4"/>
                                            </p:txEl>
                                          </p:spTgt>
                                        </p:tgtEl>
                                        <p:attrNameLst>
                                          <p:attrName>style.visibility</p:attrName>
                                        </p:attrNameLst>
                                      </p:cBhvr>
                                      <p:to>
                                        <p:strVal val="visible"/>
                                      </p:to>
                                    </p:set>
                                    <p:anim calcmode="lin" valueType="num">
                                      <p:cBhvr additive="base">
                                        <p:cTn id="31" dur="500" fill="hold"/>
                                        <p:tgtEl>
                                          <p:spTgt spid="717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7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395605" y="411480"/>
            <a:ext cx="6704330" cy="500380"/>
          </a:xfrm>
        </p:spPr>
        <p:txBody>
          <a:bodyPr/>
          <a:lstStyle/>
          <a:p>
            <a:r>
              <a:rPr lang="zh-CN" altLang="en-US" sz="2400" smtClean="0">
                <a:solidFill>
                  <a:schemeClr val="tx1"/>
                </a:solidFill>
              </a:rPr>
              <a:t>补充语法点③辨析</a:t>
            </a:r>
            <a:r>
              <a:rPr lang="en-US" altLang="zh-CN" sz="2400" smtClean="0">
                <a:solidFill>
                  <a:schemeClr val="tx1"/>
                </a:solidFill>
              </a:rPr>
              <a:t>it &amp; they</a:t>
            </a:r>
            <a:endParaRPr lang="en-US" altLang="zh-CN" sz="2400" smtClean="0">
              <a:solidFill>
                <a:schemeClr val="tx1"/>
              </a:solidFill>
            </a:endParaRPr>
          </a:p>
        </p:txBody>
      </p:sp>
      <p:sp>
        <p:nvSpPr>
          <p:cNvPr id="7170" name="内容占位符 2"/>
          <p:cNvSpPr>
            <a:spLocks noGrp="1"/>
          </p:cNvSpPr>
          <p:nvPr>
            <p:ph idx="1"/>
          </p:nvPr>
        </p:nvSpPr>
        <p:spPr>
          <a:xfrm>
            <a:off x="394970" y="911225"/>
            <a:ext cx="8291830" cy="3821430"/>
          </a:xfrm>
        </p:spPr>
        <p:txBody>
          <a:bodyPr/>
          <a:lstStyle/>
          <a:p>
            <a:pPr>
              <a:buFont typeface="Wingdings" panose="05000000000000000000" pitchFamily="2" charset="2"/>
              <a:buChar char="Ø"/>
            </a:pPr>
            <a:r>
              <a:rPr lang="zh-CN" altLang="en-US" sz="2400" b="1" smtClean="0">
                <a:solidFill>
                  <a:schemeClr val="tx1"/>
                </a:solidFill>
              </a:rPr>
              <a:t>表示</a:t>
            </a:r>
            <a:r>
              <a:rPr lang="zh-CN" altLang="en-US" sz="2400" b="1" smtClean="0">
                <a:solidFill>
                  <a:schemeClr val="tx1"/>
                </a:solidFill>
              </a:rPr>
              <a:t>极值点</a:t>
            </a:r>
            <a:endParaRPr lang="zh-CN" altLang="en-US" sz="2400" b="1" smtClean="0">
              <a:solidFill>
                <a:schemeClr val="tx1"/>
              </a:solidFill>
            </a:endParaRPr>
          </a:p>
          <a:p>
            <a:pPr>
              <a:buFont typeface="Wingdings" panose="05000000000000000000" pitchFamily="2" charset="2"/>
              <a:buChar char="Ø"/>
            </a:pPr>
            <a:r>
              <a:rPr lang="en-US" altLang="zh-CN" sz="2400" b="1" u="sng" smtClean="0">
                <a:solidFill>
                  <a:schemeClr val="tx1"/>
                </a:solidFill>
              </a:rPr>
              <a:t>soared to the peak at 20%.</a:t>
            </a:r>
            <a:endParaRPr lang="en-US" altLang="zh-CN" sz="2400" b="1" u="sng" smtClean="0">
              <a:solidFill>
                <a:schemeClr val="tx1"/>
              </a:solidFill>
            </a:endParaRPr>
          </a:p>
          <a:p>
            <a:pPr>
              <a:buFont typeface="Wingdings" panose="05000000000000000000" pitchFamily="2" charset="2"/>
              <a:buChar char="Ø"/>
            </a:pPr>
            <a:r>
              <a:rPr lang="en-US" altLang="zh-CN" sz="2400" b="1" u="sng" smtClean="0">
                <a:solidFill>
                  <a:schemeClr val="tx1"/>
                </a:solidFill>
              </a:rPr>
              <a:t>plunged to the bottom at only 5%.</a:t>
            </a:r>
            <a:endParaRPr lang="en-US" altLang="zh-CN" sz="2400" b="1" u="sng" smtClean="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 calcmode="lin" valueType="num">
                                      <p:cBhvr additive="base">
                                        <p:cTn id="7" dur="500" fill="hold"/>
                                        <p:tgtEl>
                                          <p:spTgt spid="717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0">
                                            <p:txEl>
                                              <p:pRg st="1" end="1"/>
                                            </p:txEl>
                                          </p:spTgt>
                                        </p:tgtEl>
                                        <p:attrNameLst>
                                          <p:attrName>style.visibility</p:attrName>
                                        </p:attrNameLst>
                                      </p:cBhvr>
                                      <p:to>
                                        <p:strVal val="visible"/>
                                      </p:to>
                                    </p:set>
                                    <p:anim calcmode="lin" valueType="num">
                                      <p:cBhvr additive="base">
                                        <p:cTn id="13" dur="500" fill="hold"/>
                                        <p:tgtEl>
                                          <p:spTgt spid="717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0">
                                            <p:txEl>
                                              <p:pRg st="2" end="2"/>
                                            </p:txEl>
                                          </p:spTgt>
                                        </p:tgtEl>
                                        <p:attrNameLst>
                                          <p:attrName>style.visibility</p:attrName>
                                        </p:attrNameLst>
                                      </p:cBhvr>
                                      <p:to>
                                        <p:strVal val="visible"/>
                                      </p:to>
                                    </p:set>
                                    <p:anim calcmode="lin" valueType="num">
                                      <p:cBhvr additive="base">
                                        <p:cTn id="19" dur="500" fill="hold"/>
                                        <p:tgtEl>
                                          <p:spTgt spid="717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395605" y="411480"/>
            <a:ext cx="6704330" cy="500380"/>
          </a:xfrm>
        </p:spPr>
        <p:txBody>
          <a:bodyPr/>
          <a:lstStyle/>
          <a:p>
            <a:r>
              <a:rPr lang="zh-CN" altLang="en-US" sz="2400" smtClean="0">
                <a:solidFill>
                  <a:schemeClr val="tx1"/>
                </a:solidFill>
              </a:rPr>
              <a:t>补充语法点③辨析</a:t>
            </a:r>
            <a:r>
              <a:rPr lang="en-US" altLang="zh-CN" sz="2400" smtClean="0">
                <a:solidFill>
                  <a:schemeClr val="tx1"/>
                </a:solidFill>
              </a:rPr>
              <a:t>it &amp; they</a:t>
            </a:r>
            <a:endParaRPr lang="en-US" altLang="zh-CN" sz="2400" smtClean="0">
              <a:solidFill>
                <a:schemeClr val="tx1"/>
              </a:solidFill>
            </a:endParaRPr>
          </a:p>
        </p:txBody>
      </p:sp>
      <p:sp>
        <p:nvSpPr>
          <p:cNvPr id="7170" name="内容占位符 2"/>
          <p:cNvSpPr>
            <a:spLocks noGrp="1"/>
          </p:cNvSpPr>
          <p:nvPr>
            <p:ph idx="1"/>
          </p:nvPr>
        </p:nvSpPr>
        <p:spPr>
          <a:xfrm>
            <a:off x="394970" y="911225"/>
            <a:ext cx="8291830" cy="3821430"/>
          </a:xfrm>
        </p:spPr>
        <p:txBody>
          <a:bodyPr/>
          <a:lstStyle/>
          <a:p>
            <a:pPr>
              <a:buFont typeface="Wingdings" panose="05000000000000000000" pitchFamily="2" charset="2"/>
              <a:buChar char="Ø"/>
            </a:pPr>
            <a:r>
              <a:rPr lang="zh-CN" altLang="en-US" sz="2400" b="1" u="sng" smtClean="0">
                <a:solidFill>
                  <a:schemeClr val="tx1"/>
                </a:solidFill>
              </a:rPr>
              <a:t>表示：在波动中</a:t>
            </a:r>
            <a:r>
              <a:rPr lang="zh-CN" altLang="en-US" sz="2400" b="1" u="sng" smtClean="0">
                <a:solidFill>
                  <a:schemeClr val="tx1"/>
                </a:solidFill>
              </a:rPr>
              <a:t>上升</a:t>
            </a:r>
            <a:endParaRPr lang="zh-CN" altLang="en-US" sz="2400" b="1" u="sng" smtClean="0">
              <a:solidFill>
                <a:schemeClr val="tx1"/>
              </a:solidFill>
            </a:endParaRPr>
          </a:p>
          <a:p>
            <a:pPr>
              <a:buFont typeface="Wingdings" panose="05000000000000000000" pitchFamily="2" charset="2"/>
              <a:buChar char="Ø"/>
            </a:pPr>
            <a:r>
              <a:rPr lang="en-US" altLang="zh-CN" sz="2400" b="1" u="sng" smtClean="0">
                <a:solidFill>
                  <a:schemeClr val="tx1"/>
                </a:solidFill>
              </a:rPr>
              <a:t>The proportion of girls saw an increasing trend in general, despite some fluctuation in the middle years.</a:t>
            </a:r>
            <a:endParaRPr lang="en-US" altLang="zh-CN" sz="2400" b="1" u="sng" smtClean="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 calcmode="lin" valueType="num">
                                      <p:cBhvr additive="base">
                                        <p:cTn id="7" dur="500" fill="hold"/>
                                        <p:tgtEl>
                                          <p:spTgt spid="717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0">
                                            <p:txEl>
                                              <p:pRg st="1" end="1"/>
                                            </p:txEl>
                                          </p:spTgt>
                                        </p:tgtEl>
                                        <p:attrNameLst>
                                          <p:attrName>style.visibility</p:attrName>
                                        </p:attrNameLst>
                                      </p:cBhvr>
                                      <p:to>
                                        <p:strVal val="visible"/>
                                      </p:to>
                                    </p:set>
                                    <p:anim calcmode="lin" valueType="num">
                                      <p:cBhvr additive="base">
                                        <p:cTn id="13" dur="500" fill="hold"/>
                                        <p:tgtEl>
                                          <p:spTgt spid="717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1"/>
          <p:cNvSpPr>
            <a:spLocks noGrp="1"/>
          </p:cNvSpPr>
          <p:nvPr>
            <p:ph type="title"/>
          </p:nvPr>
        </p:nvSpPr>
        <p:spPr>
          <a:xfrm>
            <a:off x="936625" y="1182370"/>
            <a:ext cx="6828790" cy="2569845"/>
          </a:xfrm>
        </p:spPr>
        <p:txBody>
          <a:bodyPr/>
          <a:lstStyle/>
          <a:p>
            <a:pPr algn="ctr">
              <a:lnSpc>
                <a:spcPct val="150000"/>
              </a:lnSpc>
            </a:pPr>
            <a:r>
              <a:rPr lang="en-US" altLang="zh-CN"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         Lecture Three</a:t>
            </a:r>
            <a:br>
              <a:rPr lang="en-US" altLang="zh-CN"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br>
            <a:r>
              <a:rPr lang="zh-CN" altLang="en-US"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定语</a:t>
            </a:r>
            <a:r>
              <a:rPr lang="en-US" altLang="zh-CN"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t>
            </a:r>
            <a:r>
              <a:rPr lang="zh-CN" altLang="en-US"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修饰名词</a:t>
            </a:r>
            <a:br>
              <a:rPr lang="en-US" altLang="zh-CN"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br>
            <a:r>
              <a:rPr lang="zh-CN" altLang="en-US" sz="1800"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微博：学为贵</a:t>
            </a:r>
            <a:r>
              <a:rPr lang="en-US" altLang="zh-CN" sz="1800"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t>
            </a:r>
            <a:r>
              <a:rPr lang="zh-CN" altLang="en-US" sz="1800"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赵颖伦</a:t>
            </a:r>
            <a:endParaRPr lang="zh-CN" altLang="en-US" sz="1800"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500063" y="714375"/>
            <a:ext cx="5357812" cy="500063"/>
          </a:xfrm>
        </p:spPr>
        <p:txBody>
          <a:bodyPr/>
          <a:lstStyle/>
          <a:p>
            <a:r>
              <a:rPr lang="zh-CN" altLang="en-US" sz="2400" smtClean="0">
                <a:solidFill>
                  <a:schemeClr val="tx1"/>
                </a:solidFill>
              </a:rPr>
              <a:t>定语</a:t>
            </a:r>
            <a:endParaRPr lang="zh-CN" altLang="en-US" sz="2400" smtClean="0">
              <a:solidFill>
                <a:schemeClr val="tx1"/>
              </a:solidFill>
            </a:endParaRPr>
          </a:p>
        </p:txBody>
      </p:sp>
      <p:sp>
        <p:nvSpPr>
          <p:cNvPr id="7170" name="内容占位符 2"/>
          <p:cNvSpPr>
            <a:spLocks noGrp="1"/>
          </p:cNvSpPr>
          <p:nvPr>
            <p:ph idx="1"/>
          </p:nvPr>
        </p:nvSpPr>
        <p:spPr>
          <a:xfrm>
            <a:off x="448945" y="1214755"/>
            <a:ext cx="8237855" cy="3517900"/>
          </a:xfrm>
        </p:spPr>
        <p:txBody>
          <a:bodyPr/>
          <a:lstStyle/>
          <a:p>
            <a:pPr>
              <a:buFont typeface="Wingdings" panose="05000000000000000000" pitchFamily="2" charset="2"/>
              <a:buChar char="Ø"/>
            </a:pPr>
            <a:r>
              <a:rPr lang="zh-CN" altLang="en-US" smtClean="0">
                <a:solidFill>
                  <a:schemeClr val="tx1"/>
                </a:solidFill>
                <a:latin typeface="华文细黑" panose="02010600040101010101" charset="-122"/>
                <a:ea typeface="华文细黑" panose="02010600040101010101" charset="-122"/>
                <a:cs typeface="华文细黑" panose="02010600040101010101" charset="-122"/>
              </a:rPr>
              <a:t>修饰名词的词。一般翻译为“</a:t>
            </a:r>
            <a:r>
              <a:rPr lang="en-US" altLang="zh-CN" smtClean="0">
                <a:solidFill>
                  <a:schemeClr val="tx1"/>
                </a:solidFill>
                <a:latin typeface="华文细黑" panose="02010600040101010101" charset="-122"/>
                <a:ea typeface="华文细黑" panose="02010600040101010101" charset="-122"/>
                <a:cs typeface="华文细黑" panose="02010600040101010101" charset="-122"/>
              </a:rPr>
              <a:t>……</a:t>
            </a:r>
            <a:r>
              <a:rPr lang="zh-CN" altLang="en-US" smtClean="0">
                <a:solidFill>
                  <a:schemeClr val="tx1"/>
                </a:solidFill>
                <a:latin typeface="华文细黑" panose="02010600040101010101" charset="-122"/>
                <a:ea typeface="华文细黑" panose="02010600040101010101" charset="-122"/>
                <a:cs typeface="华文细黑" panose="02010600040101010101" charset="-122"/>
              </a:rPr>
              <a:t>的”，表示事物的性质或状态，分为前置或后置。常做定语的有</a:t>
            </a:r>
            <a:r>
              <a:rPr lang="zh-CN" altLang="en-US" smtClean="0">
                <a:solidFill>
                  <a:srgbClr val="FF0000"/>
                </a:solidFill>
                <a:latin typeface="华文细黑" panose="02010600040101010101" charset="-122"/>
                <a:ea typeface="华文细黑" panose="02010600040101010101" charset="-122"/>
                <a:cs typeface="华文细黑" panose="02010600040101010101" charset="-122"/>
              </a:rPr>
              <a:t>名词、形容词、介词短语、定语从句、分词结构、形容词短语</a:t>
            </a:r>
            <a:r>
              <a:rPr lang="zh-CN" altLang="en-US" smtClean="0">
                <a:solidFill>
                  <a:schemeClr val="tx1"/>
                </a:solidFill>
                <a:latin typeface="华文细黑" panose="02010600040101010101" charset="-122"/>
                <a:ea typeface="华文细黑" panose="02010600040101010101" charset="-122"/>
                <a:cs typeface="华文细黑" panose="02010600040101010101" charset="-122"/>
              </a:rPr>
              <a:t>等。</a:t>
            </a:r>
            <a:endParaRPr lang="zh-CN" altLang="en-US" smtClean="0">
              <a:solidFill>
                <a:schemeClr val="tx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marL="285750" indent="-285750" algn="l" eaLnBrk="1" hangingPunct="1">
              <a:buClrTx/>
              <a:buSzTx/>
              <a:buFont typeface="Arial" panose="020B0604020202020204" pitchFamily="34" charset="0"/>
              <a:buChar char="•"/>
            </a:pPr>
            <a:r>
              <a:rPr lang="en-US" altLang="zh-CN" sz="2400" b="1">
                <a:solidFill>
                  <a:schemeClr val="tx1"/>
                </a:solidFill>
                <a:latin typeface="Arial" panose="020B0604020202020204" pitchFamily="34" charset="0"/>
                <a:ea typeface="宋体" panose="02010600030101010101" pitchFamily="2" charset="-122"/>
                <a:cs typeface="+mn-cs"/>
              </a:rPr>
              <a:t>① n+n</a:t>
            </a:r>
            <a:endParaRPr lang="en-US" altLang="zh-CN" sz="2400" b="1">
              <a:solidFill>
                <a:schemeClr val="tx1"/>
              </a:solidFill>
              <a:latin typeface="Arial" panose="020B0604020202020204" pitchFamily="34" charset="0"/>
              <a:ea typeface="宋体" panose="02010600030101010101" pitchFamily="2" charset="-122"/>
              <a:cs typeface="+mn-cs"/>
            </a:endParaRPr>
          </a:p>
        </p:txBody>
      </p:sp>
      <p:sp>
        <p:nvSpPr>
          <p:cNvPr id="3" name="文本框 2"/>
          <p:cNvSpPr txBox="1"/>
          <p:nvPr/>
        </p:nvSpPr>
        <p:spPr>
          <a:xfrm>
            <a:off x="539115" y="1361440"/>
            <a:ext cx="3808730" cy="3397885"/>
          </a:xfrm>
          <a:prstGeom prst="rect">
            <a:avLst/>
          </a:prstGeom>
          <a:noFill/>
        </p:spPr>
        <p:txBody>
          <a:bodyPr wrap="square" rtlCol="0">
            <a:noAutofit/>
          </a:bodyPr>
          <a:p>
            <a:pPr marL="285750" indent="-285750">
              <a:buFont typeface="Arial" panose="020B0604020202020204" pitchFamily="34" charset="0"/>
              <a:buChar char="•"/>
            </a:pPr>
            <a:r>
              <a:rPr lang="en-US" altLang="zh-CN" sz="2400" b="1"/>
              <a:t>leisure activities</a:t>
            </a:r>
            <a:endParaRPr lang="en-US" altLang="zh-CN" sz="2400" b="1"/>
          </a:p>
          <a:p>
            <a:pPr marL="285750" indent="-285750">
              <a:buFont typeface="Arial" panose="020B0604020202020204" pitchFamily="34" charset="0"/>
              <a:buChar char="•"/>
            </a:pPr>
            <a:r>
              <a:rPr lang="en-US" altLang="zh-CN" sz="2400" b="1"/>
              <a:t>career prospects</a:t>
            </a:r>
            <a:endParaRPr lang="en-US" altLang="zh-CN" sz="2400" b="1"/>
          </a:p>
          <a:p>
            <a:pPr marL="285750" indent="-285750">
              <a:buFont typeface="Arial" panose="020B0604020202020204" pitchFamily="34" charset="0"/>
              <a:buChar char="•"/>
            </a:pPr>
            <a:r>
              <a:rPr lang="en-US" altLang="zh-CN" sz="2400" b="1"/>
              <a:t>maternity leave</a:t>
            </a:r>
            <a:endParaRPr lang="en-US" altLang="zh-CN" sz="2400" b="1"/>
          </a:p>
          <a:p>
            <a:pPr marL="285750" indent="-285750">
              <a:buFont typeface="Arial" panose="020B0604020202020204" pitchFamily="34" charset="0"/>
              <a:buChar char="•"/>
            </a:pPr>
            <a:r>
              <a:rPr lang="en-US" altLang="zh-CN" sz="2400" b="1"/>
              <a:t>wealth gap</a:t>
            </a:r>
            <a:endParaRPr lang="en-US" altLang="zh-CN" sz="2400" b="1"/>
          </a:p>
          <a:p>
            <a:pPr marL="285750" indent="-285750">
              <a:buFont typeface="Arial" panose="020B0604020202020204" pitchFamily="34" charset="0"/>
              <a:buChar char="•"/>
            </a:pPr>
            <a:r>
              <a:rPr lang="en-US" altLang="zh-CN" sz="2400" b="1"/>
              <a:t>gap year</a:t>
            </a:r>
            <a:endParaRPr lang="en-US" altLang="zh-CN" sz="2400" b="1"/>
          </a:p>
          <a:p>
            <a:pPr marL="285750" indent="-285750">
              <a:buFont typeface="Arial" panose="020B0604020202020204" pitchFamily="34" charset="0"/>
              <a:buChar char="•"/>
            </a:pPr>
            <a:r>
              <a:rPr lang="en-US" altLang="zh-CN" sz="2400" b="1"/>
              <a:t>cheese cake</a:t>
            </a:r>
            <a:endParaRPr lang="en-US" altLang="zh-CN" sz="2400" b="1"/>
          </a:p>
          <a:p>
            <a:pPr marL="285750" indent="-285750">
              <a:buFont typeface="Arial" panose="020B0604020202020204" pitchFamily="34" charset="0"/>
              <a:buChar char="•"/>
            </a:pPr>
            <a:r>
              <a:rPr lang="en-US" altLang="zh-CN" sz="2400" b="1"/>
              <a:t>job opportunities</a:t>
            </a:r>
            <a:endParaRPr lang="en-US" altLang="zh-CN" sz="2400" b="1"/>
          </a:p>
          <a:p>
            <a:pPr marL="285750" indent="-285750">
              <a:buFont typeface="Arial" panose="020B0604020202020204" pitchFamily="34" charset="0"/>
              <a:buChar char="•"/>
            </a:pPr>
            <a:r>
              <a:rPr lang="en-US" altLang="zh-CN" sz="2400" b="1"/>
              <a:t>science fiction</a:t>
            </a:r>
            <a:endParaRPr lang="en-US" altLang="zh-CN" sz="2400" b="1"/>
          </a:p>
          <a:p>
            <a:pPr marL="285750" indent="-285750">
              <a:buFont typeface="Arial" panose="020B0604020202020204" pitchFamily="34" charset="0"/>
              <a:buChar char="•"/>
            </a:pPr>
            <a:r>
              <a:rPr lang="en-US" altLang="zh-CN" sz="2400" b="1"/>
              <a:t>lemon tree</a:t>
            </a:r>
            <a:endParaRPr lang="en-US" altLang="zh-CN" sz="2400" b="1"/>
          </a:p>
          <a:p>
            <a:pPr marL="285750" indent="-285750">
              <a:buFont typeface="Arial" panose="020B0604020202020204" pitchFamily="34" charset="0"/>
              <a:buChar char="•"/>
            </a:pPr>
            <a:endParaRPr lang="en-US" altLang="zh-CN" sz="2400" b="1"/>
          </a:p>
        </p:txBody>
      </p:sp>
      <p:sp>
        <p:nvSpPr>
          <p:cNvPr id="6" name="文本框 5"/>
          <p:cNvSpPr txBox="1"/>
          <p:nvPr/>
        </p:nvSpPr>
        <p:spPr>
          <a:xfrm>
            <a:off x="4572000" y="1442085"/>
            <a:ext cx="3808730" cy="3397885"/>
          </a:xfrm>
          <a:prstGeom prst="rect">
            <a:avLst/>
          </a:prstGeom>
          <a:noFill/>
        </p:spPr>
        <p:txBody>
          <a:bodyPr wrap="square" rtlCol="0">
            <a:noAutofit/>
          </a:bodyPr>
          <a:p>
            <a:pPr marL="285750" indent="-285750">
              <a:buFont typeface="Arial" panose="020B0604020202020204" pitchFamily="34" charset="0"/>
              <a:buChar char="•"/>
            </a:pPr>
            <a:r>
              <a:rPr lang="en-US" altLang="zh-CN" sz="2400" b="1"/>
              <a:t>love story</a:t>
            </a:r>
            <a:endParaRPr lang="en-US" altLang="zh-CN" sz="2400" b="1"/>
          </a:p>
          <a:p>
            <a:pPr marL="285750" indent="-285750">
              <a:buFont typeface="Arial" panose="020B0604020202020204" pitchFamily="34" charset="0"/>
              <a:buChar char="•"/>
            </a:pPr>
            <a:r>
              <a:rPr lang="en-US" altLang="zh-CN" sz="2400" b="1"/>
              <a:t>shoe store</a:t>
            </a:r>
            <a:endParaRPr lang="en-US" altLang="zh-CN" sz="2400" b="1"/>
          </a:p>
          <a:p>
            <a:pPr marL="285750" indent="-285750">
              <a:buFont typeface="Arial" panose="020B0604020202020204" pitchFamily="34" charset="0"/>
              <a:buChar char="•"/>
            </a:pPr>
            <a:r>
              <a:rPr lang="en-US" altLang="zh-CN" sz="2400" b="1"/>
              <a:t>English class</a:t>
            </a:r>
            <a:endParaRPr lang="en-US" altLang="zh-CN" sz="2400" b="1"/>
          </a:p>
          <a:p>
            <a:pPr marL="285750" indent="-285750">
              <a:buFont typeface="Arial" panose="020B0604020202020204" pitchFamily="34" charset="0"/>
              <a:buChar char="•"/>
            </a:pPr>
            <a:r>
              <a:rPr lang="en-US" altLang="zh-CN" sz="2400" b="1"/>
              <a:t>top students</a:t>
            </a:r>
            <a:endParaRPr lang="en-US" altLang="zh-CN" sz="2400" b="1"/>
          </a:p>
          <a:p>
            <a:pPr marL="285750" indent="-285750">
              <a:buFont typeface="Arial" panose="020B0604020202020204" pitchFamily="34" charset="0"/>
              <a:buChar char="•"/>
            </a:pPr>
            <a:r>
              <a:rPr lang="en-US" altLang="zh-CN" sz="2400" b="1"/>
              <a:t>chocolate ice cream</a:t>
            </a:r>
            <a:endParaRPr lang="en-US" altLang="zh-CN" sz="2400" b="1"/>
          </a:p>
          <a:p>
            <a:pPr marL="285750" indent="-285750">
              <a:buFont typeface="Arial" panose="020B0604020202020204" pitchFamily="34" charset="0"/>
              <a:buChar char="•"/>
            </a:pPr>
            <a:r>
              <a:rPr lang="en-US" altLang="zh-CN" sz="2400" b="1"/>
              <a:t>talk show</a:t>
            </a:r>
            <a:endParaRPr lang="en-US" altLang="zh-CN" sz="2400" b="1"/>
          </a:p>
          <a:p>
            <a:pPr marL="285750" indent="-285750">
              <a:buFont typeface="Arial" panose="020B0604020202020204" pitchFamily="34" charset="0"/>
              <a:buChar char="•"/>
            </a:pPr>
            <a:r>
              <a:rPr lang="en-US" altLang="zh-CN" sz="2400" b="1"/>
              <a:t>show business</a:t>
            </a:r>
            <a:endParaRPr lang="en-US" altLang="zh-CN" sz="2400" b="1"/>
          </a:p>
          <a:p>
            <a:pPr marL="285750" indent="-285750">
              <a:buFont typeface="Arial" panose="020B0604020202020204" pitchFamily="34" charset="0"/>
              <a:buChar char="•"/>
            </a:pPr>
            <a:r>
              <a:rPr lang="en-US" altLang="zh-CN" sz="2400" b="1"/>
              <a:t>Key opinion leader</a:t>
            </a:r>
            <a:endParaRPr lang="en-US" altLang="zh-CN"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6">
                                            <p:txEl>
                                              <p:pRg st="0" end="0"/>
                                            </p:txEl>
                                          </p:spTgt>
                                        </p:tgtEl>
                                        <p:attrNameLst>
                                          <p:attrName>style.visibility</p:attrName>
                                        </p:attrNameLst>
                                      </p:cBhvr>
                                      <p:to>
                                        <p:strVal val="visible"/>
                                      </p:to>
                                    </p:set>
                                    <p:anim calcmode="lin" valueType="num">
                                      <p:cBhvr additive="base">
                                        <p:cTn id="6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6">
                                            <p:txEl>
                                              <p:pRg st="1" end="1"/>
                                            </p:txEl>
                                          </p:spTgt>
                                        </p:tgtEl>
                                        <p:attrNameLst>
                                          <p:attrName>style.visibility</p:attrName>
                                        </p:attrNameLst>
                                      </p:cBhvr>
                                      <p:to>
                                        <p:strVal val="visible"/>
                                      </p:to>
                                    </p:set>
                                    <p:anim calcmode="lin" valueType="num">
                                      <p:cBhvr additive="base">
                                        <p:cTn id="6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6">
                                            <p:txEl>
                                              <p:pRg st="2" end="2"/>
                                            </p:txEl>
                                          </p:spTgt>
                                        </p:tgtEl>
                                        <p:attrNameLst>
                                          <p:attrName>style.visibility</p:attrName>
                                        </p:attrNameLst>
                                      </p:cBhvr>
                                      <p:to>
                                        <p:strVal val="visible"/>
                                      </p:to>
                                    </p:set>
                                    <p:anim calcmode="lin" valueType="num">
                                      <p:cBhvr additive="base">
                                        <p:cTn id="7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6">
                                            <p:txEl>
                                              <p:pRg st="3" end="3"/>
                                            </p:txEl>
                                          </p:spTgt>
                                        </p:tgtEl>
                                        <p:attrNameLst>
                                          <p:attrName>style.visibility</p:attrName>
                                        </p:attrNameLst>
                                      </p:cBhvr>
                                      <p:to>
                                        <p:strVal val="visible"/>
                                      </p:to>
                                    </p:set>
                                    <p:anim calcmode="lin" valueType="num">
                                      <p:cBhvr additive="base">
                                        <p:cTn id="7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6">
                                            <p:txEl>
                                              <p:pRg st="4" end="4"/>
                                            </p:txEl>
                                          </p:spTgt>
                                        </p:tgtEl>
                                        <p:attrNameLst>
                                          <p:attrName>style.visibility</p:attrName>
                                        </p:attrNameLst>
                                      </p:cBhvr>
                                      <p:to>
                                        <p:strVal val="visible"/>
                                      </p:to>
                                    </p:set>
                                    <p:anim calcmode="lin" valueType="num">
                                      <p:cBhvr additive="base">
                                        <p:cTn id="8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6">
                                            <p:txEl>
                                              <p:pRg st="5" end="5"/>
                                            </p:txEl>
                                          </p:spTgt>
                                        </p:tgtEl>
                                        <p:attrNameLst>
                                          <p:attrName>style.visibility</p:attrName>
                                        </p:attrNameLst>
                                      </p:cBhvr>
                                      <p:to>
                                        <p:strVal val="visible"/>
                                      </p:to>
                                    </p:set>
                                    <p:anim calcmode="lin" valueType="num">
                                      <p:cBhvr additive="base">
                                        <p:cTn id="9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6">
                                            <p:txEl>
                                              <p:pRg st="6" end="6"/>
                                            </p:txEl>
                                          </p:spTgt>
                                        </p:tgtEl>
                                        <p:attrNameLst>
                                          <p:attrName>style.visibility</p:attrName>
                                        </p:attrNameLst>
                                      </p:cBhvr>
                                      <p:to>
                                        <p:strVal val="visible"/>
                                      </p:to>
                                    </p:set>
                                    <p:anim calcmode="lin" valueType="num">
                                      <p:cBhvr additive="base">
                                        <p:cTn id="97"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6">
                                            <p:txEl>
                                              <p:pRg st="7" end="7"/>
                                            </p:txEl>
                                          </p:spTgt>
                                        </p:tgtEl>
                                        <p:attrNameLst>
                                          <p:attrName>style.visibility</p:attrName>
                                        </p:attrNameLst>
                                      </p:cBhvr>
                                      <p:to>
                                        <p:strVal val="visible"/>
                                      </p:to>
                                    </p:set>
                                    <p:anim calcmode="lin" valueType="num">
                                      <p:cBhvr additive="base">
                                        <p:cTn id="103"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939" y="771512"/>
            <a:ext cx="5357850" cy="500066"/>
          </a:xfrm>
        </p:spPr>
        <p:txBody>
          <a:bodyPr/>
          <a:lstStyle/>
          <a:p>
            <a:r>
              <a:rPr lang="zh-CN" altLang="en-US" sz="2400" dirty="0" smtClean="0">
                <a:solidFill>
                  <a:schemeClr val="tx1"/>
                </a:solidFill>
              </a:rPr>
              <a:t>② </a:t>
            </a:r>
            <a:r>
              <a:rPr lang="en-US" altLang="zh-CN" sz="2400" dirty="0" smtClean="0">
                <a:solidFill>
                  <a:schemeClr val="tx1"/>
                </a:solidFill>
              </a:rPr>
              <a:t>adj+n</a:t>
            </a:r>
            <a:endParaRPr lang="en-US" altLang="zh-CN" sz="2400" dirty="0" smtClean="0">
              <a:solidFill>
                <a:schemeClr val="tx1"/>
              </a:solidFill>
            </a:endParaRPr>
          </a:p>
        </p:txBody>
      </p:sp>
      <p:sp>
        <p:nvSpPr>
          <p:cNvPr id="3" name="内容占位符 2"/>
          <p:cNvSpPr>
            <a:spLocks noGrp="1"/>
          </p:cNvSpPr>
          <p:nvPr>
            <p:ph idx="1"/>
          </p:nvPr>
        </p:nvSpPr>
        <p:spPr>
          <a:xfrm>
            <a:off x="683895" y="1419225"/>
            <a:ext cx="8439785" cy="3429635"/>
          </a:xfrm>
        </p:spPr>
        <p:txBody>
          <a:bodyPr/>
          <a:lstStyle/>
          <a:p>
            <a:r>
              <a:rPr lang="en-US" altLang="zh-CN" sz="2000" dirty="0">
                <a:solidFill>
                  <a:schemeClr val="tx1"/>
                </a:solidFill>
              </a:rPr>
              <a:t>a productive director </a:t>
            </a:r>
            <a:endParaRPr lang="en-US" altLang="zh-CN" sz="2000" dirty="0">
              <a:solidFill>
                <a:schemeClr val="tx1"/>
              </a:solidFill>
            </a:endParaRPr>
          </a:p>
          <a:p>
            <a:r>
              <a:rPr lang="en-US" altLang="zh-CN" sz="2000" dirty="0">
                <a:solidFill>
                  <a:schemeClr val="tx1"/>
                </a:solidFill>
              </a:rPr>
              <a:t>an effective way</a:t>
            </a:r>
            <a:endParaRPr lang="en-US" altLang="zh-CN" sz="2000" dirty="0">
              <a:solidFill>
                <a:schemeClr val="tx1"/>
              </a:solidFill>
            </a:endParaRPr>
          </a:p>
          <a:p>
            <a:r>
              <a:rPr lang="en-US" altLang="zh-CN" sz="2000" dirty="0">
                <a:solidFill>
                  <a:schemeClr val="tx1"/>
                </a:solidFill>
              </a:rPr>
              <a:t>a glamorous life</a:t>
            </a:r>
            <a:endParaRPr lang="en-US" altLang="zh-CN" sz="2000" dirty="0">
              <a:solidFill>
                <a:schemeClr val="tx1"/>
              </a:solidFill>
            </a:endParaRPr>
          </a:p>
          <a:p>
            <a:r>
              <a:rPr lang="en-US" altLang="zh-CN" sz="2000" dirty="0">
                <a:solidFill>
                  <a:schemeClr val="tx1"/>
                </a:solidFill>
              </a:rPr>
              <a:t>a devastating effect</a:t>
            </a:r>
            <a:endParaRPr lang="zh-CN" altLang="en-US" sz="2000" dirty="0">
              <a:solidFill>
                <a:schemeClr val="tx1"/>
              </a:solidFill>
            </a:endParaRPr>
          </a:p>
          <a:p>
            <a:r>
              <a:rPr sz="2000" dirty="0">
                <a:solidFill>
                  <a:schemeClr val="tx1"/>
                </a:solidFill>
              </a:rPr>
              <a:t>名词所有格---指名词加上’s，如dog's, teachers'</a:t>
            </a:r>
            <a:endParaRPr sz="2000" dirty="0">
              <a:solidFill>
                <a:schemeClr val="tx1"/>
              </a:solidFill>
            </a:endParaRPr>
          </a:p>
          <a:p>
            <a:r>
              <a:rPr sz="2000" dirty="0">
                <a:solidFill>
                  <a:schemeClr val="tx1"/>
                </a:solidFill>
              </a:rPr>
              <a:t>单数名词+’s : the boy's dog; John's dream; that girl's bag</a:t>
            </a:r>
            <a:endParaRPr sz="2000" dirty="0">
              <a:solidFill>
                <a:schemeClr val="tx1"/>
              </a:solidFill>
            </a:endParaRPr>
          </a:p>
          <a:p>
            <a:r>
              <a:rPr sz="2000" dirty="0">
                <a:solidFill>
                  <a:schemeClr val="tx1"/>
                </a:solidFill>
              </a:rPr>
              <a:t>名词复数+ ’：my parents' friends; those girls' bags; employees</a:t>
            </a:r>
            <a:r>
              <a:rPr lang="en-US" altLang="zh-CN" sz="2000" dirty="0">
                <a:solidFill>
                  <a:schemeClr val="tx1"/>
                </a:solidFill>
              </a:rPr>
              <a:t>’ </a:t>
            </a:r>
            <a:r>
              <a:rPr sz="2000" dirty="0">
                <a:solidFill>
                  <a:schemeClr val="tx1"/>
                </a:solidFill>
              </a:rPr>
              <a:t>salaries</a:t>
            </a:r>
            <a:endParaRPr sz="2000" dirty="0">
              <a:solidFill>
                <a:schemeClr val="tx1"/>
              </a:solidFill>
            </a:endParaRPr>
          </a:p>
          <a:p>
            <a:r>
              <a:rPr sz="2000" dirty="0">
                <a:solidFill>
                  <a:schemeClr val="tx1"/>
                </a:solidFill>
              </a:rPr>
              <a:t>特殊情况+’s：children</a:t>
            </a:r>
            <a:r>
              <a:rPr lang="en-US" altLang="zh-CN" sz="2000" dirty="0">
                <a:solidFill>
                  <a:schemeClr val="tx1"/>
                </a:solidFill>
              </a:rPr>
              <a:t>’</a:t>
            </a:r>
            <a:r>
              <a:rPr sz="2000" dirty="0">
                <a:solidFill>
                  <a:schemeClr val="tx1"/>
                </a:solidFill>
              </a:rPr>
              <a:t>s; sheep</a:t>
            </a:r>
            <a:r>
              <a:rPr lang="en-US" altLang="zh-CN" sz="2000" dirty="0">
                <a:solidFill>
                  <a:schemeClr val="tx1"/>
                </a:solidFill>
              </a:rPr>
              <a:t>’</a:t>
            </a:r>
            <a:r>
              <a:rPr sz="2000" dirty="0">
                <a:solidFill>
                  <a:schemeClr val="tx1"/>
                </a:solidFill>
              </a:rPr>
              <a:t>s; people</a:t>
            </a:r>
            <a:r>
              <a:rPr lang="en-US" altLang="zh-CN" sz="2000" dirty="0">
                <a:solidFill>
                  <a:schemeClr val="tx1"/>
                </a:solidFill>
              </a:rPr>
              <a:t>’</a:t>
            </a:r>
            <a:r>
              <a:rPr sz="2000" dirty="0">
                <a:solidFill>
                  <a:schemeClr val="tx1"/>
                </a:solidFill>
              </a:rPr>
              <a:t>s; media</a:t>
            </a:r>
            <a:r>
              <a:rPr lang="en-US" altLang="zh-CN" sz="2000" dirty="0">
                <a:solidFill>
                  <a:schemeClr val="tx1"/>
                </a:solidFill>
              </a:rPr>
              <a:t>’</a:t>
            </a:r>
            <a:r>
              <a:rPr sz="2000" dirty="0">
                <a:solidFill>
                  <a:schemeClr val="tx1"/>
                </a:solidFill>
              </a:rPr>
              <a:t>s</a:t>
            </a:r>
            <a:endParaRPr sz="20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smtClean="0">
                <a:solidFill>
                  <a:schemeClr val="tx1"/>
                </a:solidFill>
              </a:rPr>
              <a:t>分词</a:t>
            </a:r>
            <a:r>
              <a:rPr lang="zh-CN" altLang="en-US" sz="2400" dirty="0">
                <a:solidFill>
                  <a:schemeClr val="tx1"/>
                </a:solidFill>
              </a:rPr>
              <a:t>形容词</a:t>
            </a:r>
            <a:endParaRPr lang="zh-CN" altLang="en-US" sz="2400" dirty="0">
              <a:solidFill>
                <a:schemeClr val="tx1"/>
              </a:solidFill>
            </a:endParaRPr>
          </a:p>
        </p:txBody>
      </p:sp>
      <p:sp>
        <p:nvSpPr>
          <p:cNvPr id="3" name="内容占位符 2"/>
          <p:cNvSpPr>
            <a:spLocks noGrp="1"/>
          </p:cNvSpPr>
          <p:nvPr>
            <p:ph idx="1"/>
          </p:nvPr>
        </p:nvSpPr>
        <p:spPr/>
        <p:txBody>
          <a:bodyPr/>
          <a:lstStyle/>
          <a:p>
            <a:pPr>
              <a:lnSpc>
                <a:spcPct val="150000"/>
              </a:lnSpc>
            </a:pPr>
            <a:r>
              <a:rPr lang="en-US" altLang="zh-CN" sz="2000" dirty="0">
                <a:solidFill>
                  <a:schemeClr val="tx1"/>
                </a:solidFill>
              </a:rPr>
              <a:t>doing/done  </a:t>
            </a:r>
            <a:r>
              <a:rPr sz="2000" dirty="0">
                <a:solidFill>
                  <a:schemeClr val="tx1"/>
                </a:solidFill>
              </a:rPr>
              <a:t>主动关系（主谓关系）</a:t>
            </a:r>
            <a:r>
              <a:rPr lang="en-US" altLang="zh-CN" sz="2000" dirty="0">
                <a:solidFill>
                  <a:schemeClr val="tx1"/>
                </a:solidFill>
              </a:rPr>
              <a:t>--doing</a:t>
            </a:r>
            <a:endParaRPr lang="en-US" altLang="zh-CN" sz="2000" dirty="0">
              <a:solidFill>
                <a:schemeClr val="tx1"/>
              </a:solidFill>
            </a:endParaRPr>
          </a:p>
          <a:p>
            <a:pPr>
              <a:lnSpc>
                <a:spcPct val="150000"/>
              </a:lnSpc>
            </a:pPr>
            <a:r>
              <a:rPr lang="en-US" altLang="zh-CN" sz="2000" dirty="0">
                <a:solidFill>
                  <a:schemeClr val="tx1"/>
                </a:solidFill>
              </a:rPr>
              <a:t>                       </a:t>
            </a:r>
            <a:r>
              <a:rPr sz="2000" dirty="0">
                <a:solidFill>
                  <a:schemeClr val="tx1"/>
                </a:solidFill>
              </a:rPr>
              <a:t>被动关系（谓宾关系）</a:t>
            </a:r>
            <a:r>
              <a:rPr lang="en-US" altLang="zh-CN" sz="2000" dirty="0">
                <a:solidFill>
                  <a:schemeClr val="tx1"/>
                </a:solidFill>
              </a:rPr>
              <a:t>--</a:t>
            </a:r>
            <a:r>
              <a:rPr lang="en-US" altLang="zh-CN" sz="2000" dirty="0" smtClean="0">
                <a:solidFill>
                  <a:schemeClr val="tx1"/>
                </a:solidFill>
              </a:rPr>
              <a:t>done</a:t>
            </a:r>
            <a:endParaRPr lang="en-US" altLang="zh-CN" sz="2000" dirty="0" smtClean="0">
              <a:solidFill>
                <a:schemeClr val="tx1"/>
              </a:solidFill>
            </a:endParaRPr>
          </a:p>
          <a:p>
            <a:pPr>
              <a:lnSpc>
                <a:spcPct val="150000"/>
              </a:lnSpc>
            </a:pPr>
            <a:r>
              <a:rPr lang="en-US" altLang="zh-CN" sz="2000" dirty="0" smtClean="0">
                <a:solidFill>
                  <a:schemeClr val="tx1"/>
                </a:solidFill>
              </a:rPr>
              <a:t>rising </a:t>
            </a:r>
            <a:r>
              <a:rPr lang="en-US" altLang="zh-CN" sz="2000" dirty="0">
                <a:solidFill>
                  <a:schemeClr val="tx1"/>
                </a:solidFill>
              </a:rPr>
              <a:t>sun; roaring </a:t>
            </a:r>
            <a:r>
              <a:rPr lang="en-US" altLang="zh-CN" sz="2000" dirty="0" smtClean="0">
                <a:solidFill>
                  <a:schemeClr val="tx1"/>
                </a:solidFill>
              </a:rPr>
              <a:t>lion; working classes</a:t>
            </a:r>
            <a:endParaRPr lang="en-US" altLang="zh-CN" sz="2000" dirty="0" smtClean="0">
              <a:solidFill>
                <a:schemeClr val="tx1"/>
              </a:solidFill>
            </a:endParaRPr>
          </a:p>
          <a:p>
            <a:pPr>
              <a:lnSpc>
                <a:spcPct val="150000"/>
              </a:lnSpc>
            </a:pPr>
            <a:r>
              <a:rPr lang="en-US" altLang="zh-CN" sz="2000" dirty="0" smtClean="0">
                <a:solidFill>
                  <a:schemeClr val="tx1"/>
                </a:solidFill>
              </a:rPr>
              <a:t>used </a:t>
            </a:r>
            <a:r>
              <a:rPr lang="en-US" altLang="zh-CN" sz="2000" dirty="0">
                <a:solidFill>
                  <a:schemeClr val="tx1"/>
                </a:solidFill>
              </a:rPr>
              <a:t>cars; cleaned dishes; broken bottles</a:t>
            </a:r>
            <a:endParaRPr lang="en-US" altLang="zh-CN" sz="2000" dirty="0">
              <a:solidFill>
                <a:schemeClr val="tx1"/>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0034" y="527037"/>
            <a:ext cx="5357850" cy="500066"/>
          </a:xfrm>
        </p:spPr>
        <p:txBody>
          <a:bodyPr/>
          <a:lstStyle/>
          <a:p>
            <a:r>
              <a:rPr lang="zh-CN" altLang="en-US" dirty="0" smtClean="0">
                <a:solidFill>
                  <a:schemeClr val="tx1"/>
                </a:solidFill>
              </a:rPr>
              <a:t>分词形容词在流程图中的使用</a:t>
            </a:r>
            <a:endParaRPr lang="zh-CN" altLang="en-US" dirty="0">
              <a:solidFill>
                <a:schemeClr val="tx1"/>
              </a:solidFill>
            </a:endParaRPr>
          </a:p>
        </p:txBody>
      </p:sp>
      <p:sp>
        <p:nvSpPr>
          <p:cNvPr id="3" name="内容占位符 2"/>
          <p:cNvSpPr>
            <a:spLocks noGrp="1"/>
          </p:cNvSpPr>
          <p:nvPr>
            <p:ph idx="1"/>
          </p:nvPr>
        </p:nvSpPr>
        <p:spPr>
          <a:xfrm>
            <a:off x="5129530" y="1176020"/>
            <a:ext cx="3728720" cy="3824605"/>
          </a:xfrm>
        </p:spPr>
        <p:txBody>
          <a:bodyPr/>
          <a:lstStyle/>
          <a:p>
            <a:pPr>
              <a:buFont typeface="Arial" panose="020B0604020202020204" pitchFamily="34" charset="0"/>
              <a:buChar char="•"/>
            </a:pPr>
            <a:r>
              <a:rPr lang="en-US" dirty="0" smtClean="0">
                <a:solidFill>
                  <a:schemeClr val="tx1"/>
                </a:solidFill>
              </a:rPr>
              <a:t>The fo</a:t>
            </a:r>
            <a:r>
              <a:rPr lang="en-US" altLang="zh-CN" dirty="0" smtClean="0">
                <a:solidFill>
                  <a:schemeClr val="tx1"/>
                </a:solidFill>
              </a:rPr>
              <a:t>u</a:t>
            </a:r>
            <a:r>
              <a:rPr lang="en-US" dirty="0" smtClean="0">
                <a:solidFill>
                  <a:schemeClr val="tx1"/>
                </a:solidFill>
              </a:rPr>
              <a:t>rth step is to </a:t>
            </a:r>
            <a:r>
              <a:rPr lang="en-US" u="sng" dirty="0" smtClean="0">
                <a:solidFill>
                  <a:schemeClr val="tx1"/>
                </a:solidFill>
              </a:rPr>
              <a:t>freeze the fish</a:t>
            </a:r>
            <a:r>
              <a:rPr lang="en-US" dirty="0" smtClean="0">
                <a:solidFill>
                  <a:schemeClr val="tx1"/>
                </a:solidFill>
              </a:rPr>
              <a:t> in the freezer, and then the</a:t>
            </a:r>
            <a:r>
              <a:rPr lang="en-US" b="1" dirty="0" smtClean="0">
                <a:solidFill>
                  <a:schemeClr val="tx1"/>
                </a:solidFill>
              </a:rPr>
              <a:t> </a:t>
            </a:r>
            <a:r>
              <a:rPr lang="en-US" b="1" dirty="0" smtClean="0">
                <a:solidFill>
                  <a:srgbClr val="FF0000"/>
                </a:solidFill>
              </a:rPr>
              <a:t>frozen fish </a:t>
            </a:r>
            <a:r>
              <a:rPr lang="en-US" dirty="0" smtClean="0">
                <a:solidFill>
                  <a:schemeClr val="tx1"/>
                </a:solidFill>
              </a:rPr>
              <a:t>are put into a container to thaw. (CC)</a:t>
            </a:r>
            <a:endParaRPr lang="zh-CN" altLang="en-US" dirty="0" smtClean="0">
              <a:solidFill>
                <a:schemeClr val="tx1"/>
              </a:solidFill>
            </a:endParaRPr>
          </a:p>
          <a:p>
            <a:pPr>
              <a:buFont typeface="Arial" panose="020B0604020202020204" pitchFamily="34" charset="0"/>
              <a:buChar char="•"/>
            </a:pPr>
            <a:r>
              <a:rPr lang="en-US" dirty="0" smtClean="0">
                <a:solidFill>
                  <a:schemeClr val="tx1"/>
                </a:solidFill>
              </a:rPr>
              <a:t>The most important stage is to </a:t>
            </a:r>
            <a:r>
              <a:rPr lang="en-US" u="sng" dirty="0" smtClean="0">
                <a:solidFill>
                  <a:schemeClr val="tx1"/>
                </a:solidFill>
              </a:rPr>
              <a:t>hang and smoke the fish</a:t>
            </a:r>
            <a:r>
              <a:rPr lang="en-US" dirty="0" smtClean="0">
                <a:solidFill>
                  <a:schemeClr val="tx1"/>
                </a:solidFill>
              </a:rPr>
              <a:t> until ready for sale, after which the </a:t>
            </a:r>
            <a:r>
              <a:rPr lang="en-US" b="1" dirty="0" smtClean="0">
                <a:solidFill>
                  <a:srgbClr val="FF0000"/>
                </a:solidFill>
              </a:rPr>
              <a:t>smoked fish </a:t>
            </a:r>
            <a:r>
              <a:rPr lang="en-US" dirty="0" smtClean="0">
                <a:solidFill>
                  <a:schemeClr val="tx1"/>
                </a:solidFill>
              </a:rPr>
              <a:t>are packed in boxes and frozen again. (CC)</a:t>
            </a:r>
            <a:endParaRPr lang="zh-CN" altLang="en-US" dirty="0" smtClean="0">
              <a:solidFill>
                <a:schemeClr val="tx1"/>
              </a:solidFill>
            </a:endParaRPr>
          </a:p>
          <a:p>
            <a:endParaRPr lang="zh-CN" altLang="en-US" dirty="0"/>
          </a:p>
        </p:txBody>
      </p:sp>
      <p:pic>
        <p:nvPicPr>
          <p:cNvPr id="1026" name="图片 1" descr="微信图片_20180824181725"/>
          <p:cNvPicPr>
            <a:picLocks noChangeAspect="1" noChangeArrowheads="1"/>
          </p:cNvPicPr>
          <p:nvPr/>
        </p:nvPicPr>
        <p:blipFill>
          <a:blip r:embed="rId1" cstate="print"/>
          <a:srcRect r="1167"/>
          <a:stretch>
            <a:fillRect/>
          </a:stretch>
        </p:blipFill>
        <p:spPr bwMode="auto">
          <a:xfrm>
            <a:off x="428625" y="1130300"/>
            <a:ext cx="4453890" cy="388366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649" y="555612"/>
            <a:ext cx="5357850" cy="500066"/>
          </a:xfrm>
        </p:spPr>
        <p:txBody>
          <a:bodyPr/>
          <a:lstStyle/>
          <a:p>
            <a:r>
              <a:rPr lang="en-US" altLang="zh-CN" sz="2400">
                <a:solidFill>
                  <a:schemeClr val="tx1"/>
                </a:solidFill>
              </a:rPr>
              <a:t>③ </a:t>
            </a:r>
            <a:r>
              <a:rPr lang="en-US" altLang="zh-CN">
                <a:solidFill>
                  <a:schemeClr val="tx1"/>
                </a:solidFill>
              </a:rPr>
              <a:t>n+prep</a:t>
            </a:r>
            <a:endParaRPr lang="en-US" altLang="zh-CN">
              <a:solidFill>
                <a:schemeClr val="tx1"/>
              </a:solidFill>
            </a:endParaRPr>
          </a:p>
        </p:txBody>
      </p:sp>
      <p:sp>
        <p:nvSpPr>
          <p:cNvPr id="3" name="内容占位符 2"/>
          <p:cNvSpPr>
            <a:spLocks noGrp="1"/>
          </p:cNvSpPr>
          <p:nvPr>
            <p:ph idx="1"/>
          </p:nvPr>
        </p:nvSpPr>
        <p:spPr>
          <a:xfrm>
            <a:off x="251460" y="1203325"/>
            <a:ext cx="4192270" cy="3596640"/>
          </a:xfrm>
        </p:spPr>
        <p:txBody>
          <a:bodyPr/>
          <a:lstStyle/>
          <a:p>
            <a:r>
              <a:rPr lang="en-US" altLang="zh-CN" sz="2000" b="1" dirty="0">
                <a:solidFill>
                  <a:schemeClr val="tx1"/>
                </a:solidFill>
              </a:rPr>
              <a:t>the </a:t>
            </a:r>
            <a:r>
              <a:rPr lang="zh-CN" altLang="en-US" sz="2000" b="1" dirty="0">
                <a:solidFill>
                  <a:schemeClr val="tx1"/>
                </a:solidFill>
              </a:rPr>
              <a:t>people </a:t>
            </a:r>
            <a:r>
              <a:rPr lang="zh-CN" altLang="en-US" sz="2000" b="1" u="sng" dirty="0">
                <a:solidFill>
                  <a:srgbClr val="0070C0"/>
                </a:solidFill>
                <a:highlight>
                  <a:srgbClr val="FFFF00"/>
                </a:highlight>
              </a:rPr>
              <a:t>in</a:t>
            </a:r>
            <a:r>
              <a:rPr lang="zh-CN" altLang="en-US" sz="2000" b="1" dirty="0">
                <a:solidFill>
                  <a:schemeClr val="tx1"/>
                </a:solidFill>
                <a:highlight>
                  <a:srgbClr val="FFFF00"/>
                </a:highlight>
              </a:rPr>
              <a:t> extreme poverty</a:t>
            </a:r>
            <a:r>
              <a:rPr lang="zh-CN" altLang="en-US" sz="2000" b="1" dirty="0">
                <a:solidFill>
                  <a:schemeClr val="tx1"/>
                </a:solidFill>
              </a:rPr>
              <a:t>.....</a:t>
            </a:r>
            <a:endParaRPr lang="zh-CN" altLang="en-US" sz="2000" b="1" dirty="0">
              <a:solidFill>
                <a:schemeClr val="tx1"/>
              </a:solidFill>
            </a:endParaRPr>
          </a:p>
          <a:p>
            <a:r>
              <a:rPr sz="2000" b="1">
                <a:solidFill>
                  <a:schemeClr val="tx1"/>
                </a:solidFill>
                <a:sym typeface="+mn-ea"/>
              </a:rPr>
              <a:t>people </a:t>
            </a:r>
            <a:r>
              <a:rPr sz="2000" b="1" u="sng">
                <a:solidFill>
                  <a:srgbClr val="0070C0"/>
                </a:solidFill>
                <a:highlight>
                  <a:srgbClr val="FFFF00"/>
                </a:highlight>
                <a:sym typeface="+mn-ea"/>
              </a:rPr>
              <a:t>in</a:t>
            </a:r>
            <a:r>
              <a:rPr sz="2000" b="1">
                <a:solidFill>
                  <a:schemeClr val="tx1"/>
                </a:solidFill>
                <a:highlight>
                  <a:srgbClr val="FFFF00"/>
                </a:highlight>
                <a:sym typeface="+mn-ea"/>
              </a:rPr>
              <a:t> different age groups</a:t>
            </a:r>
            <a:r>
              <a:rPr sz="2000" b="1">
                <a:solidFill>
                  <a:schemeClr val="tx1"/>
                </a:solidFill>
                <a:sym typeface="+mn-ea"/>
              </a:rPr>
              <a:t>....</a:t>
            </a:r>
            <a:endParaRPr lang="zh-CN" altLang="en-US" sz="2000" b="1" dirty="0">
              <a:solidFill>
                <a:schemeClr val="tx1"/>
              </a:solidFill>
            </a:endParaRPr>
          </a:p>
          <a:p>
            <a:r>
              <a:rPr lang="en-US" altLang="zh-CN" sz="2000" b="1" dirty="0">
                <a:solidFill>
                  <a:schemeClr val="tx1"/>
                </a:solidFill>
              </a:rPr>
              <a:t>a research </a:t>
            </a:r>
            <a:r>
              <a:rPr lang="en-US" altLang="zh-CN" sz="2000" b="1" u="sng" dirty="0">
                <a:solidFill>
                  <a:srgbClr val="FF0000"/>
                </a:solidFill>
              </a:rPr>
              <a:t>on</a:t>
            </a:r>
            <a:r>
              <a:rPr lang="en-US" altLang="zh-CN" sz="2000" b="1" dirty="0">
                <a:solidFill>
                  <a:schemeClr val="tx1"/>
                </a:solidFill>
              </a:rPr>
              <a:t> global warming...</a:t>
            </a:r>
            <a:endParaRPr lang="en-US" altLang="zh-CN" sz="2000" b="1" dirty="0">
              <a:solidFill>
                <a:schemeClr val="tx1"/>
              </a:solidFill>
            </a:endParaRPr>
          </a:p>
          <a:p>
            <a:r>
              <a:rPr lang="en-US" altLang="zh-CN" sz="2000" b="1" dirty="0">
                <a:solidFill>
                  <a:schemeClr val="tx1"/>
                </a:solidFill>
              </a:rPr>
              <a:t>a paper </a:t>
            </a:r>
            <a:r>
              <a:rPr lang="en-US" altLang="zh-CN" sz="2000" b="1" u="sng" dirty="0">
                <a:solidFill>
                  <a:srgbClr val="FF0000"/>
                </a:solidFill>
              </a:rPr>
              <a:t>on</a:t>
            </a:r>
            <a:r>
              <a:rPr lang="en-US" altLang="zh-CN" sz="2000" b="1" dirty="0">
                <a:solidFill>
                  <a:schemeClr val="tx1"/>
                </a:solidFill>
              </a:rPr>
              <a:t> fungi</a:t>
            </a:r>
            <a:endParaRPr lang="en-US" altLang="zh-CN" sz="2000" b="1" dirty="0">
              <a:solidFill>
                <a:schemeClr val="tx1"/>
              </a:solidFill>
            </a:endParaRPr>
          </a:p>
          <a:p>
            <a:r>
              <a:rPr lang="en-US" altLang="zh-CN" sz="2000" b="1" dirty="0">
                <a:solidFill>
                  <a:schemeClr val="tx1"/>
                </a:solidFill>
              </a:rPr>
              <a:t>the people </a:t>
            </a:r>
            <a:r>
              <a:rPr lang="en-US" altLang="zh-CN" sz="2000" b="1" u="sng" dirty="0">
                <a:solidFill>
                  <a:srgbClr val="7030A0"/>
                </a:solidFill>
              </a:rPr>
              <a:t>at</a:t>
            </a:r>
            <a:r>
              <a:rPr lang="en-US" altLang="zh-CN" sz="2000" b="1" dirty="0">
                <a:solidFill>
                  <a:schemeClr val="tx1"/>
                </a:solidFill>
              </a:rPr>
              <a:t> the corner</a:t>
            </a:r>
            <a:endParaRPr lang="en-US" altLang="zh-CN" sz="2000" b="1" dirty="0">
              <a:solidFill>
                <a:schemeClr val="tx1"/>
              </a:solidFill>
            </a:endParaRPr>
          </a:p>
          <a:p>
            <a:r>
              <a:rPr lang="en-US" altLang="zh-CN" sz="2000" b="1" dirty="0">
                <a:solidFill>
                  <a:schemeClr val="tx1"/>
                </a:solidFill>
              </a:rPr>
              <a:t>the people </a:t>
            </a:r>
            <a:r>
              <a:rPr lang="en-US" altLang="zh-CN" sz="2000" b="1" u="sng" dirty="0">
                <a:solidFill>
                  <a:srgbClr val="7030A0"/>
                </a:solidFill>
              </a:rPr>
              <a:t>at</a:t>
            </a:r>
            <a:r>
              <a:rPr lang="en-US" altLang="zh-CN" sz="2000" b="1" dirty="0">
                <a:solidFill>
                  <a:schemeClr val="tx1"/>
                </a:solidFill>
              </a:rPr>
              <a:t> present</a:t>
            </a:r>
            <a:endParaRPr lang="en-US" altLang="zh-CN" sz="2000" b="1" dirty="0">
              <a:solidFill>
                <a:schemeClr val="tx1"/>
              </a:solidFill>
            </a:endParaRPr>
          </a:p>
          <a:p>
            <a:r>
              <a:rPr lang="en-US" altLang="zh-CN" sz="2000" b="1" dirty="0">
                <a:solidFill>
                  <a:schemeClr val="tx1"/>
                </a:solidFill>
              </a:rPr>
              <a:t>the reason </a:t>
            </a:r>
            <a:r>
              <a:rPr lang="en-US" altLang="zh-CN" sz="2000" b="1" u="sng" dirty="0">
                <a:solidFill>
                  <a:srgbClr val="0070C0"/>
                </a:solidFill>
              </a:rPr>
              <a:t>fo</a:t>
            </a:r>
            <a:r>
              <a:rPr lang="en-US" altLang="zh-CN" sz="2000" b="1" dirty="0">
                <a:solidFill>
                  <a:schemeClr val="tx1"/>
                </a:solidFill>
              </a:rPr>
              <a:t>r this problem....</a:t>
            </a:r>
            <a:endParaRPr lang="en-US" altLang="zh-CN" sz="2000" b="1" dirty="0">
              <a:solidFill>
                <a:schemeClr val="tx1"/>
              </a:solidFill>
            </a:endParaRPr>
          </a:p>
          <a:p>
            <a:r>
              <a:rPr lang="en-US" altLang="zh-CN" sz="2000" b="1" dirty="0">
                <a:solidFill>
                  <a:schemeClr val="tx1"/>
                </a:solidFill>
              </a:rPr>
              <a:t>the talent </a:t>
            </a:r>
            <a:r>
              <a:rPr lang="en-US" altLang="zh-CN" sz="2000" b="1" u="sng" dirty="0">
                <a:solidFill>
                  <a:srgbClr val="0070C0"/>
                </a:solidFill>
              </a:rPr>
              <a:t>for</a:t>
            </a:r>
            <a:r>
              <a:rPr lang="en-US" altLang="zh-CN" sz="2000" b="1" dirty="0">
                <a:solidFill>
                  <a:schemeClr val="tx1"/>
                </a:solidFill>
              </a:rPr>
              <a:t> </a:t>
            </a:r>
            <a:endParaRPr lang="en-US" altLang="zh-CN" sz="2000" b="1" dirty="0">
              <a:solidFill>
                <a:schemeClr val="tx1"/>
              </a:solidFill>
            </a:endParaRPr>
          </a:p>
          <a:p>
            <a:r>
              <a:rPr lang="en-US" altLang="zh-CN" sz="2000" b="1" dirty="0">
                <a:solidFill>
                  <a:schemeClr val="tx1"/>
                </a:solidFill>
              </a:rPr>
              <a:t>The figure </a:t>
            </a:r>
            <a:r>
              <a:rPr lang="en-US" altLang="zh-CN" sz="2000" b="1" u="sng" dirty="0">
                <a:solidFill>
                  <a:srgbClr val="0070C0"/>
                </a:solidFill>
              </a:rPr>
              <a:t>for</a:t>
            </a:r>
            <a:r>
              <a:rPr lang="en-US" altLang="zh-CN" sz="2000" b="1" dirty="0">
                <a:solidFill>
                  <a:schemeClr val="tx1"/>
                </a:solidFill>
              </a:rPr>
              <a:t>...</a:t>
            </a:r>
            <a:endParaRPr lang="en-US" altLang="zh-CN" sz="2000" b="1" dirty="0">
              <a:solidFill>
                <a:schemeClr val="tx1"/>
              </a:solidFill>
            </a:endParaRPr>
          </a:p>
          <a:p>
            <a:r>
              <a:rPr lang="en-US" altLang="zh-CN" sz="2000" b="1" dirty="0">
                <a:solidFill>
                  <a:schemeClr val="tx1"/>
                </a:solidFill>
              </a:rPr>
              <a:t>a gift </a:t>
            </a:r>
            <a:r>
              <a:rPr lang="en-US" altLang="zh-CN" sz="2000" b="1" u="sng" dirty="0">
                <a:solidFill>
                  <a:srgbClr val="0070C0"/>
                </a:solidFill>
              </a:rPr>
              <a:t>for</a:t>
            </a:r>
            <a:r>
              <a:rPr lang="en-US" altLang="zh-CN" sz="2000" b="1" dirty="0">
                <a:solidFill>
                  <a:schemeClr val="tx1"/>
                </a:solidFill>
              </a:rPr>
              <a:t> sb </a:t>
            </a:r>
            <a:endParaRPr lang="en-US" altLang="zh-CN" sz="2000" b="1" dirty="0">
              <a:solidFill>
                <a:schemeClr val="tx1"/>
              </a:solidFill>
            </a:endParaRPr>
          </a:p>
        </p:txBody>
      </p:sp>
      <p:sp>
        <p:nvSpPr>
          <p:cNvPr id="4" name="内容占位符 2"/>
          <p:cNvSpPr>
            <a:spLocks noGrp="1"/>
          </p:cNvSpPr>
          <p:nvPr/>
        </p:nvSpPr>
        <p:spPr>
          <a:xfrm>
            <a:off x="4147820" y="1204595"/>
            <a:ext cx="5758180" cy="352806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lang="zh-CN" altLang="en-US" sz="2800" kern="1200" baseline="0" dirty="0">
                <a:solidFill>
                  <a:schemeClr val="bg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bg1"/>
                </a:solidFill>
                <a:latin typeface="+mn-lt"/>
                <a:ea typeface="+mn-ea"/>
                <a:cs typeface="微软雅黑" panose="020B0503020204020204" charset="-122"/>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bg1"/>
                </a:solidFill>
                <a:latin typeface="+mn-lt"/>
                <a:ea typeface="+mn-ea"/>
                <a:cs typeface="微软雅黑" panose="020B0503020204020204" charset="-122"/>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b="1" dirty="0">
                <a:solidFill>
                  <a:schemeClr val="tx1"/>
                </a:solidFill>
              </a:rPr>
              <a:t>the role</a:t>
            </a:r>
            <a:r>
              <a:rPr lang="en-US" altLang="zh-CN" sz="2000" b="1" u="sng" dirty="0">
                <a:solidFill>
                  <a:srgbClr val="0070C0"/>
                </a:solidFill>
              </a:rPr>
              <a:t> of </a:t>
            </a:r>
            <a:r>
              <a:rPr lang="en-US" altLang="zh-CN" sz="2000" b="1" dirty="0">
                <a:solidFill>
                  <a:schemeClr val="tx1"/>
                </a:solidFill>
              </a:rPr>
              <a:t>parents</a:t>
            </a:r>
            <a:endParaRPr lang="en-US" altLang="zh-CN" sz="2000" b="1" dirty="0">
              <a:solidFill>
                <a:schemeClr val="tx1"/>
              </a:solidFill>
            </a:endParaRPr>
          </a:p>
          <a:p>
            <a:r>
              <a:rPr lang="en-US" altLang="zh-CN" sz="2000" b="1" dirty="0">
                <a:solidFill>
                  <a:schemeClr val="tx1"/>
                </a:solidFill>
              </a:rPr>
              <a:t>the fun </a:t>
            </a:r>
            <a:r>
              <a:rPr lang="en-US" altLang="zh-CN" sz="2000" b="1" u="sng" dirty="0">
                <a:solidFill>
                  <a:srgbClr val="0070C0"/>
                </a:solidFill>
              </a:rPr>
              <a:t>of</a:t>
            </a:r>
            <a:r>
              <a:rPr lang="en-US" altLang="zh-CN" sz="2000" b="1" dirty="0">
                <a:solidFill>
                  <a:schemeClr val="tx1"/>
                </a:solidFill>
              </a:rPr>
              <a:t> watching TV</a:t>
            </a:r>
            <a:endParaRPr lang="en-US" altLang="zh-CN" sz="2000" b="1" dirty="0">
              <a:solidFill>
                <a:schemeClr val="tx1"/>
              </a:solidFill>
            </a:endParaRPr>
          </a:p>
          <a:p>
            <a:r>
              <a:rPr lang="en-US" altLang="zh-CN" sz="2000" b="1" dirty="0">
                <a:solidFill>
                  <a:schemeClr val="tx1"/>
                </a:solidFill>
              </a:rPr>
              <a:t>the drawbacks </a:t>
            </a:r>
            <a:r>
              <a:rPr lang="en-US" altLang="zh-CN" sz="2000" b="1" u="sng" dirty="0">
                <a:solidFill>
                  <a:srgbClr val="0070C0"/>
                </a:solidFill>
              </a:rPr>
              <a:t>of </a:t>
            </a:r>
            <a:r>
              <a:rPr lang="en-US" altLang="zh-CN" sz="2000" b="1" dirty="0">
                <a:solidFill>
                  <a:schemeClr val="tx1"/>
                </a:solidFill>
              </a:rPr>
              <a:t>playing video games</a:t>
            </a:r>
            <a:endParaRPr lang="en-US" altLang="zh-CN" sz="2000" b="1" dirty="0">
              <a:solidFill>
                <a:schemeClr val="tx1"/>
              </a:solidFill>
            </a:endParaRPr>
          </a:p>
          <a:p>
            <a:r>
              <a:rPr lang="en-US" altLang="zh-CN" sz="2000" b="1" dirty="0">
                <a:solidFill>
                  <a:schemeClr val="tx1"/>
                </a:solidFill>
              </a:rPr>
              <a:t>the convenience </a:t>
            </a:r>
            <a:r>
              <a:rPr lang="en-US" altLang="zh-CN" sz="2000" b="1" u="sng" dirty="0">
                <a:solidFill>
                  <a:srgbClr val="0070C0"/>
                </a:solidFill>
              </a:rPr>
              <a:t>of </a:t>
            </a:r>
            <a:r>
              <a:rPr lang="en-US" altLang="zh-CN" sz="2000" b="1" dirty="0">
                <a:solidFill>
                  <a:schemeClr val="tx1"/>
                </a:solidFill>
              </a:rPr>
              <a:t>driving private cars</a:t>
            </a:r>
            <a:endParaRPr lang="en-US" altLang="zh-CN" sz="2000" b="1" dirty="0">
              <a:solidFill>
                <a:schemeClr val="tx1"/>
              </a:solidFill>
            </a:endParaRPr>
          </a:p>
          <a:p>
            <a:r>
              <a:rPr lang="en-US" altLang="zh-CN" sz="2000" b="1" dirty="0">
                <a:solidFill>
                  <a:schemeClr val="tx1"/>
                </a:solidFill>
              </a:rPr>
              <a:t>a documentary </a:t>
            </a:r>
            <a:r>
              <a:rPr lang="en-US" altLang="zh-CN" sz="2000" b="1" u="sng" dirty="0">
                <a:solidFill>
                  <a:srgbClr val="FF0000"/>
                </a:solidFill>
              </a:rPr>
              <a:t>about</a:t>
            </a:r>
            <a:r>
              <a:rPr lang="en-US" altLang="zh-CN" sz="2000" b="1" dirty="0">
                <a:solidFill>
                  <a:schemeClr val="tx1"/>
                </a:solidFill>
              </a:rPr>
              <a:t> African wild animals</a:t>
            </a:r>
            <a:endParaRPr lang="en-US" altLang="zh-CN" sz="2000" b="1" dirty="0">
              <a:solidFill>
                <a:schemeClr val="tx1"/>
              </a:solidFill>
            </a:endParaRPr>
          </a:p>
          <a:p>
            <a:r>
              <a:rPr lang="en-US" altLang="zh-CN" sz="2000" b="1" dirty="0">
                <a:solidFill>
                  <a:schemeClr val="tx1"/>
                </a:solidFill>
              </a:rPr>
              <a:t>the suggestion </a:t>
            </a:r>
            <a:r>
              <a:rPr lang="en-US" altLang="zh-CN" sz="2000" b="1" u="sng" dirty="0">
                <a:solidFill>
                  <a:srgbClr val="7030A0"/>
                </a:solidFill>
              </a:rPr>
              <a:t>of</a:t>
            </a:r>
            <a:r>
              <a:rPr lang="en-US" altLang="zh-CN" sz="2000" b="1" dirty="0">
                <a:solidFill>
                  <a:schemeClr val="tx1"/>
                </a:solidFill>
              </a:rPr>
              <a:t> great value/importance..</a:t>
            </a:r>
            <a:endParaRPr lang="en-US" altLang="zh-CN" sz="2000" b="1" dirty="0">
              <a:solidFill>
                <a:schemeClr val="tx1"/>
              </a:solidFill>
            </a:endParaRPr>
          </a:p>
          <a:p>
            <a:r>
              <a:rPr lang="en-US" altLang="zh-CN" sz="2000" b="1" dirty="0">
                <a:solidFill>
                  <a:schemeClr val="tx1"/>
                </a:solidFill>
              </a:rPr>
              <a:t>the day </a:t>
            </a:r>
            <a:r>
              <a:rPr lang="en-US" altLang="zh-CN" sz="2000" b="1" u="sng" dirty="0">
                <a:solidFill>
                  <a:srgbClr val="7030A0"/>
                </a:solidFill>
              </a:rPr>
              <a:t>of</a:t>
            </a:r>
            <a:r>
              <a:rPr lang="en-US" altLang="zh-CN" sz="2000" b="1" dirty="0">
                <a:solidFill>
                  <a:schemeClr val="tx1"/>
                </a:solidFill>
              </a:rPr>
              <a:t> great significance</a:t>
            </a:r>
            <a:endParaRPr lang="en-US" altLang="zh-CN" sz="2000" b="1" dirty="0">
              <a:solidFill>
                <a:schemeClr val="tx1"/>
              </a:solidFill>
            </a:endParaRPr>
          </a:p>
          <a:p>
            <a:r>
              <a:rPr lang="en-US" altLang="zh-CN" sz="2000" b="1" dirty="0">
                <a:solidFill>
                  <a:schemeClr val="tx1"/>
                </a:solidFill>
              </a:rPr>
              <a:t>people</a:t>
            </a:r>
            <a:r>
              <a:rPr lang="en-US" altLang="zh-CN" sz="2000" b="1" dirty="0">
                <a:solidFill>
                  <a:schemeClr val="tx1"/>
                </a:solidFill>
                <a:highlight>
                  <a:srgbClr val="FFFF00"/>
                </a:highlight>
              </a:rPr>
              <a:t> in favor of </a:t>
            </a:r>
            <a:r>
              <a:rPr lang="en-US" altLang="zh-CN" sz="2000" b="1" dirty="0">
                <a:solidFill>
                  <a:schemeClr val="tx1"/>
                </a:solidFill>
              </a:rPr>
              <a:t>animal experiments...</a:t>
            </a:r>
            <a:endParaRPr lang="en-US" altLang="zh-CN" sz="2000" b="1" dirty="0">
              <a:solidFill>
                <a:schemeClr val="tx1"/>
              </a:solidFill>
            </a:endParaRPr>
          </a:p>
          <a:p>
            <a:r>
              <a:rPr lang="en-US" altLang="zh-CN" sz="2000" b="1" dirty="0">
                <a:solidFill>
                  <a:schemeClr val="tx1"/>
                </a:solidFill>
              </a:rPr>
              <a:t>people</a:t>
            </a:r>
            <a:r>
              <a:rPr lang="en-US" altLang="zh-CN" sz="2000" b="1" dirty="0">
                <a:solidFill>
                  <a:schemeClr val="tx1"/>
                </a:solidFill>
                <a:highlight>
                  <a:srgbClr val="FFFF00"/>
                </a:highlight>
              </a:rPr>
              <a:t> against </a:t>
            </a:r>
            <a:r>
              <a:rPr lang="en-US" altLang="zh-CN" sz="2000" b="1" dirty="0">
                <a:solidFill>
                  <a:schemeClr val="tx1"/>
                </a:solidFill>
              </a:rPr>
              <a:t>tak</a:t>
            </a:r>
            <a:r>
              <a:rPr lang="en-US" altLang="zh-CN" sz="2000" b="1">
                <a:solidFill>
                  <a:schemeClr val="tx1"/>
                </a:solidFill>
              </a:rPr>
              <a:t>ing</a:t>
            </a:r>
            <a:r>
              <a:rPr lang="en-US" altLang="zh-CN" sz="2000" b="1" dirty="0">
                <a:solidFill>
                  <a:schemeClr val="tx1"/>
                </a:solidFill>
              </a:rPr>
              <a:t> maternity </a:t>
            </a:r>
            <a:r>
              <a:rPr lang="zh-CN" altLang="en-US" sz="2000" dirty="0">
                <a:solidFill>
                  <a:schemeClr val="tx1"/>
                </a:solidFill>
              </a:rPr>
              <a:t>leave....</a:t>
            </a:r>
            <a:endParaRPr lang="zh-CN" altLang="en-US" sz="2000" dirty="0">
              <a:solidFill>
                <a:schemeClr val="tx1"/>
              </a:solidFill>
            </a:endParaRPr>
          </a:p>
          <a:p>
            <a:r>
              <a:rPr lang="en-US" altLang="zh-CN" sz="2000" b="1">
                <a:solidFill>
                  <a:schemeClr val="tx1"/>
                </a:solidFill>
              </a:rPr>
              <a:t>couples </a:t>
            </a:r>
            <a:r>
              <a:rPr lang="en-US" altLang="zh-CN" sz="2000" b="1" u="sng">
                <a:solidFill>
                  <a:srgbClr val="00B050"/>
                </a:solidFill>
              </a:rPr>
              <a:t>with</a:t>
            </a:r>
            <a:r>
              <a:rPr lang="en-US" altLang="zh-CN" sz="2000" b="1">
                <a:solidFill>
                  <a:schemeClr val="tx1"/>
                </a:solidFill>
              </a:rPr>
              <a:t> several children</a:t>
            </a:r>
            <a:endParaRPr lang="en-US" altLang="zh-CN" sz="20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
                                            <p:txEl>
                                              <p:pRg st="0" end="0"/>
                                            </p:txEl>
                                          </p:spTgt>
                                        </p:tgtEl>
                                        <p:attrNameLst>
                                          <p:attrName>style.visibility</p:attrName>
                                        </p:attrNameLst>
                                      </p:cBhvr>
                                      <p:to>
                                        <p:strVal val="visible"/>
                                      </p:to>
                                    </p:set>
                                    <p:anim calcmode="lin" valueType="num">
                                      <p:cBhvr additive="base">
                                        <p:cTn id="6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
                                            <p:txEl>
                                              <p:pRg st="1" end="1"/>
                                            </p:txEl>
                                          </p:spTgt>
                                        </p:tgtEl>
                                        <p:attrNameLst>
                                          <p:attrName>style.visibility</p:attrName>
                                        </p:attrNameLst>
                                      </p:cBhvr>
                                      <p:to>
                                        <p:strVal val="visible"/>
                                      </p:to>
                                    </p:set>
                                    <p:anim calcmode="lin" valueType="num">
                                      <p:cBhvr additive="base">
                                        <p:cTn id="7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4">
                                            <p:txEl>
                                              <p:pRg st="2" end="2"/>
                                            </p:txEl>
                                          </p:spTgt>
                                        </p:tgtEl>
                                        <p:attrNameLst>
                                          <p:attrName>style.visibility</p:attrName>
                                        </p:attrNameLst>
                                      </p:cBhvr>
                                      <p:to>
                                        <p:strVal val="visible"/>
                                      </p:to>
                                    </p:set>
                                    <p:anim calcmode="lin" valueType="num">
                                      <p:cBhvr additive="base">
                                        <p:cTn id="7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4">
                                            <p:txEl>
                                              <p:pRg st="3" end="3"/>
                                            </p:txEl>
                                          </p:spTgt>
                                        </p:tgtEl>
                                        <p:attrNameLst>
                                          <p:attrName>style.visibility</p:attrName>
                                        </p:attrNameLst>
                                      </p:cBhvr>
                                      <p:to>
                                        <p:strVal val="visible"/>
                                      </p:to>
                                    </p:set>
                                    <p:anim calcmode="lin" valueType="num">
                                      <p:cBhvr additive="base">
                                        <p:cTn id="8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4">
                                            <p:txEl>
                                              <p:pRg st="4" end="4"/>
                                            </p:txEl>
                                          </p:spTgt>
                                        </p:tgtEl>
                                        <p:attrNameLst>
                                          <p:attrName>style.visibility</p:attrName>
                                        </p:attrNameLst>
                                      </p:cBhvr>
                                      <p:to>
                                        <p:strVal val="visible"/>
                                      </p:to>
                                    </p:set>
                                    <p:anim calcmode="lin" valueType="num">
                                      <p:cBhvr additive="base">
                                        <p:cTn id="9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4">
                                            <p:txEl>
                                              <p:pRg st="5" end="5"/>
                                            </p:txEl>
                                          </p:spTgt>
                                        </p:tgtEl>
                                        <p:attrNameLst>
                                          <p:attrName>style.visibility</p:attrName>
                                        </p:attrNameLst>
                                      </p:cBhvr>
                                      <p:to>
                                        <p:strVal val="visible"/>
                                      </p:to>
                                    </p:set>
                                    <p:anim calcmode="lin" valueType="num">
                                      <p:cBhvr additive="base">
                                        <p:cTn id="9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4">
                                            <p:txEl>
                                              <p:pRg st="6" end="6"/>
                                            </p:txEl>
                                          </p:spTgt>
                                        </p:tgtEl>
                                        <p:attrNameLst>
                                          <p:attrName>style.visibility</p:attrName>
                                        </p:attrNameLst>
                                      </p:cBhvr>
                                      <p:to>
                                        <p:strVal val="visible"/>
                                      </p:to>
                                    </p:set>
                                    <p:anim calcmode="lin" valueType="num">
                                      <p:cBhvr additive="base">
                                        <p:cTn id="10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4">
                                            <p:txEl>
                                              <p:pRg st="7" end="7"/>
                                            </p:txEl>
                                          </p:spTgt>
                                        </p:tgtEl>
                                        <p:attrNameLst>
                                          <p:attrName>style.visibility</p:attrName>
                                        </p:attrNameLst>
                                      </p:cBhvr>
                                      <p:to>
                                        <p:strVal val="visible"/>
                                      </p:to>
                                    </p:set>
                                    <p:anim calcmode="lin" valueType="num">
                                      <p:cBhvr additive="base">
                                        <p:cTn id="10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4">
                                            <p:txEl>
                                              <p:pRg st="8" end="8"/>
                                            </p:txEl>
                                          </p:spTgt>
                                        </p:tgtEl>
                                        <p:attrNameLst>
                                          <p:attrName>style.visibility</p:attrName>
                                        </p:attrNameLst>
                                      </p:cBhvr>
                                      <p:to>
                                        <p:strVal val="visible"/>
                                      </p:to>
                                    </p:set>
                                    <p:anim calcmode="lin" valueType="num">
                                      <p:cBhvr additive="base">
                                        <p:cTn id="11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4">
                                            <p:txEl>
                                              <p:pRg st="9" end="9"/>
                                            </p:txEl>
                                          </p:spTgt>
                                        </p:tgtEl>
                                        <p:attrNameLst>
                                          <p:attrName>style.visibility</p:attrName>
                                        </p:attrNameLst>
                                      </p:cBhvr>
                                      <p:to>
                                        <p:strVal val="visible"/>
                                      </p:to>
                                    </p:set>
                                    <p:anim calcmode="lin" valueType="num">
                                      <p:cBhvr additive="base">
                                        <p:cTn id="12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p:cNvSpPr>
          <p:nvPr>
            <p:ph type="title"/>
          </p:nvPr>
        </p:nvSpPr>
        <p:spPr>
          <a:xfrm>
            <a:off x="500063" y="714375"/>
            <a:ext cx="5357812" cy="500063"/>
          </a:xfrm>
        </p:spPr>
        <p:txBody>
          <a:bodyPr/>
          <a:lstStyle/>
          <a:p>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④ </a:t>
            </a:r>
            <a:r>
              <a:rPr lang="en-US" altLang="zh-CN" sz="2400" dirty="0" smtClean="0">
                <a:solidFill>
                  <a:schemeClr val="tx1"/>
                </a:solidFill>
                <a:latin typeface="华文细黑" panose="02010600040101010101" charset="-122"/>
                <a:ea typeface="华文细黑" panose="02010600040101010101" charset="-122"/>
                <a:cs typeface="华文细黑" panose="02010600040101010101" charset="-122"/>
              </a:rPr>
              <a:t>n+</a:t>
            </a:r>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定语从句</a:t>
            </a:r>
            <a:endPar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 name="内容占位符 2"/>
          <p:cNvSpPr>
            <a:spLocks noGrp="1"/>
          </p:cNvSpPr>
          <p:nvPr>
            <p:ph idx="1"/>
          </p:nvPr>
        </p:nvSpPr>
        <p:spPr>
          <a:xfrm>
            <a:off x="443230" y="1215390"/>
            <a:ext cx="8243570" cy="3517265"/>
          </a:xfrm>
        </p:spPr>
        <p:txBody>
          <a:bodyPr/>
          <a:lstStyle/>
          <a:p>
            <a:pPr>
              <a:buFont typeface="Wingdings" panose="05000000000000000000" pitchFamily="2" charset="2"/>
              <a:buChar char="Ø"/>
              <a:defRPr/>
            </a:pPr>
            <a:r>
              <a:rPr lang="zh-CN" altLang="en-US" dirty="0" smtClean="0">
                <a:solidFill>
                  <a:schemeClr val="tx1"/>
                </a:solidFill>
                <a:latin typeface="华文细黑" panose="02010600040101010101" charset="-122"/>
                <a:ea typeface="华文细黑" panose="02010600040101010101" charset="-122"/>
                <a:sym typeface="Calibri" panose="020F0502020204030204" pitchFamily="34" charset="0"/>
              </a:rPr>
              <a:t>定义：在复合中</a:t>
            </a:r>
            <a:r>
              <a:rPr lang="zh-CN" altLang="en-US" dirty="0" smtClean="0">
                <a:solidFill>
                  <a:srgbClr val="FF0000"/>
                </a:solidFill>
                <a:latin typeface="华文细黑" panose="02010600040101010101" charset="-122"/>
                <a:ea typeface="华文细黑" panose="02010600040101010101" charset="-122"/>
                <a:sym typeface="Calibri" panose="020F0502020204030204" pitchFamily="34" charset="0"/>
              </a:rPr>
              <a:t>修饰</a:t>
            </a:r>
            <a:r>
              <a:rPr lang="zh-CN" altLang="en-US" dirty="0" smtClean="0">
                <a:solidFill>
                  <a:schemeClr val="tx2">
                    <a:lumMod val="60000"/>
                    <a:lumOff val="40000"/>
                  </a:schemeClr>
                </a:solidFill>
                <a:latin typeface="华文细黑" panose="02010600040101010101" charset="-122"/>
                <a:ea typeface="华文细黑" panose="02010600040101010101" charset="-122"/>
                <a:sym typeface="Calibri" panose="020F0502020204030204" pitchFamily="34" charset="0"/>
              </a:rPr>
              <a:t>名词或代词</a:t>
            </a:r>
            <a:r>
              <a:rPr lang="zh-CN" altLang="en-US" dirty="0" smtClean="0">
                <a:solidFill>
                  <a:schemeClr val="tx1"/>
                </a:solidFill>
                <a:latin typeface="华文细黑" panose="02010600040101010101" charset="-122"/>
                <a:ea typeface="华文细黑" panose="02010600040101010101" charset="-122"/>
                <a:sym typeface="Calibri" panose="020F0502020204030204" pitchFamily="34" charset="0"/>
              </a:rPr>
              <a:t>的从句是定语从句</a:t>
            </a:r>
            <a:endParaRPr lang="en-US" altLang="zh-CN"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zh-CN" altLang="en-US" dirty="0" smtClean="0">
                <a:solidFill>
                  <a:schemeClr val="tx1"/>
                </a:solidFill>
                <a:latin typeface="华文细黑" panose="02010600040101010101" charset="-122"/>
                <a:ea typeface="华文细黑" panose="02010600040101010101" charset="-122"/>
                <a:sym typeface="Calibri" panose="020F0502020204030204" pitchFamily="34" charset="0"/>
              </a:rPr>
              <a:t>先行词：被定语从句修饰的</a:t>
            </a:r>
            <a:r>
              <a:rPr lang="zh-CN" altLang="en-US" dirty="0" smtClean="0">
                <a:solidFill>
                  <a:schemeClr val="tx2">
                    <a:lumMod val="60000"/>
                    <a:lumOff val="40000"/>
                  </a:schemeClr>
                </a:solidFill>
                <a:latin typeface="华文细黑" panose="02010600040101010101" charset="-122"/>
                <a:ea typeface="华文细黑" panose="02010600040101010101" charset="-122"/>
                <a:sym typeface="Calibri" panose="020F0502020204030204" pitchFamily="34" charset="0"/>
              </a:rPr>
              <a:t>名词或代词</a:t>
            </a:r>
            <a:endParaRPr lang="en-US" altLang="zh-CN" dirty="0" smtClean="0">
              <a:solidFill>
                <a:schemeClr val="tx2">
                  <a:lumMod val="60000"/>
                  <a:lumOff val="40000"/>
                </a:schemeClr>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zh-CN" altLang="en-US" dirty="0" smtClean="0">
                <a:solidFill>
                  <a:schemeClr val="tx1"/>
                </a:solidFill>
                <a:latin typeface="华文细黑" panose="02010600040101010101" charset="-122"/>
                <a:ea typeface="华文细黑" panose="02010600040101010101" charset="-122"/>
                <a:sym typeface="Calibri" panose="020F0502020204030204" pitchFamily="34" charset="0"/>
              </a:rPr>
              <a:t>定语从句一般放在先行词的后面，紧跟先行词。</a:t>
            </a:r>
            <a:endParaRPr lang="en-US" altLang="zh-CN"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zh-CN" altLang="en-US" dirty="0" smtClean="0">
                <a:solidFill>
                  <a:schemeClr val="tx1"/>
                </a:solidFill>
                <a:latin typeface="华文细黑" panose="02010600040101010101" charset="-122"/>
                <a:ea typeface="华文细黑" panose="02010600040101010101" charset="-122"/>
                <a:sym typeface="Calibri" panose="020F0502020204030204" pitchFamily="34" charset="0"/>
              </a:rPr>
              <a:t>引导词：      关系代词：</a:t>
            </a:r>
            <a:r>
              <a:rPr lang="en-US" altLang="zh-CN" dirty="0" smtClean="0">
                <a:solidFill>
                  <a:schemeClr val="tx1"/>
                </a:solidFill>
                <a:latin typeface="华文细黑" panose="02010600040101010101" charset="-122"/>
                <a:ea typeface="华文细黑" panose="02010600040101010101" charset="-122"/>
                <a:sym typeface="Calibri" panose="020F0502020204030204" pitchFamily="34" charset="0"/>
              </a:rPr>
              <a:t>that; </a:t>
            </a:r>
            <a:r>
              <a:rPr lang="en-US" altLang="zh-CN" dirty="0" smtClean="0">
                <a:solidFill>
                  <a:srgbClr val="FF0000"/>
                </a:solidFill>
                <a:latin typeface="华文细黑" panose="02010600040101010101" charset="-122"/>
                <a:ea typeface="华文细黑" panose="02010600040101010101" charset="-122"/>
                <a:sym typeface="Calibri" panose="020F0502020204030204" pitchFamily="34" charset="0"/>
              </a:rPr>
              <a:t>which</a:t>
            </a:r>
            <a:r>
              <a:rPr lang="en-US" altLang="zh-CN" dirty="0" smtClean="0">
                <a:solidFill>
                  <a:schemeClr val="tx1"/>
                </a:solidFill>
                <a:latin typeface="华文细黑" panose="02010600040101010101" charset="-122"/>
                <a:ea typeface="华文细黑" panose="02010600040101010101" charset="-122"/>
                <a:sym typeface="Calibri" panose="020F0502020204030204" pitchFamily="34" charset="0"/>
              </a:rPr>
              <a:t>; who;+</a:t>
            </a:r>
            <a:r>
              <a:rPr lang="zh-CN" altLang="en-US" dirty="0" smtClean="0">
                <a:solidFill>
                  <a:schemeClr val="tx1"/>
                </a:solidFill>
                <a:latin typeface="华文细黑" panose="02010600040101010101" charset="-122"/>
                <a:ea typeface="华文细黑" panose="02010600040101010101" charset="-122"/>
                <a:sym typeface="Calibri" panose="020F0502020204030204" pitchFamily="34" charset="0"/>
              </a:rPr>
              <a:t>不完整成分</a:t>
            </a:r>
            <a:r>
              <a:rPr lang="en-US" altLang="zh-CN" dirty="0" smtClean="0">
                <a:solidFill>
                  <a:schemeClr val="tx1"/>
                </a:solidFill>
                <a:latin typeface="华文细黑" panose="02010600040101010101" charset="-122"/>
                <a:ea typeface="华文细黑" panose="02010600040101010101" charset="-122"/>
                <a:sym typeface="Calibri" panose="020F0502020204030204" pitchFamily="34" charset="0"/>
              </a:rPr>
              <a:t> </a:t>
            </a:r>
            <a:endParaRPr lang="en-US" altLang="zh-CN"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marL="0" indent="0">
              <a:buFont typeface="Wingdings" panose="05000000000000000000" pitchFamily="2" charset="2"/>
              <a:defRPr/>
            </a:pPr>
            <a:r>
              <a:rPr lang="en-US" altLang="zh-CN" dirty="0" smtClean="0">
                <a:solidFill>
                  <a:schemeClr val="tx1"/>
                </a:solidFill>
                <a:latin typeface="华文细黑" panose="02010600040101010101" charset="-122"/>
                <a:ea typeface="华文细黑" panose="02010600040101010101" charset="-122"/>
              </a:rPr>
              <a:t>                                    </a:t>
            </a:r>
            <a:endParaRPr lang="en-US" altLang="zh-CN"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defRPr/>
            </a:pPr>
            <a:r>
              <a:rPr lang="en-US" altLang="zh-CN" dirty="0" smtClean="0">
                <a:solidFill>
                  <a:schemeClr val="tx1"/>
                </a:solidFill>
                <a:latin typeface="华文细黑" panose="02010600040101010101" charset="-122"/>
                <a:ea typeface="华文细黑" panose="02010600040101010101" charset="-122"/>
                <a:sym typeface="Calibri" panose="020F0502020204030204" pitchFamily="34" charset="0"/>
              </a:rPr>
              <a:t>                         </a:t>
            </a:r>
            <a:r>
              <a:rPr lang="zh-CN" altLang="en-US" dirty="0" smtClean="0">
                <a:solidFill>
                  <a:schemeClr val="tx1"/>
                </a:solidFill>
                <a:latin typeface="华文细黑" panose="02010600040101010101" charset="-122"/>
                <a:ea typeface="华文细黑" panose="02010600040101010101" charset="-122"/>
                <a:sym typeface="Calibri" panose="020F0502020204030204" pitchFamily="34" charset="0"/>
              </a:rPr>
              <a:t>关系副词</a:t>
            </a:r>
            <a:r>
              <a:rPr lang="zh-CN" altLang="en-US" dirty="0" smtClean="0">
                <a:solidFill>
                  <a:srgbClr val="FF0000"/>
                </a:solidFill>
                <a:latin typeface="华文细黑" panose="02010600040101010101" charset="-122"/>
                <a:ea typeface="华文细黑" panose="02010600040101010101" charset="-122"/>
                <a:sym typeface="Calibri" panose="020F0502020204030204" pitchFamily="34" charset="0"/>
              </a:rPr>
              <a:t>：</a:t>
            </a:r>
            <a:r>
              <a:rPr lang="en-US" altLang="zh-CN" dirty="0" smtClean="0">
                <a:solidFill>
                  <a:srgbClr val="FF0000"/>
                </a:solidFill>
                <a:latin typeface="华文细黑" panose="02010600040101010101" charset="-122"/>
                <a:ea typeface="华文细黑" panose="02010600040101010101" charset="-122"/>
                <a:sym typeface="Calibri" panose="020F0502020204030204" pitchFamily="34" charset="0"/>
              </a:rPr>
              <a:t>when; where</a:t>
            </a:r>
            <a:r>
              <a:rPr lang="en-US" altLang="zh-CN" dirty="0" smtClean="0">
                <a:solidFill>
                  <a:schemeClr val="tx1"/>
                </a:solidFill>
                <a:latin typeface="华文细黑" panose="02010600040101010101" charset="-122"/>
                <a:ea typeface="华文细黑" panose="02010600040101010101" charset="-122"/>
                <a:sym typeface="Calibri" panose="020F0502020204030204" pitchFamily="34" charset="0"/>
              </a:rPr>
              <a:t>; why+</a:t>
            </a:r>
            <a:r>
              <a:rPr lang="zh-CN" altLang="en-US" dirty="0" smtClean="0">
                <a:solidFill>
                  <a:schemeClr val="tx1"/>
                </a:solidFill>
                <a:latin typeface="华文细黑" panose="02010600040101010101" charset="-122"/>
                <a:ea typeface="华文细黑" panose="02010600040101010101" charset="-122"/>
                <a:sym typeface="Calibri" panose="020F0502020204030204" pitchFamily="34" charset="0"/>
              </a:rPr>
              <a:t>完整成分</a:t>
            </a:r>
            <a:endParaRPr lang="zh-CN" altLang="en-US" dirty="0" smtClean="0">
              <a:solidFill>
                <a:schemeClr val="tx1"/>
              </a:solidFill>
              <a:latin typeface="华文细黑" panose="02010600040101010101" charset="-122"/>
              <a:ea typeface="华文细黑" panose="02010600040101010101" charset="-122"/>
              <a:sym typeface="Calibri" panose="020F0502020204030204" pitchFamily="34" charset="0"/>
            </a:endParaRPr>
          </a:p>
        </p:txBody>
      </p:sp>
      <p:sp>
        <p:nvSpPr>
          <p:cNvPr id="8195" name="左大括号 3"/>
          <p:cNvSpPr/>
          <p:nvPr/>
        </p:nvSpPr>
        <p:spPr bwMode="auto">
          <a:xfrm>
            <a:off x="1642745" y="2813050"/>
            <a:ext cx="367030" cy="1196975"/>
          </a:xfrm>
          <a:prstGeom prst="leftBrace">
            <a:avLst>
              <a:gd name="adj1" fmla="val 8321"/>
              <a:gd name="adj2" fmla="val 50000"/>
            </a:avLst>
          </a:prstGeom>
          <a:solidFill>
            <a:schemeClr val="accent1"/>
          </a:solidFill>
          <a:ln w="9525" algn="ctr">
            <a:solidFill>
              <a:schemeClr val="tx1"/>
            </a:solidFill>
            <a:round/>
          </a:ln>
        </p:spPr>
        <p:txBody>
          <a:bodyPr/>
          <a:lstStyle/>
          <a:p>
            <a:pPr>
              <a:buFont typeface="Arial" panose="020B0604020202020204" pitchFamily="34" charset="0"/>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195"/>
                                        </p:tgtEl>
                                        <p:attrNameLst>
                                          <p:attrName>style.visibility</p:attrName>
                                        </p:attrNameLst>
                                      </p:cBhvr>
                                      <p:to>
                                        <p:strVal val="visible"/>
                                      </p:to>
                                    </p:set>
                                    <p:anim calcmode="lin" valueType="num">
                                      <p:cBhvr additive="base">
                                        <p:cTn id="37" dur="500" fill="hold"/>
                                        <p:tgtEl>
                                          <p:spTgt spid="8195"/>
                                        </p:tgtEl>
                                        <p:attrNameLst>
                                          <p:attrName>ppt_x</p:attrName>
                                        </p:attrNameLst>
                                      </p:cBhvr>
                                      <p:tavLst>
                                        <p:tav tm="0">
                                          <p:val>
                                            <p:strVal val="#ppt_x"/>
                                          </p:val>
                                        </p:tav>
                                        <p:tav tm="100000">
                                          <p:val>
                                            <p:strVal val="#ppt_x"/>
                                          </p:val>
                                        </p:tav>
                                      </p:tavLst>
                                    </p:anim>
                                    <p:anim calcmode="lin" valueType="num">
                                      <p:cBhvr additive="base">
                                        <p:cTn id="38" dur="500" fill="hold"/>
                                        <p:tgtEl>
                                          <p:spTgt spid="819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p:cNvSpPr>
          <p:nvPr>
            <p:ph type="title"/>
          </p:nvPr>
        </p:nvSpPr>
        <p:spPr>
          <a:xfrm>
            <a:off x="1907858" y="123190"/>
            <a:ext cx="5357812" cy="500063"/>
          </a:xfrm>
        </p:spPr>
        <p:txBody>
          <a:bodyPr/>
          <a:lstStyle/>
          <a:p>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④ </a:t>
            </a:r>
            <a:r>
              <a:rPr lang="en-US" altLang="zh-CN" sz="2400" dirty="0" smtClean="0">
                <a:solidFill>
                  <a:schemeClr val="tx1"/>
                </a:solidFill>
                <a:latin typeface="华文细黑" panose="02010600040101010101" charset="-122"/>
                <a:ea typeface="华文细黑" panose="02010600040101010101" charset="-122"/>
                <a:cs typeface="华文细黑" panose="02010600040101010101" charset="-122"/>
              </a:rPr>
              <a:t>n+</a:t>
            </a:r>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定语从句</a:t>
            </a:r>
            <a:endPar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 name="内容占位符 2"/>
          <p:cNvSpPr>
            <a:spLocks noGrp="1"/>
          </p:cNvSpPr>
          <p:nvPr>
            <p:ph idx="1"/>
          </p:nvPr>
        </p:nvSpPr>
        <p:spPr>
          <a:xfrm>
            <a:off x="443230" y="699770"/>
            <a:ext cx="8630285" cy="4033520"/>
          </a:xfrm>
        </p:spPr>
        <p:txBody>
          <a:bodyPr/>
          <a:lstStyle/>
          <a:p>
            <a:pPr>
              <a:buFont typeface="Wingdings" panose="05000000000000000000" pitchFamily="2" charset="2"/>
              <a:buChar char="Ø"/>
              <a:defRPr/>
            </a:pPr>
            <a:r>
              <a:rPr lang="zh-CN" altLang="en-US" sz="2400" b="1" dirty="0" smtClean="0">
                <a:solidFill>
                  <a:schemeClr val="tx1"/>
                </a:solidFill>
                <a:latin typeface="华文细黑" panose="02010600040101010101" charset="-122"/>
                <a:ea typeface="华文细黑" panose="02010600040101010101" charset="-122"/>
                <a:sym typeface="Calibri" panose="020F0502020204030204" pitchFamily="34" charset="0"/>
              </a:rPr>
              <a:t>我喜欢</a:t>
            </a:r>
            <a:r>
              <a:rPr lang="zh-CN" altLang="en-US" sz="2400" b="1" u="sng" dirty="0" smtClean="0">
                <a:solidFill>
                  <a:srgbClr val="FF0000"/>
                </a:solidFill>
                <a:latin typeface="华文细黑" panose="02010600040101010101" charset="-122"/>
                <a:ea typeface="华文细黑" panose="02010600040101010101" charset="-122"/>
                <a:sym typeface="Calibri" panose="020F0502020204030204" pitchFamily="34" charset="0"/>
              </a:rPr>
              <a:t>那个在工厂工作的</a:t>
            </a:r>
            <a:r>
              <a:rPr lang="zh-CN" altLang="en-US" sz="2400" b="1" dirty="0" smtClean="0">
                <a:solidFill>
                  <a:schemeClr val="tx1"/>
                </a:solidFill>
                <a:latin typeface="华文细黑" panose="02010600040101010101" charset="-122"/>
                <a:ea typeface="华文细黑" panose="02010600040101010101" charset="-122"/>
                <a:sym typeface="Calibri" panose="020F0502020204030204" pitchFamily="34" charset="0"/>
              </a:rPr>
              <a:t>女孩。</a:t>
            </a:r>
            <a:endParaRPr lang="zh-CN" altLang="en-US" sz="24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400" b="1" dirty="0" smtClean="0">
                <a:solidFill>
                  <a:schemeClr val="tx1"/>
                </a:solidFill>
                <a:latin typeface="华文细黑" panose="02010600040101010101" charset="-122"/>
                <a:ea typeface="华文细黑" panose="02010600040101010101" charset="-122"/>
                <a:sym typeface="Calibri" panose="020F0502020204030204" pitchFamily="34" charset="0"/>
              </a:rPr>
              <a:t>I like the girl </a:t>
            </a:r>
            <a:r>
              <a:rPr lang="en-US" altLang="zh-CN" sz="2400" b="1" u="sng" dirty="0" smtClean="0">
                <a:solidFill>
                  <a:srgbClr val="FF0000"/>
                </a:solidFill>
                <a:latin typeface="华文细黑" panose="02010600040101010101" charset="-122"/>
                <a:ea typeface="华文细黑" panose="02010600040101010101" charset="-122"/>
                <a:sym typeface="Calibri" panose="020F0502020204030204" pitchFamily="34" charset="0"/>
              </a:rPr>
              <a:t>who </a:t>
            </a:r>
            <a:r>
              <a:rPr lang="en-US" altLang="zh-CN" sz="2400" b="1" u="sng" dirty="0" smtClean="0">
                <a:solidFill>
                  <a:srgbClr val="FF0000"/>
                </a:solidFill>
                <a:highlight>
                  <a:srgbClr val="FFFF00"/>
                </a:highlight>
                <a:latin typeface="华文细黑" panose="02010600040101010101" charset="-122"/>
                <a:ea typeface="华文细黑" panose="02010600040101010101" charset="-122"/>
                <a:sym typeface="Calibri" panose="020F0502020204030204" pitchFamily="34" charset="0"/>
              </a:rPr>
              <a:t>works in the factory</a:t>
            </a:r>
            <a:r>
              <a:rPr lang="en-US" altLang="zh-CN" sz="2400" b="1" u="sng" dirty="0" smtClean="0">
                <a:solidFill>
                  <a:srgbClr val="FF0000"/>
                </a:solidFill>
                <a:latin typeface="华文细黑" panose="02010600040101010101" charset="-122"/>
                <a:ea typeface="华文细黑" panose="02010600040101010101" charset="-122"/>
                <a:sym typeface="Calibri" panose="020F0502020204030204" pitchFamily="34" charset="0"/>
              </a:rPr>
              <a:t>.</a:t>
            </a:r>
            <a:endParaRPr lang="en-US" altLang="zh-CN" sz="2400" b="1" u="sng" dirty="0" smtClean="0">
              <a:solidFill>
                <a:srgbClr val="FF0000"/>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400" b="1" dirty="0" smtClean="0">
                <a:solidFill>
                  <a:schemeClr val="tx1"/>
                </a:solidFill>
                <a:latin typeface="华文细黑" panose="02010600040101010101" charset="-122"/>
                <a:ea typeface="华文细黑" panose="02010600040101010101" charset="-122"/>
                <a:sym typeface="Calibri" panose="020F0502020204030204" pitchFamily="34" charset="0"/>
              </a:rPr>
              <a:t>I like the girl </a:t>
            </a:r>
            <a:r>
              <a:rPr lang="en-US" altLang="zh-CN" sz="2400" b="1" u="sng" dirty="0" smtClean="0">
                <a:solidFill>
                  <a:srgbClr val="FF0000"/>
                </a:solidFill>
                <a:highlight>
                  <a:srgbClr val="FFFF00"/>
                </a:highlight>
                <a:latin typeface="华文细黑" panose="02010600040101010101" charset="-122"/>
                <a:ea typeface="华文细黑" panose="02010600040101010101" charset="-122"/>
                <a:sym typeface="Calibri" panose="020F0502020204030204" pitchFamily="34" charset="0"/>
              </a:rPr>
              <a:t>working in the factory</a:t>
            </a:r>
            <a:r>
              <a:rPr lang="en-US" altLang="zh-CN" sz="2400" b="1" u="sng" dirty="0" smtClean="0">
                <a:solidFill>
                  <a:srgbClr val="FF0000"/>
                </a:solidFill>
                <a:latin typeface="华文细黑" panose="02010600040101010101" charset="-122"/>
                <a:ea typeface="华文细黑" panose="02010600040101010101" charset="-122"/>
                <a:sym typeface="Calibri" panose="020F0502020204030204" pitchFamily="34" charset="0"/>
              </a:rPr>
              <a:t>.</a:t>
            </a:r>
            <a:endParaRPr lang="en-US" altLang="zh-CN" sz="2400" b="1" u="sng" dirty="0" smtClean="0">
              <a:solidFill>
                <a:srgbClr val="FF0000"/>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zh-CN" altLang="en-US" sz="2400" b="1" u="sng" dirty="0" smtClean="0">
                <a:solidFill>
                  <a:srgbClr val="FF0000"/>
                </a:solidFill>
                <a:latin typeface="华文细黑" panose="02010600040101010101" charset="-122"/>
                <a:ea typeface="华文细黑" panose="02010600040101010101" charset="-122"/>
                <a:sym typeface="Calibri" panose="020F0502020204030204" pitchFamily="34" charset="0"/>
              </a:rPr>
              <a:t>被花在作业上的</a:t>
            </a:r>
            <a:r>
              <a:rPr lang="zh-CN" altLang="en-US" sz="2400" b="1" dirty="0" smtClean="0">
                <a:solidFill>
                  <a:schemeClr val="tx1"/>
                </a:solidFill>
                <a:latin typeface="华文细黑" panose="02010600040101010101" charset="-122"/>
                <a:ea typeface="华文细黑" panose="02010600040101010101" charset="-122"/>
                <a:sym typeface="Calibri" panose="020F0502020204030204" pitchFamily="34" charset="0"/>
              </a:rPr>
              <a:t>时间已经被延长了。</a:t>
            </a:r>
            <a:endParaRPr lang="zh-CN" altLang="en-US" sz="24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400" b="1" dirty="0" smtClean="0">
                <a:solidFill>
                  <a:schemeClr val="tx1"/>
                </a:solidFill>
                <a:latin typeface="华文细黑" panose="02010600040101010101" charset="-122"/>
                <a:ea typeface="华文细黑" panose="02010600040101010101" charset="-122"/>
                <a:sym typeface="Calibri" panose="020F0502020204030204" pitchFamily="34" charset="0"/>
              </a:rPr>
              <a:t>The time </a:t>
            </a:r>
            <a:r>
              <a:rPr lang="zh-CN" altLang="en-US" sz="2400" b="1" u="sng" dirty="0" smtClean="0">
                <a:solidFill>
                  <a:srgbClr val="FF0000"/>
                </a:solidFill>
                <a:latin typeface="华文细黑" panose="02010600040101010101" charset="-122"/>
                <a:ea typeface="华文细黑" panose="02010600040101010101" charset="-122"/>
                <a:sym typeface="Calibri" panose="020F0502020204030204" pitchFamily="34" charset="0"/>
              </a:rPr>
              <a:t>that </a:t>
            </a:r>
            <a:r>
              <a:rPr lang="zh-CN" altLang="en-US" sz="2400" b="1" u="sng" dirty="0" smtClean="0">
                <a:solidFill>
                  <a:srgbClr val="FF0000"/>
                </a:solidFill>
                <a:highlight>
                  <a:srgbClr val="FFFF00"/>
                </a:highlight>
                <a:latin typeface="华文细黑" panose="02010600040101010101" charset="-122"/>
                <a:ea typeface="华文细黑" panose="02010600040101010101" charset="-122"/>
                <a:sym typeface="Calibri" panose="020F0502020204030204" pitchFamily="34" charset="0"/>
              </a:rPr>
              <a:t>is spent on homework</a:t>
            </a:r>
            <a:r>
              <a:rPr lang="en-US" altLang="zh-CN" sz="2400" b="1" dirty="0" smtClean="0">
                <a:solidFill>
                  <a:schemeClr val="tx1"/>
                </a:solidFill>
                <a:latin typeface="华文细黑" panose="02010600040101010101" charset="-122"/>
                <a:ea typeface="华文细黑" panose="02010600040101010101" charset="-122"/>
                <a:sym typeface="Calibri" panose="020F0502020204030204" pitchFamily="34" charset="0"/>
              </a:rPr>
              <a:t> has been extended.</a:t>
            </a:r>
            <a:endParaRPr lang="en-US" altLang="zh-CN" sz="24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400" b="1" dirty="0" smtClean="0">
                <a:solidFill>
                  <a:schemeClr val="tx1"/>
                </a:solidFill>
                <a:latin typeface="华文细黑" panose="02010600040101010101" charset="-122"/>
                <a:ea typeface="华文细黑" panose="02010600040101010101" charset="-122"/>
                <a:sym typeface="Calibri" panose="020F0502020204030204" pitchFamily="34" charset="0"/>
              </a:rPr>
              <a:t>The time </a:t>
            </a:r>
            <a:r>
              <a:rPr lang="zh-CN" altLang="en-US" sz="2400" b="1" u="sng" dirty="0" smtClean="0">
                <a:solidFill>
                  <a:srgbClr val="FF0000"/>
                </a:solidFill>
                <a:latin typeface="华文细黑" panose="02010600040101010101" charset="-122"/>
                <a:ea typeface="华文细黑" panose="02010600040101010101" charset="-122"/>
                <a:sym typeface="Calibri" panose="020F0502020204030204" pitchFamily="34" charset="0"/>
              </a:rPr>
              <a:t> </a:t>
            </a:r>
            <a:r>
              <a:rPr lang="zh-CN" altLang="en-US" sz="2400" b="1" u="sng" dirty="0" smtClean="0">
                <a:solidFill>
                  <a:srgbClr val="FF0000"/>
                </a:solidFill>
                <a:highlight>
                  <a:srgbClr val="FFFF00"/>
                </a:highlight>
                <a:latin typeface="华文细黑" panose="02010600040101010101" charset="-122"/>
                <a:ea typeface="华文细黑" panose="02010600040101010101" charset="-122"/>
                <a:sym typeface="Calibri" panose="020F0502020204030204" pitchFamily="34" charset="0"/>
              </a:rPr>
              <a:t>spent on homework</a:t>
            </a:r>
            <a:r>
              <a:rPr lang="en-US" altLang="zh-CN" sz="2400" b="1" dirty="0" smtClean="0">
                <a:solidFill>
                  <a:schemeClr val="tx1"/>
                </a:solidFill>
                <a:latin typeface="华文细黑" panose="02010600040101010101" charset="-122"/>
                <a:ea typeface="华文细黑" panose="02010600040101010101" charset="-122"/>
                <a:sym typeface="Calibri" panose="020F0502020204030204" pitchFamily="34" charset="0"/>
              </a:rPr>
              <a:t> has been extended.</a:t>
            </a:r>
            <a:endParaRPr lang="zh-CN" altLang="en-US" sz="24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endParaRPr lang="zh-CN" altLang="en-US" sz="24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endParaRPr lang="en-US" altLang="zh-CN" sz="2400" b="1" u="sng" dirty="0" smtClean="0">
              <a:solidFill>
                <a:srgbClr val="FF0000"/>
              </a:solidFill>
              <a:latin typeface="华文细黑" panose="02010600040101010101" charset="-122"/>
              <a:ea typeface="华文细黑" panose="02010600040101010101" charset="-122"/>
              <a:sym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p:cNvSpPr>
          <p:nvPr>
            <p:ph type="title"/>
          </p:nvPr>
        </p:nvSpPr>
        <p:spPr>
          <a:xfrm>
            <a:off x="1907858" y="123190"/>
            <a:ext cx="5357812" cy="500063"/>
          </a:xfrm>
        </p:spPr>
        <p:txBody>
          <a:bodyPr/>
          <a:lstStyle/>
          <a:p>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④ </a:t>
            </a:r>
            <a:r>
              <a:rPr lang="en-US" altLang="zh-CN" sz="2400" dirty="0" smtClean="0">
                <a:solidFill>
                  <a:schemeClr val="tx1"/>
                </a:solidFill>
                <a:latin typeface="华文细黑" panose="02010600040101010101" charset="-122"/>
                <a:ea typeface="华文细黑" panose="02010600040101010101" charset="-122"/>
                <a:cs typeface="华文细黑" panose="02010600040101010101" charset="-122"/>
              </a:rPr>
              <a:t>n+</a:t>
            </a:r>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定语从句</a:t>
            </a:r>
            <a:endPar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 name="内容占位符 2"/>
          <p:cNvSpPr>
            <a:spLocks noGrp="1"/>
          </p:cNvSpPr>
          <p:nvPr>
            <p:ph idx="1"/>
          </p:nvPr>
        </p:nvSpPr>
        <p:spPr>
          <a:xfrm>
            <a:off x="443230" y="699770"/>
            <a:ext cx="9012555" cy="4033520"/>
          </a:xfrm>
        </p:spPr>
        <p:txBody>
          <a:bodyPr/>
          <a:lstStyle/>
          <a:p>
            <a:pPr>
              <a:buFont typeface="Wingdings" panose="05000000000000000000" pitchFamily="2" charset="2"/>
              <a:buChar char="Ø"/>
              <a:defRPr/>
            </a:pPr>
            <a:r>
              <a:rPr lang="zh-CN" altLang="en-US"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选择出国留学的</a:t>
            </a:r>
            <a:r>
              <a:rPr lang="zh-CN" altLang="en-US" sz="2000" b="1" dirty="0" smtClean="0">
                <a:solidFill>
                  <a:schemeClr val="tx1"/>
                </a:solidFill>
                <a:highlight>
                  <a:srgbClr val="FFFF00"/>
                </a:highlight>
                <a:latin typeface="华文细黑" panose="02010600040101010101" charset="-122"/>
                <a:ea typeface="华文细黑" panose="02010600040101010101" charset="-122"/>
                <a:sym typeface="Calibri" panose="020F0502020204030204" pitchFamily="34" charset="0"/>
              </a:rPr>
              <a:t>学生</a:t>
            </a:r>
            <a:r>
              <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rPr>
              <a:t>应该学英语。</a:t>
            </a:r>
            <a:endPar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The students</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 who choose to study abroad</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should learn English.</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The students</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 choosing to study abroad </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should learn English.</a:t>
            </a:r>
            <a:endPar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zh-CN" altLang="en-US"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沉浸在这部电影中的</a:t>
            </a:r>
            <a:r>
              <a:rPr lang="zh-CN" altLang="en-US" sz="2000" b="1" dirty="0" smtClean="0">
                <a:solidFill>
                  <a:schemeClr val="tx1"/>
                </a:solidFill>
                <a:highlight>
                  <a:srgbClr val="FFFF00"/>
                </a:highlight>
                <a:latin typeface="华文细黑" panose="02010600040101010101" charset="-122"/>
                <a:ea typeface="华文细黑" panose="02010600040101010101" charset="-122"/>
                <a:sym typeface="Calibri" panose="020F0502020204030204" pitchFamily="34" charset="0"/>
              </a:rPr>
              <a:t>观众</a:t>
            </a:r>
            <a:r>
              <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rPr>
              <a:t>往往会哭泣。</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be immersed in; the audience</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The audience </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who are immersed in this film</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often cry.</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The audience </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 immersed in this film </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often cry.</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endParaRPr lang="en-US" altLang="zh-CN" sz="2400" b="1" u="sng" dirty="0" smtClean="0">
              <a:solidFill>
                <a:srgbClr val="FF0000"/>
              </a:solidFill>
              <a:latin typeface="华文细黑" panose="02010600040101010101" charset="-122"/>
              <a:ea typeface="华文细黑" panose="02010600040101010101" charset="-122"/>
              <a:sym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9"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43" dur="10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p:cNvSpPr>
          <p:nvPr>
            <p:ph type="title"/>
          </p:nvPr>
        </p:nvSpPr>
        <p:spPr>
          <a:xfrm>
            <a:off x="1907858" y="123190"/>
            <a:ext cx="5357812" cy="500063"/>
          </a:xfrm>
        </p:spPr>
        <p:txBody>
          <a:bodyPr/>
          <a:lstStyle/>
          <a:p>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④ </a:t>
            </a:r>
            <a:r>
              <a:rPr lang="en-US" altLang="zh-CN" sz="2400" dirty="0" smtClean="0">
                <a:solidFill>
                  <a:schemeClr val="tx1"/>
                </a:solidFill>
                <a:latin typeface="华文细黑" panose="02010600040101010101" charset="-122"/>
                <a:ea typeface="华文细黑" panose="02010600040101010101" charset="-122"/>
                <a:cs typeface="华文细黑" panose="02010600040101010101" charset="-122"/>
              </a:rPr>
              <a:t>n+</a:t>
            </a:r>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定语从句</a:t>
            </a:r>
            <a:endPar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 name="内容占位符 2"/>
          <p:cNvSpPr>
            <a:spLocks noGrp="1"/>
          </p:cNvSpPr>
          <p:nvPr>
            <p:ph idx="1"/>
          </p:nvPr>
        </p:nvSpPr>
        <p:spPr>
          <a:xfrm>
            <a:off x="443230" y="699770"/>
            <a:ext cx="8630285" cy="4033520"/>
          </a:xfrm>
        </p:spPr>
        <p:txBody>
          <a:bodyPr/>
          <a:lstStyle/>
          <a:p>
            <a:pPr>
              <a:buFont typeface="Wingdings" panose="05000000000000000000" pitchFamily="2" charset="2"/>
              <a:buChar char="Ø"/>
              <a:defRPr/>
            </a:pPr>
            <a:r>
              <a:rPr lang="zh-CN" altLang="en-US"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经常参观博物馆的</a:t>
            </a:r>
            <a:r>
              <a:rPr lang="zh-CN" altLang="en-US" sz="2000" b="1" dirty="0" smtClean="0">
                <a:solidFill>
                  <a:schemeClr val="tx1"/>
                </a:solidFill>
                <a:highlight>
                  <a:srgbClr val="FFFF00"/>
                </a:highlight>
                <a:latin typeface="华文细黑" panose="02010600040101010101" charset="-122"/>
                <a:ea typeface="华文细黑" panose="02010600040101010101" charset="-122"/>
                <a:sym typeface="Calibri" panose="020F0502020204030204" pitchFamily="34" charset="0"/>
              </a:rPr>
              <a:t>青少年</a:t>
            </a:r>
            <a:r>
              <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rPr>
              <a:t>倾向于更加学术出色。</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academically outstanding; tend to be +adj</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The teenagers </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who  usually visit  museums </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tend to be academically outstanding.</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The teenagers </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 usually visiting  museums </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tend to be academically outstanding.</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p:cNvSpPr>
          <p:nvPr>
            <p:ph type="title"/>
          </p:nvPr>
        </p:nvSpPr>
        <p:spPr>
          <a:xfrm>
            <a:off x="1907858" y="123190"/>
            <a:ext cx="5357812" cy="500063"/>
          </a:xfrm>
        </p:spPr>
        <p:txBody>
          <a:bodyPr/>
          <a:lstStyle/>
          <a:p>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④ </a:t>
            </a:r>
            <a:r>
              <a:rPr lang="en-US" altLang="zh-CN" sz="2400" dirty="0" smtClean="0">
                <a:solidFill>
                  <a:schemeClr val="tx1"/>
                </a:solidFill>
                <a:latin typeface="华文细黑" panose="02010600040101010101" charset="-122"/>
                <a:ea typeface="华文细黑" panose="02010600040101010101" charset="-122"/>
                <a:cs typeface="华文细黑" panose="02010600040101010101" charset="-122"/>
              </a:rPr>
              <a:t>n+</a:t>
            </a:r>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定语从句</a:t>
            </a:r>
            <a:endPar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 name="内容占位符 2"/>
          <p:cNvSpPr>
            <a:spLocks noGrp="1"/>
          </p:cNvSpPr>
          <p:nvPr>
            <p:ph idx="1"/>
          </p:nvPr>
        </p:nvSpPr>
        <p:spPr>
          <a:xfrm>
            <a:off x="443230" y="699770"/>
            <a:ext cx="8630285" cy="4033520"/>
          </a:xfrm>
        </p:spPr>
        <p:txBody>
          <a:bodyPr/>
          <a:lstStyle/>
          <a:p>
            <a:pPr>
              <a:buFont typeface="Wingdings" panose="05000000000000000000" pitchFamily="2" charset="2"/>
              <a:buChar char="Ø"/>
              <a:defRPr/>
            </a:pPr>
            <a:r>
              <a:rPr lang="zh-CN" altLang="en-US"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被明星表演的</a:t>
            </a:r>
            <a:r>
              <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rPr>
              <a:t>广告往往会劝说消费者去买他们不需要的东西。</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persuade sb to do sth; celebrities; perform</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The advertisements </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which are performed by celebrities</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often persuade costomers to buy the things </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that they do not need</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The advertisements </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 performed by celebrities </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often persuade costomers to buy  buy the things </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they do not need</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p:cNvSpPr>
          <p:nvPr>
            <p:ph type="title"/>
          </p:nvPr>
        </p:nvSpPr>
        <p:spPr>
          <a:xfrm>
            <a:off x="1907858" y="123190"/>
            <a:ext cx="5357812" cy="500063"/>
          </a:xfrm>
        </p:spPr>
        <p:txBody>
          <a:bodyPr/>
          <a:lstStyle/>
          <a:p>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④ </a:t>
            </a:r>
            <a:r>
              <a:rPr lang="en-US" altLang="zh-CN" sz="2400" dirty="0" smtClean="0">
                <a:solidFill>
                  <a:schemeClr val="tx1"/>
                </a:solidFill>
                <a:latin typeface="华文细黑" panose="02010600040101010101" charset="-122"/>
                <a:ea typeface="华文细黑" panose="02010600040101010101" charset="-122"/>
                <a:cs typeface="华文细黑" panose="02010600040101010101" charset="-122"/>
              </a:rPr>
              <a:t>n+</a:t>
            </a:r>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定语从句</a:t>
            </a:r>
            <a:endPar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 name="内容占位符 2"/>
          <p:cNvSpPr>
            <a:spLocks noGrp="1"/>
          </p:cNvSpPr>
          <p:nvPr>
            <p:ph idx="1"/>
          </p:nvPr>
        </p:nvSpPr>
        <p:spPr>
          <a:xfrm>
            <a:off x="443230" y="699770"/>
            <a:ext cx="8630285" cy="4033520"/>
          </a:xfrm>
        </p:spPr>
        <p:txBody>
          <a:bodyPr/>
          <a:lstStyle/>
          <a:p>
            <a:pPr algn="l">
              <a:buClrTx/>
              <a:buSzTx/>
              <a:buFont typeface="Wingdings" panose="05000000000000000000" pitchFamily="2" charset="2"/>
              <a:buChar char="Ø"/>
              <a:defRPr/>
            </a:pPr>
            <a:r>
              <a:rPr lang="zh-CN" altLang="en-US"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位于村庄南部的</a:t>
            </a:r>
            <a:r>
              <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rPr>
              <a:t>停车场已经被扩大了两倍。</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be located in/lie in-lay</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lgn="l">
              <a:buClrTx/>
              <a:buSzTx/>
              <a:buFont typeface="Wingdings" panose="05000000000000000000" pitchFamily="2" charset="2"/>
              <a:buChar char="Ø"/>
              <a:defRPr/>
            </a:pP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The car park  </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which was located in the south of village</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has been expanded twice.</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lgn="l">
              <a:buClrTx/>
              <a:buSzTx/>
              <a:buFont typeface="Wingdings" panose="05000000000000000000" pitchFamily="2" charset="2"/>
              <a:buChar char="Ø"/>
              <a:defRPr/>
            </a:pP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The car park </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located in the south of village</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has been expanded twice</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lgn="l">
              <a:buClrTx/>
              <a:buSzTx/>
              <a:buFont typeface="Wingdings" panose="05000000000000000000" pitchFamily="2" charset="2"/>
              <a:buChar char="Ø"/>
              <a:defRPr/>
            </a:pP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The car park</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 which lay in the south of village</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has been expanded twice</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lgn="l">
              <a:buClrTx/>
              <a:buSzTx/>
              <a:buFont typeface="Wingdings" panose="05000000000000000000" pitchFamily="2" charset="2"/>
              <a:buChar char="Ø"/>
              <a:defRPr/>
            </a:pP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The car park</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 lying in the south of village </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has been expanded twice</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lgn="l">
              <a:buClrTx/>
              <a:buSzTx/>
              <a:buFont typeface="Wingdings" panose="05000000000000000000" pitchFamily="2" charset="2"/>
              <a:buChar char="Ø"/>
              <a:defRPr/>
            </a:pP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p:cNvSpPr>
          <p:nvPr>
            <p:ph type="title"/>
          </p:nvPr>
        </p:nvSpPr>
        <p:spPr>
          <a:xfrm>
            <a:off x="1907858" y="123190"/>
            <a:ext cx="5357812" cy="500063"/>
          </a:xfrm>
        </p:spPr>
        <p:txBody>
          <a:bodyPr/>
          <a:lstStyle/>
          <a:p>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④ </a:t>
            </a:r>
            <a:r>
              <a:rPr lang="en-US" altLang="zh-CN" sz="2400" dirty="0" smtClean="0">
                <a:solidFill>
                  <a:schemeClr val="tx1"/>
                </a:solidFill>
                <a:latin typeface="华文细黑" panose="02010600040101010101" charset="-122"/>
                <a:ea typeface="华文细黑" panose="02010600040101010101" charset="-122"/>
                <a:cs typeface="华文细黑" panose="02010600040101010101" charset="-122"/>
              </a:rPr>
              <a:t>n+</a:t>
            </a:r>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定语从句</a:t>
            </a:r>
            <a:endPar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 name="内容占位符 2"/>
          <p:cNvSpPr>
            <a:spLocks noGrp="1"/>
          </p:cNvSpPr>
          <p:nvPr>
            <p:ph idx="1"/>
          </p:nvPr>
        </p:nvSpPr>
        <p:spPr>
          <a:xfrm>
            <a:off x="443230" y="699770"/>
            <a:ext cx="8630285" cy="4033520"/>
          </a:xfrm>
        </p:spPr>
        <p:txBody>
          <a:bodyPr/>
          <a:lstStyle/>
          <a:p>
            <a:pPr>
              <a:buFont typeface="Wingdings" panose="05000000000000000000" pitchFamily="2" charset="2"/>
              <a:buChar char="Ø"/>
              <a:defRPr/>
            </a:pPr>
            <a:r>
              <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rPr>
              <a:t>我喜欢你学英语的</a:t>
            </a:r>
            <a:r>
              <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rPr>
              <a:t>地方。</a:t>
            </a:r>
            <a:endPar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I like the place</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 where you learn English</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rPr>
              <a:t>我怀念我准备考试的</a:t>
            </a:r>
            <a:r>
              <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rPr>
              <a:t>那些天。</a:t>
            </a:r>
            <a:endPar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I miss those days </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when I prepared for my test</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a:t>
            </a:r>
            <a:endPar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rPr>
              <a:t>我喜欢学英语的原因是我可以得到一种</a:t>
            </a:r>
            <a:r>
              <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rPr>
              <a:t>成就感。</a:t>
            </a:r>
            <a:endPar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000" b="1" dirty="0" smtClean="0">
                <a:solidFill>
                  <a:schemeClr val="tx1"/>
                </a:solidFill>
                <a:highlight>
                  <a:srgbClr val="FFFF00"/>
                </a:highlight>
                <a:latin typeface="华文细黑" panose="02010600040101010101" charset="-122"/>
                <a:ea typeface="华文细黑" panose="02010600040101010101" charset="-122"/>
                <a:sym typeface="Calibri" panose="020F0502020204030204" pitchFamily="34" charset="0"/>
              </a:rPr>
              <a:t>The reason</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why I like learning English</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a:t>
            </a:r>
            <a:r>
              <a:rPr lang="en-US" altLang="zh-CN" sz="2000" b="1" dirty="0" smtClean="0">
                <a:solidFill>
                  <a:schemeClr val="tx1"/>
                </a:solidFill>
                <a:highlight>
                  <a:srgbClr val="FFFF00"/>
                </a:highlight>
                <a:latin typeface="华文细黑" panose="02010600040101010101" charset="-122"/>
                <a:ea typeface="华文细黑" panose="02010600040101010101" charset="-122"/>
                <a:sym typeface="Calibri" panose="020F0502020204030204" pitchFamily="34" charset="0"/>
              </a:rPr>
              <a:t>is</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a:t>
            </a:r>
            <a:r>
              <a:rPr lang="en-US" altLang="zh-CN" sz="2000" b="1" dirty="0" smtClean="0">
                <a:solidFill>
                  <a:schemeClr val="tx1"/>
                </a:solidFill>
                <a:highlight>
                  <a:srgbClr val="FFFF00"/>
                </a:highlight>
                <a:latin typeface="华文细黑" panose="02010600040101010101" charset="-122"/>
                <a:ea typeface="华文细黑" panose="02010600040101010101" charset="-122"/>
                <a:sym typeface="Calibri" panose="020F0502020204030204" pitchFamily="34" charset="0"/>
              </a:rPr>
              <a:t>that I can gain a sense of achievement.</a:t>
            </a:r>
            <a:endParaRPr lang="en-US" altLang="zh-CN" sz="2000" b="1" dirty="0" smtClean="0">
              <a:solidFill>
                <a:schemeClr val="tx1"/>
              </a:solidFill>
              <a:highlight>
                <a:srgbClr val="FFFF00"/>
              </a:highlight>
              <a:latin typeface="华文细黑" panose="02010600040101010101" charset="-122"/>
              <a:ea typeface="华文细黑" panose="02010600040101010101" charset="-122"/>
              <a:sym typeface="Calibri" panose="020F0502020204030204" pitchFamily="34" charset="0"/>
            </a:endParaRPr>
          </a:p>
          <a:p>
            <a:pPr marL="0" indent="0">
              <a:buFont typeface="Wingdings" panose="05000000000000000000" pitchFamily="2" charset="2"/>
              <a:defRPr/>
            </a:pPr>
            <a:endParaRPr lang="zh-CN" altLang="en-US" sz="2000" b="1" dirty="0" smtClean="0">
              <a:solidFill>
                <a:schemeClr val="tx1"/>
              </a:solidFill>
              <a:highlight>
                <a:srgbClr val="FFFF00"/>
              </a:highlight>
              <a:latin typeface="华文细黑" panose="02010600040101010101" charset="-122"/>
              <a:ea typeface="华文细黑" panose="02010600040101010101" charset="-122"/>
              <a:sym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p:cNvSpPr>
          <p:nvPr>
            <p:ph type="title"/>
          </p:nvPr>
        </p:nvSpPr>
        <p:spPr>
          <a:xfrm>
            <a:off x="1907858" y="123190"/>
            <a:ext cx="5357812" cy="500063"/>
          </a:xfrm>
        </p:spPr>
        <p:txBody>
          <a:bodyPr/>
          <a:lstStyle/>
          <a:p>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④ </a:t>
            </a:r>
            <a:r>
              <a:rPr lang="en-US" altLang="zh-CN" sz="2400" dirty="0" smtClean="0">
                <a:solidFill>
                  <a:schemeClr val="tx1"/>
                </a:solidFill>
                <a:latin typeface="华文细黑" panose="02010600040101010101" charset="-122"/>
                <a:ea typeface="华文细黑" panose="02010600040101010101" charset="-122"/>
                <a:cs typeface="华文细黑" panose="02010600040101010101" charset="-122"/>
              </a:rPr>
              <a:t>n+</a:t>
            </a:r>
            <a:r>
              <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rPr>
              <a:t>定语从句</a:t>
            </a:r>
            <a:endParaRPr lang="zh-CN" altLang="en-US" sz="2400" dirty="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 name="内容占位符 2"/>
          <p:cNvSpPr>
            <a:spLocks noGrp="1"/>
          </p:cNvSpPr>
          <p:nvPr>
            <p:ph idx="1"/>
          </p:nvPr>
        </p:nvSpPr>
        <p:spPr>
          <a:xfrm>
            <a:off x="443230" y="699770"/>
            <a:ext cx="8630285" cy="4033520"/>
          </a:xfrm>
        </p:spPr>
        <p:txBody>
          <a:bodyPr/>
          <a:lstStyle/>
          <a:p>
            <a:pPr>
              <a:buFont typeface="Wingdings" panose="05000000000000000000" pitchFamily="2" charset="2"/>
              <a:buChar char="Ø"/>
              <a:defRPr/>
            </a:pPr>
            <a:r>
              <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rPr>
              <a:t>越来越多的青少年犯罪的主要原因是他们家长忙于工作以至于没有足够多的时间管教</a:t>
            </a:r>
            <a:r>
              <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rPr>
              <a:t>他们。</a:t>
            </a:r>
            <a:endPar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buFont typeface="Wingdings" panose="05000000000000000000" pitchFamily="2" charset="2"/>
              <a:buChar char="Ø"/>
              <a:defRPr/>
            </a:pPr>
            <a:r>
              <a:rPr lang="en-US" altLang="zh-CN" sz="2000" b="1" dirty="0" smtClean="0">
                <a:solidFill>
                  <a:schemeClr val="tx1"/>
                </a:solidFill>
                <a:highlight>
                  <a:srgbClr val="FFFF00"/>
                </a:highlight>
                <a:latin typeface="华文细黑" panose="02010600040101010101" charset="-122"/>
                <a:ea typeface="华文细黑" panose="02010600040101010101" charset="-122"/>
                <a:sym typeface="Calibri" panose="020F0502020204030204" pitchFamily="34" charset="0"/>
              </a:rPr>
              <a:t>The reason</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a:t>
            </a:r>
            <a:r>
              <a:rPr lang="en-US" altLang="zh-CN" sz="2000" b="1" u="sng" dirty="0" smtClean="0">
                <a:solidFill>
                  <a:srgbClr val="FF0000"/>
                </a:solidFill>
                <a:latin typeface="华文细黑" panose="02010600040101010101" charset="-122"/>
                <a:ea typeface="华文细黑" panose="02010600040101010101" charset="-122"/>
                <a:sym typeface="Calibri" panose="020F0502020204030204" pitchFamily="34" charset="0"/>
              </a:rPr>
              <a:t>why an increasing number of teenagers commit crimes</a:t>
            </a:r>
            <a:r>
              <a:rPr lang="en-US" altLang="zh-CN" sz="2000" b="1" dirty="0" smtClean="0">
                <a:solidFill>
                  <a:schemeClr val="tx1"/>
                </a:solidFill>
                <a:highlight>
                  <a:srgbClr val="FFFF00"/>
                </a:highlight>
                <a:latin typeface="华文细黑" panose="02010600040101010101" charset="-122"/>
                <a:ea typeface="华文细黑" panose="02010600040101010101" charset="-122"/>
                <a:sym typeface="Calibri" panose="020F0502020204030204" pitchFamily="34" charset="0"/>
              </a:rPr>
              <a:t> is</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 </a:t>
            </a:r>
            <a:r>
              <a:rPr lang="en-US" altLang="zh-CN" sz="2000" b="1" u="sng" dirty="0" smtClean="0">
                <a:solidFill>
                  <a:srgbClr val="0070C0"/>
                </a:solidFill>
                <a:latin typeface="华文细黑" panose="02010600040101010101" charset="-122"/>
                <a:ea typeface="华文细黑" panose="02010600040101010101" charset="-122"/>
                <a:sym typeface="Calibri" panose="020F0502020204030204" pitchFamily="34" charset="0"/>
              </a:rPr>
              <a:t>that their parents are engaged by busy work so that they have no sufficient time to discipline them</a:t>
            </a:r>
            <a:r>
              <a:rPr lang="en-US" altLang="zh-CN" sz="2000" b="1" dirty="0" smtClean="0">
                <a:solidFill>
                  <a:schemeClr val="tx1"/>
                </a:solidFill>
                <a:latin typeface="华文细黑" panose="02010600040101010101" charset="-122"/>
                <a:ea typeface="华文细黑" panose="02010600040101010101" charset="-122"/>
                <a:sym typeface="Calibri" panose="020F0502020204030204" pitchFamily="34" charset="0"/>
              </a:rPr>
              <a:t>.</a:t>
            </a:r>
            <a:endParaRPr lang="zh-CN" altLang="en-US" sz="2000" b="1"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marL="0" indent="0">
              <a:buFont typeface="Wingdings" panose="05000000000000000000" pitchFamily="2" charset="2"/>
              <a:defRPr/>
            </a:pPr>
            <a:endParaRPr lang="zh-CN" altLang="en-US" sz="2000" b="1" dirty="0" smtClean="0">
              <a:solidFill>
                <a:schemeClr val="tx1"/>
              </a:solidFill>
              <a:highlight>
                <a:srgbClr val="FFFF00"/>
              </a:highlight>
              <a:latin typeface="华文细黑" panose="02010600040101010101" charset="-122"/>
              <a:ea typeface="华文细黑" panose="02010600040101010101" charset="-122"/>
              <a:sym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91169" y="725792"/>
            <a:ext cx="5357850" cy="500066"/>
          </a:xfrm>
        </p:spPr>
        <p:txBody>
          <a:bodyPr/>
          <a:p>
            <a:r>
              <a:rPr lang="zh-CN" altLang="en-US">
                <a:solidFill>
                  <a:schemeClr val="tx1"/>
                </a:solidFill>
              </a:rPr>
              <a:t>⑤</a:t>
            </a:r>
            <a:r>
              <a:rPr lang="en-US" altLang="zh-CN">
                <a:solidFill>
                  <a:schemeClr val="tx1"/>
                </a:solidFill>
              </a:rPr>
              <a:t>doing/done </a:t>
            </a:r>
            <a:r>
              <a:rPr lang="zh-CN" altLang="en-US">
                <a:solidFill>
                  <a:schemeClr val="tx1"/>
                </a:solidFill>
              </a:rPr>
              <a:t>分词做后置定语</a:t>
            </a:r>
            <a:endParaRPr lang="zh-CN" altLang="en-US">
              <a:solidFill>
                <a:schemeClr val="tx1"/>
              </a:solidFill>
            </a:endParaRPr>
          </a:p>
        </p:txBody>
      </p:sp>
      <p:sp>
        <p:nvSpPr>
          <p:cNvPr id="36866" name="内容占位符 2"/>
          <p:cNvSpPr>
            <a:spLocks noGrp="1"/>
          </p:cNvSpPr>
          <p:nvPr>
            <p:ph idx="1"/>
          </p:nvPr>
        </p:nvSpPr>
        <p:spPr>
          <a:xfrm>
            <a:off x="447040" y="1347470"/>
            <a:ext cx="8249920" cy="3330575"/>
          </a:xfrm>
        </p:spPr>
        <p:txBody>
          <a:bodyPr/>
          <a:p>
            <a:pPr algn="l">
              <a:lnSpc>
                <a:spcPct val="170000"/>
              </a:lnSpc>
              <a:buFont typeface="Wingdings" panose="05000000000000000000" pitchFamily="2" charset="2"/>
              <a:buChar char="Ø"/>
            </a:pPr>
            <a:r>
              <a:rPr lang="en-US" altLang="zh-CN" sz="1600" smtClean="0">
                <a:solidFill>
                  <a:schemeClr val="tx1"/>
                </a:solidFill>
                <a:latin typeface="华文细黑" panose="02010600040101010101" charset="-122"/>
                <a:ea typeface="华文细黑" panose="02010600040101010101" charset="-122"/>
                <a:cs typeface="华文细黑" panose="02010600040101010101" charset="-122"/>
              </a:rPr>
              <a:t>The people living in the metropolis are usually busy.</a:t>
            </a:r>
            <a:endParaRPr lang="en-US" altLang="zh-CN" sz="1600"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70000"/>
              </a:lnSpc>
              <a:buFont typeface="Wingdings" panose="05000000000000000000" pitchFamily="2" charset="2"/>
              <a:buChar char="Ø"/>
            </a:pPr>
            <a:r>
              <a:rPr lang="en-US" altLang="zh-CN" sz="1600" smtClean="0">
                <a:solidFill>
                  <a:schemeClr val="tx1"/>
                </a:solidFill>
                <a:latin typeface="华文细黑" panose="02010600040101010101" charset="-122"/>
                <a:ea typeface="华文细黑" panose="02010600040101010101" charset="-122"/>
                <a:cs typeface="华文细黑" panose="02010600040101010101" charset="-122"/>
              </a:rPr>
              <a:t>The time spent on homework is enough.</a:t>
            </a:r>
            <a:endParaRPr lang="en-US" altLang="zh-CN" sz="1600" smtClean="0">
              <a:solidFill>
                <a:schemeClr val="tx1"/>
              </a:solidFill>
              <a:latin typeface="华文细黑" panose="02010600040101010101" charset="-122"/>
              <a:ea typeface="华文细黑" panose="02010600040101010101" charset="-122"/>
              <a:cs typeface="华文细黑"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6">
                                            <p:txEl>
                                              <p:pRg st="0" end="0"/>
                                            </p:txEl>
                                          </p:spTgt>
                                        </p:tgtEl>
                                        <p:attrNameLst>
                                          <p:attrName>style.visibility</p:attrName>
                                        </p:attrNameLst>
                                      </p:cBhvr>
                                      <p:to>
                                        <p:strVal val="visible"/>
                                      </p:to>
                                    </p:set>
                                    <p:anim calcmode="lin" valueType="num">
                                      <p:cBhvr additive="base">
                                        <p:cTn id="7" dur="500" fill="hold"/>
                                        <p:tgtEl>
                                          <p:spTgt spid="368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866">
                                            <p:txEl>
                                              <p:pRg st="1" end="1"/>
                                            </p:txEl>
                                          </p:spTgt>
                                        </p:tgtEl>
                                        <p:attrNameLst>
                                          <p:attrName>style.visibility</p:attrName>
                                        </p:attrNameLst>
                                      </p:cBhvr>
                                      <p:to>
                                        <p:strVal val="visible"/>
                                      </p:to>
                                    </p:set>
                                    <p:anim calcmode="lin" valueType="num">
                                      <p:cBhvr additive="base">
                                        <p:cTn id="13" dur="500" fill="hold"/>
                                        <p:tgtEl>
                                          <p:spTgt spid="3686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91169" y="725792"/>
            <a:ext cx="5357850" cy="500066"/>
          </a:xfrm>
        </p:spPr>
        <p:txBody>
          <a:bodyPr/>
          <a:p>
            <a:r>
              <a:rPr lang="zh-CN" altLang="en-US">
                <a:solidFill>
                  <a:schemeClr val="tx1"/>
                </a:solidFill>
              </a:rPr>
              <a:t>辨析</a:t>
            </a:r>
            <a:r>
              <a:rPr lang="en-US" altLang="zh-CN">
                <a:solidFill>
                  <a:schemeClr val="tx1"/>
                </a:solidFill>
              </a:rPr>
              <a:t>which&amp;where</a:t>
            </a:r>
            <a:endParaRPr lang="en-US" altLang="zh-CN">
              <a:solidFill>
                <a:schemeClr val="tx1"/>
              </a:solidFill>
            </a:endParaRPr>
          </a:p>
        </p:txBody>
      </p:sp>
      <p:sp>
        <p:nvSpPr>
          <p:cNvPr id="36866" name="内容占位符 2"/>
          <p:cNvSpPr>
            <a:spLocks noGrp="1"/>
          </p:cNvSpPr>
          <p:nvPr>
            <p:ph idx="1"/>
          </p:nvPr>
        </p:nvSpPr>
        <p:spPr>
          <a:xfrm>
            <a:off x="447040" y="1347470"/>
            <a:ext cx="8249920" cy="3330575"/>
          </a:xfrm>
        </p:spPr>
        <p:txBody>
          <a:bodyPr/>
          <a:p>
            <a:pPr algn="l">
              <a:lnSpc>
                <a:spcPct val="170000"/>
              </a:lnSpc>
              <a:buFont typeface="Wingdings" panose="05000000000000000000" pitchFamily="2" charset="2"/>
              <a:buChar char="Ø"/>
            </a:pPr>
            <a:r>
              <a:rPr sz="2400" b="1" smtClean="0">
                <a:solidFill>
                  <a:schemeClr val="tx1"/>
                </a:solidFill>
                <a:latin typeface="华文细黑" panose="02010600040101010101" charset="-122"/>
                <a:ea typeface="华文细黑" panose="02010600040101010101" charset="-122"/>
                <a:cs typeface="华文细黑" panose="02010600040101010101" charset="-122"/>
              </a:rPr>
              <a:t>我喜欢那个</a:t>
            </a:r>
            <a:r>
              <a:rPr sz="2400" b="1" u="sng" smtClean="0">
                <a:solidFill>
                  <a:srgbClr val="FF0000"/>
                </a:solidFill>
                <a:latin typeface="华文细黑" panose="02010600040101010101" charset="-122"/>
                <a:ea typeface="华文细黑" panose="02010600040101010101" charset="-122"/>
                <a:cs typeface="华文细黑" panose="02010600040101010101" charset="-122"/>
              </a:rPr>
              <a:t>提供免费咖啡的</a:t>
            </a:r>
            <a:r>
              <a:rPr sz="2400" b="1" smtClean="0">
                <a:solidFill>
                  <a:schemeClr val="tx1"/>
                </a:solidFill>
                <a:latin typeface="华文细黑" panose="02010600040101010101" charset="-122"/>
                <a:ea typeface="华文细黑" panose="02010600040101010101" charset="-122"/>
                <a:cs typeface="华文细黑" panose="02010600040101010101" charset="-122"/>
              </a:rPr>
              <a:t>图书馆。</a:t>
            </a:r>
            <a:endParaRPr sz="2400" b="1"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70000"/>
              </a:lnSpc>
              <a:buFont typeface="Wingdings" panose="05000000000000000000" pitchFamily="2" charset="2"/>
              <a:buChar char="Ø"/>
            </a:pPr>
            <a:r>
              <a:rPr lang="en-US" altLang="zh-CN" sz="2400" b="1" smtClean="0">
                <a:solidFill>
                  <a:schemeClr val="tx1"/>
                </a:solidFill>
                <a:latin typeface="华文细黑" panose="02010600040101010101" charset="-122"/>
                <a:ea typeface="华文细黑" panose="02010600040101010101" charset="-122"/>
                <a:cs typeface="华文细黑" panose="02010600040101010101" charset="-122"/>
              </a:rPr>
              <a:t>I like the library </a:t>
            </a:r>
            <a:r>
              <a:rPr lang="en-US" altLang="zh-CN" sz="2400" b="1" u="sng" smtClean="0">
                <a:solidFill>
                  <a:srgbClr val="FF0000"/>
                </a:solidFill>
                <a:latin typeface="华文细黑" panose="02010600040101010101" charset="-122"/>
                <a:ea typeface="华文细黑" panose="02010600040101010101" charset="-122"/>
                <a:cs typeface="华文细黑" panose="02010600040101010101" charset="-122"/>
              </a:rPr>
              <a:t>which provides free coffee.</a:t>
            </a:r>
            <a:endParaRPr sz="2400" b="1" u="sng" smtClean="0">
              <a:solidFill>
                <a:srgbClr val="FF0000"/>
              </a:solidFill>
              <a:latin typeface="华文细黑" panose="02010600040101010101" charset="-122"/>
              <a:ea typeface="华文细黑" panose="02010600040101010101" charset="-122"/>
              <a:cs typeface="华文细黑" panose="02010600040101010101" charset="-122"/>
            </a:endParaRPr>
          </a:p>
          <a:p>
            <a:pPr algn="l">
              <a:lnSpc>
                <a:spcPct val="170000"/>
              </a:lnSpc>
              <a:buFont typeface="Wingdings" panose="05000000000000000000" pitchFamily="2" charset="2"/>
              <a:buChar char="Ø"/>
            </a:pPr>
            <a:r>
              <a:rPr sz="2400" b="1" smtClean="0">
                <a:solidFill>
                  <a:schemeClr val="tx1"/>
                </a:solidFill>
                <a:latin typeface="华文细黑" panose="02010600040101010101" charset="-122"/>
                <a:ea typeface="华文细黑" panose="02010600040101010101" charset="-122"/>
                <a:cs typeface="华文细黑" panose="02010600040101010101" charset="-122"/>
              </a:rPr>
              <a:t>我往往去那个</a:t>
            </a:r>
            <a:r>
              <a:rPr sz="2400" b="1" u="sng" smtClean="0">
                <a:solidFill>
                  <a:srgbClr val="FF0000"/>
                </a:solidFill>
                <a:latin typeface="华文细黑" panose="02010600040101010101" charset="-122"/>
                <a:ea typeface="华文细黑" panose="02010600040101010101" charset="-122"/>
                <a:cs typeface="华文细黑" panose="02010600040101010101" charset="-122"/>
              </a:rPr>
              <a:t>我可以喝免费咖啡的</a:t>
            </a:r>
            <a:r>
              <a:rPr sz="2400" b="1" smtClean="0">
                <a:solidFill>
                  <a:schemeClr val="tx1"/>
                </a:solidFill>
                <a:latin typeface="华文细黑" panose="02010600040101010101" charset="-122"/>
                <a:ea typeface="华文细黑" panose="02010600040101010101" charset="-122"/>
                <a:cs typeface="华文细黑" panose="02010600040101010101" charset="-122"/>
              </a:rPr>
              <a:t>图书馆学习。</a:t>
            </a:r>
            <a:endParaRPr sz="2400" b="1"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70000"/>
              </a:lnSpc>
              <a:buFont typeface="Wingdings" panose="05000000000000000000" pitchFamily="2" charset="2"/>
              <a:buChar char="Ø"/>
            </a:pPr>
            <a:r>
              <a:rPr lang="en-US" altLang="zh-CN" sz="2400" b="1" smtClean="0">
                <a:solidFill>
                  <a:schemeClr val="tx1"/>
                </a:solidFill>
                <a:latin typeface="华文细黑" panose="02010600040101010101" charset="-122"/>
                <a:ea typeface="华文细黑" panose="02010600040101010101" charset="-122"/>
                <a:cs typeface="华文细黑" panose="02010600040101010101" charset="-122"/>
              </a:rPr>
              <a:t>I often study in the library </a:t>
            </a:r>
            <a:r>
              <a:rPr lang="en-US" altLang="zh-CN" sz="2400" b="1" u="sng" smtClean="0">
                <a:solidFill>
                  <a:srgbClr val="FF0000"/>
                </a:solidFill>
                <a:latin typeface="华文细黑" panose="02010600040101010101" charset="-122"/>
                <a:ea typeface="华文细黑" panose="02010600040101010101" charset="-122"/>
                <a:cs typeface="华文细黑" panose="02010600040101010101" charset="-122"/>
              </a:rPr>
              <a:t>where I can drink free coffee</a:t>
            </a:r>
            <a:r>
              <a:rPr lang="en-US" altLang="zh-CN" sz="2400" b="1" smtClean="0">
                <a:solidFill>
                  <a:schemeClr val="tx1"/>
                </a:solidFill>
                <a:latin typeface="华文细黑" panose="02010600040101010101" charset="-122"/>
                <a:ea typeface="华文细黑" panose="02010600040101010101" charset="-122"/>
                <a:cs typeface="华文细黑" panose="02010600040101010101" charset="-122"/>
              </a:rPr>
              <a:t>.</a:t>
            </a:r>
            <a:endParaRPr lang="en-US" altLang="zh-CN" sz="2400" b="1" smtClean="0">
              <a:solidFill>
                <a:schemeClr val="tx1"/>
              </a:solidFill>
              <a:latin typeface="华文细黑" panose="02010600040101010101" charset="-122"/>
              <a:ea typeface="华文细黑" panose="02010600040101010101" charset="-122"/>
              <a:cs typeface="华文细黑"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6">
                                            <p:txEl>
                                              <p:pRg st="0" end="0"/>
                                            </p:txEl>
                                          </p:spTgt>
                                        </p:tgtEl>
                                        <p:attrNameLst>
                                          <p:attrName>style.visibility</p:attrName>
                                        </p:attrNameLst>
                                      </p:cBhvr>
                                      <p:to>
                                        <p:strVal val="visible"/>
                                      </p:to>
                                    </p:set>
                                    <p:anim calcmode="lin" valueType="num">
                                      <p:cBhvr additive="base">
                                        <p:cTn id="7" dur="500" fill="hold"/>
                                        <p:tgtEl>
                                          <p:spTgt spid="368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866">
                                            <p:txEl>
                                              <p:pRg st="1" end="1"/>
                                            </p:txEl>
                                          </p:spTgt>
                                        </p:tgtEl>
                                        <p:attrNameLst>
                                          <p:attrName>style.visibility</p:attrName>
                                        </p:attrNameLst>
                                      </p:cBhvr>
                                      <p:to>
                                        <p:strVal val="visible"/>
                                      </p:to>
                                    </p:set>
                                    <p:anim calcmode="lin" valueType="num">
                                      <p:cBhvr additive="base">
                                        <p:cTn id="13" dur="500" fill="hold"/>
                                        <p:tgtEl>
                                          <p:spTgt spid="3686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866">
                                            <p:txEl>
                                              <p:pRg st="2" end="2"/>
                                            </p:txEl>
                                          </p:spTgt>
                                        </p:tgtEl>
                                        <p:attrNameLst>
                                          <p:attrName>style.visibility</p:attrName>
                                        </p:attrNameLst>
                                      </p:cBhvr>
                                      <p:to>
                                        <p:strVal val="visible"/>
                                      </p:to>
                                    </p:set>
                                    <p:anim calcmode="lin" valueType="num">
                                      <p:cBhvr additive="base">
                                        <p:cTn id="19" dur="500" fill="hold"/>
                                        <p:tgtEl>
                                          <p:spTgt spid="3686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6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6866">
                                            <p:txEl>
                                              <p:pRg st="3" end="3"/>
                                            </p:txEl>
                                          </p:spTgt>
                                        </p:tgtEl>
                                        <p:attrNameLst>
                                          <p:attrName>style.visibility</p:attrName>
                                        </p:attrNameLst>
                                      </p:cBhvr>
                                      <p:to>
                                        <p:strVal val="visible"/>
                                      </p:to>
                                    </p:set>
                                    <p:anim calcmode="lin" valueType="num">
                                      <p:cBhvr additive="base">
                                        <p:cTn id="25" dur="500" fill="hold"/>
                                        <p:tgtEl>
                                          <p:spTgt spid="3686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86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91169" y="725792"/>
            <a:ext cx="5357850" cy="500066"/>
          </a:xfrm>
        </p:spPr>
        <p:txBody>
          <a:bodyPr/>
          <a:p>
            <a:r>
              <a:rPr lang="zh-CN" altLang="en-US">
                <a:solidFill>
                  <a:schemeClr val="tx1"/>
                </a:solidFill>
              </a:rPr>
              <a:t>辨析</a:t>
            </a:r>
            <a:r>
              <a:rPr lang="en-US" altLang="zh-CN">
                <a:solidFill>
                  <a:schemeClr val="tx1"/>
                </a:solidFill>
              </a:rPr>
              <a:t>which&amp;where</a:t>
            </a:r>
            <a:endParaRPr lang="en-US" altLang="zh-CN">
              <a:solidFill>
                <a:schemeClr val="tx1"/>
              </a:solidFill>
            </a:endParaRPr>
          </a:p>
        </p:txBody>
      </p:sp>
      <p:sp>
        <p:nvSpPr>
          <p:cNvPr id="36866" name="内容占位符 2"/>
          <p:cNvSpPr>
            <a:spLocks noGrp="1"/>
          </p:cNvSpPr>
          <p:nvPr>
            <p:ph idx="1"/>
          </p:nvPr>
        </p:nvSpPr>
        <p:spPr>
          <a:xfrm>
            <a:off x="447040" y="1347470"/>
            <a:ext cx="8249920" cy="3330575"/>
          </a:xfrm>
        </p:spPr>
        <p:txBody>
          <a:bodyPr/>
          <a:p>
            <a:pPr algn="l">
              <a:lnSpc>
                <a:spcPct val="170000"/>
              </a:lnSpc>
              <a:buFont typeface="Wingdings" panose="05000000000000000000" pitchFamily="2" charset="2"/>
              <a:buChar char="Ø"/>
            </a:pPr>
            <a:r>
              <a:rPr sz="2000" b="1" smtClean="0">
                <a:solidFill>
                  <a:schemeClr val="tx1"/>
                </a:solidFill>
                <a:latin typeface="华文细黑" panose="02010600040101010101" charset="-122"/>
                <a:ea typeface="华文细黑" panose="02010600040101010101" charset="-122"/>
                <a:cs typeface="华文细黑" panose="02010600040101010101" charset="-122"/>
              </a:rPr>
              <a:t>政府应该投资在</a:t>
            </a:r>
            <a:r>
              <a:rPr sz="2000" b="1" u="sng" smtClean="0">
                <a:solidFill>
                  <a:srgbClr val="FF0000"/>
                </a:solidFill>
                <a:latin typeface="华文细黑" panose="02010600040101010101" charset="-122"/>
                <a:ea typeface="华文细黑" panose="02010600040101010101" charset="-122"/>
                <a:cs typeface="华文细黑" panose="02010600040101010101" charset="-122"/>
              </a:rPr>
              <a:t>可以给大多数纳税人带来利润的</a:t>
            </a:r>
            <a:r>
              <a:rPr sz="2000" b="1" smtClean="0">
                <a:solidFill>
                  <a:schemeClr val="tx1"/>
                </a:solidFill>
                <a:latin typeface="华文细黑" panose="02010600040101010101" charset="-122"/>
                <a:ea typeface="华文细黑" panose="02010600040101010101" charset="-122"/>
                <a:cs typeface="华文细黑" panose="02010600040101010101" charset="-122"/>
              </a:rPr>
              <a:t>领域。</a:t>
            </a:r>
            <a:endParaRPr lang="en-US" altLang="zh-CN" sz="2000" b="1"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70000"/>
              </a:lnSpc>
              <a:buFont typeface="Wingdings" panose="05000000000000000000" pitchFamily="2" charset="2"/>
              <a:buChar char="Ø"/>
            </a:pPr>
            <a:r>
              <a:rPr lang="en-US" altLang="zh-CN" sz="2000" b="1" smtClean="0">
                <a:solidFill>
                  <a:schemeClr val="tx1"/>
                </a:solidFill>
                <a:latin typeface="华文细黑" panose="02010600040101010101" charset="-122"/>
                <a:ea typeface="华文细黑" panose="02010600040101010101" charset="-122"/>
                <a:cs typeface="华文细黑" panose="02010600040101010101" charset="-122"/>
              </a:rPr>
              <a:t>The government should invest in the field </a:t>
            </a:r>
            <a:r>
              <a:rPr lang="en-US" altLang="zh-CN" sz="2000" b="1" u="sng" smtClean="0">
                <a:solidFill>
                  <a:srgbClr val="FF0000"/>
                </a:solidFill>
                <a:latin typeface="华文细黑" panose="02010600040101010101" charset="-122"/>
                <a:ea typeface="华文细黑" panose="02010600040101010101" charset="-122"/>
                <a:cs typeface="华文细黑" panose="02010600040101010101" charset="-122"/>
              </a:rPr>
              <a:t>which can bring profits to most taxpayers</a:t>
            </a:r>
            <a:r>
              <a:rPr lang="en-US" altLang="zh-CN" sz="2000" b="1" smtClean="0">
                <a:solidFill>
                  <a:schemeClr val="tx1"/>
                </a:solidFill>
                <a:latin typeface="华文细黑" panose="02010600040101010101" charset="-122"/>
                <a:ea typeface="华文细黑" panose="02010600040101010101" charset="-122"/>
                <a:cs typeface="华文细黑" panose="02010600040101010101" charset="-122"/>
              </a:rPr>
              <a:t>.</a:t>
            </a:r>
            <a:endParaRPr sz="2000" b="1"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70000"/>
              </a:lnSpc>
              <a:buFont typeface="Wingdings" panose="05000000000000000000" pitchFamily="2" charset="2"/>
              <a:buChar char="Ø"/>
            </a:pPr>
            <a:r>
              <a:rPr sz="2000" b="1" smtClean="0">
                <a:solidFill>
                  <a:schemeClr val="tx1"/>
                </a:solidFill>
                <a:latin typeface="华文细黑" panose="02010600040101010101" charset="-122"/>
                <a:ea typeface="华文细黑" panose="02010600040101010101" charset="-122"/>
                <a:cs typeface="华文细黑" panose="02010600040101010101" charset="-122"/>
              </a:rPr>
              <a:t>政府应该投资在</a:t>
            </a:r>
            <a:r>
              <a:rPr sz="2000" b="1" u="sng" smtClean="0">
                <a:solidFill>
                  <a:srgbClr val="FF0000"/>
                </a:solidFill>
                <a:latin typeface="华文细黑" panose="02010600040101010101" charset="-122"/>
                <a:ea typeface="华文细黑" panose="02010600040101010101" charset="-122"/>
                <a:cs typeface="华文细黑" panose="02010600040101010101" charset="-122"/>
              </a:rPr>
              <a:t>大多数纳税人可以获益的</a:t>
            </a:r>
            <a:r>
              <a:rPr sz="2000" b="1" smtClean="0">
                <a:solidFill>
                  <a:schemeClr val="tx1"/>
                </a:solidFill>
                <a:latin typeface="华文细黑" panose="02010600040101010101" charset="-122"/>
                <a:ea typeface="华文细黑" panose="02010600040101010101" charset="-122"/>
                <a:cs typeface="华文细黑" panose="02010600040101010101" charset="-122"/>
              </a:rPr>
              <a:t>领域。</a:t>
            </a:r>
            <a:endParaRPr lang="en-US" altLang="zh-CN" sz="2000" b="1"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70000"/>
              </a:lnSpc>
              <a:buFont typeface="Wingdings" panose="05000000000000000000" pitchFamily="2" charset="2"/>
              <a:buChar char="Ø"/>
            </a:pPr>
            <a:r>
              <a:rPr lang="en-US" altLang="zh-CN" sz="2000" b="1" smtClean="0">
                <a:solidFill>
                  <a:schemeClr val="tx1"/>
                </a:solidFill>
                <a:latin typeface="华文细黑" panose="02010600040101010101" charset="-122"/>
                <a:ea typeface="华文细黑" panose="02010600040101010101" charset="-122"/>
                <a:cs typeface="华文细黑" panose="02010600040101010101" charset="-122"/>
              </a:rPr>
              <a:t>The government should invest in the field </a:t>
            </a:r>
            <a:r>
              <a:rPr lang="en-US" altLang="zh-CN" sz="2000" b="1" u="sng" smtClean="0">
                <a:solidFill>
                  <a:srgbClr val="FF0000"/>
                </a:solidFill>
                <a:latin typeface="华文细黑" panose="02010600040101010101" charset="-122"/>
                <a:ea typeface="华文细黑" panose="02010600040101010101" charset="-122"/>
                <a:cs typeface="华文细黑" panose="02010600040101010101" charset="-122"/>
              </a:rPr>
              <a:t>where most taxpayers can reap the benefits.</a:t>
            </a:r>
            <a:endParaRPr lang="en-US" altLang="zh-CN" sz="2000" b="1" u="sng" smtClean="0">
              <a:solidFill>
                <a:srgbClr val="FF0000"/>
              </a:solidFill>
              <a:latin typeface="华文细黑" panose="02010600040101010101" charset="-122"/>
              <a:ea typeface="华文细黑" panose="02010600040101010101" charset="-122"/>
              <a:cs typeface="华文细黑"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6">
                                            <p:txEl>
                                              <p:pRg st="0" end="0"/>
                                            </p:txEl>
                                          </p:spTgt>
                                        </p:tgtEl>
                                        <p:attrNameLst>
                                          <p:attrName>style.visibility</p:attrName>
                                        </p:attrNameLst>
                                      </p:cBhvr>
                                      <p:to>
                                        <p:strVal val="visible"/>
                                      </p:to>
                                    </p:set>
                                    <p:anim calcmode="lin" valueType="num">
                                      <p:cBhvr additive="base">
                                        <p:cTn id="7" dur="500" fill="hold"/>
                                        <p:tgtEl>
                                          <p:spTgt spid="368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866">
                                            <p:txEl>
                                              <p:pRg st="1" end="1"/>
                                            </p:txEl>
                                          </p:spTgt>
                                        </p:tgtEl>
                                        <p:attrNameLst>
                                          <p:attrName>style.visibility</p:attrName>
                                        </p:attrNameLst>
                                      </p:cBhvr>
                                      <p:to>
                                        <p:strVal val="visible"/>
                                      </p:to>
                                    </p:set>
                                    <p:anim calcmode="lin" valueType="num">
                                      <p:cBhvr additive="base">
                                        <p:cTn id="13" dur="500" fill="hold"/>
                                        <p:tgtEl>
                                          <p:spTgt spid="3686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866">
                                            <p:txEl>
                                              <p:pRg st="2" end="2"/>
                                            </p:txEl>
                                          </p:spTgt>
                                        </p:tgtEl>
                                        <p:attrNameLst>
                                          <p:attrName>style.visibility</p:attrName>
                                        </p:attrNameLst>
                                      </p:cBhvr>
                                      <p:to>
                                        <p:strVal val="visible"/>
                                      </p:to>
                                    </p:set>
                                    <p:anim calcmode="lin" valueType="num">
                                      <p:cBhvr additive="base">
                                        <p:cTn id="19" dur="500" fill="hold"/>
                                        <p:tgtEl>
                                          <p:spTgt spid="3686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6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6866">
                                            <p:txEl>
                                              <p:pRg st="3" end="3"/>
                                            </p:txEl>
                                          </p:spTgt>
                                        </p:tgtEl>
                                        <p:attrNameLst>
                                          <p:attrName>style.visibility</p:attrName>
                                        </p:attrNameLst>
                                      </p:cBhvr>
                                      <p:to>
                                        <p:strVal val="visible"/>
                                      </p:to>
                                    </p:set>
                                    <p:anim calcmode="lin" valueType="num">
                                      <p:cBhvr additive="base">
                                        <p:cTn id="25" dur="500" fill="hold"/>
                                        <p:tgtEl>
                                          <p:spTgt spid="3686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86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91169" y="725792"/>
            <a:ext cx="5357850" cy="500066"/>
          </a:xfrm>
        </p:spPr>
        <p:txBody>
          <a:bodyPr/>
          <a:p>
            <a:r>
              <a:rPr lang="zh-CN" altLang="en-US">
                <a:solidFill>
                  <a:schemeClr val="tx1"/>
                </a:solidFill>
              </a:rPr>
              <a:t>辨析</a:t>
            </a:r>
            <a:r>
              <a:rPr lang="en-US" altLang="zh-CN">
                <a:solidFill>
                  <a:schemeClr val="tx1"/>
                </a:solidFill>
              </a:rPr>
              <a:t>which&amp;where</a:t>
            </a:r>
            <a:endParaRPr lang="en-US" altLang="zh-CN">
              <a:solidFill>
                <a:schemeClr val="tx1"/>
              </a:solidFill>
            </a:endParaRPr>
          </a:p>
        </p:txBody>
      </p:sp>
      <p:sp>
        <p:nvSpPr>
          <p:cNvPr id="36866" name="内容占位符 2"/>
          <p:cNvSpPr>
            <a:spLocks noGrp="1"/>
          </p:cNvSpPr>
          <p:nvPr>
            <p:ph idx="1"/>
          </p:nvPr>
        </p:nvSpPr>
        <p:spPr>
          <a:xfrm>
            <a:off x="447040" y="1347470"/>
            <a:ext cx="8249920" cy="3330575"/>
          </a:xfrm>
        </p:spPr>
        <p:txBody>
          <a:bodyPr/>
          <a:p>
            <a:pPr algn="l">
              <a:lnSpc>
                <a:spcPct val="170000"/>
              </a:lnSpc>
              <a:buFont typeface="Wingdings" panose="05000000000000000000" pitchFamily="2" charset="2"/>
              <a:buChar char="Ø"/>
            </a:pPr>
            <a:r>
              <a:rPr sz="2000" b="1" smtClean="0">
                <a:solidFill>
                  <a:schemeClr val="tx1"/>
                </a:solidFill>
                <a:latin typeface="华文细黑" panose="02010600040101010101" charset="-122"/>
                <a:ea typeface="华文细黑" panose="02010600040101010101" charset="-122"/>
                <a:cs typeface="华文细黑" panose="02010600040101010101" charset="-122"/>
              </a:rPr>
              <a:t>我喜欢那个</a:t>
            </a:r>
            <a:r>
              <a:rPr sz="2000" b="1" u="sng" smtClean="0">
                <a:solidFill>
                  <a:srgbClr val="FF0000"/>
                </a:solidFill>
                <a:latin typeface="华文细黑" panose="02010600040101010101" charset="-122"/>
                <a:ea typeface="华文细黑" panose="02010600040101010101" charset="-122"/>
                <a:cs typeface="华文细黑" panose="02010600040101010101" charset="-122"/>
              </a:rPr>
              <a:t>让所有人都感到舒适的</a:t>
            </a:r>
            <a:r>
              <a:rPr sz="2000" b="1" smtClean="0">
                <a:solidFill>
                  <a:schemeClr val="tx1"/>
                </a:solidFill>
                <a:latin typeface="华文细黑" panose="02010600040101010101" charset="-122"/>
                <a:ea typeface="华文细黑" panose="02010600040101010101" charset="-122"/>
                <a:cs typeface="华文细黑" panose="02010600040101010101" charset="-122"/>
              </a:rPr>
              <a:t>聊天。</a:t>
            </a:r>
            <a:endParaRPr lang="en-US" altLang="zh-CN" sz="2000" b="1"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70000"/>
              </a:lnSpc>
              <a:buFont typeface="Wingdings" panose="05000000000000000000" pitchFamily="2" charset="2"/>
              <a:buChar char="Ø"/>
            </a:pPr>
            <a:r>
              <a:rPr lang="en-US" altLang="zh-CN" sz="2000" b="1" smtClean="0">
                <a:solidFill>
                  <a:schemeClr val="tx1"/>
                </a:solidFill>
                <a:latin typeface="华文细黑" panose="02010600040101010101" charset="-122"/>
                <a:ea typeface="华文细黑" panose="02010600040101010101" charset="-122"/>
                <a:cs typeface="华文细黑" panose="02010600040101010101" charset="-122"/>
              </a:rPr>
              <a:t>I like the conversation </a:t>
            </a:r>
            <a:r>
              <a:rPr lang="en-US" altLang="zh-CN" sz="2000" b="1" u="sng" smtClean="0">
                <a:solidFill>
                  <a:schemeClr val="tx1"/>
                </a:solidFill>
                <a:latin typeface="华文细黑" panose="02010600040101010101" charset="-122"/>
                <a:ea typeface="华文细黑" panose="02010600040101010101" charset="-122"/>
                <a:cs typeface="华文细黑" panose="02010600040101010101" charset="-122"/>
              </a:rPr>
              <a:t>which makes everyone feel comfortable.</a:t>
            </a:r>
            <a:endParaRPr sz="2000" b="1" u="sng"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70000"/>
              </a:lnSpc>
              <a:buFont typeface="Wingdings" panose="05000000000000000000" pitchFamily="2" charset="2"/>
              <a:buChar char="Ø"/>
            </a:pPr>
            <a:r>
              <a:rPr sz="2000" b="1" smtClean="0">
                <a:solidFill>
                  <a:schemeClr val="tx1"/>
                </a:solidFill>
                <a:latin typeface="华文细黑" panose="02010600040101010101" charset="-122"/>
                <a:ea typeface="华文细黑" panose="02010600040101010101" charset="-122"/>
                <a:cs typeface="华文细黑" panose="02010600040101010101" charset="-122"/>
              </a:rPr>
              <a:t>我喜欢那个没有人觉得尴尬的聊天。</a:t>
            </a:r>
            <a:endParaRPr lang="en-US" altLang="zh-CN" sz="2000" b="1"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70000"/>
              </a:lnSpc>
              <a:buFont typeface="Wingdings" panose="05000000000000000000" pitchFamily="2" charset="2"/>
              <a:buChar char="Ø"/>
            </a:pPr>
            <a:r>
              <a:rPr lang="en-US" altLang="zh-CN" sz="2000" b="1" smtClean="0">
                <a:solidFill>
                  <a:schemeClr val="tx1"/>
                </a:solidFill>
                <a:latin typeface="华文细黑" panose="02010600040101010101" charset="-122"/>
                <a:ea typeface="华文细黑" panose="02010600040101010101" charset="-122"/>
                <a:cs typeface="华文细黑" panose="02010600040101010101" charset="-122"/>
              </a:rPr>
              <a:t>I  like the conversation </a:t>
            </a:r>
            <a:r>
              <a:rPr lang="en-US" altLang="zh-CN" sz="2000" b="1" u="sng" smtClean="0">
                <a:solidFill>
                  <a:schemeClr val="tx1"/>
                </a:solidFill>
                <a:latin typeface="华文细黑" panose="02010600040101010101" charset="-122"/>
                <a:ea typeface="华文细黑" panose="02010600040101010101" charset="-122"/>
                <a:cs typeface="华文细黑" panose="02010600040101010101" charset="-122"/>
              </a:rPr>
              <a:t>where nobody feels embarrassed.</a:t>
            </a:r>
            <a:endParaRPr lang="en-US" altLang="zh-CN" sz="2000" b="1" u="sng" smtClean="0">
              <a:solidFill>
                <a:schemeClr val="tx1"/>
              </a:solidFill>
              <a:latin typeface="华文细黑" panose="02010600040101010101" charset="-122"/>
              <a:ea typeface="华文细黑" panose="02010600040101010101" charset="-122"/>
              <a:cs typeface="华文细黑"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6">
                                            <p:txEl>
                                              <p:pRg st="0" end="0"/>
                                            </p:txEl>
                                          </p:spTgt>
                                        </p:tgtEl>
                                        <p:attrNameLst>
                                          <p:attrName>style.visibility</p:attrName>
                                        </p:attrNameLst>
                                      </p:cBhvr>
                                      <p:to>
                                        <p:strVal val="visible"/>
                                      </p:to>
                                    </p:set>
                                    <p:anim calcmode="lin" valueType="num">
                                      <p:cBhvr additive="base">
                                        <p:cTn id="7" dur="500" fill="hold"/>
                                        <p:tgtEl>
                                          <p:spTgt spid="368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866">
                                            <p:txEl>
                                              <p:pRg st="1" end="1"/>
                                            </p:txEl>
                                          </p:spTgt>
                                        </p:tgtEl>
                                        <p:attrNameLst>
                                          <p:attrName>style.visibility</p:attrName>
                                        </p:attrNameLst>
                                      </p:cBhvr>
                                      <p:to>
                                        <p:strVal val="visible"/>
                                      </p:to>
                                    </p:set>
                                    <p:anim calcmode="lin" valueType="num">
                                      <p:cBhvr additive="base">
                                        <p:cTn id="13" dur="500" fill="hold"/>
                                        <p:tgtEl>
                                          <p:spTgt spid="3686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866">
                                            <p:txEl>
                                              <p:pRg st="2" end="2"/>
                                            </p:txEl>
                                          </p:spTgt>
                                        </p:tgtEl>
                                        <p:attrNameLst>
                                          <p:attrName>style.visibility</p:attrName>
                                        </p:attrNameLst>
                                      </p:cBhvr>
                                      <p:to>
                                        <p:strVal val="visible"/>
                                      </p:to>
                                    </p:set>
                                    <p:anim calcmode="lin" valueType="num">
                                      <p:cBhvr additive="base">
                                        <p:cTn id="19" dur="500" fill="hold"/>
                                        <p:tgtEl>
                                          <p:spTgt spid="3686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6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6866">
                                            <p:txEl>
                                              <p:pRg st="3" end="3"/>
                                            </p:txEl>
                                          </p:spTgt>
                                        </p:tgtEl>
                                        <p:attrNameLst>
                                          <p:attrName>style.visibility</p:attrName>
                                        </p:attrNameLst>
                                      </p:cBhvr>
                                      <p:to>
                                        <p:strVal val="visible"/>
                                      </p:to>
                                    </p:set>
                                    <p:anim calcmode="lin" valueType="num">
                                      <p:cBhvr additive="base">
                                        <p:cTn id="25" dur="500" fill="hold"/>
                                        <p:tgtEl>
                                          <p:spTgt spid="3686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86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p:cNvSpPr>
          <p:nvPr>
            <p:ph type="title"/>
          </p:nvPr>
        </p:nvSpPr>
        <p:spPr>
          <a:xfrm>
            <a:off x="500063" y="714375"/>
            <a:ext cx="5357812" cy="500063"/>
          </a:xfrm>
        </p:spPr>
        <p:txBody>
          <a:bodyPr/>
          <a:lstStyle/>
          <a:p>
            <a:r>
              <a:rPr lang="en-US" altLang="zh-CN" sz="2400" dirty="0" smtClean="0">
                <a:solidFill>
                  <a:schemeClr val="tx1"/>
                </a:solidFill>
                <a:latin typeface="华文细黑" panose="02010600040101010101" charset="-122"/>
                <a:ea typeface="华文细黑" panose="02010600040101010101" charset="-122"/>
                <a:cs typeface="华文细黑" panose="02010600040101010101" charset="-122"/>
                <a:sym typeface="+mn-ea"/>
              </a:rPr>
              <a:t>where 可以修饰抽象的地点名词：</a:t>
            </a:r>
            <a:endParaRPr lang="en-US" altLang="zh-CN" sz="2400" dirty="0" smtClean="0">
              <a:solidFill>
                <a:schemeClr val="tx1"/>
              </a:solidFill>
              <a:latin typeface="华文细黑" panose="02010600040101010101" charset="-122"/>
              <a:ea typeface="华文细黑" panose="02010600040101010101" charset="-122"/>
              <a:cs typeface="华文细黑" panose="02010600040101010101" charset="-122"/>
              <a:sym typeface="+mn-ea"/>
            </a:endParaRPr>
          </a:p>
        </p:txBody>
      </p:sp>
      <p:sp>
        <p:nvSpPr>
          <p:cNvPr id="9218" name="内容占位符 2"/>
          <p:cNvSpPr>
            <a:spLocks noGrp="1"/>
          </p:cNvSpPr>
          <p:nvPr>
            <p:ph idx="1"/>
          </p:nvPr>
        </p:nvSpPr>
        <p:spPr>
          <a:xfrm>
            <a:off x="285720" y="1285866"/>
            <a:ext cx="8599200" cy="3801754"/>
          </a:xfrm>
        </p:spPr>
        <p:txBody>
          <a:bodyPr/>
          <a:lstStyle/>
          <a:p>
            <a:pPr marL="0" lvl="8">
              <a:lnSpc>
                <a:spcPct val="150000"/>
              </a:lnSpc>
              <a:buFont typeface="Wingdings" panose="05000000000000000000" pitchFamily="2" charset="2"/>
              <a:buChar char="Ø"/>
            </a:pPr>
            <a:r>
              <a:rPr lang="en-US" altLang="zh-CN" sz="1600" dirty="0" smtClean="0">
                <a:latin typeface="华文细黑" panose="02010600040101010101" charset="-122"/>
                <a:ea typeface="华文细黑" panose="02010600040101010101" charset="-122"/>
                <a:cs typeface="华文细黑" panose="02010600040101010101" charset="-122"/>
                <a:sym typeface="+mn-ea"/>
              </a:rPr>
              <a:t>profession</a:t>
            </a:r>
            <a:r>
              <a:rPr lang="zh-CN" altLang="en-US" sz="1600" dirty="0" smtClean="0">
                <a:latin typeface="华文细黑" panose="02010600040101010101" charset="-122"/>
                <a:ea typeface="华文细黑" panose="02010600040101010101" charset="-122"/>
                <a:cs typeface="华文细黑" panose="02010600040101010101" charset="-122"/>
                <a:sym typeface="+mn-ea"/>
              </a:rPr>
              <a:t>；</a:t>
            </a:r>
            <a:r>
              <a:rPr lang="en-US" altLang="zh-CN" sz="1600" dirty="0" smtClean="0">
                <a:latin typeface="华文细黑" panose="02010600040101010101" charset="-122"/>
                <a:ea typeface="华文细黑" panose="02010600040101010101" charset="-122"/>
                <a:cs typeface="华文细黑" panose="02010600040101010101" charset="-122"/>
                <a:sym typeface="+mn-ea"/>
              </a:rPr>
              <a:t>situation; field; case; job; conversation; industry; point</a:t>
            </a:r>
            <a:r>
              <a:rPr lang="zh-CN" altLang="en-US" sz="1600" dirty="0" smtClean="0">
                <a:latin typeface="华文细黑" panose="02010600040101010101" charset="-122"/>
                <a:ea typeface="华文细黑" panose="02010600040101010101" charset="-122"/>
                <a:cs typeface="华文细黑" panose="02010600040101010101" charset="-122"/>
                <a:sym typeface="+mn-ea"/>
              </a:rPr>
              <a:t>；</a:t>
            </a:r>
            <a:endParaRPr lang="en-US" altLang="zh-CN" sz="1600" dirty="0" smtClean="0">
              <a:solidFill>
                <a:schemeClr val="tx1"/>
              </a:solidFill>
              <a:latin typeface="华文细黑" panose="02010600040101010101" charset="-122"/>
              <a:ea typeface="华文细黑" panose="02010600040101010101" charset="-122"/>
              <a:cs typeface="华文细黑" panose="02010600040101010101" charset="-122"/>
            </a:endParaRPr>
          </a:p>
          <a:p>
            <a:pPr>
              <a:lnSpc>
                <a:spcPct val="150000"/>
              </a:lnSpc>
              <a:buFont typeface="Wingdings" panose="05000000000000000000" pitchFamily="2" charset="2"/>
              <a:buChar char="Ø"/>
            </a:pPr>
            <a:r>
              <a:rPr lang="zh-CN" altLang="en-US" sz="1600" dirty="0" smtClean="0">
                <a:solidFill>
                  <a:schemeClr val="tx1"/>
                </a:solidFill>
                <a:latin typeface="华文细黑" panose="02010600040101010101" charset="-122"/>
                <a:ea typeface="华文细黑" panose="02010600040101010101" charset="-122"/>
                <a:cs typeface="华文细黑" panose="02010600040101010101" charset="-122"/>
              </a:rPr>
              <a:t>毕业生应该找到他们可以充分发挥他们潜能的职业。</a:t>
            </a:r>
            <a:endParaRPr lang="en-US" altLang="zh-CN" sz="1600" dirty="0" smtClean="0">
              <a:solidFill>
                <a:schemeClr val="tx1"/>
              </a:solidFill>
              <a:latin typeface="华文细黑" panose="02010600040101010101" charset="-122"/>
              <a:ea typeface="华文细黑" panose="02010600040101010101" charset="-122"/>
              <a:cs typeface="华文细黑" panose="02010600040101010101" charset="-122"/>
            </a:endParaRPr>
          </a:p>
          <a:p>
            <a:pPr marL="342900" lvl="8" indent="-342900" algn="l" fontAlgn="base">
              <a:lnSpc>
                <a:spcPct val="150000"/>
              </a:lnSpc>
              <a:spcBef>
                <a:spcPct val="20000"/>
              </a:spcBef>
              <a:buFont typeface="Wingdings" panose="05000000000000000000" pitchFamily="2" charset="2"/>
              <a:buChar char="Ø"/>
            </a:pPr>
            <a:r>
              <a:rPr lang="en-US" altLang="zh-CN" sz="1600" dirty="0" smtClean="0">
                <a:latin typeface="华文细黑" panose="02010600040101010101" charset="-122"/>
                <a:ea typeface="华文细黑" panose="02010600040101010101" charset="-122"/>
                <a:cs typeface="华文细黑" panose="02010600040101010101" charset="-122"/>
                <a:sym typeface="+mn-ea"/>
              </a:rPr>
              <a:t> Graduates should find the profession where they can fully develop their potential.</a:t>
            </a:r>
            <a:endParaRPr lang="en-US" altLang="zh-CN" sz="1600" dirty="0" smtClean="0">
              <a:latin typeface="华文细黑" panose="02010600040101010101" charset="-122"/>
              <a:ea typeface="华文细黑" panose="02010600040101010101" charset="-122"/>
              <a:cs typeface="华文细黑" panose="02010600040101010101" charset="-122"/>
              <a:sym typeface="+mn-ea"/>
            </a:endParaRPr>
          </a:p>
          <a:p>
            <a:pPr marL="342900" lvl="8" indent="-342900" algn="l" fontAlgn="base">
              <a:lnSpc>
                <a:spcPct val="150000"/>
              </a:lnSpc>
              <a:spcBef>
                <a:spcPct val="20000"/>
              </a:spcBef>
              <a:buFont typeface="Wingdings" panose="05000000000000000000" pitchFamily="2" charset="2"/>
              <a:buChar char="Ø"/>
            </a:pPr>
            <a:r>
              <a:rPr lang="zh-CN" altLang="en-US" sz="1600" dirty="0" smtClean="0">
                <a:latin typeface="华文细黑" panose="02010600040101010101" charset="-122"/>
                <a:ea typeface="华文细黑" panose="02010600040101010101" charset="-122"/>
                <a:cs typeface="华文细黑" panose="02010600040101010101" charset="-122"/>
                <a:sym typeface="+mn-ea"/>
              </a:rPr>
              <a:t>我喜欢那种没有人觉得尴尬的聊天。</a:t>
            </a:r>
            <a:endParaRPr lang="en-US" altLang="zh-CN" sz="1600" dirty="0" smtClean="0">
              <a:latin typeface="华文细黑" panose="02010600040101010101" charset="-122"/>
              <a:ea typeface="华文细黑" panose="02010600040101010101" charset="-122"/>
              <a:cs typeface="华文细黑" panose="02010600040101010101" charset="-122"/>
              <a:sym typeface="+mn-ea"/>
            </a:endParaRPr>
          </a:p>
          <a:p>
            <a:pPr marL="342900" lvl="8" indent="-342900" algn="l" fontAlgn="base">
              <a:lnSpc>
                <a:spcPct val="150000"/>
              </a:lnSpc>
              <a:spcBef>
                <a:spcPct val="20000"/>
              </a:spcBef>
              <a:buFont typeface="Wingdings" panose="05000000000000000000" pitchFamily="2" charset="2"/>
              <a:buChar char="Ø"/>
            </a:pPr>
            <a:r>
              <a:rPr lang="en-US" altLang="zh-CN" sz="1600" dirty="0" smtClean="0">
                <a:latin typeface="华文细黑" panose="02010600040101010101" charset="-122"/>
                <a:ea typeface="华文细黑" panose="02010600040101010101" charset="-122"/>
                <a:cs typeface="华文细黑" panose="02010600040101010101" charset="-122"/>
                <a:sym typeface="+mn-ea"/>
              </a:rPr>
              <a:t>I like the conversation where nobody feels embarrassed.</a:t>
            </a:r>
            <a:endParaRPr lang="en-US" altLang="zh-CN" sz="1600" dirty="0" smtClean="0">
              <a:latin typeface="华文细黑" panose="02010600040101010101" charset="-122"/>
              <a:ea typeface="华文细黑" panose="02010600040101010101" charset="-122"/>
              <a:cs typeface="华文细黑" panose="02010600040101010101" charset="-122"/>
              <a:sym typeface="+mn-ea"/>
            </a:endParaRPr>
          </a:p>
          <a:p>
            <a:pPr marL="342900" lvl="8" indent="-342900" algn="l" fontAlgn="base">
              <a:lnSpc>
                <a:spcPct val="150000"/>
              </a:lnSpc>
              <a:spcBef>
                <a:spcPct val="20000"/>
              </a:spcBef>
              <a:buFont typeface="Wingdings" panose="05000000000000000000" pitchFamily="2" charset="2"/>
              <a:buChar char="Ø"/>
            </a:pPr>
            <a:r>
              <a:rPr lang="zh-CN" altLang="en-US" sz="1600" dirty="0" smtClean="0">
                <a:latin typeface="华文细黑" panose="02010600040101010101" charset="-122"/>
                <a:ea typeface="华文细黑" panose="02010600040101010101" charset="-122"/>
                <a:cs typeface="华文细黑" panose="02010600040101010101" charset="-122"/>
                <a:sym typeface="+mn-ea"/>
              </a:rPr>
              <a:t>政府应该投资在大多数纳税人可以收获利益的领域。</a:t>
            </a:r>
            <a:endParaRPr lang="en-US" altLang="zh-CN" sz="1600" dirty="0" smtClean="0">
              <a:latin typeface="华文细黑" panose="02010600040101010101" charset="-122"/>
              <a:ea typeface="华文细黑" panose="02010600040101010101" charset="-122"/>
              <a:cs typeface="华文细黑" panose="02010600040101010101" charset="-122"/>
              <a:sym typeface="+mn-ea"/>
            </a:endParaRPr>
          </a:p>
          <a:p>
            <a:pPr marL="342900" lvl="8" indent="-342900" algn="l" fontAlgn="base">
              <a:lnSpc>
                <a:spcPct val="150000"/>
              </a:lnSpc>
              <a:spcBef>
                <a:spcPct val="20000"/>
              </a:spcBef>
              <a:buFont typeface="Wingdings" panose="05000000000000000000" pitchFamily="2" charset="2"/>
              <a:buChar char="Ø"/>
            </a:pPr>
            <a:r>
              <a:rPr lang="en-US" altLang="zh-CN" sz="1600" dirty="0" smtClean="0">
                <a:latin typeface="华文细黑" panose="02010600040101010101" charset="-122"/>
                <a:ea typeface="华文细黑" panose="02010600040101010101" charset="-122"/>
                <a:cs typeface="华文细黑" panose="02010600040101010101" charset="-122"/>
                <a:sym typeface="+mn-ea"/>
              </a:rPr>
              <a:t>The government should invest in the fields where most taxpayers can reap benefits.</a:t>
            </a:r>
            <a:endParaRPr lang="en-US" altLang="zh-CN" sz="1600" dirty="0" smtClean="0">
              <a:latin typeface="华文细黑" panose="02010600040101010101" charset="-122"/>
              <a:ea typeface="华文细黑" panose="02010600040101010101" charset="-122"/>
              <a:cs typeface="华文细黑" panose="02010600040101010101" charset="-122"/>
              <a:sym typeface="+mn-ea"/>
            </a:endParaRPr>
          </a:p>
          <a:p>
            <a:pPr marL="342900" lvl="8" indent="-342900" algn="l" fontAlgn="base">
              <a:lnSpc>
                <a:spcPct val="150000"/>
              </a:lnSpc>
              <a:spcBef>
                <a:spcPct val="20000"/>
              </a:spcBef>
              <a:buFont typeface="Wingdings" panose="05000000000000000000" pitchFamily="2" charset="2"/>
              <a:buChar char="Ø"/>
            </a:pPr>
            <a:r>
              <a:rPr lang="zh-CN" altLang="en-US" sz="1600" dirty="0" smtClean="0">
                <a:latin typeface="华文细黑" panose="02010600040101010101" charset="-122"/>
                <a:ea typeface="华文细黑" panose="02010600040101010101" charset="-122"/>
                <a:cs typeface="华文细黑" panose="02010600040101010101" charset="-122"/>
                <a:sym typeface="+mn-ea"/>
              </a:rPr>
              <a:t>这儿有很多丈夫帮助他们妻子做家务的案例在上海。</a:t>
            </a:r>
            <a:endParaRPr lang="en-US" altLang="zh-CN" sz="1600" dirty="0" smtClean="0">
              <a:latin typeface="华文细黑" panose="02010600040101010101" charset="-122"/>
              <a:ea typeface="华文细黑" panose="02010600040101010101" charset="-122"/>
              <a:cs typeface="华文细黑" panose="02010600040101010101" charset="-122"/>
              <a:sym typeface="+mn-ea"/>
            </a:endParaRPr>
          </a:p>
          <a:p>
            <a:pPr marL="342900" lvl="8" indent="-342900" algn="l" fontAlgn="base">
              <a:lnSpc>
                <a:spcPct val="150000"/>
              </a:lnSpc>
              <a:spcBef>
                <a:spcPct val="20000"/>
              </a:spcBef>
              <a:buFont typeface="Wingdings" panose="05000000000000000000" pitchFamily="2" charset="2"/>
              <a:buChar char="Ø"/>
            </a:pPr>
            <a:r>
              <a:rPr lang="en-US" altLang="zh-CN" sz="1600" dirty="0" smtClean="0">
                <a:latin typeface="华文细黑" panose="02010600040101010101" charset="-122"/>
                <a:ea typeface="华文细黑" panose="02010600040101010101" charset="-122"/>
                <a:cs typeface="华文细黑" panose="02010600040101010101" charset="-122"/>
                <a:sym typeface="+mn-ea"/>
              </a:rPr>
              <a:t>There are many cases where husbands help wives to do housework in SH.</a:t>
            </a:r>
            <a:endParaRPr lang="en-US" altLang="zh-CN" dirty="0" smtClean="0">
              <a:solidFill>
                <a:schemeClr val="tx1"/>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endParaRPr lang="zh-CN" altLang="en-US" dirty="0" smtClean="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 calcmode="lin" valueType="num">
                                      <p:cBhvr additive="base">
                                        <p:cTn id="7" dur="500" fill="hold"/>
                                        <p:tgtEl>
                                          <p:spTgt spid="92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18">
                                            <p:txEl>
                                              <p:pRg st="1" end="1"/>
                                            </p:txEl>
                                          </p:spTgt>
                                        </p:tgtEl>
                                        <p:attrNameLst>
                                          <p:attrName>style.visibility</p:attrName>
                                        </p:attrNameLst>
                                      </p:cBhvr>
                                      <p:to>
                                        <p:strVal val="visible"/>
                                      </p:to>
                                    </p:set>
                                    <p:anim calcmode="lin" valueType="num">
                                      <p:cBhvr additive="base">
                                        <p:cTn id="13" dur="500" fill="hold"/>
                                        <p:tgtEl>
                                          <p:spTgt spid="921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18">
                                            <p:txEl>
                                              <p:pRg st="2" end="2"/>
                                            </p:txEl>
                                          </p:spTgt>
                                        </p:tgtEl>
                                        <p:attrNameLst>
                                          <p:attrName>style.visibility</p:attrName>
                                        </p:attrNameLst>
                                      </p:cBhvr>
                                      <p:to>
                                        <p:strVal val="visible"/>
                                      </p:to>
                                    </p:set>
                                    <p:anim calcmode="lin" valueType="num">
                                      <p:cBhvr additive="base">
                                        <p:cTn id="19" dur="500" fill="hold"/>
                                        <p:tgtEl>
                                          <p:spTgt spid="92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218">
                                            <p:txEl>
                                              <p:pRg st="3" end="3"/>
                                            </p:txEl>
                                          </p:spTgt>
                                        </p:tgtEl>
                                        <p:attrNameLst>
                                          <p:attrName>style.visibility</p:attrName>
                                        </p:attrNameLst>
                                      </p:cBhvr>
                                      <p:to>
                                        <p:strVal val="visible"/>
                                      </p:to>
                                    </p:set>
                                    <p:anim calcmode="lin" valueType="num">
                                      <p:cBhvr additive="base">
                                        <p:cTn id="25" dur="500" fill="hold"/>
                                        <p:tgtEl>
                                          <p:spTgt spid="921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1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218">
                                            <p:txEl>
                                              <p:pRg st="4" end="4"/>
                                            </p:txEl>
                                          </p:spTgt>
                                        </p:tgtEl>
                                        <p:attrNameLst>
                                          <p:attrName>style.visibility</p:attrName>
                                        </p:attrNameLst>
                                      </p:cBhvr>
                                      <p:to>
                                        <p:strVal val="visible"/>
                                      </p:to>
                                    </p:set>
                                    <p:anim calcmode="lin" valueType="num">
                                      <p:cBhvr additive="base">
                                        <p:cTn id="31" dur="500" fill="hold"/>
                                        <p:tgtEl>
                                          <p:spTgt spid="921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21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218">
                                            <p:txEl>
                                              <p:pRg st="5" end="5"/>
                                            </p:txEl>
                                          </p:spTgt>
                                        </p:tgtEl>
                                        <p:attrNameLst>
                                          <p:attrName>style.visibility</p:attrName>
                                        </p:attrNameLst>
                                      </p:cBhvr>
                                      <p:to>
                                        <p:strVal val="visible"/>
                                      </p:to>
                                    </p:set>
                                    <p:anim calcmode="lin" valueType="num">
                                      <p:cBhvr additive="base">
                                        <p:cTn id="37" dur="500" fill="hold"/>
                                        <p:tgtEl>
                                          <p:spTgt spid="921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21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218">
                                            <p:txEl>
                                              <p:pRg st="6" end="6"/>
                                            </p:txEl>
                                          </p:spTgt>
                                        </p:tgtEl>
                                        <p:attrNameLst>
                                          <p:attrName>style.visibility</p:attrName>
                                        </p:attrNameLst>
                                      </p:cBhvr>
                                      <p:to>
                                        <p:strVal val="visible"/>
                                      </p:to>
                                    </p:set>
                                    <p:anim calcmode="lin" valueType="num">
                                      <p:cBhvr additive="base">
                                        <p:cTn id="43" dur="500" fill="hold"/>
                                        <p:tgtEl>
                                          <p:spTgt spid="921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21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218">
                                            <p:txEl>
                                              <p:pRg st="7" end="7"/>
                                            </p:txEl>
                                          </p:spTgt>
                                        </p:tgtEl>
                                        <p:attrNameLst>
                                          <p:attrName>style.visibility</p:attrName>
                                        </p:attrNameLst>
                                      </p:cBhvr>
                                      <p:to>
                                        <p:strVal val="visible"/>
                                      </p:to>
                                    </p:set>
                                    <p:anim calcmode="lin" valueType="num">
                                      <p:cBhvr additive="base">
                                        <p:cTn id="49" dur="500" fill="hold"/>
                                        <p:tgtEl>
                                          <p:spTgt spid="9218">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21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9218">
                                            <p:txEl>
                                              <p:pRg st="8" end="8"/>
                                            </p:txEl>
                                          </p:spTgt>
                                        </p:tgtEl>
                                        <p:attrNameLst>
                                          <p:attrName>style.visibility</p:attrName>
                                        </p:attrNameLst>
                                      </p:cBhvr>
                                      <p:to>
                                        <p:strVal val="visible"/>
                                      </p:to>
                                    </p:set>
                                    <p:anim calcmode="lin" valueType="num">
                                      <p:cBhvr additive="base">
                                        <p:cTn id="55" dur="500" fill="hold"/>
                                        <p:tgtEl>
                                          <p:spTgt spid="9218">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21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8930" y="714375"/>
            <a:ext cx="5528945" cy="500380"/>
          </a:xfrm>
        </p:spPr>
        <p:txBody>
          <a:bodyPr/>
          <a:lstStyle/>
          <a:p>
            <a:r>
              <a:rPr lang="en-US" altLang="zh-CN">
                <a:solidFill>
                  <a:schemeClr val="tx1"/>
                </a:solidFill>
                <a:latin typeface="Chalkboard Regular" panose="03050602040202020205" charset="0"/>
                <a:cs typeface="Chalkboard Regular" panose="03050602040202020205" charset="0"/>
              </a:rPr>
              <a:t>That; which; who</a:t>
            </a:r>
            <a:endParaRPr lang="zh-CN" altLang="en-US">
              <a:solidFill>
                <a:schemeClr val="tx1"/>
              </a:solidFill>
              <a:latin typeface="Chalkboard Regular" panose="03050602040202020205" charset="0"/>
              <a:cs typeface="Chalkboard Regular" panose="03050602040202020205" charset="0"/>
            </a:endParaRPr>
          </a:p>
        </p:txBody>
      </p:sp>
      <p:sp>
        <p:nvSpPr>
          <p:cNvPr id="4" name="内容占位符 2"/>
          <p:cNvSpPr>
            <a:spLocks noGrp="1"/>
          </p:cNvSpPr>
          <p:nvPr/>
        </p:nvSpPr>
        <p:spPr>
          <a:xfrm>
            <a:off x="280670" y="1442085"/>
            <a:ext cx="8406130" cy="329057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lang="zh-CN" altLang="en-US" sz="2800" kern="1200" baseline="0" dirty="0">
                <a:solidFill>
                  <a:schemeClr val="bg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bg1"/>
                </a:solidFill>
                <a:latin typeface="+mn-lt"/>
                <a:ea typeface="+mn-ea"/>
                <a:cs typeface="微软雅黑" panose="020B0503020204020204" charset="-122"/>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bg1"/>
                </a:solidFill>
                <a:latin typeface="+mn-lt"/>
                <a:ea typeface="+mn-ea"/>
                <a:cs typeface="微软雅黑" panose="020B0503020204020204" charset="-122"/>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b="1">
                <a:solidFill>
                  <a:srgbClr val="0070C0"/>
                </a:solidFill>
              </a:rPr>
              <a:t>I like </a:t>
            </a:r>
            <a:r>
              <a:rPr lang="en-US" altLang="zh-CN" sz="2000" b="1" u="sng">
                <a:solidFill>
                  <a:srgbClr val="0070C0"/>
                </a:solidFill>
              </a:rPr>
              <a:t>the girl</a:t>
            </a:r>
            <a:r>
              <a:rPr lang="en-US" altLang="zh-CN" sz="2000">
                <a:solidFill>
                  <a:schemeClr val="tx1"/>
                </a:solidFill>
              </a:rPr>
              <a:t> </a:t>
            </a:r>
            <a:r>
              <a:rPr lang="en-US" altLang="zh-CN" sz="2000" u="sng">
                <a:solidFill>
                  <a:schemeClr val="tx1"/>
                </a:solidFill>
              </a:rPr>
              <a:t>who </a:t>
            </a:r>
            <a:r>
              <a:rPr lang="en-US" altLang="zh-CN" sz="2000" b="1">
                <a:solidFill>
                  <a:srgbClr val="FF0000"/>
                </a:solidFill>
              </a:rPr>
              <a:t>works in the factory</a:t>
            </a:r>
            <a:r>
              <a:rPr lang="en-US" altLang="zh-CN" sz="2000">
                <a:solidFill>
                  <a:schemeClr val="tx1"/>
                </a:solidFill>
              </a:rPr>
              <a:t>.</a:t>
            </a:r>
            <a:endParaRPr lang="en-US" altLang="zh-CN" sz="2000">
              <a:solidFill>
                <a:schemeClr val="tx1"/>
              </a:solidFill>
            </a:endParaRPr>
          </a:p>
          <a:p>
            <a:r>
              <a:rPr lang="en-US" altLang="zh-CN" sz="2000">
                <a:solidFill>
                  <a:schemeClr val="tx1"/>
                </a:solidFill>
              </a:rPr>
              <a:t>the girl= who </a:t>
            </a:r>
            <a:endParaRPr lang="en-US" altLang="zh-CN" sz="2000">
              <a:solidFill>
                <a:schemeClr val="tx1"/>
              </a:solidFill>
            </a:endParaRPr>
          </a:p>
          <a:p>
            <a:r>
              <a:rPr lang="en-US" altLang="zh-CN" sz="2000" b="1">
                <a:solidFill>
                  <a:srgbClr val="0070C0"/>
                </a:solidFill>
              </a:rPr>
              <a:t>I could not ignore </a:t>
            </a:r>
            <a:r>
              <a:rPr lang="en-US" altLang="zh-CN" sz="2000" b="1" u="sng">
                <a:solidFill>
                  <a:srgbClr val="0070C0"/>
                </a:solidFill>
              </a:rPr>
              <a:t>the dog</a:t>
            </a:r>
            <a:r>
              <a:rPr lang="en-US" altLang="zh-CN" sz="2000">
                <a:solidFill>
                  <a:schemeClr val="tx1"/>
                </a:solidFill>
              </a:rPr>
              <a:t> </a:t>
            </a:r>
            <a:r>
              <a:rPr lang="en-US" altLang="zh-CN" sz="2000" u="sng">
                <a:solidFill>
                  <a:schemeClr val="tx1"/>
                </a:solidFill>
              </a:rPr>
              <a:t>that</a:t>
            </a:r>
            <a:r>
              <a:rPr lang="en-US" altLang="zh-CN" sz="2000">
                <a:solidFill>
                  <a:schemeClr val="tx1"/>
                </a:solidFill>
              </a:rPr>
              <a:t> </a:t>
            </a:r>
            <a:r>
              <a:rPr lang="en-US" altLang="zh-CN" sz="2000" b="1">
                <a:solidFill>
                  <a:srgbClr val="FF0000"/>
                </a:solidFill>
              </a:rPr>
              <a:t>had been barking all night</a:t>
            </a:r>
            <a:r>
              <a:rPr lang="en-US" altLang="zh-CN" sz="2000">
                <a:solidFill>
                  <a:schemeClr val="tx1"/>
                </a:solidFill>
              </a:rPr>
              <a:t>.</a:t>
            </a:r>
            <a:endParaRPr lang="en-US" altLang="zh-CN" sz="2000">
              <a:solidFill>
                <a:schemeClr val="tx1"/>
              </a:solidFill>
            </a:endParaRPr>
          </a:p>
          <a:p>
            <a:r>
              <a:rPr lang="en-US" altLang="zh-CN" sz="2000">
                <a:solidFill>
                  <a:schemeClr val="tx1"/>
                </a:solidFill>
              </a:rPr>
              <a:t>the dog=that</a:t>
            </a:r>
            <a:endParaRPr lang="en-US" altLang="zh-CN" sz="2000">
              <a:solidFill>
                <a:schemeClr val="tx1"/>
              </a:solidFill>
            </a:endParaRPr>
          </a:p>
          <a:p>
            <a:r>
              <a:rPr lang="en-US" altLang="zh-CN" sz="2000" b="1">
                <a:solidFill>
                  <a:srgbClr val="0070C0"/>
                </a:solidFill>
              </a:rPr>
              <a:t>I would like to borrow </a:t>
            </a:r>
            <a:r>
              <a:rPr lang="en-US" altLang="zh-CN" sz="2000" b="1" u="sng">
                <a:solidFill>
                  <a:srgbClr val="0070C0"/>
                </a:solidFill>
              </a:rPr>
              <a:t>the book</a:t>
            </a:r>
            <a:r>
              <a:rPr lang="en-US" altLang="zh-CN" sz="2000">
                <a:solidFill>
                  <a:schemeClr val="tx1"/>
                </a:solidFill>
              </a:rPr>
              <a:t> </a:t>
            </a:r>
            <a:r>
              <a:rPr lang="en-US" altLang="zh-CN" sz="2000" u="sng">
                <a:solidFill>
                  <a:schemeClr val="tx1"/>
                </a:solidFill>
              </a:rPr>
              <a:t>which</a:t>
            </a:r>
            <a:r>
              <a:rPr lang="en-US" altLang="zh-CN" sz="2000">
                <a:solidFill>
                  <a:schemeClr val="tx1"/>
                </a:solidFill>
              </a:rPr>
              <a:t> </a:t>
            </a:r>
            <a:r>
              <a:rPr lang="en-US" altLang="zh-CN" sz="2000" b="1">
                <a:solidFill>
                  <a:srgbClr val="FF0000"/>
                </a:solidFill>
              </a:rPr>
              <a:t>you recommended yesterday</a:t>
            </a:r>
            <a:r>
              <a:rPr lang="en-US" altLang="zh-CN" sz="2000">
                <a:solidFill>
                  <a:schemeClr val="tx1"/>
                </a:solidFill>
              </a:rPr>
              <a:t>.</a:t>
            </a:r>
            <a:endParaRPr lang="en-US" altLang="zh-CN" sz="2000">
              <a:solidFill>
                <a:schemeClr val="tx1"/>
              </a:solidFill>
            </a:endParaRPr>
          </a:p>
          <a:p>
            <a:r>
              <a:rPr lang="en-US" altLang="zh-CN" sz="2000">
                <a:solidFill>
                  <a:schemeClr val="tx1"/>
                </a:solidFill>
              </a:rPr>
              <a:t>the book =which </a:t>
            </a:r>
            <a:endParaRPr lang="en-US" altLang="zh-CN" sz="2000">
              <a:solidFill>
                <a:schemeClr val="tx1"/>
              </a:solidFill>
            </a:endParaRPr>
          </a:p>
          <a:p>
            <a:r>
              <a:rPr lang="en-US" altLang="zh-CN" sz="2000">
                <a:solidFill>
                  <a:schemeClr val="tx1"/>
                </a:solidFill>
              </a:rPr>
              <a:t>that, which, who </a:t>
            </a:r>
            <a:r>
              <a:rPr sz="2000">
                <a:solidFill>
                  <a:schemeClr val="tx1"/>
                </a:solidFill>
              </a:rPr>
              <a:t>引导定语从句指代前面的名词，后面</a:t>
            </a:r>
            <a:r>
              <a:rPr lang="en-US" altLang="zh-CN" sz="2000">
                <a:solidFill>
                  <a:schemeClr val="tx1"/>
                </a:solidFill>
              </a:rPr>
              <a:t>+</a:t>
            </a:r>
            <a:r>
              <a:rPr sz="2000">
                <a:solidFill>
                  <a:schemeClr val="tx1"/>
                </a:solidFill>
              </a:rPr>
              <a:t>不完整句子，它们与后面的部分共同构成从句。</a:t>
            </a:r>
            <a:endParaRPr sz="2000">
              <a:solidFill>
                <a:schemeClr val="tx1"/>
              </a:solidFill>
            </a:endParaRPr>
          </a:p>
          <a:p>
            <a:endParaRPr lang="en-US" altLang="zh-CN" sz="20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7975" y="481965"/>
            <a:ext cx="5574665" cy="584835"/>
          </a:xfrm>
        </p:spPr>
        <p:txBody>
          <a:bodyPr/>
          <a:lstStyle/>
          <a:p>
            <a:pPr algn="l"/>
            <a:r>
              <a:rPr lang="en-US" altLang="zh-CN">
                <a:solidFill>
                  <a:schemeClr val="tx1"/>
                </a:solidFill>
                <a:latin typeface="Chalkboard Regular" panose="03050602040202020205" charset="0"/>
                <a:cs typeface="Chalkboard Regular" panose="03050602040202020205" charset="0"/>
                <a:sym typeface="+mn-ea"/>
              </a:rPr>
              <a:t>When Where Why </a:t>
            </a:r>
            <a:endParaRPr lang="en-US" altLang="zh-CN">
              <a:solidFill>
                <a:schemeClr val="tx1"/>
              </a:solidFill>
              <a:latin typeface="Chalkboard Regular" panose="03050602040202020205" charset="0"/>
              <a:cs typeface="Chalkboard Regular" panose="03050602040202020205" charset="0"/>
            </a:endParaRPr>
          </a:p>
        </p:txBody>
      </p:sp>
      <p:sp>
        <p:nvSpPr>
          <p:cNvPr id="3" name="内容占位符 2"/>
          <p:cNvSpPr>
            <a:spLocks noGrp="1"/>
          </p:cNvSpPr>
          <p:nvPr>
            <p:ph idx="1"/>
          </p:nvPr>
        </p:nvSpPr>
        <p:spPr>
          <a:xfrm>
            <a:off x="259715" y="1205230"/>
            <a:ext cx="8624570" cy="3658870"/>
          </a:xfrm>
        </p:spPr>
        <p:txBody>
          <a:bodyPr/>
          <a:lstStyle/>
          <a:p>
            <a:r>
              <a:rPr lang="en-US" altLang="zh-CN" sz="2000" b="1" dirty="0">
                <a:solidFill>
                  <a:srgbClr val="0070C0"/>
                </a:solidFill>
                <a:sym typeface="+mn-ea"/>
              </a:rPr>
              <a:t>I cannot forget</a:t>
            </a:r>
            <a:r>
              <a:rPr lang="en-US" altLang="zh-CN" sz="2000" b="1" u="sng" dirty="0">
                <a:solidFill>
                  <a:srgbClr val="0070C0"/>
                </a:solidFill>
                <a:sym typeface="+mn-ea"/>
              </a:rPr>
              <a:t> the day</a:t>
            </a:r>
            <a:r>
              <a:rPr lang="en-US" altLang="zh-CN" sz="2000" b="1" dirty="0">
                <a:solidFill>
                  <a:schemeClr val="tx1"/>
                </a:solidFill>
                <a:sym typeface="+mn-ea"/>
              </a:rPr>
              <a:t> </a:t>
            </a:r>
            <a:r>
              <a:rPr lang="en-US" altLang="zh-CN" sz="2000" b="1" u="sng" dirty="0">
                <a:solidFill>
                  <a:schemeClr val="tx1"/>
                </a:solidFill>
                <a:sym typeface="+mn-ea"/>
              </a:rPr>
              <a:t>when</a:t>
            </a:r>
            <a:r>
              <a:rPr lang="en-US" altLang="zh-CN" sz="2000" b="1" dirty="0">
                <a:solidFill>
                  <a:schemeClr val="tx1"/>
                </a:solidFill>
                <a:sym typeface="+mn-ea"/>
              </a:rPr>
              <a:t> </a:t>
            </a:r>
            <a:r>
              <a:rPr lang="en-US" altLang="zh-CN" sz="2000" b="1" dirty="0">
                <a:solidFill>
                  <a:srgbClr val="FF0000"/>
                </a:solidFill>
                <a:sym typeface="+mn-ea"/>
              </a:rPr>
              <a:t>I met you the first time</a:t>
            </a:r>
            <a:r>
              <a:rPr lang="en-US" altLang="zh-CN" sz="2000" b="1" dirty="0">
                <a:solidFill>
                  <a:schemeClr val="tx1"/>
                </a:solidFill>
                <a:sym typeface="+mn-ea"/>
              </a:rPr>
              <a:t>.</a:t>
            </a:r>
            <a:endParaRPr lang="en-US" altLang="zh-CN" sz="2000" b="1" dirty="0">
              <a:solidFill>
                <a:schemeClr val="tx1"/>
              </a:solidFill>
              <a:sym typeface="+mn-ea"/>
            </a:endParaRPr>
          </a:p>
          <a:p>
            <a:r>
              <a:rPr lang="en-US" altLang="zh-CN" sz="2000" b="1" dirty="0">
                <a:solidFill>
                  <a:srgbClr val="0070C0"/>
                </a:solidFill>
                <a:sym typeface="+mn-ea"/>
              </a:rPr>
              <a:t>The life cycle of the silkworm begins</a:t>
            </a:r>
            <a:r>
              <a:rPr lang="en-US" altLang="zh-CN" sz="2000" b="1" dirty="0">
                <a:solidFill>
                  <a:schemeClr val="tx1"/>
                </a:solidFill>
                <a:sym typeface="+mn-ea"/>
              </a:rPr>
              <a:t> </a:t>
            </a:r>
            <a:r>
              <a:rPr lang="en-US" altLang="zh-CN" sz="2000" b="1" u="sng" dirty="0">
                <a:solidFill>
                  <a:schemeClr val="tx1"/>
                </a:solidFill>
                <a:sym typeface="+mn-ea"/>
              </a:rPr>
              <a:t>when</a:t>
            </a:r>
            <a:r>
              <a:rPr lang="en-US" altLang="zh-CN" sz="2000" b="1" dirty="0">
                <a:solidFill>
                  <a:schemeClr val="tx1"/>
                </a:solidFill>
                <a:sym typeface="+mn-ea"/>
              </a:rPr>
              <a:t> </a:t>
            </a:r>
            <a:r>
              <a:rPr lang="en-US" altLang="zh-CN" sz="2000" b="1" dirty="0">
                <a:solidFill>
                  <a:srgbClr val="FF0000"/>
                </a:solidFill>
                <a:sym typeface="+mn-ea"/>
              </a:rPr>
              <a:t>the moth lays an egg.</a:t>
            </a:r>
            <a:endParaRPr lang="en-US" altLang="zh-CN" sz="2000" b="1" dirty="0">
              <a:solidFill>
                <a:srgbClr val="FF0000"/>
              </a:solidFill>
              <a:sym typeface="+mn-ea"/>
            </a:endParaRPr>
          </a:p>
          <a:p>
            <a:r>
              <a:rPr sz="1800" b="1" dirty="0">
                <a:solidFill>
                  <a:schemeClr val="tx1"/>
                </a:solidFill>
                <a:sym typeface="+mn-ea"/>
              </a:rPr>
              <a:t>时间名词</a:t>
            </a:r>
            <a:r>
              <a:rPr lang="en-US" altLang="zh-CN" sz="1800" b="1" dirty="0">
                <a:solidFill>
                  <a:schemeClr val="tx1"/>
                </a:solidFill>
                <a:sym typeface="+mn-ea"/>
              </a:rPr>
              <a:t>+when---</a:t>
            </a:r>
            <a:r>
              <a:rPr sz="1800" b="1" dirty="0">
                <a:solidFill>
                  <a:schemeClr val="tx1"/>
                </a:solidFill>
                <a:sym typeface="+mn-ea"/>
              </a:rPr>
              <a:t>定语从句  </a:t>
            </a:r>
            <a:endParaRPr sz="2000" b="1" u="sng" dirty="0">
              <a:solidFill>
                <a:schemeClr val="tx1"/>
              </a:solidFill>
              <a:sym typeface="+mn-ea"/>
            </a:endParaRPr>
          </a:p>
          <a:p>
            <a:r>
              <a:rPr lang="en-US" altLang="zh-CN" sz="2000" b="1" dirty="0">
                <a:solidFill>
                  <a:srgbClr val="0070C0"/>
                </a:solidFill>
              </a:rPr>
              <a:t>The government should also make people willing to stay</a:t>
            </a:r>
            <a:r>
              <a:rPr lang="en-US" altLang="zh-CN" sz="2000" b="1" dirty="0">
                <a:solidFill>
                  <a:schemeClr val="tx1"/>
                </a:solidFill>
              </a:rPr>
              <a:t> </a:t>
            </a:r>
            <a:r>
              <a:rPr lang="en-US" altLang="zh-CN" sz="2000" b="1" u="sng" dirty="0">
                <a:solidFill>
                  <a:schemeClr val="tx1"/>
                </a:solidFill>
              </a:rPr>
              <a:t>where</a:t>
            </a:r>
            <a:r>
              <a:rPr lang="en-US" altLang="zh-CN" sz="2000" b="1" dirty="0">
                <a:solidFill>
                  <a:schemeClr val="tx1"/>
                </a:solidFill>
              </a:rPr>
              <a:t> </a:t>
            </a:r>
            <a:r>
              <a:rPr lang="en-US" altLang="zh-CN" sz="2000" b="1" dirty="0">
                <a:solidFill>
                  <a:srgbClr val="FF0000"/>
                </a:solidFill>
              </a:rPr>
              <a:t>they were born</a:t>
            </a:r>
            <a:r>
              <a:rPr lang="en-US" altLang="zh-CN" sz="2000" b="1" dirty="0">
                <a:solidFill>
                  <a:schemeClr val="tx1"/>
                </a:solidFill>
              </a:rPr>
              <a:t>.</a:t>
            </a:r>
            <a:endParaRPr lang="en-US" altLang="zh-CN" sz="2000" b="1" dirty="0">
              <a:solidFill>
                <a:schemeClr val="tx1"/>
              </a:solidFill>
            </a:endParaRPr>
          </a:p>
          <a:p>
            <a:r>
              <a:rPr lang="en-US" altLang="zh-CN" sz="2000" b="1" dirty="0">
                <a:solidFill>
                  <a:srgbClr val="0070C0"/>
                </a:solidFill>
                <a:sym typeface="+mn-ea"/>
              </a:rPr>
              <a:t>I like the place</a:t>
            </a:r>
            <a:r>
              <a:rPr lang="en-US" altLang="zh-CN" sz="2000" b="1" dirty="0">
                <a:solidFill>
                  <a:schemeClr val="tx1"/>
                </a:solidFill>
                <a:sym typeface="+mn-ea"/>
              </a:rPr>
              <a:t> </a:t>
            </a:r>
            <a:r>
              <a:rPr lang="en-US" altLang="zh-CN" sz="2000" b="1" u="sng" dirty="0">
                <a:solidFill>
                  <a:schemeClr val="tx1"/>
                </a:solidFill>
                <a:sym typeface="+mn-ea"/>
              </a:rPr>
              <a:t>where</a:t>
            </a:r>
            <a:r>
              <a:rPr lang="en-US" altLang="zh-CN" sz="2000" b="1" dirty="0">
                <a:solidFill>
                  <a:schemeClr val="tx1"/>
                </a:solidFill>
                <a:sym typeface="+mn-ea"/>
              </a:rPr>
              <a:t> </a:t>
            </a:r>
            <a:r>
              <a:rPr lang="en-US" altLang="zh-CN" sz="2000" b="1" dirty="0">
                <a:solidFill>
                  <a:srgbClr val="FF0000"/>
                </a:solidFill>
                <a:sym typeface="+mn-ea"/>
              </a:rPr>
              <a:t>you study English. </a:t>
            </a:r>
            <a:endParaRPr lang="en-US" altLang="zh-CN" sz="2000" b="1" dirty="0">
              <a:solidFill>
                <a:schemeClr val="tx1"/>
              </a:solidFill>
            </a:endParaRPr>
          </a:p>
          <a:p>
            <a:r>
              <a:rPr sz="1800" b="1" dirty="0">
                <a:solidFill>
                  <a:schemeClr val="tx1"/>
                </a:solidFill>
                <a:sym typeface="+mn-ea"/>
              </a:rPr>
              <a:t>地点名词</a:t>
            </a:r>
            <a:r>
              <a:rPr lang="en-US" altLang="zh-CN" sz="1800" b="1" dirty="0">
                <a:solidFill>
                  <a:schemeClr val="tx1"/>
                </a:solidFill>
                <a:sym typeface="+mn-ea"/>
              </a:rPr>
              <a:t>+where---</a:t>
            </a:r>
            <a:r>
              <a:rPr sz="1800" b="1" dirty="0">
                <a:solidFill>
                  <a:schemeClr val="tx1"/>
                </a:solidFill>
                <a:sym typeface="+mn-ea"/>
              </a:rPr>
              <a:t>定语从句</a:t>
            </a:r>
            <a:endParaRPr lang="en-US" altLang="zh-CN" sz="2400" b="1" dirty="0">
              <a:solidFill>
                <a:schemeClr val="tx1"/>
              </a:solidFill>
            </a:endParaRPr>
          </a:p>
          <a:p>
            <a:r>
              <a:rPr lang="en-US" altLang="zh-CN" sz="2000" b="1" dirty="0">
                <a:solidFill>
                  <a:srgbClr val="0070C0"/>
                </a:solidFill>
              </a:rPr>
              <a:t>The reason</a:t>
            </a:r>
            <a:r>
              <a:rPr lang="en-US" altLang="zh-CN" sz="2000" b="1" dirty="0">
                <a:solidFill>
                  <a:schemeClr val="tx1"/>
                </a:solidFill>
              </a:rPr>
              <a:t> why </a:t>
            </a:r>
            <a:r>
              <a:rPr lang="en-US" altLang="zh-CN" sz="2000" b="1" dirty="0">
                <a:solidFill>
                  <a:srgbClr val="FF0000"/>
                </a:solidFill>
              </a:rPr>
              <a:t>he left the company </a:t>
            </a:r>
            <a:r>
              <a:rPr lang="en-US" altLang="zh-CN" sz="2000" b="1" dirty="0">
                <a:solidFill>
                  <a:srgbClr val="0070C0"/>
                </a:solidFill>
              </a:rPr>
              <a:t>was unknown</a:t>
            </a:r>
            <a:r>
              <a:rPr lang="en-US" altLang="zh-CN" sz="2000" b="1" dirty="0">
                <a:solidFill>
                  <a:schemeClr val="tx1"/>
                </a:solidFill>
              </a:rPr>
              <a:t>. </a:t>
            </a:r>
            <a:endParaRPr lang="en-US" altLang="zh-CN" sz="2400" b="1" dirty="0">
              <a:solidFill>
                <a:schemeClr val="tx1"/>
              </a:solidFill>
              <a:sym typeface="+mn-ea"/>
            </a:endParaRPr>
          </a:p>
          <a:p>
            <a:r>
              <a:rPr lang="en-US" altLang="zh-CN" sz="2000" b="1" dirty="0" err="1">
                <a:solidFill>
                  <a:schemeClr val="tx1"/>
                </a:solidFill>
                <a:sym typeface="+mn-ea"/>
              </a:rPr>
              <a:t>reason+why</a:t>
            </a:r>
            <a:r>
              <a:rPr lang="en-US" altLang="zh-CN" sz="2000" b="1" dirty="0">
                <a:solidFill>
                  <a:schemeClr val="tx1"/>
                </a:solidFill>
                <a:sym typeface="+mn-ea"/>
              </a:rPr>
              <a:t>---</a:t>
            </a:r>
            <a:r>
              <a:rPr sz="1600" b="1" dirty="0">
                <a:solidFill>
                  <a:schemeClr val="tx1"/>
                </a:solidFill>
                <a:sym typeface="+mn-ea"/>
              </a:rPr>
              <a:t>定语从句</a:t>
            </a:r>
            <a:endParaRPr lang="en-US" altLang="zh-CN"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8" presetClass="emph" presetSubtype="0" fill="hold" nodeType="clickEffect">
                                  <p:stCondLst>
                                    <p:cond delay="0"/>
                                  </p:stCondLst>
                                  <p:childTnLst>
                                    <p:animRot by="21600000">
                                      <p:cBhvr>
                                        <p:cTn id="18" dur="3000" fill="hold"/>
                                        <p:tgtEl>
                                          <p:spTgt spid="3">
                                            <p:txEl>
                                              <p:pRg st="0" end="0"/>
                                            </p:txEl>
                                          </p:spTgt>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8" presetClass="emph" presetSubtype="0" fill="hold" nodeType="clickEffect">
                                  <p:stCondLst>
                                    <p:cond delay="0"/>
                                  </p:stCondLst>
                                  <p:childTnLst>
                                    <p:animRot by="21600000">
                                      <p:cBhvr>
                                        <p:cTn id="40" dur="2000" fill="hold"/>
                                        <p:tgtEl>
                                          <p:spTgt spid="3">
                                            <p:txEl>
                                              <p:pRg st="4" end="4"/>
                                            </p:txEl>
                                          </p:spTgt>
                                        </p:tgtEl>
                                        <p:attrNameLst>
                                          <p:attrName>r</p:attrName>
                                        </p:attrNameLst>
                                      </p:cBhvr>
                                    </p:animRo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anim calcmode="lin" valueType="num">
                                      <p:cBhvr additive="base">
                                        <p:cTn id="4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3">
                                            <p:txEl>
                                              <p:pRg st="6" end="6"/>
                                            </p:txEl>
                                          </p:spTgt>
                                        </p:tgtEl>
                                        <p:attrNameLst>
                                          <p:attrName>style.visibility</p:attrName>
                                        </p:attrNameLst>
                                      </p:cBhvr>
                                      <p:to>
                                        <p:strVal val="visible"/>
                                      </p:to>
                                    </p:set>
                                    <p:anim calcmode="lin" valueType="num">
                                      <p:cBhvr additive="base">
                                        <p:cTn id="5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
                                            <p:txEl>
                                              <p:pRg st="7" end="7"/>
                                            </p:txEl>
                                          </p:spTgt>
                                        </p:tgtEl>
                                        <p:attrNameLst>
                                          <p:attrName>style.visibility</p:attrName>
                                        </p:attrNameLst>
                                      </p:cBhvr>
                                      <p:to>
                                        <p:strVal val="visible"/>
                                      </p:to>
                                    </p:set>
                                    <p:anim calcmode="lin" valueType="num">
                                      <p:cBhvr additive="base">
                                        <p:cTn id="5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360" y="554990"/>
            <a:ext cx="6882765" cy="499745"/>
          </a:xfrm>
        </p:spPr>
        <p:txBody>
          <a:bodyPr/>
          <a:lstStyle/>
          <a:p>
            <a:pPr algn="l">
              <a:buClrTx/>
              <a:buSzTx/>
              <a:buFontTx/>
            </a:pPr>
            <a:r>
              <a:rPr lang="zh-CN" altLang="en-US" sz="2400" dirty="0" smtClean="0">
                <a:solidFill>
                  <a:schemeClr val="tx1"/>
                </a:solidFill>
                <a:latin typeface="Calibri" panose="020F0502020204030204" pitchFamily="34" charset="0"/>
                <a:cs typeface="Calibri" panose="020F0502020204030204" pitchFamily="34" charset="0"/>
              </a:rPr>
              <a:t>练习</a:t>
            </a:r>
            <a:endParaRPr lang="zh-CN" altLang="en-US" sz="2400"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467360" y="1054735"/>
            <a:ext cx="8363585" cy="3935730"/>
          </a:xfrm>
        </p:spPr>
        <p:txBody>
          <a:bodyPr/>
          <a:lstStyle/>
          <a:p>
            <a:pPr marL="285750" indent="-285750">
              <a:buFont typeface="Arial" panose="020B0604020202020204" pitchFamily="34" charset="0"/>
              <a:buChar char="•"/>
            </a:pPr>
            <a:r>
              <a:rPr lang="zh-CN" altLang="en-US" sz="1400" dirty="0" smtClean="0">
                <a:solidFill>
                  <a:schemeClr val="tx1"/>
                </a:solidFill>
                <a:latin typeface="Verdana" panose="020B0604030504040204" pitchFamily="34" charset="0"/>
                <a:cs typeface="Verdana" panose="020B0604030504040204" pitchFamily="34" charset="0"/>
              </a:rPr>
              <a:t>政府应该投资在可以给大多数纳税人带来利润的领域。</a:t>
            </a:r>
            <a:endParaRPr lang="en-US" altLang="zh-CN" sz="1400" dirty="0" smtClean="0">
              <a:solidFill>
                <a:schemeClr val="tx1"/>
              </a:solidFill>
              <a:latin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altLang="zh-CN" sz="1400" dirty="0" smtClean="0">
                <a:solidFill>
                  <a:schemeClr val="tx1"/>
                </a:solidFill>
                <a:latin typeface="Verdana" panose="020B0604030504040204" pitchFamily="34" charset="0"/>
                <a:cs typeface="Verdana" panose="020B0604030504040204" pitchFamily="34" charset="0"/>
              </a:rPr>
              <a:t>The government should invest in the fields </a:t>
            </a:r>
            <a:r>
              <a:rPr lang="en-US" altLang="zh-CN" sz="1400" u="sng" dirty="0" smtClean="0">
                <a:solidFill>
                  <a:srgbClr val="FF0000"/>
                </a:solidFill>
                <a:latin typeface="Verdana" panose="020B0604030504040204" pitchFamily="34" charset="0"/>
                <a:cs typeface="Verdana" panose="020B0604030504040204" pitchFamily="34" charset="0"/>
              </a:rPr>
              <a:t>that can bring real benefits to most taxpayers.</a:t>
            </a:r>
            <a:endParaRPr lang="en-US" altLang="zh-CN" sz="1400" u="sng" dirty="0" smtClean="0">
              <a:solidFill>
                <a:srgbClr val="FF0000"/>
              </a:solidFill>
              <a:latin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altLang="zh-CN" sz="1400" dirty="0" smtClean="0">
                <a:solidFill>
                  <a:schemeClr val="tx1"/>
                </a:solidFill>
                <a:latin typeface="Verdana" panose="020B0604030504040204" pitchFamily="34" charset="0"/>
                <a:cs typeface="Verdana" panose="020B0604030504040204" pitchFamily="34" charset="0"/>
              </a:rPr>
              <a:t> </a:t>
            </a:r>
            <a:r>
              <a:rPr lang="zh-CN" altLang="en-US" sz="1400" dirty="0" smtClean="0">
                <a:solidFill>
                  <a:schemeClr val="tx1"/>
                </a:solidFill>
                <a:latin typeface="Verdana" panose="020B0604030504040204" pitchFamily="34" charset="0"/>
                <a:cs typeface="Verdana" panose="020B0604030504040204" pitchFamily="34" charset="0"/>
              </a:rPr>
              <a:t>全职工作的母亲们不能很好地照顾她们的孩子。</a:t>
            </a:r>
            <a:endParaRPr lang="zh-CN" altLang="en-US" sz="1400" dirty="0" smtClean="0">
              <a:solidFill>
                <a:schemeClr val="tx1"/>
              </a:solidFill>
              <a:latin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altLang="zh-CN" sz="1400" dirty="0" smtClean="0">
                <a:solidFill>
                  <a:schemeClr val="tx1"/>
                </a:solidFill>
                <a:latin typeface="Verdana" panose="020B0604030504040204" pitchFamily="34" charset="0"/>
                <a:cs typeface="Verdana" panose="020B0604030504040204" pitchFamily="34" charset="0"/>
              </a:rPr>
              <a:t>The mothers </a:t>
            </a:r>
            <a:r>
              <a:rPr lang="en-US" altLang="zh-CN" sz="1400" u="sng" dirty="0" smtClean="0">
                <a:solidFill>
                  <a:srgbClr val="FF0000"/>
                </a:solidFill>
                <a:latin typeface="Verdana" panose="020B0604030504040204" pitchFamily="34" charset="0"/>
                <a:cs typeface="Verdana" panose="020B0604030504040204" pitchFamily="34" charset="0"/>
              </a:rPr>
              <a:t>who work full-time </a:t>
            </a:r>
            <a:r>
              <a:rPr lang="en-US" altLang="zh-CN" sz="1400" dirty="0" smtClean="0">
                <a:solidFill>
                  <a:schemeClr val="tx1"/>
                </a:solidFill>
                <a:latin typeface="Verdana" panose="020B0604030504040204" pitchFamily="34" charset="0"/>
                <a:cs typeface="Verdana" panose="020B0604030504040204" pitchFamily="34" charset="0"/>
              </a:rPr>
              <a:t>cannot take good care of their children.</a:t>
            </a:r>
            <a:endParaRPr lang="en-US" altLang="zh-CN" sz="1400" dirty="0" smtClean="0">
              <a:solidFill>
                <a:schemeClr val="tx1"/>
              </a:solidFill>
              <a:latin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zh-CN" altLang="en-US" sz="1400" dirty="0" smtClean="0">
                <a:solidFill>
                  <a:schemeClr val="tx1"/>
                </a:solidFill>
                <a:latin typeface="Verdana" panose="020B0604030504040204" pitchFamily="34" charset="0"/>
                <a:cs typeface="Verdana" panose="020B0604030504040204" pitchFamily="34" charset="0"/>
              </a:rPr>
              <a:t>政府需要解决的主要问题是不断增大的贫富差距。</a:t>
            </a:r>
            <a:endParaRPr lang="zh-CN" altLang="en-US" sz="1400" dirty="0" smtClean="0">
              <a:solidFill>
                <a:schemeClr val="tx1"/>
              </a:solidFill>
              <a:latin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zh-CN" altLang="en-US" sz="1400" dirty="0" smtClean="0">
                <a:solidFill>
                  <a:schemeClr val="tx1"/>
                </a:solidFill>
                <a:latin typeface="Verdana" panose="020B0604030504040204" pitchFamily="34" charset="0"/>
                <a:cs typeface="Verdana" panose="020B0604030504040204" pitchFamily="34" charset="0"/>
              </a:rPr>
              <a:t>The main problem</a:t>
            </a:r>
            <a:r>
              <a:rPr lang="zh-CN" altLang="en-US" sz="1400" u="sng" dirty="0" smtClean="0">
                <a:solidFill>
                  <a:schemeClr val="tx1"/>
                </a:solidFill>
                <a:latin typeface="Verdana" panose="020B0604030504040204" pitchFamily="34" charset="0"/>
                <a:cs typeface="Verdana" panose="020B0604030504040204" pitchFamily="34" charset="0"/>
              </a:rPr>
              <a:t> </a:t>
            </a:r>
            <a:r>
              <a:rPr lang="zh-CN" altLang="en-US" sz="1400" u="sng" dirty="0" smtClean="0">
                <a:solidFill>
                  <a:srgbClr val="FF0000"/>
                </a:solidFill>
                <a:latin typeface="Verdana" panose="020B0604030504040204" pitchFamily="34" charset="0"/>
                <a:cs typeface="Verdana" panose="020B0604030504040204" pitchFamily="34" charset="0"/>
              </a:rPr>
              <a:t>that the government needs to address </a:t>
            </a:r>
            <a:r>
              <a:rPr lang="zh-CN" altLang="en-US" sz="1400" dirty="0" smtClean="0">
                <a:solidFill>
                  <a:schemeClr val="tx1"/>
                </a:solidFill>
                <a:latin typeface="Verdana" panose="020B0604030504040204" pitchFamily="34" charset="0"/>
                <a:cs typeface="Verdana" panose="020B0604030504040204" pitchFamily="34" charset="0"/>
              </a:rPr>
              <a:t>is the constantly growing/increasing gap between the rich and the poor.</a:t>
            </a:r>
            <a:endParaRPr lang="zh-CN" altLang="en-US" sz="1400" dirty="0" smtClean="0">
              <a:solidFill>
                <a:schemeClr val="tx1"/>
              </a:solidFill>
              <a:latin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zh-CN" altLang="en-US" sz="1400" dirty="0" smtClean="0">
                <a:solidFill>
                  <a:schemeClr val="tx1"/>
                </a:solidFill>
                <a:latin typeface="Verdana" panose="020B0604030504040204" pitchFamily="34" charset="0"/>
                <a:cs typeface="Verdana" panose="020B0604030504040204" pitchFamily="34" charset="0"/>
              </a:rPr>
              <a:t>很多学生选择去那个他们可以喝免费咖啡的图书馆学习。</a:t>
            </a:r>
            <a:endParaRPr lang="zh-CN" altLang="en-US" sz="1400" dirty="0" smtClean="0">
              <a:solidFill>
                <a:schemeClr val="tx1"/>
              </a:solidFill>
              <a:latin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altLang="zh-CN" sz="1400" dirty="0" smtClean="0">
                <a:solidFill>
                  <a:schemeClr val="tx1"/>
                </a:solidFill>
                <a:latin typeface="Verdana" panose="020B0604030504040204" pitchFamily="34" charset="0"/>
                <a:cs typeface="Verdana" panose="020B0604030504040204" pitchFamily="34" charset="0"/>
              </a:rPr>
              <a:t>Many students choose to study in the library </a:t>
            </a:r>
            <a:r>
              <a:rPr lang="en-US" altLang="zh-CN" sz="1400" u="sng" dirty="0" smtClean="0">
                <a:solidFill>
                  <a:srgbClr val="FF0000"/>
                </a:solidFill>
                <a:latin typeface="Verdana" panose="020B0604030504040204" pitchFamily="34" charset="0"/>
                <a:cs typeface="Verdana" panose="020B0604030504040204" pitchFamily="34" charset="0"/>
              </a:rPr>
              <a:t>where they can have free coffee.</a:t>
            </a:r>
            <a:endParaRPr lang="en-US" altLang="zh-CN" sz="1400" u="sng" dirty="0" smtClean="0">
              <a:solidFill>
                <a:srgbClr val="FF0000"/>
              </a:solidFill>
              <a:latin typeface="Verdana" panose="020B0604030504040204" pitchFamily="34" charset="0"/>
              <a:cs typeface="Verdana" panose="020B0604030504040204" pitchFamily="34" charset="0"/>
            </a:endParaRPr>
          </a:p>
          <a:p>
            <a:pPr marL="285750" indent="-285750">
              <a:buFont typeface="Arial" panose="020B0604020202020204" pitchFamily="34" charset="0"/>
              <a:buChar char="•"/>
            </a:pPr>
            <a:endParaRPr lang="en-US" altLang="zh-CN" sz="1400" u="sng" dirty="0" smtClean="0">
              <a:solidFill>
                <a:srgbClr val="FF0000"/>
              </a:solidFill>
              <a:latin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360" y="483235"/>
            <a:ext cx="6882765" cy="499745"/>
          </a:xfrm>
        </p:spPr>
        <p:txBody>
          <a:bodyPr/>
          <a:lstStyle/>
          <a:p>
            <a:pPr algn="l">
              <a:buClrTx/>
              <a:buSzTx/>
              <a:buFontTx/>
            </a:pPr>
            <a:r>
              <a:rPr lang="zh-CN" altLang="en-US" sz="2400" dirty="0" smtClean="0">
                <a:solidFill>
                  <a:schemeClr val="tx1"/>
                </a:solidFill>
                <a:latin typeface="Calibri" panose="020F0502020204030204" pitchFamily="34" charset="0"/>
                <a:cs typeface="Calibri" panose="020F0502020204030204" pitchFamily="34" charset="0"/>
              </a:rPr>
              <a:t>练习</a:t>
            </a:r>
            <a:endParaRPr lang="zh-CN" altLang="en-US" sz="2400"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346075" y="915670"/>
            <a:ext cx="8451850" cy="4037330"/>
          </a:xfrm>
        </p:spPr>
        <p:txBody>
          <a:bodyPr/>
          <a:lstStyle/>
          <a:p>
            <a:pPr marL="285750" indent="-285750">
              <a:buFont typeface="Arial" panose="020B0604020202020204" pitchFamily="34" charset="0"/>
              <a:buChar char="•"/>
            </a:pPr>
            <a:r>
              <a:rPr lang="zh-CN" altLang="en-US" sz="1400" dirty="0" smtClean="0">
                <a:solidFill>
                  <a:schemeClr val="tx1"/>
                </a:solidFill>
                <a:latin typeface="Verdana" panose="020B0604030504040204" pitchFamily="34" charset="0"/>
                <a:cs typeface="Verdana" panose="020B0604030504040204" pitchFamily="34" charset="0"/>
              </a:rPr>
              <a:t>我怀念</a:t>
            </a:r>
            <a:r>
              <a:rPr lang="zh-CN" altLang="en-US" sz="1400" u="sng" dirty="0" smtClean="0">
                <a:solidFill>
                  <a:srgbClr val="FF0000"/>
                </a:solidFill>
                <a:latin typeface="Verdana" panose="020B0604030504040204" pitchFamily="34" charset="0"/>
                <a:cs typeface="Verdana" panose="020B0604030504040204" pitchFamily="34" charset="0"/>
              </a:rPr>
              <a:t>我在英国度假的</a:t>
            </a:r>
            <a:r>
              <a:rPr lang="zh-CN" altLang="en-US" sz="1400" dirty="0" smtClean="0">
                <a:solidFill>
                  <a:schemeClr val="tx1"/>
                </a:solidFill>
                <a:latin typeface="Verdana" panose="020B0604030504040204" pitchFamily="34" charset="0"/>
                <a:cs typeface="Verdana" panose="020B0604030504040204" pitchFamily="34" charset="0"/>
              </a:rPr>
              <a:t>那些天。</a:t>
            </a:r>
            <a:endParaRPr lang="zh-CN" altLang="en-US" sz="1400" dirty="0" smtClean="0">
              <a:solidFill>
                <a:schemeClr val="tx1"/>
              </a:solidFill>
              <a:latin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altLang="zh-CN" sz="1400" dirty="0" smtClean="0">
                <a:solidFill>
                  <a:schemeClr val="tx1"/>
                </a:solidFill>
                <a:latin typeface="Verdana" panose="020B0604030504040204" pitchFamily="34" charset="0"/>
                <a:cs typeface="Verdana" panose="020B0604030504040204" pitchFamily="34" charset="0"/>
              </a:rPr>
              <a:t>I miss those days </a:t>
            </a:r>
            <a:r>
              <a:rPr lang="en-US" altLang="zh-CN" sz="1400" u="sng" dirty="0" smtClean="0">
                <a:solidFill>
                  <a:srgbClr val="FF0000"/>
                </a:solidFill>
                <a:latin typeface="Verdana" panose="020B0604030504040204" pitchFamily="34" charset="0"/>
                <a:cs typeface="Verdana" panose="020B0604030504040204" pitchFamily="34" charset="0"/>
              </a:rPr>
              <a:t>when I spent my holidays in Britain.</a:t>
            </a:r>
            <a:endParaRPr lang="en-US" altLang="zh-CN" sz="1400" dirty="0" smtClean="0">
              <a:solidFill>
                <a:schemeClr val="tx1"/>
              </a:solidFill>
              <a:latin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zh-CN" altLang="en-US" sz="1400" u="sng" dirty="0" smtClean="0">
                <a:solidFill>
                  <a:srgbClr val="FF0000"/>
                </a:solidFill>
                <a:latin typeface="Verdana" panose="020B0604030504040204" pitchFamily="34" charset="0"/>
                <a:cs typeface="Verdana" panose="020B0604030504040204" pitchFamily="34" charset="0"/>
              </a:rPr>
              <a:t>暴力新闻越来越多的</a:t>
            </a:r>
            <a:r>
              <a:rPr lang="zh-CN" altLang="en-US" sz="1400" dirty="0" smtClean="0">
                <a:solidFill>
                  <a:schemeClr val="tx1"/>
                </a:solidFill>
                <a:latin typeface="Verdana" panose="020B0604030504040204" pitchFamily="34" charset="0"/>
                <a:cs typeface="Verdana" panose="020B0604030504040204" pitchFamily="34" charset="0"/>
              </a:rPr>
              <a:t>原因是很多媒体急切地想要吸引人的眼球。（</a:t>
            </a:r>
            <a:r>
              <a:rPr lang="en-US" altLang="zh-CN" sz="1400" dirty="0" smtClean="0">
                <a:solidFill>
                  <a:schemeClr val="tx1"/>
                </a:solidFill>
                <a:latin typeface="Verdana" panose="020B0604030504040204" pitchFamily="34" charset="0"/>
                <a:cs typeface="Verdana" panose="020B0604030504040204" pitchFamily="34" charset="0"/>
              </a:rPr>
              <a:t>be desperate to; catch one’s eyeballs</a:t>
            </a:r>
            <a:r>
              <a:rPr lang="zh-CN" altLang="en-US" sz="1400" dirty="0" smtClean="0">
                <a:solidFill>
                  <a:schemeClr val="tx1"/>
                </a:solidFill>
                <a:latin typeface="Verdana" panose="020B0604030504040204" pitchFamily="34" charset="0"/>
                <a:cs typeface="Verdana" panose="020B0604030504040204" pitchFamily="34" charset="0"/>
              </a:rPr>
              <a:t>）</a:t>
            </a:r>
            <a:endParaRPr lang="zh-CN" altLang="en-US" sz="1400" dirty="0" smtClean="0">
              <a:solidFill>
                <a:schemeClr val="tx1"/>
              </a:solidFill>
              <a:latin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altLang="zh-CN" sz="1400" dirty="0" smtClean="0">
                <a:solidFill>
                  <a:schemeClr val="tx1"/>
                </a:solidFill>
                <a:latin typeface="Verdana" panose="020B0604030504040204" pitchFamily="34" charset="0"/>
                <a:cs typeface="Verdana" panose="020B0604030504040204" pitchFamily="34" charset="0"/>
              </a:rPr>
              <a:t>The reason </a:t>
            </a:r>
            <a:r>
              <a:rPr lang="en-US" altLang="zh-CN" sz="1400" u="sng" dirty="0" smtClean="0">
                <a:solidFill>
                  <a:srgbClr val="FF0000"/>
                </a:solidFill>
                <a:latin typeface="Verdana" panose="020B0604030504040204" pitchFamily="34" charset="0"/>
                <a:cs typeface="Verdana" panose="020B0604030504040204" pitchFamily="34" charset="0"/>
              </a:rPr>
              <a:t>why violent </a:t>
            </a:r>
            <a:r>
              <a:rPr lang="en-US" altLang="zh-CN" sz="1400" u="sng" dirty="0" smtClean="0">
                <a:solidFill>
                  <a:srgbClr val="FF0000"/>
                </a:solidFill>
                <a:latin typeface="Verdana" panose="020B0604030504040204" pitchFamily="34" charset="0"/>
                <a:cs typeface="Verdana" panose="020B0604030504040204" pitchFamily="34" charset="0"/>
              </a:rPr>
              <a:t>news becomes more and more</a:t>
            </a:r>
            <a:r>
              <a:rPr lang="en-US" altLang="zh-CN" sz="1400" dirty="0" smtClean="0">
                <a:solidFill>
                  <a:schemeClr val="tx1"/>
                </a:solidFill>
                <a:latin typeface="Verdana" panose="020B0604030504040204" pitchFamily="34" charset="0"/>
                <a:cs typeface="Verdana" panose="020B0604030504040204" pitchFamily="34" charset="0"/>
              </a:rPr>
              <a:t> is that many media are desperate to catch people’s eyeballs.</a:t>
            </a:r>
            <a:endParaRPr lang="en-US" altLang="zh-CN" sz="1400" dirty="0" smtClean="0">
              <a:solidFill>
                <a:schemeClr val="tx1"/>
              </a:solidFill>
              <a:latin typeface="Verdana" panose="020B0604030504040204" pitchFamily="34" charset="0"/>
              <a:cs typeface="Verdana" panose="020B0604030504040204" pitchFamily="34" charset="0"/>
            </a:endParaRPr>
          </a:p>
          <a:p>
            <a:pPr>
              <a:buFont typeface="Wingdings" panose="05000000000000000000" pitchFamily="2" charset="2"/>
              <a:buChar char="Ø"/>
            </a:pPr>
            <a:r>
              <a:rPr lang="zh-CN" altLang="en-US" sz="1400" u="sng" dirty="0" smtClean="0">
                <a:solidFill>
                  <a:srgbClr val="FF0000"/>
                </a:solidFill>
                <a:latin typeface="华文细黑" panose="02010600040101010101" charset="-122"/>
                <a:ea typeface="华文细黑" panose="02010600040101010101" charset="-122"/>
                <a:cs typeface="华文细黑" panose="02010600040101010101" charset="-122"/>
                <a:sym typeface="+mn-ea"/>
              </a:rPr>
              <a:t>可以鼓励年轻人建立积极的世界观的</a:t>
            </a:r>
            <a:r>
              <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运动员应该代言知名品牌。</a:t>
            </a:r>
            <a:r>
              <a:rPr lang="zh-CN" altLang="en-US" sz="1400" dirty="0" smtClean="0">
                <a:solidFill>
                  <a:srgbClr val="FF0000"/>
                </a:solidFill>
                <a:latin typeface="华文细黑" panose="02010600040101010101" charset="-122"/>
                <a:ea typeface="华文细黑" panose="02010600040101010101" charset="-122"/>
                <a:cs typeface="华文细黑" panose="02010600040101010101" charset="-122"/>
                <a:sym typeface="+mn-ea"/>
              </a:rPr>
              <a:t>（endorse）</a:t>
            </a:r>
            <a:endParaRPr lang="zh-CN" altLang="en-US" sz="1400" dirty="0" smtClean="0">
              <a:solidFill>
                <a:srgbClr val="FF0000"/>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r>
              <a:rPr lang="en-US" altLang="zh-CN" sz="1400" dirty="0" smtClean="0">
                <a:solidFill>
                  <a:schemeClr val="tx1"/>
                </a:solidFill>
                <a:latin typeface="华文细黑" panose="02010600040101010101" charset="-122"/>
                <a:ea typeface="华文细黑" panose="02010600040101010101" charset="-122"/>
                <a:sym typeface="Calibri" panose="020F0502020204030204" pitchFamily="34" charset="0"/>
              </a:rPr>
              <a:t>The athletes who can encourage young people to build positive worldviews should </a:t>
            </a:r>
            <a:r>
              <a:rPr lang="en-US" altLang="zh-CN" sz="1400" dirty="0" smtClean="0">
                <a:solidFill>
                  <a:schemeClr val="tx1"/>
                </a:solidFill>
                <a:latin typeface="华文细黑" panose="02010600040101010101" charset="-122"/>
                <a:ea typeface="华文细黑" panose="02010600040101010101" charset="-122"/>
                <a:sym typeface="+mn-ea"/>
              </a:rPr>
              <a:t>endorse famous</a:t>
            </a:r>
            <a:r>
              <a:rPr lang="en-US" altLang="zh-CN" sz="1400" dirty="0" smtClean="0">
                <a:solidFill>
                  <a:schemeClr val="tx1"/>
                </a:solidFill>
                <a:latin typeface="华文细黑" panose="02010600040101010101" charset="-122"/>
                <a:ea typeface="华文细黑" panose="02010600040101010101" charset="-122"/>
                <a:sym typeface="Calibri" panose="020F0502020204030204" pitchFamily="34" charset="0"/>
              </a:rPr>
              <a:t> brands.</a:t>
            </a:r>
            <a:endPar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endParaRPr>
          </a:p>
          <a:p>
            <a:pPr algn="l">
              <a:buFont typeface="Wingdings" panose="05000000000000000000" pitchFamily="2" charset="2"/>
              <a:buChar char="Ø"/>
            </a:pPr>
            <a:r>
              <a:rPr lang="en-US" altLang="zh-CN"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 </a:t>
            </a:r>
            <a:r>
              <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大多数年轻人想居住在</a:t>
            </a:r>
            <a:r>
              <a:rPr lang="zh-CN" altLang="en-US" sz="1400" u="sng" dirty="0" smtClean="0">
                <a:solidFill>
                  <a:srgbClr val="FF0000"/>
                </a:solidFill>
                <a:latin typeface="华文细黑" panose="02010600040101010101" charset="-122"/>
                <a:ea typeface="华文细黑" panose="02010600040101010101" charset="-122"/>
                <a:cs typeface="华文细黑" panose="02010600040101010101" charset="-122"/>
                <a:sym typeface="+mn-ea"/>
              </a:rPr>
              <a:t>有更多就业机会的</a:t>
            </a:r>
            <a:r>
              <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城市。</a:t>
            </a:r>
            <a:endPar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endParaRPr>
          </a:p>
          <a:p>
            <a:pPr algn="l">
              <a:buFont typeface="Wingdings" panose="05000000000000000000" pitchFamily="2" charset="2"/>
              <a:buChar char="Ø"/>
            </a:pPr>
            <a:r>
              <a:rPr lang="en-US" altLang="zh-CN" sz="1400" dirty="0" smtClean="0">
                <a:solidFill>
                  <a:schemeClr val="tx1"/>
                </a:solidFill>
                <a:latin typeface="华文细黑" panose="02010600040101010101" charset="-122"/>
                <a:ea typeface="华文细黑" panose="02010600040101010101" charset="-122"/>
                <a:sym typeface="Calibri" panose="020F0502020204030204" pitchFamily="34" charset="0"/>
              </a:rPr>
              <a:t>Most young people prefer to live in the cities which have more job opportunities.</a:t>
            </a:r>
            <a:endParaRPr lang="en-US" altLang="zh-CN" sz="1400" dirty="0" smtClean="0">
              <a:solidFill>
                <a:schemeClr val="tx1"/>
              </a:solidFill>
              <a:latin typeface="华文细黑" panose="02010600040101010101" charset="-122"/>
              <a:ea typeface="华文细黑" panose="02010600040101010101" charset="-122"/>
              <a:sym typeface="Calibri" panose="020F0502020204030204" pitchFamily="34" charset="0"/>
            </a:endParaRPr>
          </a:p>
          <a:p>
            <a:pPr algn="l">
              <a:buFont typeface="Wingdings" panose="05000000000000000000" pitchFamily="2" charset="2"/>
              <a:buChar char="Ø"/>
            </a:pPr>
            <a:r>
              <a:rPr lang="en-US" altLang="zh-CN" sz="1400" dirty="0" smtClean="0">
                <a:solidFill>
                  <a:schemeClr val="tx1"/>
                </a:solidFill>
                <a:latin typeface="华文细黑" panose="02010600040101010101" charset="-122"/>
                <a:ea typeface="华文细黑" panose="02010600040101010101" charset="-122"/>
                <a:sym typeface="+mn-ea"/>
              </a:rPr>
              <a:t>Most young poeple prefer to live in the cities where there are more job opportunities.</a:t>
            </a:r>
            <a:endParaRPr lang="en-US" altLang="zh-CN" sz="1400" dirty="0" smtClean="0">
              <a:solidFill>
                <a:schemeClr val="tx1"/>
              </a:solidFill>
              <a:latin typeface="华文细黑" panose="02010600040101010101" charset="-122"/>
              <a:ea typeface="华文细黑" panose="02010600040101010101" charset="-122"/>
            </a:endParaRPr>
          </a:p>
          <a:p>
            <a:pPr marL="285750" indent="-285750">
              <a:buFont typeface="Arial" panose="020B0604020202020204" pitchFamily="34" charset="0"/>
              <a:buChar char="•"/>
            </a:pPr>
            <a:endParaRPr lang="en-US" altLang="zh-CN" sz="1400" dirty="0" smtClean="0">
              <a:solidFill>
                <a:schemeClr val="tx1"/>
              </a:solidFill>
              <a:latin typeface="Verdana" panose="020B0604030504040204" pitchFamily="34" charset="0"/>
              <a:cs typeface="Verdana" panose="020B0604030504040204" pitchFamily="34" charset="0"/>
            </a:endParaRPr>
          </a:p>
          <a:p>
            <a:pPr marL="285750" indent="-285750">
              <a:buFont typeface="Arial" panose="020B0604020202020204" pitchFamily="34" charset="0"/>
              <a:buChar char="•"/>
            </a:pPr>
            <a:endParaRPr lang="en-US" altLang="zh-CN" sz="1400" u="sng" dirty="0" smtClean="0">
              <a:solidFill>
                <a:srgbClr val="FF0000"/>
              </a:solidFill>
              <a:latin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605" y="415290"/>
            <a:ext cx="6882765" cy="499745"/>
          </a:xfrm>
        </p:spPr>
        <p:txBody>
          <a:bodyPr/>
          <a:lstStyle/>
          <a:p>
            <a:pPr algn="l">
              <a:buClrTx/>
              <a:buSzTx/>
              <a:buFontTx/>
            </a:pPr>
            <a:r>
              <a:rPr lang="zh-CN" altLang="en-US" sz="2400" dirty="0" smtClean="0">
                <a:solidFill>
                  <a:schemeClr val="tx1"/>
                </a:solidFill>
                <a:latin typeface="Calibri" panose="020F0502020204030204" pitchFamily="34" charset="0"/>
                <a:cs typeface="Calibri" panose="020F0502020204030204" pitchFamily="34" charset="0"/>
              </a:rPr>
              <a:t>练习</a:t>
            </a:r>
            <a:endParaRPr lang="zh-CN" altLang="en-US" sz="2400"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467360" y="915035"/>
            <a:ext cx="8436610" cy="3935730"/>
          </a:xfrm>
        </p:spPr>
        <p:txBody>
          <a:bodyPr/>
          <a:lstStyle/>
          <a:p>
            <a:pPr algn="l">
              <a:buFont typeface="Wingdings" panose="05000000000000000000" pitchFamily="2" charset="2"/>
              <a:buChar char="Ø"/>
            </a:pPr>
            <a:r>
              <a:rPr lang="zh-CN" altLang="en-US" sz="1400" u="sng" dirty="0" smtClean="0">
                <a:solidFill>
                  <a:srgbClr val="FF0000"/>
                </a:solidFill>
                <a:latin typeface="华文细黑" panose="02010600040101010101" charset="-122"/>
                <a:ea typeface="华文细黑" panose="02010600040101010101" charset="-122"/>
                <a:cs typeface="华文细黑" panose="02010600040101010101" charset="-122"/>
                <a:sym typeface="+mn-ea"/>
              </a:rPr>
              <a:t>司机师傅违反交通规则的</a:t>
            </a:r>
            <a:r>
              <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情况有时会发生当他们被乘客催促的时候。（rush）</a:t>
            </a:r>
            <a:endPar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sym typeface="+mn-ea"/>
            </a:endParaRPr>
          </a:p>
          <a:p>
            <a:pPr algn="l">
              <a:buFont typeface="Wingdings" panose="05000000000000000000" pitchFamily="2" charset="2"/>
              <a:buChar char="Ø"/>
            </a:pPr>
            <a:r>
              <a:rPr lang="en-US" altLang="zh-CN" sz="1400" dirty="0" smtClean="0">
                <a:solidFill>
                  <a:schemeClr val="tx1"/>
                </a:solidFill>
                <a:latin typeface="华文细黑" panose="02010600040101010101" charset="-122"/>
                <a:ea typeface="华文细黑" panose="02010600040101010101" charset="-122"/>
                <a:sym typeface="+mn-ea"/>
              </a:rPr>
              <a:t>The situation where drivers violate traffic rules sometimes happens when they are rushed by passengers.</a:t>
            </a:r>
            <a:endParaRPr lang="en-US" altLang="zh-CN" sz="1400" dirty="0" smtClean="0">
              <a:solidFill>
                <a:schemeClr val="tx1"/>
              </a:solidFill>
              <a:latin typeface="华文细黑" panose="02010600040101010101" charset="-122"/>
              <a:ea typeface="华文细黑" panose="02010600040101010101" charset="-122"/>
              <a:sym typeface="+mn-ea"/>
            </a:endParaRPr>
          </a:p>
          <a:p>
            <a:pPr>
              <a:buFont typeface="Wingdings" panose="05000000000000000000" pitchFamily="2" charset="2"/>
              <a:buChar char="Ø"/>
            </a:pPr>
            <a:r>
              <a:rPr lang="zh-CN" altLang="en-US" sz="1400" u="sng" dirty="0" smtClean="0">
                <a:solidFill>
                  <a:srgbClr val="FF0000"/>
                </a:solidFill>
                <a:latin typeface="华文细黑" panose="02010600040101010101" charset="-122"/>
                <a:ea typeface="华文细黑" panose="02010600040101010101" charset="-122"/>
                <a:cs typeface="华文细黑" panose="02010600040101010101" charset="-122"/>
                <a:sym typeface="+mn-ea"/>
              </a:rPr>
              <a:t>家长所需要解决的</a:t>
            </a:r>
            <a:r>
              <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问题是现在很多青少年把网红当偶像。</a:t>
            </a:r>
            <a:endPar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r>
              <a:rPr lang="en-US" altLang="zh-CN"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The main problem that the government needs to solve is that many teenagers regard online celebrities as role models.</a:t>
            </a:r>
            <a:endPar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r>
              <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牛肉的消耗量在</a:t>
            </a:r>
            <a:r>
              <a:rPr lang="en-US" altLang="zh-CN"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1992</a:t>
            </a:r>
            <a:r>
              <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年到到达最高点</a:t>
            </a:r>
            <a:r>
              <a:rPr lang="en-US" altLang="zh-CN"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5</a:t>
            </a:r>
            <a:r>
              <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吨，那时鸡肉的消耗量只有</a:t>
            </a:r>
            <a:r>
              <a:rPr lang="en-US" altLang="zh-CN"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1</a:t>
            </a:r>
            <a:r>
              <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吨。</a:t>
            </a:r>
            <a:endPar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r>
              <a:rPr lang="en-US" altLang="zh-CN"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The consumption of beef reached the peak at 5 tons in 1992 when that of chicken was only 1 ton.</a:t>
            </a:r>
            <a:endParaRPr lang="en-US" altLang="zh-CN" sz="1400" dirty="0" smtClean="0">
              <a:solidFill>
                <a:schemeClr val="tx1"/>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r>
              <a:rPr lang="zh-CN" altLang="en-US" sz="1400" u="sng" dirty="0" smtClean="0">
                <a:solidFill>
                  <a:srgbClr val="FF0000"/>
                </a:solidFill>
                <a:latin typeface="华文细黑" panose="02010600040101010101" charset="-122"/>
                <a:ea typeface="华文细黑" panose="02010600040101010101" charset="-122"/>
                <a:cs typeface="华文细黑" panose="02010600040101010101" charset="-122"/>
                <a:sym typeface="+mn-ea"/>
              </a:rPr>
              <a:t>很多人反对禁止吸烟的</a:t>
            </a:r>
            <a:r>
              <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sym typeface="+mn-ea"/>
              </a:rPr>
              <a:t>主要原因是这个政策会打击烟草业。</a:t>
            </a:r>
            <a:endPar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r>
              <a:rPr lang="en-US" altLang="zh-CN" sz="1400" dirty="0" smtClean="0">
                <a:solidFill>
                  <a:schemeClr val="tx1"/>
                </a:solidFill>
                <a:latin typeface="华文细黑" panose="02010600040101010101" charset="-122"/>
                <a:ea typeface="华文细黑" panose="02010600040101010101" charset="-122"/>
                <a:sym typeface="+mn-ea"/>
              </a:rPr>
              <a:t>The reason why many people are against banning smoking is that this policy will attack tobacco industry.</a:t>
            </a:r>
            <a:endParaRPr lang="zh-CN" altLang="en-US" sz="1400" dirty="0" smtClean="0">
              <a:solidFill>
                <a:schemeClr val="tx1"/>
              </a:solidFill>
              <a:latin typeface="华文细黑" panose="02010600040101010101" charset="-122"/>
              <a:ea typeface="华文细黑" panose="02010600040101010101" charset="-122"/>
              <a:cs typeface="华文细黑" panose="02010600040101010101" charset="-122"/>
            </a:endParaRPr>
          </a:p>
          <a:p>
            <a:pPr algn="l">
              <a:buFont typeface="Wingdings" panose="05000000000000000000" pitchFamily="2" charset="2"/>
              <a:buChar char="Ø"/>
            </a:pPr>
            <a:endParaRPr lang="en-US" altLang="zh-CN" sz="1400" dirty="0" smtClean="0">
              <a:solidFill>
                <a:schemeClr val="tx1"/>
              </a:solidFill>
              <a:latin typeface="华文细黑" panose="02010600040101010101" charset="-122"/>
              <a:ea typeface="华文细黑" panose="02010600040101010101" charset="-122"/>
            </a:endParaRPr>
          </a:p>
          <a:p>
            <a:pPr marL="285750" indent="-285750">
              <a:buFont typeface="Arial" panose="020B0604020202020204" pitchFamily="34" charset="0"/>
              <a:buChar char="•"/>
            </a:pPr>
            <a:endParaRPr lang="en-US" altLang="zh-CN" sz="1400" u="sng" dirty="0" smtClean="0">
              <a:solidFill>
                <a:srgbClr val="FF0000"/>
              </a:solidFill>
              <a:latin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p:cNvSpPr>
          <p:nvPr>
            <p:ph type="title"/>
          </p:nvPr>
        </p:nvSpPr>
        <p:spPr>
          <a:xfrm>
            <a:off x="969963" y="987425"/>
            <a:ext cx="7564437" cy="2376488"/>
          </a:xfrm>
        </p:spPr>
        <p:txBody>
          <a:bodyPr/>
          <a:lstStyle/>
          <a:p>
            <a:pPr algn="ct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rPr>
              <a:t>常用定语</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rPr>
              <a:t>从句</a:t>
            </a:r>
            <a:endParaRPr lang="zh-CN" altLang="en-US" dirty="0" smtClean="0">
              <a:solidFill>
                <a:schemeClr val="tx1"/>
              </a:solidFill>
              <a:latin typeface="华文细黑" panose="02010600040101010101" charset="-122"/>
              <a:ea typeface="华文细黑" panose="02010600040101010101" charset="-122"/>
              <a:cs typeface="华文细黑" panose="02010600040101010101"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p:cNvSpPr>
          <p:nvPr>
            <p:ph type="title"/>
          </p:nvPr>
        </p:nvSpPr>
        <p:spPr>
          <a:xfrm>
            <a:off x="500063" y="714375"/>
            <a:ext cx="5357812" cy="500063"/>
          </a:xfrm>
        </p:spPr>
        <p:txBody>
          <a:bodyPr/>
          <a:lstStyle/>
          <a:p>
            <a:r>
              <a:rPr lang="zh-CN" altLang="en-US" dirty="0" smtClean="0">
                <a:solidFill>
                  <a:schemeClr val="tx1"/>
                </a:solidFill>
              </a:rPr>
              <a:t>常用</a:t>
            </a:r>
            <a:r>
              <a:rPr lang="zh-CN" altLang="en-US" dirty="0" smtClean="0">
                <a:solidFill>
                  <a:schemeClr val="tx1"/>
                </a:solidFill>
              </a:rPr>
              <a:t>定从（一）</a:t>
            </a:r>
            <a:endParaRPr lang="zh-CN" altLang="en-US" dirty="0" smtClean="0">
              <a:solidFill>
                <a:schemeClr val="tx1"/>
              </a:solidFill>
            </a:endParaRPr>
          </a:p>
        </p:txBody>
      </p:sp>
      <p:sp>
        <p:nvSpPr>
          <p:cNvPr id="23554" name="内容占位符 2"/>
          <p:cNvSpPr>
            <a:spLocks noGrp="1"/>
          </p:cNvSpPr>
          <p:nvPr>
            <p:ph idx="1"/>
          </p:nvPr>
        </p:nvSpPr>
        <p:spPr>
          <a:xfrm>
            <a:off x="457200" y="1428750"/>
            <a:ext cx="8229600" cy="3303588"/>
          </a:xfrm>
        </p:spPr>
        <p:txBody>
          <a:bodyPr/>
          <a:lstStyle/>
          <a:p>
            <a:pPr>
              <a:buFont typeface="Wingdings" panose="05000000000000000000" pitchFamily="2" charset="2"/>
              <a:buChar char="Ø"/>
            </a:pPr>
            <a:r>
              <a:rPr lang="en-US" altLang="zh-CN" b="1" dirty="0" smtClean="0">
                <a:solidFill>
                  <a:srgbClr val="FF0000"/>
                </a:solidFill>
                <a:latin typeface="华文细黑" panose="02010600040101010101" charset="-122"/>
                <a:ea typeface="华文细黑" panose="02010600040101010101" charset="-122"/>
                <a:cs typeface="华文细黑" panose="02010600040101010101" charset="-122"/>
              </a:rPr>
              <a:t>Which</a:t>
            </a:r>
            <a:r>
              <a:rPr lang="zh-CN" altLang="en-US" b="1" dirty="0" smtClean="0">
                <a:solidFill>
                  <a:srgbClr val="FF0000"/>
                </a:solidFill>
                <a:latin typeface="华文细黑" panose="02010600040101010101" charset="-122"/>
                <a:ea typeface="华文细黑" panose="02010600040101010101" charset="-122"/>
                <a:cs typeface="华文细黑" panose="02010600040101010101" charset="-122"/>
              </a:rPr>
              <a:t>引导非限制性定语从句，指代前面一件事， 后面的谓语动词用单数。</a:t>
            </a:r>
            <a:endParaRPr lang="en-US" altLang="zh-CN" b="1" dirty="0" smtClean="0">
              <a:solidFill>
                <a:srgbClr val="FF0000"/>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rPr>
              <a:t>The movie industry has boomed in recent years</a:t>
            </a:r>
            <a:r>
              <a:rPr lang="en-US" altLang="zh-CN" u="sng" dirty="0" smtClean="0">
                <a:solidFill>
                  <a:schemeClr val="tx1"/>
                </a:solidFill>
                <a:latin typeface="华文细黑" panose="02010600040101010101" charset="-122"/>
                <a:ea typeface="华文细黑" panose="02010600040101010101" charset="-122"/>
                <a:cs typeface="华文细黑" panose="02010600040101010101" charset="-122"/>
              </a:rPr>
              <a:t>, which greatly promote</a:t>
            </a:r>
            <a:r>
              <a:rPr lang="en-US" altLang="zh-CN" b="1" u="sng" dirty="0" smtClean="0">
                <a:solidFill>
                  <a:srgbClr val="FF0000"/>
                </a:solidFill>
                <a:latin typeface="华文细黑" panose="02010600040101010101" charset="-122"/>
                <a:ea typeface="华文细黑" panose="02010600040101010101" charset="-122"/>
                <a:cs typeface="华文细黑" panose="02010600040101010101" charset="-122"/>
              </a:rPr>
              <a:t>s</a:t>
            </a:r>
            <a:r>
              <a:rPr lang="en-US" altLang="zh-CN" u="sng" dirty="0" smtClean="0">
                <a:solidFill>
                  <a:schemeClr val="tx1"/>
                </a:solidFill>
                <a:latin typeface="华文细黑" panose="02010600040101010101" charset="-122"/>
                <a:ea typeface="华文细黑" panose="02010600040101010101" charset="-122"/>
                <a:cs typeface="华文细黑" panose="02010600040101010101" charset="-122"/>
              </a:rPr>
              <a:t> the domestic economic development.</a:t>
            </a:r>
            <a:endParaRPr lang="en-US" altLang="zh-CN" u="sng" dirty="0" smtClean="0">
              <a:solidFill>
                <a:schemeClr val="tx1"/>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rPr>
              <a:t>People tend to check their phones when hanging with their friends, </a:t>
            </a:r>
            <a:r>
              <a:rPr lang="en-US" altLang="zh-CN" u="sng" dirty="0" smtClean="0">
                <a:solidFill>
                  <a:schemeClr val="tx1"/>
                </a:solidFill>
                <a:latin typeface="华文细黑" panose="02010600040101010101" charset="-122"/>
                <a:ea typeface="华文细黑" panose="02010600040101010101" charset="-122"/>
                <a:cs typeface="华文细黑" panose="02010600040101010101" charset="-122"/>
              </a:rPr>
              <a:t>which</a:t>
            </a:r>
            <a:r>
              <a:rPr lang="en-US" altLang="zh-CN" u="sng" dirty="0" smtClean="0">
                <a:solidFill>
                  <a:srgbClr val="FF0000"/>
                </a:solidFill>
                <a:latin typeface="华文细黑" panose="02010600040101010101" charset="-122"/>
                <a:ea typeface="华文细黑" panose="02010600040101010101" charset="-122"/>
                <a:cs typeface="华文细黑" panose="02010600040101010101" charset="-122"/>
              </a:rPr>
              <a:t> </a:t>
            </a:r>
            <a:r>
              <a:rPr lang="en-US" altLang="zh-CN" b="1" u="sng" dirty="0" smtClean="0">
                <a:solidFill>
                  <a:srgbClr val="FF0000"/>
                </a:solidFill>
                <a:latin typeface="华文细黑" panose="02010600040101010101" charset="-122"/>
                <a:ea typeface="华文细黑" panose="02010600040101010101" charset="-122"/>
                <a:cs typeface="华文细黑" panose="02010600040101010101" charset="-122"/>
              </a:rPr>
              <a:t>is</a:t>
            </a:r>
            <a:r>
              <a:rPr lang="en-US" altLang="zh-CN" u="sng" dirty="0" smtClean="0">
                <a:solidFill>
                  <a:srgbClr val="FF0000"/>
                </a:solidFill>
                <a:latin typeface="华文细黑" panose="02010600040101010101" charset="-122"/>
                <a:ea typeface="华文细黑" panose="02010600040101010101" charset="-122"/>
                <a:cs typeface="华文细黑" panose="02010600040101010101" charset="-122"/>
              </a:rPr>
              <a:t> </a:t>
            </a:r>
            <a:r>
              <a:rPr lang="en-US" altLang="zh-CN" u="sng" dirty="0" smtClean="0">
                <a:solidFill>
                  <a:schemeClr val="tx1"/>
                </a:solidFill>
                <a:latin typeface="华文细黑" panose="02010600040101010101" charset="-122"/>
                <a:ea typeface="华文细黑" panose="02010600040101010101" charset="-122"/>
                <a:cs typeface="华文细黑" panose="02010600040101010101" charset="-122"/>
              </a:rPr>
              <a:t>detrimental to enhancing their relationship.</a:t>
            </a:r>
            <a:endParaRPr lang="en-US" altLang="zh-CN" u="sng" dirty="0" smtClean="0">
              <a:solidFill>
                <a:schemeClr val="tx1"/>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endParaRPr lang="zh-CN" altLang="en-US" dirty="0" smtClean="0">
              <a:solidFill>
                <a:schemeClr val="tx1"/>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5" name="内容占位符 4"/>
          <p:cNvGraphicFramePr>
            <a:graphicFrameLocks noGrp="1"/>
          </p:cNvGraphicFramePr>
          <p:nvPr>
            <p:ph idx="1"/>
          </p:nvPr>
        </p:nvGraphicFramePr>
        <p:xfrm>
          <a:off x="-3175" y="24131"/>
          <a:ext cx="9147175" cy="5085866"/>
        </p:xfrm>
        <a:graphic>
          <a:graphicData uri="http://schemas.openxmlformats.org/drawingml/2006/table">
            <a:tbl>
              <a:tblPr firstRow="1" bandRow="1">
                <a:tableStyleId>{5C22544A-7EE6-4342-B048-85BDC9FD1C3A}</a:tableStyleId>
              </a:tblPr>
              <a:tblGrid>
                <a:gridCol w="3524297"/>
                <a:gridCol w="5622878"/>
              </a:tblGrid>
              <a:tr h="419146">
                <a:tc rowSpan="17">
                  <a:txBody>
                    <a:bodyPr/>
                    <a:lstStyle/>
                    <a:p>
                      <a:pPr>
                        <a:buNone/>
                      </a:pPr>
                      <a:endParaRPr lang="zh-CN" altLang="en-US" dirty="0">
                        <a:solidFill>
                          <a:schemeClr val="tx1"/>
                        </a:solidFill>
                      </a:endParaRPr>
                    </a:p>
                    <a:p>
                      <a:pPr>
                        <a:buNone/>
                      </a:pPr>
                      <a:endParaRPr lang="zh-CN" altLang="en-US" dirty="0">
                        <a:solidFill>
                          <a:schemeClr val="tx1"/>
                        </a:solidFill>
                      </a:endParaRPr>
                    </a:p>
                    <a:p>
                      <a:pPr>
                        <a:buNone/>
                      </a:pPr>
                      <a:endParaRPr lang="zh-CN" altLang="en-US" dirty="0">
                        <a:solidFill>
                          <a:schemeClr val="tx1"/>
                        </a:solidFill>
                      </a:endParaRPr>
                    </a:p>
                    <a:p>
                      <a:pPr>
                        <a:buNone/>
                      </a:pPr>
                      <a:endParaRPr lang="zh-CN" altLang="en-US" dirty="0">
                        <a:solidFill>
                          <a:schemeClr val="tx1"/>
                        </a:solidFill>
                      </a:endParaRPr>
                    </a:p>
                    <a:p>
                      <a:pPr>
                        <a:buNone/>
                      </a:pPr>
                      <a:endParaRPr lang="zh-CN" altLang="en-US" dirty="0">
                        <a:solidFill>
                          <a:schemeClr val="tx1"/>
                        </a:solidFill>
                      </a:endParaRPr>
                    </a:p>
                    <a:p>
                      <a:pPr>
                        <a:buNone/>
                      </a:pPr>
                      <a:endParaRPr lang="zh-CN" altLang="en-US" dirty="0">
                        <a:solidFill>
                          <a:schemeClr val="tx1"/>
                        </a:solidFill>
                      </a:endParaRPr>
                    </a:p>
                    <a:p>
                      <a:pPr>
                        <a:buNone/>
                      </a:pPr>
                      <a:endParaRPr lang="zh-CN" altLang="en-US" dirty="0">
                        <a:solidFill>
                          <a:schemeClr val="tx1"/>
                        </a:solidFill>
                      </a:endParaRPr>
                    </a:p>
                    <a:p>
                      <a:pPr>
                        <a:buNone/>
                      </a:pPr>
                      <a:endParaRPr lang="zh-CN" altLang="en-US" dirty="0">
                        <a:solidFill>
                          <a:schemeClr val="tx1"/>
                        </a:solidFill>
                      </a:endParaRPr>
                    </a:p>
                    <a:p>
                      <a:pPr>
                        <a:buNone/>
                      </a:pPr>
                      <a:r>
                        <a:rPr lang="zh-CN" altLang="en-US" dirty="0">
                          <a:solidFill>
                            <a:schemeClr val="tx1"/>
                          </a:solidFill>
                        </a:rPr>
                        <a:t>一句话（一个现象），</a:t>
                      </a:r>
                      <a:r>
                        <a:rPr lang="en-US" altLang="zh-CN" dirty="0">
                          <a:solidFill>
                            <a:schemeClr val="tx1"/>
                          </a:solidFill>
                        </a:rPr>
                        <a:t>which</a:t>
                      </a:r>
                      <a:endParaRPr lang="en-US" altLang="zh-CN" dirty="0">
                        <a:solidFill>
                          <a:schemeClr val="tx1"/>
                        </a:solidFill>
                      </a:endParaRPr>
                    </a:p>
                  </a:txBody>
                  <a:tcPr>
                    <a:solidFill>
                      <a:schemeClr val="accent5"/>
                    </a:solidFill>
                  </a:tcPr>
                </a:tc>
                <a:tc>
                  <a:txBody>
                    <a:bodyPr/>
                    <a:lstStyle/>
                    <a:p>
                      <a:pPr>
                        <a:buNone/>
                      </a:pPr>
                      <a:r>
                        <a:rPr lang="zh-CN" altLang="en-US"/>
                        <a:t>表示递进关系，对前面现象的评论或者继续阐述</a:t>
                      </a:r>
                      <a:endParaRPr lang="zh-CN" altLang="en-US"/>
                    </a:p>
                  </a:txBody>
                  <a:tcPr/>
                </a:tc>
              </a:tr>
              <a:tr h="271085">
                <a:tc vMerge="1">
                  <a:tcPr/>
                </a:tc>
                <a:tc>
                  <a:txBody>
                    <a:bodyPr/>
                    <a:lstStyle/>
                    <a:p>
                      <a:pPr algn="l">
                        <a:buNone/>
                      </a:pPr>
                      <a:r>
                        <a:rPr lang="en-US" altLang="zh-CN" sz="1800" b="1" dirty="0" smtClean="0">
                          <a:solidFill>
                            <a:schemeClr val="tx1"/>
                          </a:solidFill>
                        </a:rPr>
                        <a:t>Enables/allows </a:t>
                      </a:r>
                      <a:r>
                        <a:rPr lang="en-US" altLang="zh-CN" sz="1800" b="1" dirty="0" err="1">
                          <a:solidFill>
                            <a:schemeClr val="tx1"/>
                          </a:solidFill>
                        </a:rPr>
                        <a:t>sb</a:t>
                      </a:r>
                      <a:r>
                        <a:rPr lang="en-US" altLang="zh-CN" sz="1800" b="1" dirty="0">
                          <a:solidFill>
                            <a:schemeClr val="tx1"/>
                          </a:solidFill>
                        </a:rPr>
                        <a:t> to do </a:t>
                      </a:r>
                      <a:r>
                        <a:rPr lang="en-US" altLang="zh-CN" sz="1800" b="1" dirty="0" err="1">
                          <a:solidFill>
                            <a:schemeClr val="tx1"/>
                          </a:solidFill>
                        </a:rPr>
                        <a:t>sth</a:t>
                      </a:r>
                      <a:r>
                        <a:rPr lang="en-US" altLang="zh-CN" sz="1800" b="1" dirty="0">
                          <a:solidFill>
                            <a:schemeClr val="tx1"/>
                          </a:solidFill>
                        </a:rPr>
                        <a:t> </a:t>
                      </a:r>
                      <a:r>
                        <a:rPr lang="zh-CN" altLang="en-US" sz="1800" b="1" dirty="0">
                          <a:solidFill>
                            <a:schemeClr val="tx1"/>
                          </a:solidFill>
                        </a:rPr>
                        <a:t>使能够，使有机会</a:t>
                      </a:r>
                      <a:endParaRPr lang="zh-CN" altLang="en-US" sz="1800" b="1" dirty="0">
                        <a:solidFill>
                          <a:schemeClr val="tx1"/>
                        </a:solidFill>
                      </a:endParaRPr>
                    </a:p>
                  </a:txBody>
                  <a:tcPr marL="68580" marR="68580" marT="0" marB="0"/>
                </a:tc>
              </a:tr>
              <a:tr h="306963">
                <a:tc vMerge="1">
                  <a:tcPr/>
                </a:tc>
                <a:tc>
                  <a:txBody>
                    <a:bodyPr/>
                    <a:lstStyle/>
                    <a:p>
                      <a:pPr algn="l">
                        <a:buNone/>
                      </a:pPr>
                      <a:r>
                        <a:rPr lang="en-US" altLang="zh-CN" sz="1800" b="1">
                          <a:solidFill>
                            <a:schemeClr val="tx1"/>
                          </a:solidFill>
                        </a:rPr>
                        <a:t>encourages sb to do sth</a:t>
                      </a:r>
                      <a:endParaRPr lang="en-US" altLang="zh-CN" sz="1800" b="1">
                        <a:solidFill>
                          <a:schemeClr val="tx1"/>
                        </a:solidFill>
                      </a:endParaRPr>
                    </a:p>
                  </a:txBody>
                  <a:tcPr marL="68580" marR="68580" marT="0" marB="0"/>
                </a:tc>
              </a:tr>
              <a:tr h="261306">
                <a:tc vMerge="1">
                  <a:tcPr/>
                </a:tc>
                <a:tc>
                  <a:txBody>
                    <a:bodyPr/>
                    <a:lstStyle/>
                    <a:p>
                      <a:pPr algn="l">
                        <a:buNone/>
                      </a:pPr>
                      <a:r>
                        <a:rPr lang="en-US" altLang="zh-CN" sz="1800" b="1" dirty="0">
                          <a:solidFill>
                            <a:schemeClr val="tx1"/>
                          </a:solidFill>
                        </a:rPr>
                        <a:t>makes </a:t>
                      </a:r>
                      <a:r>
                        <a:rPr lang="en-US" altLang="zh-CN" sz="1800" b="1" dirty="0" smtClean="0">
                          <a:solidFill>
                            <a:schemeClr val="tx1"/>
                          </a:solidFill>
                        </a:rPr>
                        <a:t>it possible/difficult for sb </a:t>
                      </a:r>
                      <a:r>
                        <a:rPr lang="en-US" altLang="zh-CN" sz="1800" b="1" dirty="0">
                          <a:solidFill>
                            <a:schemeClr val="tx1"/>
                          </a:solidFill>
                        </a:rPr>
                        <a:t>to do </a:t>
                      </a:r>
                      <a:r>
                        <a:rPr lang="en-US" altLang="zh-CN" sz="1800" b="1" dirty="0" err="1">
                          <a:solidFill>
                            <a:schemeClr val="tx1"/>
                          </a:solidFill>
                        </a:rPr>
                        <a:t>sth</a:t>
                      </a:r>
                      <a:endParaRPr lang="en-US" altLang="zh-CN" sz="1800" b="1" dirty="0">
                        <a:solidFill>
                          <a:schemeClr val="tx1"/>
                        </a:solidFill>
                      </a:endParaRPr>
                    </a:p>
                  </a:txBody>
                  <a:tcPr marL="68580" marR="68580" marT="0" marB="0"/>
                </a:tc>
              </a:tr>
              <a:tr h="290937">
                <a:tc vMerge="1">
                  <a:tcPr/>
                </a:tc>
                <a:tc>
                  <a:txBody>
                    <a:bodyPr/>
                    <a:lstStyle/>
                    <a:p>
                      <a:pPr marL="0" algn="l" defTabSz="914400" rtl="0" eaLnBrk="1" latinLnBrk="0" hangingPunct="1">
                        <a:buNone/>
                      </a:pPr>
                      <a:r>
                        <a:rPr lang="en-US" altLang="zh-CN" sz="1800" b="1" kern="1200" dirty="0" smtClean="0">
                          <a:solidFill>
                            <a:schemeClr val="tx1"/>
                          </a:solidFill>
                          <a:latin typeface="+mn-lt"/>
                          <a:ea typeface="+mn-ea"/>
                          <a:cs typeface="+mn-cs"/>
                        </a:rPr>
                        <a:t>makes </a:t>
                      </a:r>
                      <a:r>
                        <a:rPr lang="en-US" altLang="zh-CN" sz="1800" b="1" kern="1200" dirty="0" smtClean="0">
                          <a:solidFill>
                            <a:srgbClr val="FF0000"/>
                          </a:solidFill>
                          <a:latin typeface="+mn-lt"/>
                          <a:ea typeface="+mn-ea"/>
                          <a:cs typeface="+mn-cs"/>
                        </a:rPr>
                        <a:t>it/</a:t>
                      </a:r>
                      <a:r>
                        <a:rPr lang="en-US" altLang="zh-CN" sz="1800" b="1" kern="1200" dirty="0" err="1" smtClean="0">
                          <a:solidFill>
                            <a:srgbClr val="FF0000"/>
                          </a:solidFill>
                          <a:latin typeface="+mn-lt"/>
                          <a:ea typeface="+mn-ea"/>
                          <a:cs typeface="+mn-cs"/>
                        </a:rPr>
                        <a:t>sth</a:t>
                      </a:r>
                      <a:r>
                        <a:rPr lang="en-US" altLang="zh-CN" sz="1800" b="1" kern="1200" dirty="0" smtClean="0">
                          <a:solidFill>
                            <a:srgbClr val="FF0000"/>
                          </a:solidFill>
                          <a:latin typeface="+mn-lt"/>
                          <a:ea typeface="+mn-ea"/>
                          <a:cs typeface="+mn-cs"/>
                        </a:rPr>
                        <a:t>/</a:t>
                      </a:r>
                      <a:r>
                        <a:rPr lang="en-US" altLang="zh-CN" sz="1800" b="1" kern="1200" dirty="0" err="1" smtClean="0">
                          <a:solidFill>
                            <a:srgbClr val="FF0000"/>
                          </a:solidFill>
                          <a:latin typeface="+mn-lt"/>
                          <a:ea typeface="+mn-ea"/>
                          <a:cs typeface="+mn-cs"/>
                        </a:rPr>
                        <a:t>sb</a:t>
                      </a:r>
                      <a:r>
                        <a:rPr lang="en-US" altLang="zh-CN" sz="1800" b="1" kern="1200" baseline="0" dirty="0" smtClean="0">
                          <a:solidFill>
                            <a:schemeClr val="tx1"/>
                          </a:solidFill>
                          <a:latin typeface="+mn-lt"/>
                          <a:ea typeface="+mn-ea"/>
                          <a:cs typeface="+mn-cs"/>
                        </a:rPr>
                        <a:t> </a:t>
                      </a:r>
                      <a:r>
                        <a:rPr lang="en-US" altLang="zh-CN" sz="1800" b="1" kern="1200" baseline="0" dirty="0" err="1" smtClean="0">
                          <a:solidFill>
                            <a:schemeClr val="tx1"/>
                          </a:solidFill>
                          <a:latin typeface="+mn-lt"/>
                          <a:ea typeface="+mn-ea"/>
                          <a:cs typeface="+mn-cs"/>
                        </a:rPr>
                        <a:t>adj</a:t>
                      </a:r>
                      <a:endParaRPr lang="zh-CN" altLang="en-US" sz="1800" b="1" kern="1200" dirty="0">
                        <a:solidFill>
                          <a:schemeClr val="tx1"/>
                        </a:solidFill>
                        <a:latin typeface="+mn-lt"/>
                        <a:ea typeface="+mn-ea"/>
                        <a:cs typeface="+mn-cs"/>
                      </a:endParaRPr>
                    </a:p>
                  </a:txBody>
                  <a:tcPr marL="68580" marR="68580" marT="0" marB="0"/>
                </a:tc>
              </a:tr>
              <a:tr h="298950">
                <a:tc vMerge="1">
                  <a:tcPr/>
                </a:tc>
                <a:tc>
                  <a:txBody>
                    <a:bodyPr/>
                    <a:lstStyle/>
                    <a:p>
                      <a:pPr algn="l">
                        <a:buNone/>
                      </a:pPr>
                      <a:r>
                        <a:rPr lang="en-US" altLang="zh-CN" sz="1800" b="1" dirty="0">
                          <a:solidFill>
                            <a:schemeClr val="tx1"/>
                          </a:solidFill>
                        </a:rPr>
                        <a:t>means that +</a:t>
                      </a:r>
                      <a:r>
                        <a:rPr lang="en-US" altLang="zh-CN" sz="1800" b="1" dirty="0" err="1">
                          <a:solidFill>
                            <a:schemeClr val="tx1"/>
                          </a:solidFill>
                        </a:rPr>
                        <a:t>完整</a:t>
                      </a:r>
                      <a:endParaRPr lang="en-US" altLang="zh-CN" sz="1800" b="1" dirty="0">
                        <a:solidFill>
                          <a:schemeClr val="tx1"/>
                        </a:solidFill>
                      </a:endParaRPr>
                    </a:p>
                  </a:txBody>
                  <a:tcPr marL="68580" marR="68580" marT="0" marB="0"/>
                </a:tc>
              </a:tr>
              <a:tr h="283540">
                <a:tc vMerge="1">
                  <a:tcPr/>
                </a:tc>
                <a:tc>
                  <a:txBody>
                    <a:bodyPr/>
                    <a:lstStyle/>
                    <a:p>
                      <a:pPr algn="l">
                        <a:buNone/>
                      </a:pPr>
                      <a:r>
                        <a:rPr lang="en-US" altLang="zh-CN" sz="1800" b="1" dirty="0">
                          <a:solidFill>
                            <a:schemeClr val="tx1"/>
                          </a:solidFill>
                        </a:rPr>
                        <a:t>contributes to/promotes….</a:t>
                      </a:r>
                      <a:endParaRPr lang="en-US" altLang="zh-CN" sz="1800" b="1" dirty="0">
                        <a:solidFill>
                          <a:schemeClr val="tx1"/>
                        </a:solidFill>
                      </a:endParaRPr>
                    </a:p>
                  </a:txBody>
                  <a:tcPr marL="68580" marR="68580" marT="0" marB="0"/>
                </a:tc>
              </a:tr>
              <a:tr h="256567">
                <a:tc vMerge="1">
                  <a:tcPr/>
                </a:tc>
                <a:tc>
                  <a:txBody>
                    <a:bodyPr/>
                    <a:lstStyle/>
                    <a:p>
                      <a:pPr algn="l">
                        <a:buNone/>
                      </a:pPr>
                      <a:r>
                        <a:rPr lang="en-US" altLang="zh-CN" sz="1800" b="1" dirty="0">
                          <a:solidFill>
                            <a:schemeClr val="tx1"/>
                          </a:solidFill>
                        </a:rPr>
                        <a:t>is beneficial to +n/doing</a:t>
                      </a:r>
                      <a:endParaRPr lang="en-US" altLang="zh-CN" sz="1800" b="1" dirty="0">
                        <a:solidFill>
                          <a:schemeClr val="tx1"/>
                        </a:solidFill>
                      </a:endParaRPr>
                    </a:p>
                  </a:txBody>
                  <a:tcPr marL="68580" marR="68580" marT="0" marB="0"/>
                </a:tc>
              </a:tr>
              <a:tr h="274320">
                <a:tc vMerge="1">
                  <a:tcPr/>
                </a:tc>
                <a:tc>
                  <a:txBody>
                    <a:bodyPr/>
                    <a:lstStyle/>
                    <a:p>
                      <a:pPr algn="l">
                        <a:buNone/>
                      </a:pPr>
                      <a:r>
                        <a:rPr lang="en-US" altLang="zh-CN" sz="1800" b="1" dirty="0">
                          <a:solidFill>
                            <a:schemeClr val="tx1"/>
                          </a:solidFill>
                        </a:rPr>
                        <a:t>leads to/results in +n</a:t>
                      </a:r>
                      <a:endParaRPr lang="en-US" altLang="zh-CN" sz="1800" b="1" dirty="0">
                        <a:solidFill>
                          <a:schemeClr val="tx1"/>
                        </a:solidFill>
                      </a:endParaRPr>
                    </a:p>
                  </a:txBody>
                  <a:tcPr marL="68580" marR="68580" marT="0" marB="0"/>
                </a:tc>
              </a:tr>
              <a:tr h="279431">
                <a:tc vMerge="1">
                  <a:tcPr/>
                </a:tc>
                <a:tc>
                  <a:txBody>
                    <a:bodyPr/>
                    <a:lstStyle/>
                    <a:p>
                      <a:pPr indent="0">
                        <a:buNone/>
                      </a:pPr>
                      <a:r>
                        <a:rPr lang="en-US" altLang="zh-CN" sz="1800" b="1" dirty="0">
                          <a:solidFill>
                            <a:schemeClr val="tx1"/>
                          </a:solidFill>
                        </a:rPr>
                        <a:t>causes </a:t>
                      </a:r>
                      <a:r>
                        <a:rPr lang="en-US" altLang="zh-CN" sz="1800" b="1" dirty="0" err="1">
                          <a:solidFill>
                            <a:schemeClr val="tx1"/>
                          </a:solidFill>
                        </a:rPr>
                        <a:t>sb</a:t>
                      </a:r>
                      <a:r>
                        <a:rPr lang="en-US" altLang="zh-CN" sz="1800" b="1" dirty="0">
                          <a:solidFill>
                            <a:schemeClr val="tx1"/>
                          </a:solidFill>
                        </a:rPr>
                        <a:t> to do </a:t>
                      </a:r>
                      <a:r>
                        <a:rPr lang="en-US" altLang="zh-CN" sz="1800" b="1" dirty="0" err="1">
                          <a:solidFill>
                            <a:schemeClr val="tx1"/>
                          </a:solidFill>
                        </a:rPr>
                        <a:t>sth</a:t>
                      </a:r>
                      <a:endParaRPr lang="en-US" altLang="zh-CN" sz="1800" b="1" dirty="0">
                        <a:solidFill>
                          <a:schemeClr val="tx1"/>
                        </a:solidFill>
                      </a:endParaRPr>
                    </a:p>
                  </a:txBody>
                  <a:tcPr marL="68580" marR="68580" marT="0" marB="0"/>
                </a:tc>
              </a:tr>
              <a:tr h="285752">
                <a:tc vMerge="1">
                  <a:tcPr/>
                </a:tc>
                <a:tc>
                  <a:txBody>
                    <a:bodyPr/>
                    <a:lstStyle/>
                    <a:p>
                      <a:pPr indent="0">
                        <a:buNone/>
                      </a:pPr>
                      <a:r>
                        <a:rPr lang="en-US" altLang="zh-CN" sz="1800" b="1" dirty="0">
                          <a:solidFill>
                            <a:schemeClr val="tx1"/>
                          </a:solidFill>
                        </a:rPr>
                        <a:t>prevents/deters </a:t>
                      </a:r>
                      <a:r>
                        <a:rPr lang="en-US" altLang="zh-CN" sz="1800" b="1" dirty="0" err="1">
                          <a:solidFill>
                            <a:schemeClr val="tx1"/>
                          </a:solidFill>
                        </a:rPr>
                        <a:t>sb</a:t>
                      </a:r>
                      <a:r>
                        <a:rPr lang="en-US" altLang="zh-CN" sz="1800" b="1" dirty="0">
                          <a:solidFill>
                            <a:schemeClr val="tx1"/>
                          </a:solidFill>
                        </a:rPr>
                        <a:t> from doing </a:t>
                      </a:r>
                      <a:r>
                        <a:rPr lang="en-US" altLang="zh-CN" sz="1800" b="1" dirty="0" err="1">
                          <a:solidFill>
                            <a:schemeClr val="tx1"/>
                          </a:solidFill>
                        </a:rPr>
                        <a:t>sth</a:t>
                      </a:r>
                      <a:endParaRPr lang="en-US" altLang="zh-CN" sz="1800" b="1" dirty="0">
                        <a:solidFill>
                          <a:schemeClr val="tx1"/>
                        </a:solidFill>
                      </a:endParaRPr>
                    </a:p>
                  </a:txBody>
                  <a:tcPr marL="68580" marR="68580" marT="0" marB="0"/>
                </a:tc>
              </a:tr>
              <a:tr h="285752">
                <a:tc vMerge="1">
                  <a:tcPr/>
                </a:tc>
                <a:tc>
                  <a:txBody>
                    <a:bodyPr/>
                    <a:lstStyle/>
                    <a:p>
                      <a:pPr indent="0">
                        <a:buNone/>
                      </a:pPr>
                      <a:r>
                        <a:rPr lang="en-US" altLang="zh-CN" sz="1800" b="1" dirty="0">
                          <a:solidFill>
                            <a:schemeClr val="tx1"/>
                          </a:solidFill>
                        </a:rPr>
                        <a:t>discourages </a:t>
                      </a:r>
                      <a:r>
                        <a:rPr lang="en-US" altLang="zh-CN" sz="1800" b="1" dirty="0" err="1">
                          <a:solidFill>
                            <a:schemeClr val="tx1"/>
                          </a:solidFill>
                        </a:rPr>
                        <a:t>sb</a:t>
                      </a:r>
                      <a:r>
                        <a:rPr lang="en-US" altLang="zh-CN" sz="1800" b="1" dirty="0">
                          <a:solidFill>
                            <a:schemeClr val="tx1"/>
                          </a:solidFill>
                        </a:rPr>
                        <a:t> from doing </a:t>
                      </a:r>
                      <a:r>
                        <a:rPr lang="en-US" altLang="zh-CN" sz="1800" b="1" dirty="0" err="1">
                          <a:solidFill>
                            <a:schemeClr val="tx1"/>
                          </a:solidFill>
                        </a:rPr>
                        <a:t>sth</a:t>
                      </a:r>
                      <a:endParaRPr lang="en-US" altLang="zh-CN" sz="1800" b="1" dirty="0">
                        <a:solidFill>
                          <a:schemeClr val="tx1"/>
                        </a:solidFill>
                      </a:endParaRPr>
                    </a:p>
                  </a:txBody>
                  <a:tcPr marL="68580" marR="68580" marT="0" marB="0"/>
                </a:tc>
              </a:tr>
              <a:tr h="285752">
                <a:tc vMerge="1">
                  <a:tcPr/>
                </a:tc>
                <a:tc>
                  <a:txBody>
                    <a:bodyPr/>
                    <a:lstStyle/>
                    <a:p>
                      <a:pPr indent="0">
                        <a:buNone/>
                      </a:pPr>
                      <a:r>
                        <a:rPr lang="en-US" altLang="zh-CN" sz="1800" b="1" dirty="0">
                          <a:solidFill>
                            <a:schemeClr val="tx1"/>
                          </a:solidFill>
                        </a:rPr>
                        <a:t>is detrimental to +n/doing</a:t>
                      </a:r>
                      <a:endParaRPr lang="en-US" altLang="zh-CN" sz="1800" b="1" dirty="0">
                        <a:solidFill>
                          <a:schemeClr val="tx1"/>
                        </a:solidFill>
                      </a:endParaRPr>
                    </a:p>
                  </a:txBody>
                  <a:tcPr marL="68580" marR="68580" marT="0" marB="0"/>
                </a:tc>
              </a:tr>
              <a:tr h="214314">
                <a:tc vMerge="1">
                  <a:tcPr>
                    <a:solidFill>
                      <a:schemeClr val="accent5"/>
                    </a:solidFill>
                  </a:tcPr>
                </a:tc>
                <a:tc>
                  <a:txBody>
                    <a:bodyPr/>
                    <a:lstStyle/>
                    <a:p>
                      <a:pPr indent="0">
                        <a:buNone/>
                      </a:pPr>
                      <a:r>
                        <a:rPr lang="en-US" altLang="zh-CN" sz="1800" b="1" dirty="0">
                          <a:solidFill>
                            <a:schemeClr val="tx1"/>
                          </a:solidFill>
                        </a:rPr>
                        <a:t>hinders +n </a:t>
                      </a:r>
                      <a:r>
                        <a:rPr lang="en-US" altLang="zh-CN" sz="1800" b="1" dirty="0" smtClean="0">
                          <a:solidFill>
                            <a:schemeClr val="tx1"/>
                          </a:solidFill>
                        </a:rPr>
                        <a:t>/</a:t>
                      </a:r>
                      <a:r>
                        <a:rPr lang="en-US" altLang="zh-CN" sz="1800" b="1" dirty="0" err="1" smtClean="0">
                          <a:solidFill>
                            <a:schemeClr val="tx1"/>
                          </a:solidFill>
                        </a:rPr>
                        <a:t>sb</a:t>
                      </a:r>
                      <a:r>
                        <a:rPr lang="en-US" altLang="zh-CN" sz="1800" b="1" dirty="0" smtClean="0">
                          <a:solidFill>
                            <a:schemeClr val="tx1"/>
                          </a:solidFill>
                        </a:rPr>
                        <a:t> from doing</a:t>
                      </a:r>
                      <a:r>
                        <a:rPr lang="en-US" altLang="zh-CN" sz="1800" b="1" baseline="0" dirty="0" smtClean="0">
                          <a:solidFill>
                            <a:schemeClr val="tx1"/>
                          </a:solidFill>
                        </a:rPr>
                        <a:t> </a:t>
                      </a:r>
                      <a:r>
                        <a:rPr lang="en-US" altLang="zh-CN" sz="1800" b="1" baseline="0" dirty="0" err="1" smtClean="0">
                          <a:solidFill>
                            <a:schemeClr val="tx1"/>
                          </a:solidFill>
                        </a:rPr>
                        <a:t>sth</a:t>
                      </a:r>
                      <a:r>
                        <a:rPr lang="en-US" altLang="zh-CN" sz="1800" b="1" baseline="0" dirty="0" smtClean="0">
                          <a:solidFill>
                            <a:schemeClr val="tx1"/>
                          </a:solidFill>
                        </a:rPr>
                        <a:t> </a:t>
                      </a:r>
                      <a:r>
                        <a:rPr lang="en-US" altLang="zh-CN" sz="1800" b="1" dirty="0" err="1" smtClean="0">
                          <a:solidFill>
                            <a:schemeClr val="tx1"/>
                          </a:solidFill>
                        </a:rPr>
                        <a:t>阻碍</a:t>
                      </a:r>
                      <a:endParaRPr lang="en-US" altLang="zh-CN" sz="1800" b="1" dirty="0">
                        <a:solidFill>
                          <a:schemeClr val="tx1"/>
                        </a:solidFill>
                      </a:endParaRPr>
                    </a:p>
                  </a:txBody>
                  <a:tcPr marL="68580" marR="68580" marT="0" marB="0"/>
                </a:tc>
              </a:tr>
              <a:tr h="154308">
                <a:tc vMerge="1">
                  <a:tcPr>
                    <a:solidFill>
                      <a:schemeClr val="accent5"/>
                    </a:solidFill>
                  </a:tcPr>
                </a:tc>
                <a:tc>
                  <a:txBody>
                    <a:bodyPr/>
                    <a:lstStyle/>
                    <a:p>
                      <a:pPr indent="0">
                        <a:buNone/>
                      </a:pPr>
                      <a:r>
                        <a:rPr lang="en-US" altLang="zh-CN" sz="1800" b="1" dirty="0">
                          <a:solidFill>
                            <a:schemeClr val="tx1"/>
                          </a:solidFill>
                        </a:rPr>
                        <a:t>has a devastating  effect on </a:t>
                      </a:r>
                      <a:endParaRPr lang="en-US" altLang="zh-CN" sz="1800" b="1" dirty="0">
                        <a:solidFill>
                          <a:schemeClr val="tx1"/>
                        </a:solidFill>
                      </a:endParaRPr>
                    </a:p>
                  </a:txBody>
                  <a:tcPr marL="68580" marR="68580" marT="0" marB="0"/>
                </a:tc>
              </a:tr>
              <a:tr h="308616">
                <a:tc vMerge="1">
                  <a:tcPr>
                    <a:solidFill>
                      <a:schemeClr val="accent5"/>
                    </a:solidFill>
                  </a:tcPr>
                </a:tc>
                <a:tc>
                  <a:txBody>
                    <a:bodyPr/>
                    <a:lstStyle/>
                    <a:p>
                      <a:pPr indent="0">
                        <a:buNone/>
                      </a:pPr>
                      <a:r>
                        <a:rPr lang="en-US" altLang="zh-CN" sz="1800" b="1" dirty="0" smtClean="0">
                          <a:solidFill>
                            <a:schemeClr val="tx1"/>
                          </a:solidFill>
                        </a:rPr>
                        <a:t>poses a threat</a:t>
                      </a:r>
                      <a:r>
                        <a:rPr lang="en-US" altLang="zh-CN" sz="1800" b="1" baseline="0" dirty="0" smtClean="0">
                          <a:solidFill>
                            <a:schemeClr val="tx1"/>
                          </a:solidFill>
                        </a:rPr>
                        <a:t> to </a:t>
                      </a:r>
                      <a:r>
                        <a:rPr lang="zh-CN" altLang="en-US" sz="1800" b="1" baseline="0" dirty="0" smtClean="0">
                          <a:solidFill>
                            <a:schemeClr val="tx1"/>
                          </a:solidFill>
                        </a:rPr>
                        <a:t>对</a:t>
                      </a:r>
                      <a:r>
                        <a:rPr lang="en-US" altLang="zh-CN" sz="1800" b="1" baseline="0" dirty="0" smtClean="0">
                          <a:solidFill>
                            <a:schemeClr val="tx1"/>
                          </a:solidFill>
                        </a:rPr>
                        <a:t>……</a:t>
                      </a:r>
                      <a:r>
                        <a:rPr lang="zh-CN" altLang="en-US" sz="1800" b="1" baseline="0" dirty="0" smtClean="0">
                          <a:solidFill>
                            <a:schemeClr val="tx1"/>
                          </a:solidFill>
                        </a:rPr>
                        <a:t>造成威胁</a:t>
                      </a:r>
                      <a:r>
                        <a:rPr lang="en-US" altLang="zh-CN" sz="1800" b="1" dirty="0" smtClean="0">
                          <a:solidFill>
                            <a:schemeClr val="tx1"/>
                          </a:solidFill>
                        </a:rPr>
                        <a:t> </a:t>
                      </a:r>
                      <a:endParaRPr lang="en-US" altLang="zh-CN" sz="1800" b="1" dirty="0">
                        <a:solidFill>
                          <a:schemeClr val="tx1"/>
                        </a:solidFill>
                      </a:endParaRPr>
                    </a:p>
                  </a:txBody>
                  <a:tcPr marL="68580" marR="68580" marT="0" marB="0"/>
                </a:tc>
              </a:tr>
              <a:tr h="395107">
                <a:tc vMerge="1">
                  <a:tcPr>
                    <a:solidFill>
                      <a:schemeClr val="accent5"/>
                    </a:solidFill>
                  </a:tcPr>
                </a:tc>
                <a:tc>
                  <a:txBody>
                    <a:bodyPr/>
                    <a:lstStyle/>
                    <a:p>
                      <a:pPr indent="0">
                        <a:buNone/>
                      </a:pPr>
                      <a:r>
                        <a:rPr lang="en-US" altLang="zh-CN" sz="1800" b="1" dirty="0" smtClean="0">
                          <a:solidFill>
                            <a:schemeClr val="tx1"/>
                          </a:solidFill>
                        </a:rPr>
                        <a:t>poses pressure on </a:t>
                      </a:r>
                      <a:r>
                        <a:rPr lang="zh-CN" altLang="en-US" sz="1800" b="1" dirty="0" smtClean="0">
                          <a:solidFill>
                            <a:schemeClr val="tx1"/>
                          </a:solidFill>
                        </a:rPr>
                        <a:t>对</a:t>
                      </a:r>
                      <a:r>
                        <a:rPr lang="en-US" altLang="zh-CN" sz="1800" b="1" dirty="0" smtClean="0">
                          <a:solidFill>
                            <a:schemeClr val="tx1"/>
                          </a:solidFill>
                        </a:rPr>
                        <a:t>……</a:t>
                      </a:r>
                      <a:r>
                        <a:rPr lang="zh-CN" altLang="en-US" sz="1800" b="1" dirty="0" smtClean="0">
                          <a:solidFill>
                            <a:schemeClr val="tx1"/>
                          </a:solidFill>
                        </a:rPr>
                        <a:t>造成压力</a:t>
                      </a:r>
                      <a:r>
                        <a:rPr lang="en-US" altLang="zh-CN" sz="1800" b="1" dirty="0" smtClean="0">
                          <a:solidFill>
                            <a:schemeClr val="tx1"/>
                          </a:solidFill>
                        </a:rPr>
                        <a:t> </a:t>
                      </a:r>
                      <a:endParaRPr lang="en-US" altLang="zh-CN" sz="1800" b="1" dirty="0">
                        <a:solidFill>
                          <a:schemeClr val="tx1"/>
                        </a:solidFill>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p:cNvSpPr>
          <p:nvPr>
            <p:ph type="title"/>
          </p:nvPr>
        </p:nvSpPr>
        <p:spPr>
          <a:xfrm>
            <a:off x="500063" y="714375"/>
            <a:ext cx="5357812" cy="500063"/>
          </a:xfrm>
        </p:spPr>
        <p:txBody>
          <a:bodyPr/>
          <a:lstStyle/>
          <a:p>
            <a:r>
              <a:rPr lang="zh-CN" altLang="en-US" dirty="0" smtClean="0">
                <a:solidFill>
                  <a:schemeClr val="tx1"/>
                </a:solidFill>
              </a:rPr>
              <a:t>常用</a:t>
            </a:r>
            <a:r>
              <a:rPr lang="zh-CN" altLang="en-US" dirty="0" smtClean="0">
                <a:solidFill>
                  <a:schemeClr val="tx1"/>
                </a:solidFill>
              </a:rPr>
              <a:t>定从（二）</a:t>
            </a:r>
            <a:endParaRPr lang="zh-CN" altLang="en-US" dirty="0" smtClean="0">
              <a:solidFill>
                <a:schemeClr val="tx1"/>
              </a:solidFill>
            </a:endParaRPr>
          </a:p>
        </p:txBody>
      </p:sp>
      <p:sp>
        <p:nvSpPr>
          <p:cNvPr id="25602" name="内容占位符 2"/>
          <p:cNvSpPr>
            <a:spLocks noGrp="1"/>
          </p:cNvSpPr>
          <p:nvPr>
            <p:ph idx="1"/>
          </p:nvPr>
        </p:nvSpPr>
        <p:spPr>
          <a:xfrm>
            <a:off x="457200" y="1428750"/>
            <a:ext cx="8229600" cy="3303588"/>
          </a:xfrm>
        </p:spPr>
        <p:txBody>
          <a:bodyPr/>
          <a:lstStyle/>
          <a:p>
            <a:pPr>
              <a:buFont typeface="Wingdings" panose="05000000000000000000" pitchFamily="2" charset="2"/>
              <a:buChar char="Ø"/>
            </a:pPr>
            <a:r>
              <a:rPr lang="en-US" altLang="zh-CN" b="1" dirty="0" smtClean="0">
                <a:solidFill>
                  <a:srgbClr val="FF0000"/>
                </a:solidFill>
                <a:latin typeface="华文细黑" panose="02010600040101010101" charset="-122"/>
                <a:ea typeface="华文细黑" panose="02010600040101010101" charset="-122"/>
                <a:cs typeface="华文细黑" panose="02010600040101010101" charset="-122"/>
              </a:rPr>
              <a:t>Those who , </a:t>
            </a:r>
            <a:r>
              <a:rPr lang="zh-CN" altLang="en-US" b="1" dirty="0" smtClean="0">
                <a:solidFill>
                  <a:srgbClr val="FF0000"/>
                </a:solidFill>
                <a:latin typeface="华文细黑" panose="02010600040101010101" charset="-122"/>
                <a:ea typeface="华文细黑" panose="02010600040101010101" charset="-122"/>
                <a:cs typeface="华文细黑" panose="02010600040101010101" charset="-122"/>
              </a:rPr>
              <a:t>那些</a:t>
            </a:r>
            <a:r>
              <a:rPr lang="en-US" altLang="zh-CN" b="1" dirty="0" smtClean="0">
                <a:solidFill>
                  <a:srgbClr val="FF0000"/>
                </a:solidFill>
                <a:latin typeface="华文细黑" panose="02010600040101010101" charset="-122"/>
                <a:ea typeface="华文细黑" panose="02010600040101010101" charset="-122"/>
                <a:cs typeface="华文细黑" panose="02010600040101010101" charset="-122"/>
              </a:rPr>
              <a:t>……</a:t>
            </a:r>
            <a:r>
              <a:rPr lang="zh-CN" altLang="en-US" b="1" dirty="0" smtClean="0">
                <a:solidFill>
                  <a:srgbClr val="FF0000"/>
                </a:solidFill>
                <a:latin typeface="华文细黑" panose="02010600040101010101" charset="-122"/>
                <a:ea typeface="华文细黑" panose="02010600040101010101" charset="-122"/>
                <a:cs typeface="华文细黑" panose="02010600040101010101" charset="-122"/>
              </a:rPr>
              <a:t>样的人</a:t>
            </a:r>
            <a:endParaRPr lang="zh-CN" altLang="en-US" b="1" dirty="0" smtClean="0">
              <a:solidFill>
                <a:srgbClr val="FF0000"/>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r>
              <a:rPr lang="en-US" altLang="zh-CN" b="1" dirty="0" smtClean="0">
                <a:solidFill>
                  <a:srgbClr val="FF0000"/>
                </a:solidFill>
                <a:latin typeface="华文细黑" panose="02010600040101010101" charset="-122"/>
                <a:ea typeface="华文细黑" panose="02010600040101010101" charset="-122"/>
                <a:cs typeface="华文细黑" panose="02010600040101010101" charset="-122"/>
              </a:rPr>
              <a:t>Those students who...</a:t>
            </a:r>
            <a:endParaRPr lang="en-US" altLang="zh-CN" b="1" dirty="0" smtClean="0">
              <a:solidFill>
                <a:srgbClr val="FF0000"/>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r>
              <a:rPr lang="en-US" altLang="zh-CN" b="1" dirty="0" smtClean="0">
                <a:solidFill>
                  <a:srgbClr val="FF0000"/>
                </a:solidFill>
                <a:latin typeface="华文细黑" panose="02010600040101010101" charset="-122"/>
                <a:ea typeface="华文细黑" panose="02010600040101010101" charset="-122"/>
                <a:cs typeface="华文细黑" panose="02010600040101010101" charset="-122"/>
              </a:rPr>
              <a:t>Those elders who....</a:t>
            </a:r>
            <a:endParaRPr lang="en-US" altLang="zh-CN" b="1" dirty="0" smtClean="0">
              <a:solidFill>
                <a:srgbClr val="FF0000"/>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rPr>
              <a:t>Those </a:t>
            </a:r>
            <a:r>
              <a:rPr lang="en-US" altLang="zh-CN" b="1" u="sng" dirty="0" smtClean="0">
                <a:solidFill>
                  <a:srgbClr val="FF0000"/>
                </a:solidFill>
                <a:latin typeface="华文细黑" panose="02010600040101010101" charset="-122"/>
                <a:ea typeface="华文细黑" panose="02010600040101010101" charset="-122"/>
                <a:cs typeface="华文细黑" panose="02010600040101010101" charset="-122"/>
              </a:rPr>
              <a:t>who cannot focus on class </a:t>
            </a: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rPr>
              <a:t>lack self-control. </a:t>
            </a:r>
            <a:endParaRPr lang="en-US" altLang="zh-CN" dirty="0" smtClean="0">
              <a:solidFill>
                <a:schemeClr val="tx1"/>
              </a:solidFill>
              <a:latin typeface="华文细黑" panose="02010600040101010101" charset="-122"/>
              <a:ea typeface="华文细黑" panose="02010600040101010101" charset="-122"/>
              <a:cs typeface="华文细黑" panose="02010600040101010101" charset="-122"/>
            </a:endParaRPr>
          </a:p>
          <a:p>
            <a:pPr>
              <a:buFont typeface="Wingdings" panose="05000000000000000000" pitchFamily="2" charset="2"/>
              <a:buChar char="Ø"/>
            </a:pP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rPr>
              <a:t>Those </a:t>
            </a:r>
            <a:r>
              <a:rPr lang="en-US" altLang="zh-CN" b="1" u="sng" dirty="0" smtClean="0">
                <a:solidFill>
                  <a:srgbClr val="FF0000"/>
                </a:solidFill>
                <a:latin typeface="华文细黑" panose="02010600040101010101" charset="-122"/>
                <a:ea typeface="华文细黑" panose="02010600040101010101" charset="-122"/>
                <a:cs typeface="华文细黑" panose="02010600040101010101" charset="-122"/>
              </a:rPr>
              <a:t>who do not know the psychology of consumers</a:t>
            </a: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rPr>
              <a:t> cannot sell. </a:t>
            </a:r>
            <a:endParaRPr lang="en-US" altLang="zh-CN" dirty="0" smtClean="0">
              <a:solidFill>
                <a:schemeClr val="tx1"/>
              </a:solidFill>
              <a:latin typeface="华文细黑" panose="02010600040101010101" charset="-122"/>
              <a:ea typeface="华文细黑" panose="02010600040101010101" charset="-122"/>
              <a:cs typeface="华文细黑" panose="02010600040101010101"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例句</a:t>
            </a:r>
            <a:endParaRPr lang="zh-CN" altLang="en-US">
              <a:solidFill>
                <a:schemeClr val="tx1"/>
              </a:solidFill>
            </a:endParaRPr>
          </a:p>
        </p:txBody>
      </p:sp>
      <p:sp>
        <p:nvSpPr>
          <p:cNvPr id="3" name="内容占位符 2"/>
          <p:cNvSpPr>
            <a:spLocks noGrp="1"/>
          </p:cNvSpPr>
          <p:nvPr>
            <p:ph idx="1"/>
          </p:nvPr>
        </p:nvSpPr>
        <p:spPr>
          <a:xfrm>
            <a:off x="457200" y="1367790"/>
            <a:ext cx="8268335" cy="3488055"/>
          </a:xfrm>
        </p:spPr>
        <p:txBody>
          <a:bodyPr/>
          <a:lstStyle/>
          <a:p>
            <a:pPr>
              <a:lnSpc>
                <a:spcPct val="150000"/>
              </a:lnSpc>
              <a:buFont typeface="Arial" panose="020B0604020202020204" pitchFamily="34" charset="0"/>
              <a:buChar char="•"/>
            </a:pPr>
            <a:r>
              <a:rPr sz="1800" smtClean="0">
                <a:solidFill>
                  <a:schemeClr val="tx1"/>
                </a:solidFill>
                <a:latin typeface="Times New Roman" panose="02020603050405020304" charset="0"/>
                <a:cs typeface="Times New Roman" panose="02020603050405020304" charset="0"/>
                <a:sym typeface="+mn-ea"/>
              </a:rPr>
              <a:t>选择出国留学的学生需要学英语</a:t>
            </a:r>
            <a:endParaRPr lang="en-US" altLang="zh-CN" sz="1800" smtClean="0">
              <a:solidFill>
                <a:schemeClr val="tx1"/>
              </a:solidFill>
              <a:latin typeface="Times New Roman" panose="02020603050405020304" charset="0"/>
              <a:cs typeface="Times New Roman" panose="02020603050405020304" charset="0"/>
              <a:sym typeface="+mn-ea"/>
            </a:endParaRPr>
          </a:p>
          <a:p>
            <a:pPr>
              <a:lnSpc>
                <a:spcPct val="150000"/>
              </a:lnSpc>
              <a:buFont typeface="Arial" panose="020B0604020202020204" pitchFamily="34" charset="0"/>
              <a:buChar char="•"/>
            </a:pPr>
            <a:r>
              <a:rPr lang="en-US" altLang="zh-CN" sz="1800" smtClean="0">
                <a:solidFill>
                  <a:schemeClr val="tx1"/>
                </a:solidFill>
                <a:latin typeface="Times New Roman" panose="02020603050405020304" charset="0"/>
                <a:cs typeface="Times New Roman" panose="02020603050405020304" charset="0"/>
                <a:sym typeface="+mn-ea"/>
              </a:rPr>
              <a:t>The students choosing to study abroad need to learn English.</a:t>
            </a:r>
            <a:endParaRPr lang="en-US" altLang="zh-CN" sz="1800" dirty="0" smtClean="0">
              <a:solidFill>
                <a:schemeClr val="tx1"/>
              </a:solidFill>
              <a:latin typeface="Times New Roman" panose="02020603050405020304" charset="0"/>
              <a:cs typeface="Times New Roman" panose="02020603050405020304" charset="0"/>
            </a:endParaRPr>
          </a:p>
          <a:p>
            <a:pPr>
              <a:lnSpc>
                <a:spcPct val="150000"/>
              </a:lnSpc>
              <a:buFont typeface="Arial" panose="020B0604020202020204" pitchFamily="34" charset="0"/>
              <a:buChar char="•"/>
            </a:pPr>
            <a:r>
              <a:rPr sz="1800" smtClean="0">
                <a:solidFill>
                  <a:schemeClr val="tx1"/>
                </a:solidFill>
                <a:latin typeface="Times New Roman" panose="02020603050405020304" charset="0"/>
                <a:cs typeface="Times New Roman" panose="02020603050405020304" charset="0"/>
                <a:sym typeface="+mn-ea"/>
              </a:rPr>
              <a:t>计划发展旅游业的国家需要多收税。</a:t>
            </a:r>
            <a:endParaRPr lang="en-US" altLang="zh-CN" sz="1800" dirty="0" smtClean="0">
              <a:solidFill>
                <a:schemeClr val="tx1"/>
              </a:solidFill>
              <a:latin typeface="Times New Roman" panose="02020603050405020304" charset="0"/>
              <a:cs typeface="Times New Roman" panose="02020603050405020304" charset="0"/>
            </a:endParaRPr>
          </a:p>
          <a:p>
            <a:pPr>
              <a:lnSpc>
                <a:spcPct val="150000"/>
              </a:lnSpc>
              <a:buFont typeface="Arial" panose="020B0604020202020204" pitchFamily="34" charset="0"/>
              <a:buChar char="•"/>
            </a:pPr>
            <a:r>
              <a:rPr lang="en-US" altLang="zh-CN" sz="1800" smtClean="0">
                <a:solidFill>
                  <a:schemeClr val="tx1"/>
                </a:solidFill>
                <a:latin typeface="Times New Roman" panose="02020603050405020304" charset="0"/>
                <a:cs typeface="Times New Roman" panose="02020603050405020304" charset="0"/>
                <a:sym typeface="+mn-ea"/>
              </a:rPr>
              <a:t>The countries planning to develop tourism industry need to collect more taxes. </a:t>
            </a:r>
            <a:endParaRPr lang="en-US" altLang="zh-CN" sz="1800" dirty="0" smtClean="0">
              <a:solidFill>
                <a:schemeClr val="tx1"/>
              </a:solidFill>
              <a:latin typeface="Times New Roman" panose="02020603050405020304" charset="0"/>
              <a:cs typeface="Times New Roman" panose="02020603050405020304" charset="0"/>
            </a:endParaRPr>
          </a:p>
          <a:p>
            <a:pPr>
              <a:lnSpc>
                <a:spcPct val="150000"/>
              </a:lnSpc>
              <a:buFont typeface="Arial" panose="020B0604020202020204" pitchFamily="34" charset="0"/>
              <a:buChar char="•"/>
            </a:pPr>
            <a:r>
              <a:rPr sz="1800" smtClean="0">
                <a:solidFill>
                  <a:schemeClr val="tx1"/>
                </a:solidFill>
                <a:latin typeface="Times New Roman" panose="02020603050405020304" charset="0"/>
                <a:cs typeface="Times New Roman" panose="02020603050405020304" charset="0"/>
                <a:sym typeface="+mn-ea"/>
              </a:rPr>
              <a:t>花大量时间在社交媒体上的学生可能在面对面交流的时候表现不活跃。</a:t>
            </a:r>
            <a:endParaRPr lang="en-US" altLang="zh-CN" sz="1800" dirty="0" smtClean="0">
              <a:solidFill>
                <a:schemeClr val="tx1"/>
              </a:solidFill>
              <a:latin typeface="Times New Roman" panose="02020603050405020304" charset="0"/>
              <a:cs typeface="Times New Roman" panose="02020603050405020304" charset="0"/>
            </a:endParaRPr>
          </a:p>
          <a:p>
            <a:pPr>
              <a:lnSpc>
                <a:spcPct val="150000"/>
              </a:lnSpc>
              <a:buFont typeface="Arial" panose="020B0604020202020204" pitchFamily="34" charset="0"/>
              <a:buChar char="•"/>
            </a:pPr>
            <a:r>
              <a:rPr lang="en-US" altLang="zh-CN" sz="1800">
                <a:solidFill>
                  <a:schemeClr val="tx1"/>
                </a:solidFill>
                <a:latin typeface="Times New Roman" panose="02020603050405020304" charset="0"/>
                <a:cs typeface="Times New Roman" panose="02020603050405020304" charset="0"/>
                <a:sym typeface="+mn-ea"/>
              </a:rPr>
              <a:t>The students spending a great amount of time on social media may be inactive in face-to-face communication.</a:t>
            </a:r>
            <a:endParaRPr lang="en-US" altLang="zh-CN" sz="1800">
              <a:solidFill>
                <a:schemeClr val="tx1"/>
              </a:solidFill>
              <a:latin typeface="Times New Roman" panose="02020603050405020304" charset="0"/>
              <a:cs typeface="Times New Roman" panose="020206030504050203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chemeClr val="tx1"/>
                </a:solidFill>
                <a:latin typeface="Times New Roman" panose="02020603050405020304" charset="0"/>
                <a:cs typeface="Times New Roman" panose="02020603050405020304" charset="0"/>
              </a:rPr>
              <a:t>done </a:t>
            </a:r>
            <a:r>
              <a:rPr lang="zh-CN" altLang="en-US">
                <a:solidFill>
                  <a:schemeClr val="tx1"/>
                </a:solidFill>
                <a:latin typeface="Times New Roman" panose="02020603050405020304" charset="0"/>
                <a:cs typeface="Times New Roman" panose="02020603050405020304" charset="0"/>
              </a:rPr>
              <a:t>做后置定语</a:t>
            </a:r>
            <a:endParaRPr lang="zh-CN" altLang="en-US">
              <a:solidFill>
                <a:schemeClr val="tx1"/>
              </a:solidFill>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32435" y="1297305"/>
            <a:ext cx="8254365" cy="3715385"/>
          </a:xfrm>
        </p:spPr>
        <p:txBody>
          <a:bodyPr/>
          <a:lstStyle/>
          <a:p>
            <a:pPr algn="l">
              <a:lnSpc>
                <a:spcPct val="140000"/>
              </a:lnSpc>
              <a:buFont typeface="Wingdings" panose="05000000000000000000" pitchFamily="2" charset="2"/>
              <a:buChar char="Ø"/>
            </a:pPr>
            <a:r>
              <a:rPr lang="en-US" altLang="zh-CN" sz="1600" smtClean="0">
                <a:solidFill>
                  <a:schemeClr val="tx1"/>
                </a:solidFill>
                <a:latin typeface="华文细黑" panose="02010600040101010101" charset="-122"/>
                <a:ea typeface="华文细黑" panose="02010600040101010101" charset="-122"/>
                <a:cs typeface="华文细黑" panose="02010600040101010101" charset="-122"/>
                <a:sym typeface="+mn-ea"/>
              </a:rPr>
              <a:t>There are many children that are addicted to watching TV. </a:t>
            </a:r>
            <a:endParaRPr lang="en-US" altLang="zh-CN" sz="1600"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40000"/>
              </a:lnSpc>
              <a:buFont typeface="Wingdings" panose="05000000000000000000" pitchFamily="2" charset="2"/>
              <a:buChar char="Ø"/>
            </a:pPr>
            <a:r>
              <a:rPr lang="en-US" altLang="zh-CN" sz="1600" smtClean="0">
                <a:solidFill>
                  <a:schemeClr val="tx1"/>
                </a:solidFill>
                <a:latin typeface="华文细黑" panose="02010600040101010101" charset="-122"/>
                <a:ea typeface="华文细黑" panose="02010600040101010101" charset="-122"/>
                <a:cs typeface="华文细黑" panose="02010600040101010101" charset="-122"/>
                <a:sym typeface="+mn-ea"/>
              </a:rPr>
              <a:t>that = children</a:t>
            </a:r>
            <a:endParaRPr lang="en-US" altLang="zh-CN" sz="1600"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40000"/>
              </a:lnSpc>
              <a:buFont typeface="Wingdings" panose="05000000000000000000" pitchFamily="2" charset="2"/>
              <a:buChar char="Ø"/>
            </a:pPr>
            <a:r>
              <a:rPr lang="en-US" altLang="zh-CN" sz="1600" smtClean="0">
                <a:solidFill>
                  <a:schemeClr val="tx1"/>
                </a:solidFill>
                <a:latin typeface="华文细黑" panose="02010600040101010101" charset="-122"/>
                <a:ea typeface="华文细黑" panose="02010600040101010101" charset="-122"/>
                <a:cs typeface="华文细黑" panose="02010600040101010101" charset="-122"/>
                <a:sym typeface="+mn-ea"/>
              </a:rPr>
              <a:t>不喜欢重复</a:t>
            </a:r>
            <a:endParaRPr lang="en-US" altLang="zh-CN" sz="1600"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40000"/>
              </a:lnSpc>
              <a:buFont typeface="Wingdings" panose="05000000000000000000" pitchFamily="2" charset="2"/>
              <a:buChar char="Ø"/>
            </a:pPr>
            <a:r>
              <a:rPr lang="en-US" altLang="zh-CN" sz="1600" smtClean="0">
                <a:solidFill>
                  <a:schemeClr val="tx1"/>
                </a:solidFill>
                <a:latin typeface="华文细黑" panose="02010600040101010101" charset="-122"/>
                <a:ea typeface="华文细黑" panose="02010600040101010101" charset="-122"/>
                <a:cs typeface="华文细黑" panose="02010600040101010101" charset="-122"/>
                <a:sym typeface="+mn-ea"/>
              </a:rPr>
              <a:t>省略that</a:t>
            </a:r>
            <a:endParaRPr lang="en-US" altLang="zh-CN" sz="1600"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40000"/>
              </a:lnSpc>
              <a:buFont typeface="Wingdings" panose="05000000000000000000" pitchFamily="2" charset="2"/>
              <a:buChar char="Ø"/>
            </a:pPr>
            <a:r>
              <a:rPr lang="en-US" altLang="zh-CN" sz="1600" smtClean="0">
                <a:solidFill>
                  <a:schemeClr val="tx1"/>
                </a:solidFill>
                <a:latin typeface="华文细黑" panose="02010600040101010101" charset="-122"/>
                <a:ea typeface="华文细黑" panose="02010600040101010101" charset="-122"/>
                <a:cs typeface="华文细黑" panose="02010600040101010101" charset="-122"/>
                <a:sym typeface="+mn-ea"/>
              </a:rPr>
              <a:t>定语从句无主语---就不再是定语从句</a:t>
            </a:r>
            <a:endParaRPr lang="en-US" altLang="zh-CN" sz="1600"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40000"/>
              </a:lnSpc>
              <a:buFont typeface="Wingdings" panose="05000000000000000000" pitchFamily="2" charset="2"/>
              <a:buChar char="Ø"/>
            </a:pPr>
            <a:r>
              <a:rPr lang="en-US" altLang="zh-CN" sz="1600" smtClean="0">
                <a:solidFill>
                  <a:schemeClr val="tx1"/>
                </a:solidFill>
                <a:latin typeface="华文细黑" panose="02010600040101010101" charset="-122"/>
                <a:ea typeface="华文细黑" panose="02010600040101010101" charset="-122"/>
                <a:cs typeface="华文细黑" panose="02010600040101010101" charset="-122"/>
                <a:sym typeface="+mn-ea"/>
              </a:rPr>
              <a:t>are addicted to 这个谓语动词就要变成---非谓语</a:t>
            </a:r>
            <a:endParaRPr lang="en-US" altLang="zh-CN" sz="1600"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40000"/>
              </a:lnSpc>
              <a:buFont typeface="Wingdings" panose="05000000000000000000" pitchFamily="2" charset="2"/>
              <a:buChar char="Ø"/>
            </a:pPr>
            <a:r>
              <a:rPr lang="en-US" altLang="zh-CN" sz="1600" smtClean="0">
                <a:solidFill>
                  <a:schemeClr val="tx1"/>
                </a:solidFill>
                <a:latin typeface="华文细黑" panose="02010600040101010101" charset="-122"/>
                <a:ea typeface="华文细黑" panose="02010600040101010101" charset="-122"/>
                <a:cs typeface="华文细黑" panose="02010600040101010101" charset="-122"/>
                <a:sym typeface="+mn-ea"/>
              </a:rPr>
              <a:t>非谓语有三个选项：doing/done/to do  </a:t>
            </a:r>
            <a:endParaRPr lang="en-US" altLang="zh-CN" sz="1600"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40000"/>
              </a:lnSpc>
              <a:buFont typeface="Wingdings" panose="05000000000000000000" pitchFamily="2" charset="2"/>
              <a:buChar char="Ø"/>
            </a:pPr>
            <a:r>
              <a:rPr lang="en-US" altLang="zh-CN" sz="1600" smtClean="0">
                <a:solidFill>
                  <a:schemeClr val="tx1"/>
                </a:solidFill>
                <a:latin typeface="华文细黑" panose="02010600040101010101" charset="-122"/>
                <a:ea typeface="华文细黑" panose="02010600040101010101" charset="-122"/>
                <a:cs typeface="华文细黑" panose="02010600040101010101" charset="-122"/>
                <a:sym typeface="+mn-ea"/>
              </a:rPr>
              <a:t>因为 children 和 addict 是被动关系，所以用done</a:t>
            </a:r>
            <a:endParaRPr lang="en-US" altLang="zh-CN" sz="1600" smtClean="0">
              <a:solidFill>
                <a:schemeClr val="tx1"/>
              </a:solidFill>
              <a:latin typeface="华文细黑" panose="02010600040101010101" charset="-122"/>
              <a:ea typeface="华文细黑" panose="02010600040101010101" charset="-122"/>
              <a:cs typeface="华文细黑" panose="02010600040101010101" charset="-122"/>
            </a:endParaRPr>
          </a:p>
          <a:p>
            <a:pPr algn="l">
              <a:lnSpc>
                <a:spcPct val="140000"/>
              </a:lnSpc>
              <a:buFont typeface="Wingdings" panose="05000000000000000000" pitchFamily="2" charset="2"/>
              <a:buChar char="Ø"/>
            </a:pPr>
            <a:r>
              <a:rPr lang="en-US" altLang="zh-CN" sz="1600" smtClean="0">
                <a:solidFill>
                  <a:schemeClr val="tx1"/>
                </a:solidFill>
                <a:latin typeface="华文细黑" panose="02010600040101010101" charset="-122"/>
                <a:ea typeface="华文细黑" panose="02010600040101010101" charset="-122"/>
                <a:cs typeface="华文细黑" panose="02010600040101010101" charset="-122"/>
                <a:sym typeface="+mn-ea"/>
              </a:rPr>
              <a:t>There are many children addicted to watching TV.</a:t>
            </a:r>
            <a:r>
              <a:rPr lang="en-US" altLang="zh-CN" sz="1800" dirty="0" smtClean="0">
                <a:solidFill>
                  <a:srgbClr val="FF0000"/>
                </a:solidFill>
                <a:latin typeface="华文细黑" panose="02010600040101010101" charset="-122"/>
                <a:ea typeface="华文细黑" panose="02010600040101010101" charset="-122"/>
                <a:cs typeface="华文细黑" panose="02010600040101010101" charset="-122"/>
                <a:sym typeface="+mn-ea"/>
              </a:rPr>
              <a:t> </a:t>
            </a:r>
            <a:endParaRPr lang="en-US" altLang="zh-CN" sz="1800" dirty="0" smtClean="0">
              <a:solidFill>
                <a:srgbClr val="FF0000"/>
              </a:solidFill>
              <a:latin typeface="华文细黑" panose="02010600040101010101" charset="-122"/>
              <a:ea typeface="华文细黑" panose="02010600040101010101" charset="-122"/>
              <a:cs typeface="华文细黑" panose="0201060004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例句</a:t>
            </a:r>
            <a:endParaRPr lang="zh-CN" altLang="en-US">
              <a:solidFill>
                <a:schemeClr val="tx1"/>
              </a:solidFill>
            </a:endParaRPr>
          </a:p>
        </p:txBody>
      </p:sp>
      <p:sp>
        <p:nvSpPr>
          <p:cNvPr id="3" name="内容占位符 2"/>
          <p:cNvSpPr>
            <a:spLocks noGrp="1"/>
          </p:cNvSpPr>
          <p:nvPr>
            <p:ph idx="1"/>
          </p:nvPr>
        </p:nvSpPr>
        <p:spPr>
          <a:xfrm>
            <a:off x="440690" y="1337945"/>
            <a:ext cx="8736965" cy="3660140"/>
          </a:xfrm>
        </p:spPr>
        <p:txBody>
          <a:bodyPr/>
          <a:lstStyle/>
          <a:p>
            <a:pPr>
              <a:lnSpc>
                <a:spcPct val="180000"/>
              </a:lnSpc>
              <a:buFont typeface="Arial" panose="020B0604020202020204" pitchFamily="34" charset="0"/>
              <a:buChar char="•"/>
            </a:pPr>
            <a:r>
              <a:rPr sz="1800">
                <a:solidFill>
                  <a:schemeClr val="tx1"/>
                </a:solidFill>
                <a:latin typeface="Times New Roman" panose="02020603050405020304" charset="0"/>
                <a:cs typeface="Times New Roman" panose="02020603050405020304" charset="0"/>
                <a:sym typeface="+mn-ea"/>
              </a:rPr>
              <a:t>对游戏上瘾的学生不能集中精力在他们的学习上。</a:t>
            </a:r>
            <a:endParaRPr lang="en-US" altLang="zh-CN" sz="1800">
              <a:solidFill>
                <a:schemeClr val="tx1"/>
              </a:solidFill>
              <a:latin typeface="Times New Roman" panose="02020603050405020304" charset="0"/>
              <a:cs typeface="Times New Roman" panose="02020603050405020304" charset="0"/>
              <a:sym typeface="+mn-ea"/>
            </a:endParaRPr>
          </a:p>
          <a:p>
            <a:pPr>
              <a:lnSpc>
                <a:spcPct val="180000"/>
              </a:lnSpc>
              <a:buFont typeface="Arial" panose="020B0604020202020204" pitchFamily="34" charset="0"/>
              <a:buChar char="•"/>
            </a:pPr>
            <a:r>
              <a:rPr lang="en-US" altLang="zh-CN" sz="1800">
                <a:solidFill>
                  <a:schemeClr val="tx1"/>
                </a:solidFill>
                <a:latin typeface="Times New Roman" panose="02020603050405020304" charset="0"/>
                <a:cs typeface="Times New Roman" panose="02020603050405020304" charset="0"/>
                <a:sym typeface="+mn-ea"/>
              </a:rPr>
              <a:t>The students </a:t>
            </a:r>
            <a:r>
              <a:rPr lang="en-US" altLang="zh-CN" sz="1800" smtClean="0">
                <a:solidFill>
                  <a:schemeClr val="tx1"/>
                </a:solidFill>
                <a:latin typeface="Times New Roman" panose="02020603050405020304" charset="0"/>
                <a:cs typeface="Times New Roman" panose="02020603050405020304" charset="0"/>
                <a:sym typeface="+mn-ea"/>
              </a:rPr>
              <a:t>addicted </a:t>
            </a:r>
            <a:r>
              <a:rPr lang="en-US" altLang="zh-CN" sz="1800">
                <a:solidFill>
                  <a:schemeClr val="tx1"/>
                </a:solidFill>
                <a:latin typeface="Times New Roman" panose="02020603050405020304" charset="0"/>
                <a:cs typeface="Times New Roman" panose="02020603050405020304" charset="0"/>
                <a:sym typeface="+mn-ea"/>
              </a:rPr>
              <a:t>to video games cannot focus on their study</a:t>
            </a:r>
            <a:r>
              <a:rPr lang="en-US" altLang="zh-CN" sz="1800" smtClean="0">
                <a:solidFill>
                  <a:schemeClr val="tx1"/>
                </a:solidFill>
                <a:latin typeface="Times New Roman" panose="02020603050405020304" charset="0"/>
                <a:cs typeface="Times New Roman" panose="02020603050405020304" charset="0"/>
                <a:sym typeface="+mn-ea"/>
              </a:rPr>
              <a:t>.</a:t>
            </a:r>
            <a:endParaRPr lang="en-US" altLang="zh-CN" sz="1800" dirty="0" smtClean="0">
              <a:solidFill>
                <a:schemeClr val="tx1"/>
              </a:solidFill>
              <a:latin typeface="Times New Roman" panose="02020603050405020304" charset="0"/>
              <a:cs typeface="Times New Roman" panose="02020603050405020304" charset="0"/>
            </a:endParaRPr>
          </a:p>
          <a:p>
            <a:pPr>
              <a:lnSpc>
                <a:spcPct val="180000"/>
              </a:lnSpc>
              <a:buFont typeface="Arial" panose="020B0604020202020204" pitchFamily="34" charset="0"/>
              <a:buChar char="•"/>
            </a:pPr>
            <a:r>
              <a:rPr sz="1800" smtClean="0">
                <a:solidFill>
                  <a:schemeClr val="tx1"/>
                </a:solidFill>
                <a:latin typeface="Times New Roman" panose="02020603050405020304" charset="0"/>
                <a:cs typeface="Times New Roman" panose="02020603050405020304" charset="0"/>
                <a:sym typeface="+mn-ea"/>
              </a:rPr>
              <a:t>被广告影响的消费者不能理性购买。</a:t>
            </a:r>
            <a:endParaRPr lang="en-US" altLang="zh-CN" sz="1800" dirty="0" smtClean="0">
              <a:solidFill>
                <a:schemeClr val="tx1"/>
              </a:solidFill>
              <a:latin typeface="Times New Roman" panose="02020603050405020304" charset="0"/>
              <a:cs typeface="Times New Roman" panose="02020603050405020304" charset="0"/>
            </a:endParaRPr>
          </a:p>
          <a:p>
            <a:pPr>
              <a:lnSpc>
                <a:spcPct val="180000"/>
              </a:lnSpc>
              <a:buFont typeface="Arial" panose="020B0604020202020204" pitchFamily="34" charset="0"/>
              <a:buChar char="•"/>
            </a:pPr>
            <a:r>
              <a:rPr lang="en-US" altLang="zh-CN" sz="1800" smtClean="0">
                <a:solidFill>
                  <a:schemeClr val="tx1"/>
                </a:solidFill>
                <a:latin typeface="Times New Roman" panose="02020603050405020304" charset="0"/>
                <a:cs typeface="Times New Roman" panose="02020603050405020304" charset="0"/>
                <a:sym typeface="+mn-ea"/>
              </a:rPr>
              <a:t>The customers influenced by advertisements cannot buy things rationally. </a:t>
            </a:r>
            <a:endParaRPr lang="en-US" altLang="zh-CN" sz="1800" dirty="0" smtClean="0">
              <a:solidFill>
                <a:schemeClr val="tx1"/>
              </a:solidFill>
              <a:latin typeface="Times New Roman" panose="02020603050405020304" charset="0"/>
              <a:cs typeface="Times New Roman" panose="02020603050405020304" charset="0"/>
            </a:endParaRPr>
          </a:p>
          <a:p>
            <a:pPr>
              <a:lnSpc>
                <a:spcPct val="180000"/>
              </a:lnSpc>
              <a:buFont typeface="Arial" panose="020B0604020202020204" pitchFamily="34" charset="0"/>
              <a:buChar char="•"/>
            </a:pPr>
            <a:r>
              <a:rPr sz="1800" smtClean="0">
                <a:solidFill>
                  <a:schemeClr val="tx1"/>
                </a:solidFill>
                <a:latin typeface="Times New Roman" panose="02020603050405020304" charset="0"/>
                <a:cs typeface="Times New Roman" panose="02020603050405020304" charset="0"/>
                <a:sym typeface="+mn-ea"/>
              </a:rPr>
              <a:t>被家长惯坏的孩子不能独立地做决定。</a:t>
            </a:r>
            <a:endParaRPr lang="en-US" altLang="zh-CN" sz="1800" dirty="0" smtClean="0">
              <a:solidFill>
                <a:schemeClr val="tx1"/>
              </a:solidFill>
              <a:latin typeface="Times New Roman" panose="02020603050405020304" charset="0"/>
              <a:cs typeface="Times New Roman" panose="02020603050405020304" charset="0"/>
            </a:endParaRPr>
          </a:p>
          <a:p>
            <a:pPr>
              <a:lnSpc>
                <a:spcPct val="180000"/>
              </a:lnSpc>
              <a:buFont typeface="Arial" panose="020B0604020202020204" pitchFamily="34" charset="0"/>
              <a:buChar char="•"/>
            </a:pPr>
            <a:r>
              <a:rPr lang="en-US" altLang="zh-CN" sz="1800" smtClean="0">
                <a:solidFill>
                  <a:schemeClr val="tx1"/>
                </a:solidFill>
                <a:latin typeface="Times New Roman" panose="02020603050405020304" charset="0"/>
                <a:cs typeface="Times New Roman" panose="02020603050405020304" charset="0"/>
                <a:sym typeface="+mn-ea"/>
              </a:rPr>
              <a:t>The children spoiled by their parents usually cannot make decisions independently.  </a:t>
            </a:r>
            <a:endParaRPr lang="en-US" altLang="zh-CN" sz="1800" smtClean="0">
              <a:solidFill>
                <a:schemeClr val="tx1"/>
              </a:solidFill>
              <a:latin typeface="Times New Roman" panose="02020603050405020304" charset="0"/>
              <a:cs typeface="Times New Roman" panose="020206030504050203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⑥</a:t>
            </a:r>
            <a:r>
              <a:rPr lang="en-US" altLang="zh-CN">
                <a:solidFill>
                  <a:schemeClr val="tx1"/>
                </a:solidFill>
                <a:latin typeface="+mj-lt"/>
                <a:cs typeface="+mj-lt"/>
              </a:rPr>
              <a:t> </a:t>
            </a:r>
            <a:r>
              <a:rPr lang="zh-CN" altLang="en-US">
                <a:solidFill>
                  <a:schemeClr val="tx1"/>
                </a:solidFill>
                <a:latin typeface="+mj-lt"/>
                <a:cs typeface="+mj-lt"/>
              </a:rPr>
              <a:t>形容词短语做后置定语</a:t>
            </a:r>
            <a:endParaRPr lang="zh-CN" altLang="en-US">
              <a:solidFill>
                <a:schemeClr val="tx1"/>
              </a:solidFill>
              <a:latin typeface="+mj-lt"/>
              <a:cs typeface="+mj-lt"/>
            </a:endParaRPr>
          </a:p>
        </p:txBody>
      </p:sp>
      <p:sp>
        <p:nvSpPr>
          <p:cNvPr id="3" name="内容占位符 2"/>
          <p:cNvSpPr>
            <a:spLocks noGrp="1"/>
          </p:cNvSpPr>
          <p:nvPr>
            <p:ph idx="1"/>
          </p:nvPr>
        </p:nvSpPr>
        <p:spPr>
          <a:xfrm>
            <a:off x="440690" y="1337945"/>
            <a:ext cx="8736965" cy="3660140"/>
          </a:xfrm>
        </p:spPr>
        <p:txBody>
          <a:bodyPr/>
          <a:lstStyle/>
          <a:p>
            <a:pPr>
              <a:lnSpc>
                <a:spcPct val="170000"/>
              </a:lnSpc>
            </a:pPr>
            <a:r>
              <a:rPr sz="1800">
                <a:solidFill>
                  <a:schemeClr val="tx1"/>
                </a:solidFill>
              </a:rPr>
              <a:t>能够伤害或杀害人类的危险动物（</a:t>
            </a:r>
            <a:r>
              <a:rPr lang="en-US" altLang="zh-CN" sz="1800">
                <a:solidFill>
                  <a:schemeClr val="tx1"/>
                </a:solidFill>
              </a:rPr>
              <a:t>capable</a:t>
            </a:r>
            <a:r>
              <a:rPr sz="1800">
                <a:solidFill>
                  <a:schemeClr val="tx1"/>
                </a:solidFill>
              </a:rPr>
              <a:t>）</a:t>
            </a:r>
            <a:endParaRPr lang="en-US" altLang="zh-CN" sz="1800">
              <a:solidFill>
                <a:schemeClr val="tx1"/>
              </a:solidFill>
            </a:endParaRPr>
          </a:p>
          <a:p>
            <a:pPr>
              <a:lnSpc>
                <a:spcPct val="170000"/>
              </a:lnSpc>
            </a:pPr>
            <a:r>
              <a:rPr lang="en-US" altLang="zh-CN" sz="1800">
                <a:solidFill>
                  <a:schemeClr val="tx1"/>
                </a:solidFill>
              </a:rPr>
              <a:t>dangerous creatures </a:t>
            </a:r>
            <a:r>
              <a:rPr lang="en-US" altLang="zh-CN" sz="1800" u="sng">
                <a:solidFill>
                  <a:schemeClr val="tx1"/>
                </a:solidFill>
              </a:rPr>
              <a:t>capable of injuring or killing humans</a:t>
            </a:r>
            <a:r>
              <a:rPr lang="en-US" altLang="zh-CN" sz="1800">
                <a:solidFill>
                  <a:schemeClr val="tx1"/>
                </a:solidFill>
              </a:rPr>
              <a:t>.</a:t>
            </a:r>
            <a:endParaRPr lang="en-US" altLang="zh-CN" sz="1800">
              <a:solidFill>
                <a:schemeClr val="tx1"/>
              </a:solidFill>
            </a:endParaRPr>
          </a:p>
          <a:p>
            <a:pPr>
              <a:lnSpc>
                <a:spcPct val="170000"/>
              </a:lnSpc>
            </a:pPr>
            <a:r>
              <a:rPr sz="1800">
                <a:solidFill>
                  <a:schemeClr val="tx1"/>
                </a:solidFill>
              </a:rPr>
              <a:t>与海岸平行的网（</a:t>
            </a:r>
            <a:r>
              <a:rPr lang="en-US" altLang="zh-CN" sz="1800">
                <a:solidFill>
                  <a:schemeClr val="tx1"/>
                </a:solidFill>
              </a:rPr>
              <a:t>parallel</a:t>
            </a:r>
            <a:r>
              <a:rPr sz="1800">
                <a:solidFill>
                  <a:schemeClr val="tx1"/>
                </a:solidFill>
              </a:rPr>
              <a:t>）</a:t>
            </a:r>
            <a:endParaRPr lang="en-US" altLang="zh-CN" sz="1800">
              <a:solidFill>
                <a:schemeClr val="tx1"/>
              </a:solidFill>
            </a:endParaRPr>
          </a:p>
          <a:p>
            <a:pPr>
              <a:lnSpc>
                <a:spcPct val="170000"/>
              </a:lnSpc>
            </a:pPr>
            <a:r>
              <a:rPr lang="en-US" altLang="zh-CN" sz="1800">
                <a:solidFill>
                  <a:schemeClr val="tx1"/>
                </a:solidFill>
              </a:rPr>
              <a:t>nets </a:t>
            </a:r>
            <a:r>
              <a:rPr lang="en-US" altLang="zh-CN" sz="1800" u="sng">
                <a:solidFill>
                  <a:schemeClr val="tx1"/>
                </a:solidFill>
              </a:rPr>
              <a:t>parallel to the shore</a:t>
            </a:r>
            <a:endParaRPr lang="en-US" altLang="zh-CN" sz="1800" u="sng">
              <a:solidFill>
                <a:schemeClr val="tx1"/>
              </a:solidFill>
            </a:endParaRPr>
          </a:p>
          <a:p>
            <a:pPr>
              <a:lnSpc>
                <a:spcPct val="170000"/>
              </a:lnSpc>
            </a:pPr>
            <a:r>
              <a:rPr sz="1800">
                <a:solidFill>
                  <a:schemeClr val="tx1"/>
                </a:solidFill>
              </a:rPr>
              <a:t>用于教育的钱（</a:t>
            </a:r>
            <a:r>
              <a:rPr lang="en-US" altLang="zh-CN" sz="1800">
                <a:solidFill>
                  <a:schemeClr val="tx1"/>
                </a:solidFill>
              </a:rPr>
              <a:t>available</a:t>
            </a:r>
            <a:r>
              <a:rPr sz="1800">
                <a:solidFill>
                  <a:schemeClr val="tx1"/>
                </a:solidFill>
              </a:rPr>
              <a:t>）</a:t>
            </a:r>
            <a:endParaRPr lang="en-US" altLang="zh-CN" sz="1800">
              <a:solidFill>
                <a:schemeClr val="tx1"/>
              </a:solidFill>
            </a:endParaRPr>
          </a:p>
          <a:p>
            <a:pPr>
              <a:lnSpc>
                <a:spcPct val="170000"/>
              </a:lnSpc>
            </a:pPr>
            <a:r>
              <a:rPr lang="en-US" altLang="zh-CN" sz="1800">
                <a:solidFill>
                  <a:schemeClr val="tx1"/>
                </a:solidFill>
              </a:rPr>
              <a:t>the money </a:t>
            </a:r>
            <a:r>
              <a:rPr lang="en-US" altLang="zh-CN" sz="1800" u="sng">
                <a:solidFill>
                  <a:schemeClr val="tx1"/>
                </a:solidFill>
              </a:rPr>
              <a:t>avaiable for education</a:t>
            </a:r>
            <a:endParaRPr lang="en-US" altLang="zh-CN" sz="1800" u="sng">
              <a:solidFill>
                <a:schemeClr val="tx1"/>
              </a:solidFill>
            </a:endParaRPr>
          </a:p>
          <a:p>
            <a:pPr>
              <a:lnSpc>
                <a:spcPct val="170000"/>
              </a:lnSpc>
            </a:pPr>
            <a:endParaRPr lang="en-US" altLang="zh-CN" sz="1800" u="sng">
              <a:solidFill>
                <a:schemeClr val="tx1"/>
              </a:solidFill>
            </a:endParaRPr>
          </a:p>
          <a:p>
            <a:endParaRPr lang="en-US" altLang="zh-CN" sz="2000">
              <a:solidFill>
                <a:schemeClr val="tx1"/>
              </a:solidFill>
            </a:endParaRPr>
          </a:p>
          <a:p>
            <a:endParaRPr lang="en-US" altLang="zh-CN" sz="20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649" y="555612"/>
            <a:ext cx="5357850" cy="500066"/>
          </a:xfrm>
        </p:spPr>
        <p:txBody>
          <a:bodyPr/>
          <a:lstStyle/>
          <a:p>
            <a:r>
              <a:rPr lang="zh-CN" altLang="en-US" sz="2400" b="1">
                <a:solidFill>
                  <a:schemeClr val="tx1"/>
                </a:solidFill>
              </a:rPr>
              <a:t>介词之间的辨析</a:t>
            </a:r>
            <a:endParaRPr lang="zh-CN" altLang="en-US" sz="2400" b="1">
              <a:solidFill>
                <a:schemeClr val="tx1"/>
              </a:solidFill>
            </a:endParaRPr>
          </a:p>
        </p:txBody>
      </p:sp>
      <p:sp>
        <p:nvSpPr>
          <p:cNvPr id="3" name="内容占位符 2"/>
          <p:cNvSpPr>
            <a:spLocks noGrp="1"/>
          </p:cNvSpPr>
          <p:nvPr>
            <p:ph idx="1"/>
          </p:nvPr>
        </p:nvSpPr>
        <p:spPr>
          <a:xfrm>
            <a:off x="251460" y="1203325"/>
            <a:ext cx="7775575" cy="3596640"/>
          </a:xfrm>
        </p:spPr>
        <p:txBody>
          <a:bodyPr/>
          <a:lstStyle/>
          <a:p>
            <a:r>
              <a:rPr b="1" dirty="0">
                <a:solidFill>
                  <a:schemeClr val="tx1"/>
                </a:solidFill>
              </a:rPr>
              <a:t>in  在……的里面</a:t>
            </a:r>
            <a:endParaRPr sz="2000" b="1" dirty="0">
              <a:solidFill>
                <a:schemeClr val="tx1"/>
              </a:solidFill>
            </a:endParaRPr>
          </a:p>
          <a:p>
            <a:r>
              <a:rPr b="1" dirty="0">
                <a:solidFill>
                  <a:schemeClr val="tx1"/>
                </a:solidFill>
              </a:rPr>
              <a:t>play an important role in; engage in; join in; take part in; engage in; be involved in; in 1998; in January; stay in silence; in China; work in that place; be helpful in doing sth ; in my opinion; In conclusion; achieve success in doing sth; specialize in </a:t>
            </a:r>
            <a:endParaRPr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649" y="555612"/>
            <a:ext cx="5357850" cy="500066"/>
          </a:xfrm>
        </p:spPr>
        <p:txBody>
          <a:bodyPr/>
          <a:lstStyle/>
          <a:p>
            <a:r>
              <a:rPr lang="zh-CN" altLang="en-US" sz="2400" b="1">
                <a:solidFill>
                  <a:schemeClr val="tx1"/>
                </a:solidFill>
              </a:rPr>
              <a:t>介词之间的辨析</a:t>
            </a:r>
            <a:endParaRPr lang="zh-CN" altLang="en-US" sz="2400" b="1">
              <a:solidFill>
                <a:schemeClr val="tx1"/>
              </a:solidFill>
            </a:endParaRPr>
          </a:p>
        </p:txBody>
      </p:sp>
      <p:sp>
        <p:nvSpPr>
          <p:cNvPr id="3" name="内容占位符 2"/>
          <p:cNvSpPr>
            <a:spLocks noGrp="1"/>
          </p:cNvSpPr>
          <p:nvPr>
            <p:ph idx="1"/>
          </p:nvPr>
        </p:nvSpPr>
        <p:spPr>
          <a:xfrm>
            <a:off x="251460" y="1203325"/>
            <a:ext cx="7775575" cy="3596640"/>
          </a:xfrm>
        </p:spPr>
        <p:txBody>
          <a:bodyPr/>
          <a:lstStyle/>
          <a:p>
            <a:r>
              <a:rPr b="1" dirty="0">
                <a:solidFill>
                  <a:schemeClr val="tx1"/>
                </a:solidFill>
              </a:rPr>
              <a:t>on 在……上</a:t>
            </a:r>
            <a:endParaRPr b="1" dirty="0">
              <a:solidFill>
                <a:schemeClr val="tx1"/>
              </a:solidFill>
            </a:endParaRPr>
          </a:p>
          <a:p>
            <a:r>
              <a:rPr b="1" dirty="0">
                <a:solidFill>
                  <a:schemeClr val="tx1"/>
                </a:solidFill>
              </a:rPr>
              <a:t>concentrate on; on Sunday; focus on; put huge pressure on; on foot; depend on; rely on; count on; a paper on African tigers; a research on global warming; on both sides of the road; move on; go on; on my house; on subway; be keen on sth </a:t>
            </a:r>
            <a:endParaRPr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649" y="555612"/>
            <a:ext cx="5357850" cy="500066"/>
          </a:xfrm>
        </p:spPr>
        <p:txBody>
          <a:bodyPr/>
          <a:lstStyle/>
          <a:p>
            <a:r>
              <a:rPr lang="zh-CN" altLang="en-US" sz="2400" b="1">
                <a:solidFill>
                  <a:schemeClr val="tx1"/>
                </a:solidFill>
              </a:rPr>
              <a:t>介词之间的辨析</a:t>
            </a:r>
            <a:endParaRPr lang="zh-CN" altLang="en-US" sz="2400" b="1">
              <a:solidFill>
                <a:schemeClr val="tx1"/>
              </a:solidFill>
            </a:endParaRPr>
          </a:p>
        </p:txBody>
      </p:sp>
      <p:sp>
        <p:nvSpPr>
          <p:cNvPr id="3" name="内容占位符 2"/>
          <p:cNvSpPr>
            <a:spLocks noGrp="1"/>
          </p:cNvSpPr>
          <p:nvPr>
            <p:ph idx="1"/>
          </p:nvPr>
        </p:nvSpPr>
        <p:spPr>
          <a:xfrm>
            <a:off x="251460" y="1203325"/>
            <a:ext cx="7775575" cy="3596640"/>
          </a:xfrm>
        </p:spPr>
        <p:txBody>
          <a:bodyPr/>
          <a:lstStyle/>
          <a:p>
            <a:r>
              <a:rPr b="1" dirty="0">
                <a:solidFill>
                  <a:schemeClr val="tx1"/>
                </a:solidFill>
              </a:rPr>
              <a:t>to 对；于</a:t>
            </a:r>
            <a:endParaRPr b="1" dirty="0">
              <a:solidFill>
                <a:schemeClr val="tx1"/>
              </a:solidFill>
            </a:endParaRPr>
          </a:p>
          <a:p>
            <a:r>
              <a:rPr b="1" dirty="0">
                <a:solidFill>
                  <a:schemeClr val="tx1"/>
                </a:solidFill>
              </a:rPr>
              <a:t>be beneficial </a:t>
            </a:r>
            <a:r>
              <a:rPr b="1" u="sng" dirty="0">
                <a:solidFill>
                  <a:srgbClr val="FF0000"/>
                </a:solidFill>
              </a:rPr>
              <a:t>to</a:t>
            </a:r>
            <a:r>
              <a:rPr b="1" dirty="0">
                <a:solidFill>
                  <a:schemeClr val="tx1"/>
                </a:solidFill>
              </a:rPr>
              <a:t> doing; be detrimental </a:t>
            </a:r>
            <a:r>
              <a:rPr b="1" u="sng" dirty="0">
                <a:solidFill>
                  <a:srgbClr val="FF0000"/>
                </a:solidFill>
              </a:rPr>
              <a:t>to</a:t>
            </a:r>
            <a:r>
              <a:rPr b="1" dirty="0">
                <a:solidFill>
                  <a:schemeClr val="tx1"/>
                </a:solidFill>
              </a:rPr>
              <a:t> doing; contribute to; adapt to; be accustomed to; be used to doing; be faithful to; be loyal to; be addicted to; be devoted to</a:t>
            </a:r>
            <a:endParaRPr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649" y="555612"/>
            <a:ext cx="5357850" cy="500066"/>
          </a:xfrm>
        </p:spPr>
        <p:txBody>
          <a:bodyPr/>
          <a:lstStyle/>
          <a:p>
            <a:r>
              <a:rPr lang="zh-CN" altLang="en-US" sz="2400" b="1">
                <a:solidFill>
                  <a:schemeClr val="tx1"/>
                </a:solidFill>
              </a:rPr>
              <a:t>介词之间的辨析</a:t>
            </a:r>
            <a:endParaRPr lang="zh-CN" altLang="en-US" sz="2400" b="1">
              <a:solidFill>
                <a:schemeClr val="tx1"/>
              </a:solidFill>
            </a:endParaRPr>
          </a:p>
        </p:txBody>
      </p:sp>
      <p:sp>
        <p:nvSpPr>
          <p:cNvPr id="3" name="内容占位符 2"/>
          <p:cNvSpPr>
            <a:spLocks noGrp="1"/>
          </p:cNvSpPr>
          <p:nvPr>
            <p:ph idx="1"/>
          </p:nvPr>
        </p:nvSpPr>
        <p:spPr>
          <a:xfrm>
            <a:off x="251460" y="1203325"/>
            <a:ext cx="7775575" cy="3596640"/>
          </a:xfrm>
        </p:spPr>
        <p:txBody>
          <a:bodyPr/>
          <a:lstStyle/>
          <a:p>
            <a:r>
              <a:rPr b="1" dirty="0">
                <a:solidFill>
                  <a:schemeClr val="tx1"/>
                </a:solidFill>
              </a:rPr>
              <a:t>of 极具</a:t>
            </a:r>
            <a:endParaRPr b="1" dirty="0">
              <a:solidFill>
                <a:schemeClr val="tx1"/>
              </a:solidFill>
            </a:endParaRPr>
          </a:p>
          <a:p>
            <a:r>
              <a:rPr b="1" dirty="0">
                <a:solidFill>
                  <a:schemeClr val="tx1"/>
                </a:solidFill>
              </a:rPr>
              <a:t>the suggestion of great importance</a:t>
            </a:r>
            <a:endParaRPr b="1" dirty="0">
              <a:solidFill>
                <a:schemeClr val="tx1"/>
              </a:solidFill>
            </a:endParaRPr>
          </a:p>
          <a:p>
            <a:r>
              <a:rPr b="1" dirty="0">
                <a:solidFill>
                  <a:schemeClr val="tx1"/>
                </a:solidFill>
              </a:rPr>
              <a:t>the tool of great convenience</a:t>
            </a:r>
            <a:endParaRPr b="1" dirty="0">
              <a:solidFill>
                <a:schemeClr val="tx1"/>
              </a:solidFill>
            </a:endParaRPr>
          </a:p>
          <a:p>
            <a:r>
              <a:rPr b="1" dirty="0">
                <a:solidFill>
                  <a:schemeClr val="tx1"/>
                </a:solidFill>
              </a:rPr>
              <a:t>the anniversary of great significance</a:t>
            </a:r>
            <a:endParaRPr b="1" dirty="0">
              <a:solidFill>
                <a:schemeClr val="tx1"/>
              </a:solidFill>
            </a:endParaRPr>
          </a:p>
          <a:p>
            <a:r>
              <a:rPr b="1" dirty="0">
                <a:solidFill>
                  <a:schemeClr val="tx1"/>
                </a:solidFill>
              </a:rPr>
              <a:t>the old buildings of great value</a:t>
            </a:r>
            <a:endParaRPr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649" y="555612"/>
            <a:ext cx="5357850" cy="500066"/>
          </a:xfrm>
        </p:spPr>
        <p:txBody>
          <a:bodyPr/>
          <a:lstStyle/>
          <a:p>
            <a:r>
              <a:rPr lang="zh-CN" altLang="en-US" sz="2400" b="1">
                <a:solidFill>
                  <a:schemeClr val="tx1"/>
                </a:solidFill>
              </a:rPr>
              <a:t>介词之间的辨析</a:t>
            </a:r>
            <a:endParaRPr lang="zh-CN" altLang="en-US" sz="2400" b="1">
              <a:solidFill>
                <a:schemeClr val="tx1"/>
              </a:solidFill>
            </a:endParaRPr>
          </a:p>
        </p:txBody>
      </p:sp>
      <p:sp>
        <p:nvSpPr>
          <p:cNvPr id="3" name="内容占位符 2"/>
          <p:cNvSpPr>
            <a:spLocks noGrp="1"/>
          </p:cNvSpPr>
          <p:nvPr>
            <p:ph idx="1"/>
          </p:nvPr>
        </p:nvSpPr>
        <p:spPr>
          <a:xfrm>
            <a:off x="251460" y="1203325"/>
            <a:ext cx="7775575" cy="3596640"/>
          </a:xfrm>
        </p:spPr>
        <p:txBody>
          <a:bodyPr/>
          <a:lstStyle/>
          <a:p>
            <a:r>
              <a:rPr b="1" dirty="0">
                <a:solidFill>
                  <a:schemeClr val="tx1"/>
                </a:solidFill>
              </a:rPr>
              <a:t>of 所属关系; 对；由</a:t>
            </a:r>
            <a:endParaRPr b="1" dirty="0">
              <a:solidFill>
                <a:schemeClr val="tx1"/>
              </a:solidFill>
            </a:endParaRPr>
          </a:p>
          <a:p>
            <a:r>
              <a:rPr b="1" dirty="0">
                <a:solidFill>
                  <a:schemeClr val="tx1"/>
                </a:solidFill>
              </a:rPr>
              <a:t>the convenience of driving private cars; the benefits of watching TV; the importance of learning English; </a:t>
            </a:r>
            <a:endParaRPr b="1" dirty="0">
              <a:solidFill>
                <a:schemeClr val="tx1"/>
              </a:solidFill>
            </a:endParaRPr>
          </a:p>
          <a:p>
            <a:r>
              <a:rPr b="1" dirty="0">
                <a:solidFill>
                  <a:schemeClr val="tx1"/>
                </a:solidFill>
              </a:rPr>
              <a:t>be aware of sth； think of; remind sb of sth: it is so nice of you； be made of； die of ; be fond of </a:t>
            </a:r>
            <a:endParaRPr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649" y="555612"/>
            <a:ext cx="5357850" cy="500066"/>
          </a:xfrm>
        </p:spPr>
        <p:txBody>
          <a:bodyPr/>
          <a:lstStyle/>
          <a:p>
            <a:r>
              <a:rPr lang="zh-CN" altLang="en-US" sz="2400" b="1">
                <a:solidFill>
                  <a:schemeClr val="tx1"/>
                </a:solidFill>
              </a:rPr>
              <a:t>介词之间的辨析</a:t>
            </a:r>
            <a:endParaRPr lang="zh-CN" altLang="en-US" sz="2400" b="1">
              <a:solidFill>
                <a:schemeClr val="tx1"/>
              </a:solidFill>
            </a:endParaRPr>
          </a:p>
        </p:txBody>
      </p:sp>
      <p:sp>
        <p:nvSpPr>
          <p:cNvPr id="3" name="内容占位符 2"/>
          <p:cNvSpPr>
            <a:spLocks noGrp="1"/>
          </p:cNvSpPr>
          <p:nvPr>
            <p:ph idx="1"/>
          </p:nvPr>
        </p:nvSpPr>
        <p:spPr>
          <a:xfrm>
            <a:off x="251460" y="1203325"/>
            <a:ext cx="8305165" cy="3613785"/>
          </a:xfrm>
        </p:spPr>
        <p:txBody>
          <a:bodyPr/>
          <a:lstStyle/>
          <a:p>
            <a:r>
              <a:rPr b="1" dirty="0">
                <a:solidFill>
                  <a:schemeClr val="tx1"/>
                </a:solidFill>
              </a:rPr>
              <a:t>for 为了;对于</a:t>
            </a:r>
            <a:endParaRPr b="1" dirty="0">
              <a:solidFill>
                <a:schemeClr val="tx1"/>
              </a:solidFill>
            </a:endParaRPr>
          </a:p>
          <a:p>
            <a:r>
              <a:rPr b="1" dirty="0">
                <a:solidFill>
                  <a:schemeClr val="tx1"/>
                </a:solidFill>
              </a:rPr>
              <a:t>the reason for; the figure for; have an innate talent for; a gift for you; buy sth for sb; look for; seek for; hunt for; be responsible for; be known for; be famous for; </a:t>
            </a:r>
            <a:endParaRPr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649" y="555612"/>
            <a:ext cx="5357850" cy="500066"/>
          </a:xfrm>
        </p:spPr>
        <p:txBody>
          <a:bodyPr/>
          <a:lstStyle/>
          <a:p>
            <a:r>
              <a:rPr lang="zh-CN" altLang="en-US" sz="2400" b="1">
                <a:solidFill>
                  <a:schemeClr val="tx1"/>
                </a:solidFill>
              </a:rPr>
              <a:t>介词之间的辨析</a:t>
            </a:r>
            <a:endParaRPr lang="zh-CN" altLang="en-US" sz="2400" b="1">
              <a:solidFill>
                <a:schemeClr val="tx1"/>
              </a:solidFill>
            </a:endParaRPr>
          </a:p>
        </p:txBody>
      </p:sp>
      <p:sp>
        <p:nvSpPr>
          <p:cNvPr id="3" name="内容占位符 2"/>
          <p:cNvSpPr>
            <a:spLocks noGrp="1"/>
          </p:cNvSpPr>
          <p:nvPr>
            <p:ph idx="1"/>
          </p:nvPr>
        </p:nvSpPr>
        <p:spPr>
          <a:xfrm>
            <a:off x="251460" y="1203325"/>
            <a:ext cx="8305165" cy="3613785"/>
          </a:xfrm>
        </p:spPr>
        <p:txBody>
          <a:bodyPr/>
          <a:lstStyle/>
          <a:p>
            <a:r>
              <a:rPr b="1" dirty="0">
                <a:solidFill>
                  <a:schemeClr val="tx1"/>
                </a:solidFill>
              </a:rPr>
              <a:t>with 和；与；对</a:t>
            </a:r>
            <a:endParaRPr b="1" dirty="0">
              <a:solidFill>
                <a:schemeClr val="tx1"/>
              </a:solidFill>
            </a:endParaRPr>
          </a:p>
          <a:p>
            <a:r>
              <a:rPr b="1" dirty="0">
                <a:solidFill>
                  <a:schemeClr val="tx1"/>
                </a:solidFill>
              </a:rPr>
              <a:t>be obsessed with; fall in love with sb ; work with sb; the old buildings with historical value; get along with; chat with; communicate with sb; catch up with 赶上; along with 随着; provide sb with sth; be faced with; be confronted with; come up with 想到； </a:t>
            </a:r>
            <a:endParaRPr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649" y="555612"/>
            <a:ext cx="5357850" cy="500066"/>
          </a:xfrm>
        </p:spPr>
        <p:txBody>
          <a:bodyPr/>
          <a:lstStyle/>
          <a:p>
            <a:r>
              <a:rPr lang="zh-CN" altLang="en-US" sz="2400" b="1">
                <a:solidFill>
                  <a:schemeClr val="tx1"/>
                </a:solidFill>
              </a:rPr>
              <a:t>介词之间的辨析</a:t>
            </a:r>
            <a:endParaRPr lang="zh-CN" altLang="en-US" sz="2400" b="1">
              <a:solidFill>
                <a:schemeClr val="tx1"/>
              </a:solidFill>
            </a:endParaRPr>
          </a:p>
        </p:txBody>
      </p:sp>
      <p:sp>
        <p:nvSpPr>
          <p:cNvPr id="3" name="内容占位符 2"/>
          <p:cNvSpPr>
            <a:spLocks noGrp="1"/>
          </p:cNvSpPr>
          <p:nvPr>
            <p:ph idx="1"/>
          </p:nvPr>
        </p:nvSpPr>
        <p:spPr>
          <a:xfrm>
            <a:off x="251460" y="1203325"/>
            <a:ext cx="8305165" cy="3613785"/>
          </a:xfrm>
        </p:spPr>
        <p:txBody>
          <a:bodyPr/>
          <a:lstStyle/>
          <a:p>
            <a:r>
              <a:rPr b="1" dirty="0">
                <a:solidFill>
                  <a:schemeClr val="tx1"/>
                </a:solidFill>
              </a:rPr>
              <a:t>at 在……地方</a:t>
            </a:r>
            <a:endParaRPr b="1" dirty="0">
              <a:solidFill>
                <a:schemeClr val="tx1"/>
              </a:solidFill>
            </a:endParaRPr>
          </a:p>
          <a:p>
            <a:r>
              <a:rPr b="1" dirty="0">
                <a:solidFill>
                  <a:schemeClr val="tx1"/>
                </a:solidFill>
              </a:rPr>
              <a:t>point at; look at; stare at; glare at; aim at; be good at; at corner; at present; at 7 a.m.; at that moment; at bus station; at school; at hospital</a:t>
            </a:r>
            <a:endParaRPr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649" y="555612"/>
            <a:ext cx="5357850" cy="500066"/>
          </a:xfrm>
        </p:spPr>
        <p:txBody>
          <a:bodyPr/>
          <a:lstStyle/>
          <a:p>
            <a:r>
              <a:rPr lang="zh-CN" altLang="en-US" sz="2400" b="1">
                <a:solidFill>
                  <a:schemeClr val="tx1"/>
                </a:solidFill>
              </a:rPr>
              <a:t>介词之间的辨析</a:t>
            </a:r>
            <a:endParaRPr lang="zh-CN" altLang="en-US" sz="2400" b="1">
              <a:solidFill>
                <a:schemeClr val="tx1"/>
              </a:solidFill>
            </a:endParaRPr>
          </a:p>
        </p:txBody>
      </p:sp>
      <p:sp>
        <p:nvSpPr>
          <p:cNvPr id="3" name="内容占位符 2"/>
          <p:cNvSpPr>
            <a:spLocks noGrp="1"/>
          </p:cNvSpPr>
          <p:nvPr>
            <p:ph idx="1"/>
          </p:nvPr>
        </p:nvSpPr>
        <p:spPr>
          <a:xfrm>
            <a:off x="251460" y="1203325"/>
            <a:ext cx="8305165" cy="3613785"/>
          </a:xfrm>
        </p:spPr>
        <p:txBody>
          <a:bodyPr/>
          <a:lstStyle/>
          <a:p>
            <a:r>
              <a:rPr b="1" dirty="0">
                <a:solidFill>
                  <a:schemeClr val="tx1"/>
                </a:solidFill>
              </a:rPr>
              <a:t>at 在……地方</a:t>
            </a:r>
            <a:endParaRPr b="1" dirty="0">
              <a:solidFill>
                <a:schemeClr val="tx1"/>
              </a:solidFill>
            </a:endParaRPr>
          </a:p>
          <a:p>
            <a:r>
              <a:rPr b="1" dirty="0">
                <a:solidFill>
                  <a:schemeClr val="tx1"/>
                </a:solidFill>
              </a:rPr>
              <a:t>point at; look at; stare at; glare at; aim at; be good at; at corner; at present; at 7 a.m.; at that moment; at bus station; at school; at hospital</a:t>
            </a:r>
            <a:endParaRPr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649" y="555612"/>
            <a:ext cx="5357850" cy="500066"/>
          </a:xfrm>
        </p:spPr>
        <p:txBody>
          <a:bodyPr/>
          <a:lstStyle/>
          <a:p>
            <a:r>
              <a:rPr lang="zh-CN" altLang="en-US" sz="2400" b="1">
                <a:solidFill>
                  <a:schemeClr val="tx1"/>
                </a:solidFill>
              </a:rPr>
              <a:t>介词之间的辨析</a:t>
            </a:r>
            <a:endParaRPr lang="zh-CN" altLang="en-US" sz="2400" b="1">
              <a:solidFill>
                <a:schemeClr val="tx1"/>
              </a:solidFill>
            </a:endParaRPr>
          </a:p>
        </p:txBody>
      </p:sp>
      <p:sp>
        <p:nvSpPr>
          <p:cNvPr id="3" name="内容占位符 2"/>
          <p:cNvSpPr>
            <a:spLocks noGrp="1"/>
          </p:cNvSpPr>
          <p:nvPr>
            <p:ph idx="1"/>
          </p:nvPr>
        </p:nvSpPr>
        <p:spPr>
          <a:xfrm>
            <a:off x="251460" y="1203325"/>
            <a:ext cx="8305165" cy="3613785"/>
          </a:xfrm>
        </p:spPr>
        <p:txBody>
          <a:bodyPr/>
          <a:lstStyle/>
          <a:p>
            <a:r>
              <a:rPr b="1" dirty="0">
                <a:solidFill>
                  <a:schemeClr val="tx1"/>
                </a:solidFill>
              </a:rPr>
              <a:t>by  被；通过</a:t>
            </a:r>
            <a:endParaRPr b="1" dirty="0">
              <a:solidFill>
                <a:schemeClr val="tx1"/>
              </a:solidFill>
            </a:endParaRPr>
          </a:p>
          <a:p>
            <a:r>
              <a:rPr b="1" dirty="0">
                <a:solidFill>
                  <a:schemeClr val="tx1"/>
                </a:solidFill>
              </a:rPr>
              <a:t>be fascinated by; by bus; by subway; the time goes by; By 2000 直到2000年；by the way; </a:t>
            </a:r>
            <a:endParaRPr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649" y="555612"/>
            <a:ext cx="5357850" cy="500066"/>
          </a:xfrm>
        </p:spPr>
        <p:txBody>
          <a:bodyPr/>
          <a:lstStyle/>
          <a:p>
            <a:r>
              <a:rPr lang="zh-CN" altLang="en-US" sz="2400" b="1">
                <a:solidFill>
                  <a:schemeClr val="tx1"/>
                </a:solidFill>
              </a:rPr>
              <a:t>介词之间的辨析</a:t>
            </a:r>
            <a:endParaRPr lang="zh-CN" altLang="en-US" sz="2400" b="1">
              <a:solidFill>
                <a:schemeClr val="tx1"/>
              </a:solidFill>
            </a:endParaRPr>
          </a:p>
        </p:txBody>
      </p:sp>
      <p:sp>
        <p:nvSpPr>
          <p:cNvPr id="3" name="内容占位符 2"/>
          <p:cNvSpPr>
            <a:spLocks noGrp="1"/>
          </p:cNvSpPr>
          <p:nvPr>
            <p:ph idx="1"/>
          </p:nvPr>
        </p:nvSpPr>
        <p:spPr>
          <a:xfrm>
            <a:off x="251460" y="1203325"/>
            <a:ext cx="8305165" cy="3613785"/>
          </a:xfrm>
        </p:spPr>
        <p:txBody>
          <a:bodyPr/>
          <a:lstStyle/>
          <a:p>
            <a:r>
              <a:rPr b="1" dirty="0">
                <a:solidFill>
                  <a:schemeClr val="tx1"/>
                </a:solidFill>
              </a:rPr>
              <a:t>through 通过</a:t>
            </a:r>
            <a:endParaRPr b="1" dirty="0">
              <a:solidFill>
                <a:schemeClr val="tx1"/>
              </a:solidFill>
            </a:endParaRPr>
          </a:p>
          <a:p>
            <a:r>
              <a:rPr b="1" dirty="0">
                <a:solidFill>
                  <a:schemeClr val="tx1"/>
                </a:solidFill>
              </a:rPr>
              <a:t>get through many difficulties; think through; look through; go through the corridor; </a:t>
            </a:r>
            <a:endParaRPr b="1" dirty="0">
              <a:solidFill>
                <a:schemeClr val="tx1"/>
              </a:solidFill>
            </a:endParaRPr>
          </a:p>
          <a:p>
            <a:r>
              <a:rPr b="1" dirty="0">
                <a:solidFill>
                  <a:schemeClr val="tx1"/>
                </a:solidFill>
              </a:rPr>
              <a:t>across 从表面经过</a:t>
            </a:r>
            <a:endParaRPr b="1" dirty="0">
              <a:solidFill>
                <a:schemeClr val="tx1"/>
              </a:solidFill>
            </a:endParaRPr>
          </a:p>
          <a:p>
            <a:r>
              <a:rPr b="1" dirty="0">
                <a:solidFill>
                  <a:schemeClr val="tx1"/>
                </a:solidFill>
              </a:rPr>
              <a:t>come across 想到； across the street</a:t>
            </a:r>
            <a:endParaRPr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649" y="555612"/>
            <a:ext cx="5357850" cy="500066"/>
          </a:xfrm>
        </p:spPr>
        <p:txBody>
          <a:bodyPr/>
          <a:lstStyle/>
          <a:p>
            <a:r>
              <a:rPr lang="zh-CN" altLang="en-US" sz="2400" b="1">
                <a:solidFill>
                  <a:schemeClr val="tx1"/>
                </a:solidFill>
              </a:rPr>
              <a:t>介词之间的辨析</a:t>
            </a:r>
            <a:endParaRPr lang="zh-CN" altLang="en-US" sz="2400" b="1">
              <a:solidFill>
                <a:schemeClr val="tx1"/>
              </a:solidFill>
            </a:endParaRPr>
          </a:p>
        </p:txBody>
      </p:sp>
      <p:sp>
        <p:nvSpPr>
          <p:cNvPr id="3" name="内容占位符 2"/>
          <p:cNvSpPr>
            <a:spLocks noGrp="1"/>
          </p:cNvSpPr>
          <p:nvPr>
            <p:ph idx="1"/>
          </p:nvPr>
        </p:nvSpPr>
        <p:spPr>
          <a:xfrm>
            <a:off x="251460" y="1203325"/>
            <a:ext cx="8305165" cy="3613785"/>
          </a:xfrm>
        </p:spPr>
        <p:txBody>
          <a:bodyPr/>
          <a:lstStyle/>
          <a:p>
            <a:r>
              <a:rPr b="1" dirty="0">
                <a:solidFill>
                  <a:schemeClr val="tx1"/>
                </a:solidFill>
              </a:rPr>
              <a:t>about 关于</a:t>
            </a:r>
            <a:endParaRPr b="1" dirty="0">
              <a:solidFill>
                <a:schemeClr val="tx1"/>
              </a:solidFill>
            </a:endParaRPr>
          </a:p>
          <a:p>
            <a:r>
              <a:rPr b="1" dirty="0">
                <a:solidFill>
                  <a:schemeClr val="tx1"/>
                </a:solidFill>
              </a:rPr>
              <a:t>be crazy about; know about; learn about; think about; be concerned about; care about </a:t>
            </a:r>
            <a:endParaRPr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649" y="555612"/>
            <a:ext cx="5357850" cy="500066"/>
          </a:xfrm>
        </p:spPr>
        <p:txBody>
          <a:bodyPr/>
          <a:lstStyle/>
          <a:p>
            <a:r>
              <a:rPr lang="zh-CN" altLang="en-US" sz="2400" b="1">
                <a:solidFill>
                  <a:schemeClr val="tx1"/>
                </a:solidFill>
              </a:rPr>
              <a:t>介词之间的辨析</a:t>
            </a:r>
            <a:endParaRPr lang="zh-CN" altLang="en-US" sz="2400" b="1">
              <a:solidFill>
                <a:schemeClr val="tx1"/>
              </a:solidFill>
            </a:endParaRPr>
          </a:p>
        </p:txBody>
      </p:sp>
      <p:sp>
        <p:nvSpPr>
          <p:cNvPr id="3" name="内容占位符 2"/>
          <p:cNvSpPr>
            <a:spLocks noGrp="1"/>
          </p:cNvSpPr>
          <p:nvPr>
            <p:ph idx="1"/>
          </p:nvPr>
        </p:nvSpPr>
        <p:spPr>
          <a:xfrm>
            <a:off x="251460" y="1203325"/>
            <a:ext cx="8305165" cy="3613785"/>
          </a:xfrm>
        </p:spPr>
        <p:txBody>
          <a:bodyPr/>
          <a:lstStyle/>
          <a:p>
            <a:r>
              <a:rPr b="1" dirty="0">
                <a:solidFill>
                  <a:schemeClr val="tx1"/>
                </a:solidFill>
              </a:rPr>
              <a:t>from 从</a:t>
            </a:r>
            <a:endParaRPr b="1" dirty="0">
              <a:solidFill>
                <a:schemeClr val="tx1"/>
              </a:solidFill>
            </a:endParaRPr>
          </a:p>
          <a:p>
            <a:r>
              <a:rPr b="1" dirty="0">
                <a:solidFill>
                  <a:schemeClr val="tx1"/>
                </a:solidFill>
              </a:rPr>
              <a:t>come from; from my perspective; from 1993 to 1998; be completely different from; from then on; from time to time; be made from sth 看不出原材料； suffer from; die from 死于</a:t>
            </a:r>
            <a:endParaRPr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COMMONDATA" val="eyJoZGlkIjoiOTNjNjI1OTcwN2JlZDgyNTQ3OGVlZWVmNDhhYWRmOTAifQ=="/>
  <p:tag name="commondata" val="eyJoZGlkIjoiOGNhZTlkOWIyZGRiNzk5NGQ3NzFmZjk2NWVjNGI1MDE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14572</Words>
  <Application>WPS 演示</Application>
  <PresentationFormat>全屏显示(16:9)</PresentationFormat>
  <Paragraphs>648</Paragraphs>
  <Slides>58</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58</vt:i4>
      </vt:variant>
    </vt:vector>
  </HeadingPairs>
  <TitlesOfParts>
    <vt:vector size="71" baseType="lpstr">
      <vt:lpstr>Arial</vt:lpstr>
      <vt:lpstr>宋体</vt:lpstr>
      <vt:lpstr>Wingdings</vt:lpstr>
      <vt:lpstr>Calibri</vt:lpstr>
      <vt:lpstr>Comic Sans MS</vt:lpstr>
      <vt:lpstr>微软雅黑</vt:lpstr>
      <vt:lpstr>Arial Unicode MS</vt:lpstr>
      <vt:lpstr>华文细黑</vt:lpstr>
      <vt:lpstr>Chalkboard Regular</vt:lpstr>
      <vt:lpstr>Mongolian Baiti</vt:lpstr>
      <vt:lpstr>Verdana</vt:lpstr>
      <vt:lpstr>Times New Roman</vt:lpstr>
      <vt:lpstr>Office 主题​​</vt:lpstr>
      <vt:lpstr>补充语法点①状语从句的省略--分词做状语</vt:lpstr>
      <vt:lpstr>补充语法点①状语从句的省略--分词做状语</vt:lpstr>
      <vt:lpstr>补充语法点②辨析that &amp; those</vt:lpstr>
      <vt:lpstr>补充语法点②辨析that &amp; those</vt:lpstr>
      <vt:lpstr>补充语法点②辨析that &amp; those</vt:lpstr>
      <vt:lpstr>补充语法点②辨析that &amp; those</vt:lpstr>
      <vt:lpstr>补充语法点③辨析it &amp; they</vt:lpstr>
      <vt:lpstr>补充语法点③辨析it &amp; they</vt:lpstr>
      <vt:lpstr>补充语法点③辨析it &amp; they</vt:lpstr>
      <vt:lpstr>补充语法点③辨析it &amp; they</vt:lpstr>
      <vt:lpstr>补充语法点③辨析it &amp; they</vt:lpstr>
      <vt:lpstr>补充语法点③辨析it &amp; they</vt:lpstr>
      <vt:lpstr>         Lecture Three 定语-修饰名词 微博：学为贵-赵颖伦</vt:lpstr>
      <vt:lpstr>定语</vt:lpstr>
      <vt:lpstr>① n+n</vt:lpstr>
      <vt:lpstr>② adj+n</vt:lpstr>
      <vt:lpstr>分词形容词</vt:lpstr>
      <vt:lpstr>分词形容词在流程图中的使用</vt:lpstr>
      <vt:lpstr>③ n+prep</vt:lpstr>
      <vt:lpstr>④ n+定语从句</vt:lpstr>
      <vt:lpstr>④ n+定语从句</vt:lpstr>
      <vt:lpstr>④ n+定语从句</vt:lpstr>
      <vt:lpstr>④ n+定语从句</vt:lpstr>
      <vt:lpstr>④ n+定语从句</vt:lpstr>
      <vt:lpstr>④ n+定语从句</vt:lpstr>
      <vt:lpstr>④ n+定语从句</vt:lpstr>
      <vt:lpstr>④ n+定语从句</vt:lpstr>
      <vt:lpstr>⑤doing/done 分词做后置定语</vt:lpstr>
      <vt:lpstr>辨析which&amp;where</vt:lpstr>
      <vt:lpstr>辨析which&amp;where</vt:lpstr>
      <vt:lpstr>辨析which&amp;where</vt:lpstr>
      <vt:lpstr>where 可以修饰抽象的地点名词：</vt:lpstr>
      <vt:lpstr>That; which; who</vt:lpstr>
      <vt:lpstr>When Where Why </vt:lpstr>
      <vt:lpstr>练习</vt:lpstr>
      <vt:lpstr>练习</vt:lpstr>
      <vt:lpstr>练习</vt:lpstr>
      <vt:lpstr>常用定语从句</vt:lpstr>
      <vt:lpstr>常用定从（一）</vt:lpstr>
      <vt:lpstr>PowerPoint 演示文稿</vt:lpstr>
      <vt:lpstr>常用定从（二）</vt:lpstr>
      <vt:lpstr>例句</vt:lpstr>
      <vt:lpstr>done 做后置定语</vt:lpstr>
      <vt:lpstr>例句</vt:lpstr>
      <vt:lpstr>⑥ 形容词短语做后置定语</vt:lpstr>
      <vt:lpstr>介词之间的辨析</vt:lpstr>
      <vt:lpstr>介词之间的辨析</vt:lpstr>
      <vt:lpstr>介词之间的辨析</vt:lpstr>
      <vt:lpstr>介词之间的辨析</vt:lpstr>
      <vt:lpstr>介词之间的辨析</vt:lpstr>
      <vt:lpstr>介词之间的辨析</vt:lpstr>
      <vt:lpstr>介词之间的辨析</vt:lpstr>
      <vt:lpstr>介词之间的辨析</vt:lpstr>
      <vt:lpstr>介词之间的辨析</vt:lpstr>
      <vt:lpstr>介词之间的辨析</vt:lpstr>
      <vt:lpstr>介词之间的辨析</vt:lpstr>
      <vt:lpstr>介词之间的辨析</vt:lpstr>
      <vt:lpstr>介词之间的辨析</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LBDZ</dc:creator>
  <cp:lastModifiedBy>颖伦</cp:lastModifiedBy>
  <cp:revision>475</cp:revision>
  <dcterms:created xsi:type="dcterms:W3CDTF">2021-08-31T02:39:00Z</dcterms:created>
  <dcterms:modified xsi:type="dcterms:W3CDTF">2024-10-22T08:39:47Z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2052-12.1.0.16412</vt:lpwstr>
  </property>
  <property fmtid="{D5CDD505-2E9C-101B-9397-08002B2CF9AE}" pid="3" name="ICV">
    <vt:lpwstr>E61271D7D21442D681948673AF9F3867_12</vt:lpwstr>
  </property>
</Properties>
</file>